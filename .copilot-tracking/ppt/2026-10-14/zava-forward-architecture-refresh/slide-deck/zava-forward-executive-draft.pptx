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77" r:id="rId29"/>
    <p:sldId id="268" r:id="rId20"/>
    <p:sldId id="269" r:id="rId21"/>
    <p:sldId id="270" r:id="rId22"/>
    <p:sldId id="271" r:id="rId23"/>
    <p:sldId id="272" r:id="rId24"/>
    <p:sldId id="273" r:id="rId25"/>
    <p:sldId id="274" r:id="rId26"/>
    <p:sldId id="275" r:id="rId27"/>
    <p:sldId id="276" r:id="rId28"/>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13.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01 - Back the evidence. Keep the resident promise.</a:t>
            </a:r>
          </a:p>
          <a:p>
            <a:r>
              <a:t>Topic sentinel: request/mission</a:t>
            </a:r>
          </a:p>
          <a:p>
            <a:r>
              <a:t>Message: endorse a bounded next evidence stage, not autonomous rollout.</a:t>
            </a:r>
          </a:p>
          <a:p>
            <a:r>
              <a:t>Status: strategist-recommended proposal; refreshed 14 October 2026.</a:t>
            </a:r>
          </a:p>
          <a:p/>
          <a:p>
            <a:r>
              <a:t>"The outcome is not more agent activity. It is a home handed over</a:t>
            </a:r>
          </a:p>
          <a:p>
            <a:r>
              <a:t>  safely, with the resident's decision respected and the evidence accepted.</a:t>
            </a:r>
          </a:p>
          <a:p>
            <a:r>
              <a:t>  Five bounded service paths now have real technical proof. I recommend</a:t>
            </a:r>
          </a:p>
          <a:p>
            <a:r>
              <a:t>  preparing the next acceptance-and-value proposal, with named owners and</a:t>
            </a:r>
          </a:p>
          <a:p>
            <a:r>
              <a:t>  stop tests. This is not a spending, deployment or production decision."</a:t>
            </a:r>
          </a:p>
          <a:p>
            <a:r>
              <a:t>* Transition: "The original request identifies five genuine pressure points."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Back the evidence. Keep the resident promise.</a:t>
            </a:r>
          </a:p>
          <a:p>
            <a:r>
              <a:t>60,000 homes.</a:t>
            </a:r>
          </a:p>
          <a:p>
            <a:r>
              <a:t>Safe, resident-accepted</a:t>
            </a:r>
          </a:p>
          <a:p>
            <a:r>
              <a:t>handovers.</a:t>
            </a:r>
          </a:p>
          <a:p>
            <a:r>
              <a:t>Real service proof now.</a:t>
            </a:r>
          </a:p>
          <a:p>
            <a:r>
              <a:t>Human and value gates next.</a:t>
            </a:r>
          </a:p>
          <a:p>
            <a:r>
              <a:t>TODAY’S DECISION</a:t>
            </a:r>
          </a:p>
          <a:p>
            <a:r>
              <a:t>Endorse the next</a:t>
            </a:r>
          </a:p>
          <a:p>
            <a:r>
              <a:t>acceptance-and-value</a:t>
            </a:r>
          </a:p>
          <a:p>
            <a:r>
              <a:t>proposal.</a:t>
            </a:r>
          </a:p>
          <a:p>
            <a:r>
              <a:t>Proposal only — no new spending or production authority.</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02 - Five pressure points. One accepted home.</a:t>
            </a:r>
          </a:p>
          <a:p>
            <a:r>
              <a:t>Topic sentinel: five asks</a:t>
            </a:r>
          </a:p>
          <a:p>
            <a:r>
              <a:t>Message: keep the five requested capabilities accountable to the same endpoint.</a:t>
            </a:r>
          </a:p>
          <a:p>
            <a:r>
              <a:t>Status: strategist-recommended proposal; refreshed 14 October 2026.</a:t>
            </a:r>
          </a:p>
          <a:p/>
          <a:p>
            <a:r>
              <a:t>"You asked for help with prioritisation, assessment, funding,</a:t>
            </a:r>
          </a:p>
          <a:p>
            <a:r>
              <a:t>  coordination and quality. That request remains the spine of the proposal.</a:t>
            </a:r>
          </a:p>
          <a:p>
            <a:r>
              <a:t>  Doubling delivery and reducing bills were ambitions in the original case,</a:t>
            </a:r>
          </a:p>
          <a:p>
            <a:r>
              <a:t>  not outcomes this exercise has established. A better draft does not</a:t>
            </a:r>
          </a:p>
          <a:p>
            <a:r>
              <a:t>  manufacture a survey, a crew, consent or cash."</a:t>
            </a:r>
          </a:p>
          <a:p>
            <a:r>
              <a:t>* Transition: "We challenged what each end-to-end request actually contains."</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p>
            <a:r>
              <a:t>Planned allocation: 25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Five pressure points. One accepted home.</a:t>
            </a:r>
          </a:p>
          <a:p>
            <a:r>
              <a:t>Choose</a:t>
            </a:r>
          </a:p>
          <a:p>
            <a:r>
              <a:t>homes</a:t>
            </a:r>
          </a:p>
          <a:p>
            <a:r>
              <a:t>Prioritisation</a:t>
            </a:r>
          </a:p>
          <a:p>
            <a:r>
              <a:t>Assess &amp;</a:t>
            </a:r>
          </a:p>
          <a:p>
            <a:r>
              <a:t>design</a:t>
            </a:r>
          </a:p>
          <a:p>
            <a:r>
              <a:t>Assessment</a:t>
            </a:r>
          </a:p>
          <a:p>
            <a:r>
              <a:t>Prepare</a:t>
            </a:r>
          </a:p>
          <a:p>
            <a:r>
              <a:t>funding</a:t>
            </a:r>
          </a:p>
          <a:p>
            <a:r>
              <a:t>Evidence</a:t>
            </a:r>
          </a:p>
          <a:p>
            <a:r>
              <a:t>Coordinate</a:t>
            </a:r>
          </a:p>
          <a:p>
            <a:r>
              <a:t>works</a:t>
            </a:r>
          </a:p>
          <a:p>
            <a:r>
              <a:t>Delivery</a:t>
            </a:r>
          </a:p>
          <a:p>
            <a:r>
              <a:t>Verify &amp;</a:t>
            </a:r>
          </a:p>
          <a:p>
            <a:r>
              <a:t>hand over</a:t>
            </a:r>
          </a:p>
          <a:p>
            <a:r>
              <a:t>Quality</a:t>
            </a:r>
          </a:p>
          <a:p>
            <a:r>
              <a:t>Safe + resident-accepted + evidence-complete</a:t>
            </a:r>
          </a:p>
          <a:p>
            <a:r>
              <a:t>Measure accepted outcomes, not messages or drafts.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03 - Each request needs rules, people and bounded AI.</a:t>
            </a:r>
          </a:p>
          <a:p>
            <a:r>
              <a:t>Topic sentinel: research reversal</a:t>
            </a:r>
          </a:p>
          <a:p>
            <a:r>
              <a:t>Message: the research changed task allocation, not the resident objective.</a:t>
            </a:r>
          </a:p>
          <a:p>
            <a:r>
              <a:t>Status: strategist-recommended proposal; refreshed 14 October 2026.</a:t>
            </a:r>
          </a:p>
          <a:p/>
          <a:p>
            <a:r>
              <a:t>"Eight sector-informed role-agent perspectives challenged the</a:t>
            </a:r>
          </a:p>
          <a:p>
            <a:r>
              <a:t>  request; they are research instruments, not the company's staff or</a:t>
            </a:r>
          </a:p>
          <a:p>
            <a:r>
              <a:t>  approvers. Each request combines deterministic controls, accountable</a:t>
            </a:r>
          </a:p>
          <a:p>
            <a:r>
              <a:t>  decisions and narrower text/evidence tasks. Richer inputs do not remove</a:t>
            </a:r>
          </a:p>
          <a:p>
            <a:r>
              <a:t>  those boundaries. The binding delivery constraint is still unknown:</a:t>
            </a:r>
          </a:p>
          <a:p>
            <a:r>
              <a:t>  capital, competent capacity, access or quality may dominate coordination."</a:t>
            </a:r>
          </a:p>
          <a:p>
            <a:r>
              <a:t>* Transition: "Three examples explain why that changes the build."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That tells us where AI may help, not which platform should win.</a:t>
            </a:r>
          </a:p>
          <a:p>
            <a:r>
              <a:t>Retained slide4 prerequisite: Rank homes = approved policy plus sourced facts. Original example and notes:</a:t>
            </a:r>
          </a:p>
          <a:p>
            <a:r>
              <a:t>SLIDE 04 — Fix the prerequisite before adding the assist.</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35 seconds; not rehearsed.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Each request needs rules, people and bounded AI.</a:t>
            </a:r>
          </a:p>
          <a:p>
            <a:r>
              <a:t>Rules</a:t>
            </a:r>
          </a:p>
          <a:p>
            <a:r>
              <a:t>Gates, clocks,</a:t>
            </a:r>
          </a:p>
          <a:p>
            <a:r>
              <a:t>eligibility, versions.</a:t>
            </a:r>
          </a:p>
          <a:p>
            <a:r>
              <a:t>People</a:t>
            </a:r>
          </a:p>
          <a:p>
            <a:r>
              <a:t>Policy, consent,</a:t>
            </a:r>
          </a:p>
          <a:p>
            <a:r>
              <a:t>professional and</a:t>
            </a:r>
          </a:p>
          <a:p>
            <a:r>
              <a:t>financial decisions.</a:t>
            </a:r>
          </a:p>
          <a:p>
            <a:r>
              <a:t>Bounded AI</a:t>
            </a:r>
          </a:p>
          <a:p>
            <a:r>
              <a:t>Reconcile, prepare,</a:t>
            </a:r>
          </a:p>
          <a:p>
            <a:r>
              <a:t>draft, flag.</a:t>
            </a:r>
          </a:p>
          <a:p>
            <a:r>
              <a:t>Eight role-agent research instruments — not employee interviews.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04 - Compare routes; keep the exercise choice provisional.</a:t>
            </a:r>
          </a:p>
          <a:p>
            <a:r>
              <a:t>Topic sentinel: prerequisite examples</a:t>
            </a:r>
          </a:p>
          <a:p>
            <a:r>
              <a:t>Message: safe assistance depends on controlled inputs and separate decisions.</a:t>
            </a:r>
          </a:p>
          <a:p>
            <a:r>
              <a:t>Status: strategist-recommended proposal; refreshed 14 October 2026.</a:t>
            </a:r>
          </a:p>
          <a:p/>
          <a:p>
            <a:r>
              <a:t>"Ranking weights are policy, not a model's choice. A schedule</a:t>
            </a:r>
          </a:p>
          <a:p>
            <a:r>
              <a:t>  requires competent committed capacity and an informed resident decision.</a:t>
            </a:r>
          </a:p>
          <a:p>
            <a:r>
              <a:t>  A funding pack needs the right evidence, route and Finance review.</a:t>
            </a:r>
          </a:p>
          <a:p>
            <a:r>
              <a:t>  Application, award, claim and cash are different. These research hypotheses</a:t>
            </a:r>
          </a:p>
          <a:p>
            <a:r>
              <a:t>  explain the prerequisite controls; they are not measured company bottlenecks."</a:t>
            </a:r>
          </a:p>
          <a:p>
            <a:r>
              <a:t>* Transition: "The shared foundation makes those prerequisites visible."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Whichever route wins, the people and accountable services stay.</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Fix the prerequisite before adding the assist.</a:t>
            </a:r>
          </a:p>
          <a:p>
            <a:r>
              <a:t>Rank homes</a:t>
            </a:r>
          </a:p>
          <a:p>
            <a:r>
              <a:t>Approved policy</a:t>
            </a:r>
          </a:p>
          <a:p>
            <a:r>
              <a:t>+</a:t>
            </a:r>
          </a:p>
          <a:p>
            <a:r>
              <a:t>sourced facts.</a:t>
            </a:r>
          </a:p>
          <a:p>
            <a:r>
              <a:t>Offer a slot</a:t>
            </a:r>
          </a:p>
          <a:p>
            <a:r>
              <a:t>Committed capacity</a:t>
            </a:r>
          </a:p>
          <a:p>
            <a:r>
              <a:t>+</a:t>
            </a:r>
          </a:p>
          <a:p>
            <a:r>
              <a:t>resident choice.</a:t>
            </a:r>
          </a:p>
          <a:p>
            <a:r>
              <a:t>Draft funding</a:t>
            </a:r>
          </a:p>
          <a:p>
            <a:r>
              <a:t>Accepted evidence</a:t>
            </a:r>
          </a:p>
          <a:p>
            <a:r>
              <a:t>+</a:t>
            </a:r>
          </a:p>
          <a:p>
            <a:r>
              <a:t>separate ledger states.</a:t>
            </a:r>
          </a:p>
          <a:p>
            <a:r>
              <a:t>A slot is not consent. A form is not funding.</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05 - Change the handoffs, not the whole company.</a:t>
            </a:r>
          </a:p>
          <a:p>
            <a:r>
              <a:t>Topic sentinel: shared foundation</a:t>
            </a:r>
          </a:p>
          <a:p>
            <a:r>
              <a:t>Message: modernise coordination around existing people and systems.</a:t>
            </a:r>
          </a:p>
          <a:p>
            <a:r>
              <a:t>Status: strategist-recommended proposal; refreshed 14 October 2026.</a:t>
            </a:r>
          </a:p>
          <a:p/>
          <a:p>
            <a:r>
              <a:t>"The proposal is a programme control and evidence layer, not</a:t>
            </a:r>
          </a:p>
          <a:p>
            <a:r>
              <a:t>  replacement of the housing organisation. Keep useful systems, teams and</a:t>
            </a:r>
          </a:p>
          <a:p>
            <a:r>
              <a:t>  suppliers. Introduce an owned case and a controlled transition from source</a:t>
            </a:r>
          </a:p>
          <a:p>
            <a:r>
              <a:t>  spreadsheets to API-fed reporting. Neither the integration nor the reduction</a:t>
            </a:r>
          </a:p>
          <a:p>
            <a:r>
              <a:t>  in duplicate effort is accepted simply because it appears in the design."</a:t>
            </a:r>
          </a:p>
          <a:p>
            <a:r>
              <a:t>* Transition: "A handoff becomes useful when its contract is explicit."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25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slide10 context, source authority and proposed integration (not delivered):</a:t>
            </a:r>
          </a:p>
          <a:p>
            <a:r>
              <a:t>SLIDE 10 — One workbench beside the systems you keep.</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a:p>
            <a:r>
              <a:t>ZAVA NORTH HOMES  /  ZAVA FORWARD  /  EXECUTIVE PROPOSAL</a:t>
            </a:r>
          </a:p>
          <a:p/>
          <a:p/>
          <a:p>
            <a:r>
              <a:t>One workbench beside the systems you keep.</a:t>
            </a:r>
          </a:p>
          <a:p>
            <a:r>
              <a:t>14 OCT 2026  •  S07 / S11 / S12  •  Sources + status in notes</a:t>
            </a:r>
          </a:p>
          <a:p>
            <a:r>
              <a:t>10 / 22</a:t>
            </a:r>
          </a:p>
          <a:p/>
          <a:p>
            <a:r>
              <a:t>Existing sources</a:t>
            </a:r>
          </a:p>
          <a:p>
            <a:r>
              <a:t>Housing / repairs</a:t>
            </a:r>
          </a:p>
          <a:p>
            <a:r>
              <a:t>Documents / spreadsheets</a:t>
            </a:r>
          </a:p>
          <a:p>
            <a:r>
              <a:t>Source owners retain authority.</a:t>
            </a:r>
          </a:p>
          <a:p/>
          <a:p>
            <a:r>
              <a:t>Shared case</a:t>
            </a:r>
          </a:p>
          <a:p>
            <a:r>
              <a:t>Validated intake</a:t>
            </a:r>
          </a:p>
          <a:p>
            <a:r>
              <a:t>Versions + owned work</a:t>
            </a:r>
          </a:p>
          <a:p>
            <a:r>
              <a:t>No uncontrolled write-back.</a:t>
            </a:r>
          </a:p>
          <a:p/>
          <a:p>
            <a:r>
              <a:t>People + channels</a:t>
            </a:r>
          </a:p>
          <a:p>
            <a:r>
              <a:t>Role queues</a:t>
            </a:r>
          </a:p>
          <a:p>
            <a:r>
              <a:t>Supported resident routes</a:t>
            </a:r>
          </a:p>
          <a:p>
            <a:r>
              <a:t>Scoped supplier exchange.</a:t>
            </a:r>
          </a:p>
          <a:p/>
          <a:p/>
          <a:p/>
          <a:p>
            <a:r>
              <a:t>Target context — links proposed, not all delivered. Excel reports.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Change the handoffs, not the whole company.</a:t>
            </a:r>
          </a:p>
          <a:p>
            <a:r>
              <a:t>KEEP</a:t>
            </a:r>
          </a:p>
          <a:p>
            <a:r>
              <a:t>Teams, suppliers,</a:t>
            </a:r>
          </a:p>
          <a:p>
            <a:r>
              <a:t>useful systems.</a:t>
            </a:r>
          </a:p>
          <a:p>
            <a:r>
              <a:t>ADD</a:t>
            </a:r>
          </a:p>
          <a:p>
            <a:r>
              <a:t>One case, owned transitions,</a:t>
            </a:r>
          </a:p>
          <a:p>
            <a:r>
              <a:t>evidence, bounded assistance.</a:t>
            </a:r>
          </a:p>
          <a:p>
            <a:r>
              <a:t>Excel becomes reporting after a controlled transition.</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06 - Every handoff needs an owner and a next action.</a:t>
            </a:r>
          </a:p>
          <a:p>
            <a:r>
              <a:t>Topic sentinel: work contract</a:t>
            </a:r>
          </a:p>
          <a:p>
            <a:r>
              <a:t>Message: observable work starts with a work contract, not a dashboard.</a:t>
            </a:r>
          </a:p>
          <a:p>
            <a:r>
              <a:t>Status: strategist-recommended proposal; refreshed 14 October 2026.</a:t>
            </a:r>
          </a:p>
          <a:p/>
          <a:p>
            <a:r>
              <a:t>"The sender retains chase responsibility until the receiver</a:t>
            </a:r>
          </a:p>
          <a:p>
            <a:r>
              <a:t>  accepts. Record the next action, resident-update owner and relevant clocks.</a:t>
            </a:r>
          </a:p>
          <a:p>
            <a:r>
              <a:t>  Material evidence changes reopen dependent reviews, not unrelated sibling</a:t>
            </a:r>
          </a:p>
          <a:p>
            <a:r>
              <a:t>  decisions. Recording itself costs effort; include it in the value test.</a:t>
            </a:r>
          </a:p>
          <a:p>
            <a:r>
              <a:t>  Hazard intake remains independent of routine handoff waiting."</a:t>
            </a:r>
          </a:p>
          <a:p>
            <a:r>
              <a:t>* Transition: "Follow that contract through one home."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Every handoff needs an owner and a next action.</a:t>
            </a:r>
          </a:p>
          <a:p>
            <a:r>
              <a:t>Owner + receiver</a:t>
            </a:r>
          </a:p>
          <a:p>
            <a:r>
              <a:t>Sender chases until accepted.</a:t>
            </a:r>
          </a:p>
          <a:p>
            <a:r>
              <a:t>State</a:t>
            </a:r>
          </a:p>
          <a:p>
            <a:r>
              <a:t>What is actually true now?</a:t>
            </a:r>
          </a:p>
          <a:p>
            <a:r>
              <a:t>Entry, exit, pause</a:t>
            </a:r>
          </a:p>
          <a:p>
            <a:r>
              <a:t>Explicit conditions and holds.</a:t>
            </a:r>
          </a:p>
          <a:p>
            <a:r>
              <a:t>Blocker + next action</a:t>
            </a:r>
          </a:p>
          <a:p>
            <a:r>
              <a:t>Named action and update owner.</a:t>
            </a:r>
          </a:p>
          <a:p>
            <a:r>
              <a:t>Evidence version</a:t>
            </a:r>
          </a:p>
          <a:p>
            <a:r>
              <a:t>Reopen dependent reviews.</a:t>
            </a:r>
          </a:p>
          <a:p>
            <a:r>
              <a:t>Decision + reason</a:t>
            </a:r>
          </a:p>
          <a:p>
            <a:r>
              <a:t>Authority, rationale, history.</a:t>
            </a:r>
          </a:p>
          <a:p>
            <a:r>
              <a:t>Sent ≠ accepted. Completed ≠ handed over.</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07 - One home shows the journey we still need to prove.</a:t>
            </a:r>
          </a:p>
          <a:p>
            <a:r>
              <a:t>Topic sentinel: connected journey</a:t>
            </a:r>
          </a:p>
          <a:p>
            <a:r>
              <a:t>Message: the connected target is broader than the observed service proof.</a:t>
            </a:r>
          </a:p>
          <a:p>
            <a:r>
              <a:t>Status: strategist-recommended proposal; refreshed 14 October 2026.</a:t>
            </a:r>
          </a:p>
          <a:p/>
          <a:p>
            <a:r>
              <a:t>"Imagine one home with conflicting EPC sources. The dependent</a:t>
            </a:r>
          </a:p>
          <a:p>
            <a:r>
              <a:t>  decision waits for a named resolver. Competent assessment and design,</a:t>
            </a:r>
          </a:p>
          <a:p>
            <a:r>
              <a:t>  resident measure choice, funding and capacity precede work release.</a:t>
            </a:r>
          </a:p>
          <a:p>
            <a:r>
              <a:t>  Returned evidence may reveal a defect: an independent authority sends it</a:t>
            </a:r>
          </a:p>
          <a:p>
            <a:r>
              <a:t>  back, then accepts corrected work. Resident handover and financial closure</a:t>
            </a:r>
          </a:p>
          <a:p>
            <a:r>
              <a:t>  are separate. This is the required connected story, not proof those steps</a:t>
            </a:r>
          </a:p>
          <a:p>
            <a:r>
              <a:t>  have all run. The current technical receipt later proves proposal generation</a:t>
            </a:r>
          </a:p>
          <a:p>
            <a:r>
              <a:t>  and durability, not physical delivery or this whole workflow."</a:t>
            </a:r>
          </a:p>
          <a:p>
            <a:r>
              <a:t>* Transition: "The resident and crew make that journey possible."</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p>
            <a:r>
              <a:t>Planned allocation: 60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One home shows the journey we still need to prove.</a:t>
            </a:r>
          </a:p>
          <a:p>
            <a:r>
              <a:t>1  Resolve</a:t>
            </a:r>
          </a:p>
          <a:p>
            <a:r>
              <a:t>Conflicting evidence.</a:t>
            </a:r>
          </a:p>
          <a:p>
            <a:r>
              <a:t>Named resolver.</a:t>
            </a:r>
          </a:p>
          <a:p>
            <a:r>
              <a:t>2  Agree</a:t>
            </a:r>
          </a:p>
          <a:p>
            <a:r>
              <a:t>Scope, resident choice,</a:t>
            </a:r>
          </a:p>
          <a:p>
            <a:r>
              <a:t>funding, capacity.</a:t>
            </a:r>
          </a:p>
          <a:p>
            <a:r>
              <a:t>3  Deliver</a:t>
            </a:r>
          </a:p>
          <a:p>
            <a:r>
              <a:t>Inspect work.</a:t>
            </a:r>
          </a:p>
          <a:p>
            <a:r>
              <a:t>Return defects.</a:t>
            </a:r>
          </a:p>
          <a:p>
            <a:r>
              <a:t>4  Accept</a:t>
            </a:r>
          </a:p>
          <a:p>
            <a:r>
              <a:t>Resident handover.</a:t>
            </a:r>
          </a:p>
          <a:p>
            <a:r>
              <a:t>Finance closes separately.</a:t>
            </a:r>
          </a:p>
          <a:p>
            <a:r>
              <a:t>Hold / return → named, competent human owner</a:t>
            </a:r>
          </a:p>
          <a:p>
            <a:r>
              <a:t>Illustrative exercise journey — not an executed end-to-end customer outcome.</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08 - A resident is not a scheduling variable.</a:t>
            </a:r>
          </a:p>
          <a:p>
            <a:r>
              <a:t>Topic sentinel: dignity/capacity</a:t>
            </a:r>
          </a:p>
          <a:p>
            <a:r>
              <a:t>Message: choice, supported contact and real capacity precede release.</a:t>
            </a:r>
          </a:p>
          <a:p>
            <a:r>
              <a:t>Status: strategist-recommended proposal; refreshed 14 October 2026.</a:t>
            </a:r>
          </a:p>
          <a:p/>
          <a:p>
            <a:r>
              <a:t>"Let us understand what residents and staff need before calling</a:t>
            </a:r>
          </a:p>
          <a:p>
            <a:r>
              <a:t>  a journey usable. No compulsory portal. Disclosed adjustments are not a</a:t>
            </a:r>
          </a:p>
          <a:p>
            <a:r>
              <a:t>  licence to share diagnoses. Staff review communications and own exceptions;</a:t>
            </a:r>
          </a:p>
          <a:p>
            <a:r>
              <a:t>  the service does not automatically send, book or instruct. Missed access</a:t>
            </a:r>
          </a:p>
          <a:p>
            <a:r>
              <a:t>  calls for investigation, not inferred withdrawal or deprioritisation.</a:t>
            </a:r>
          </a:p>
          <a:p>
            <a:r>
              <a:t>  Direct human research and accessibility acceptance remain outstanding."</a:t>
            </a:r>
          </a:p>
          <a:p>
            <a:r>
              <a:t>* Transition: "Trust also needs an explanation another person can inspect."</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Slot prerequisite: committed competent capacity plus resident measure-specific choice. A proposed slot is not consent.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A resident is not a scheduling variable.</a:t>
            </a:r>
          </a:p>
          <a:p>
            <a:r>
              <a:t>Resident</a:t>
            </a:r>
          </a:p>
          <a:p>
            <a:r>
              <a:t>Clear options.</a:t>
            </a:r>
          </a:p>
          <a:p>
            <a:r>
              <a:t>Safe phone, letter or assisted route.</a:t>
            </a:r>
          </a:p>
          <a:p>
            <a:r>
              <a:t>Measure-specific choice.</a:t>
            </a:r>
          </a:p>
          <a:p>
            <a:r>
              <a:t>Delivery</a:t>
            </a:r>
          </a:p>
          <a:p>
            <a:r>
              <a:t>Committed crew, competence,</a:t>
            </a:r>
          </a:p>
          <a:p>
            <a:r>
              <a:t>materials and named liaison.</a:t>
            </a:r>
          </a:p>
          <a:p>
            <a:r>
              <a:t>Preferences ≠ consent. Silence/no-access ≠ refusal.</a:t>
            </a:r>
          </a:p>
          <a:p>
            <a:r>
              <a:t>Human hazard route — never wait for AI.</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09 - Show the decision trace, not just an AI explanation.</a:t>
            </a:r>
          </a:p>
          <a:p>
            <a:r>
              <a:t>Topic sentinel: decision trace</a:t>
            </a:r>
          </a:p>
          <a:p>
            <a:r>
              <a:t>Message: source, rule, reviewer and change history make a decision inspectable.</a:t>
            </a:r>
          </a:p>
          <a:p>
            <a:r>
              <a:t>Status: strategist-recommended proposal; refreshed 14 October 2026.</a:t>
            </a:r>
          </a:p>
          <a:p/>
          <a:p>
            <a:r>
              <a:t>"A generated explanation cannot substitute for source and approval</a:t>
            </a:r>
          </a:p>
          <a:p>
            <a:r>
              <a:t>  records. Retain the applicable versions, reason, reviewer and timestamp.</a:t>
            </a:r>
          </a:p>
          <a:p>
            <a:r>
              <a:t>  Changed sources invalidate dependent reviews. Legal and professional</a:t>
            </a:r>
          </a:p>
          <a:p>
            <a:r>
              <a:t>  interpretations need accountable review before rules change; the repository</a:t>
            </a:r>
          </a:p>
          <a:p>
            <a:r>
              <a:t>  is dated evidence, not a self-updating legal authority. Current assistant</a:t>
            </a:r>
          </a:p>
          <a:p>
            <a:r>
              <a:t>  citations bind captured categories/metadata, not proof every conclusion is</a:t>
            </a:r>
          </a:p>
          <a:p>
            <a:r>
              <a:t>  supported by a document passage."</a:t>
            </a:r>
          </a:p>
          <a:p>
            <a:r>
              <a:t>* Transition: "The workbench sits beside the systems that supply those facts."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Here is the small service core supporting that decision trace.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Show the decision trace, not just an AI explanation.</a:t>
            </a:r>
          </a:p>
          <a:p>
            <a:r>
              <a:t>Know</a:t>
            </a:r>
          </a:p>
          <a:p>
            <a:r>
              <a:t>Source + evidence</a:t>
            </a:r>
          </a:p>
          <a:p>
            <a:r>
              <a:t>version + unknowns.</a:t>
            </a:r>
          </a:p>
          <a:p>
            <a:r>
              <a:t>Decide</a:t>
            </a:r>
          </a:p>
          <a:p>
            <a:r>
              <a:t>Rule + result +</a:t>
            </a:r>
          </a:p>
          <a:p>
            <a:r>
              <a:t>reviewer + reason.</a:t>
            </a:r>
          </a:p>
          <a:p>
            <a:r>
              <a:t>Change</a:t>
            </a:r>
          </a:p>
          <a:p>
            <a:r>
              <a:t>Authority + dependent</a:t>
            </a:r>
          </a:p>
          <a:p>
            <a:r>
              <a:t>re-review + preserved</a:t>
            </a:r>
          </a:p>
          <a:p>
            <a:r>
              <a:t>history.</a:t>
            </a:r>
          </a:p>
          <a:p>
            <a:r>
              <a:t>New source ≠ approved new policy.</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10 - One API supports the work. People retain authority.</a:t>
            </a:r>
          </a:p>
          <a:p>
            <a:r>
              <a:t>Topic sentinel: system context</a:t>
            </a:r>
          </a:p>
          <a:p>
            <a:r>
              <a:t>Message: retain source ownership while connecting case work.</a:t>
            </a:r>
          </a:p>
          <a:p>
            <a:r>
              <a:t>Status: strategist-recommended proposal; refreshed 14 October 2026.</a:t>
            </a:r>
          </a:p>
          <a:p/>
          <a:p>
            <a:r>
              <a:t>"The arrow is from source material into validated intake, not an</a:t>
            </a:r>
          </a:p>
          <a:p>
            <a:r>
              <a:t>  uncontrolled write-back loop. The case connects home, building and package</a:t>
            </a:r>
          </a:p>
          <a:p>
            <a:r>
              <a:t>  context with roles and evidence. Residents and suppliers need supported,</a:t>
            </a:r>
          </a:p>
          <a:p>
            <a:r>
              <a:t>  scoped exchange, not open access to the internal staff workbench.</a:t>
            </a:r>
          </a:p>
          <a:p>
            <a:r>
              <a:t>  Housing/repairs integrations, M365 document channels and import transition</a:t>
            </a:r>
          </a:p>
          <a:p>
            <a:r>
              <a:t>  remain proposals or unverified. An integration picture is not a deployed</a:t>
            </a:r>
          </a:p>
          <a:p>
            <a:r>
              <a:t>  connection receipt."</a:t>
            </a:r>
          </a:p>
          <a:p>
            <a:r>
              <a:t>* Transition: "The API is the authority boundary, not the model."</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55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The services explain where work lives; the next view explains who may change it.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Individual unmodified official Azure SVG assets are locally rasterised for product icons; native containers, labels and connectors remain editable.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Source flow 49eb2c57b645018054c3: people -&gt; workbench; native exec-staff-api-segment-1.</a:t>
            </a:r>
          </a:p>
          <a:p>
            <a:r>
              <a:t>Source flow e6eb29489d099f0f5f23: identity -&gt; workbench; native exec-entra-api-segment-1.</a:t>
            </a:r>
          </a:p>
          <a:p>
            <a:r>
              <a:t>Source flow 6d6081a84b6e7b457b07: workbench -&gt; model; native exec-api-model-segment-1.</a:t>
            </a:r>
          </a:p>
          <a:p>
            <a:r>
              <a:t>Source flow 5395764f763f83e55954: workbench -&gt; sql; native exec-api-sql-segment-1.</a:t>
            </a:r>
          </a:p>
          <a:p>
            <a:r>
              <a:t>Source flow 67c47731b51938d553d0: workbench -&gt; blob; native exec-api-blob-segment-1.</a:t>
            </a:r>
          </a:p>
          <a:p>
            <a:r>
              <a:t>Source flow 0c4aef2041d759667f4e: decision -&gt; workbench; native exec-people-api-segment-1.</a:t>
            </a:r>
          </a:p>
          <a:p>
            <a:r>
              <a:t>VISIBLE NATIVE DIAGRAM TEXT EQUIVALENT (unspoken):</a:t>
            </a:r>
          </a:p>
          <a:p>
            <a:r>
              <a:t>ZAVA NORTH HOMES / ZAVA FORWARD / EXECUTIVE PROPOSAL</a:t>
            </a:r>
          </a:p>
          <a:p>
            <a:r>
              <a:t>One API supports the work. People retain authority.</a:t>
            </a:r>
          </a:p>
          <a:p>
            <a:r>
              <a:t>14 OCT 2026 | S16 + retained sources/status in notes</a:t>
            </a:r>
          </a:p>
          <a:p>
            <a:r>
              <a:t>10 / 24</a:t>
            </a:r>
          </a:p>
          <a:p>
            <a:r>
              <a:t>Staff assist</a:t>
            </a:r>
          </a:p>
          <a:p>
            <a:r>
              <a:t>residents</a:t>
            </a:r>
          </a:p>
          <a:p>
            <a:r>
              <a:t>HUMAN | requests</a:t>
            </a:r>
          </a:p>
          <a:p>
            <a:r>
              <a:t>Phone/letter/help.</a:t>
            </a:r>
          </a:p>
          <a:p>
            <a:r>
              <a:t>No resident portal.</a:t>
            </a:r>
          </a:p>
          <a:p>
            <a:r>
              <a:t>People own</a:t>
            </a:r>
          </a:p>
          <a:p>
            <a:r>
              <a:t>approval</a:t>
            </a:r>
          </a:p>
          <a:p>
            <a:r>
              <a:t>HUMAN | approves</a:t>
            </a:r>
          </a:p>
          <a:p>
            <a:r>
              <a:t>Resident + Finance.</a:t>
            </a:r>
          </a:p>
          <a:p>
            <a:r>
              <a:t>Professionals; QA.</a:t>
            </a:r>
          </a:p>
          <a:p>
            <a:r>
              <a:t>Microsoft Entra ID | CONFIGURED</a:t>
            </a:r>
          </a:p>
          <a:p>
            <a:r>
              <a:t>Microsoft sign-in; role-limited access.</a:t>
            </a:r>
          </a:p>
          <a:p>
            <a:r>
              <a:t>Azure Container Apps</a:t>
            </a:r>
          </a:p>
          <a:p>
            <a:r>
              <a:t>CORE | one workbench + Python API.</a:t>
            </a:r>
          </a:p>
          <a:p>
            <a:r>
              <a:t>Workflow + five assistant modules.</a:t>
            </a:r>
          </a:p>
          <a:p>
            <a:r>
              <a:t>Azure OpenAI</a:t>
            </a:r>
          </a:p>
          <a:p>
            <a:r>
              <a:t>CONDITIONAL | draft only</a:t>
            </a:r>
          </a:p>
          <a:p>
            <a:r>
              <a:t>Scoped request; usage back.</a:t>
            </a:r>
          </a:p>
          <a:p>
            <a:r>
              <a:t>No DB/workflow credentials.</a:t>
            </a:r>
          </a:p>
          <a:p>
            <a:r>
              <a:t>Azure SQL</a:t>
            </a:r>
          </a:p>
          <a:p>
            <a:r>
              <a:t>CORE | records</a:t>
            </a:r>
          </a:p>
          <a:p>
            <a:r>
              <a:t>Proposals / audit</a:t>
            </a:r>
          </a:p>
          <a:p>
            <a:r>
              <a:t>Azure Blob</a:t>
            </a:r>
          </a:p>
          <a:p>
            <a:r>
              <a:t>CONFIGURED</a:t>
            </a:r>
          </a:p>
          <a:p>
            <a:r>
              <a:t>Files; SQL hashes</a:t>
            </a:r>
          </a:p>
          <a:p>
            <a:r>
              <a:t>SQL persistence:</a:t>
            </a:r>
          </a:p>
          <a:p>
            <a:r>
              <a:t>recorded technical evidence</a:t>
            </a:r>
          </a:p>
          <a:p>
            <a:r>
              <a:t>Five-assistant authority absent / proactive OFF.</a:t>
            </a:r>
          </a:p>
          <a:p>
            <a:r>
              <a:t>Human and value acceptance outstanding.</a:t>
            </a:r>
          </a:p>
          <a:p>
            <a:r>
              <a:t>Runtime detail: slide 19</a:t>
            </a:r>
          </a:p>
          <a:p>
            <a:r>
              <a:t>Full source views: docs/architecture/zava-forward-executive-architecture.excalidraw / .svg / .png; docs/architecture/zava-forward-technical-architecture.excalidraw / .svg / .png. README and assets/README hold source/status/provenance.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One workbench beside the systems you keep.</a:t>
            </a:r>
          </a:p>
          <a:p>
            <a:r>
              <a:t>Existing sources</a:t>
            </a:r>
          </a:p>
          <a:p>
            <a:r>
              <a:t>Housing / repairs</a:t>
            </a:r>
          </a:p>
          <a:p>
            <a:r>
              <a:t>Documents / spreadsheets</a:t>
            </a:r>
          </a:p>
          <a:p>
            <a:r>
              <a:t>Source owners retain authority.</a:t>
            </a:r>
          </a:p>
          <a:p>
            <a:r>
              <a:t>Shared case</a:t>
            </a:r>
          </a:p>
          <a:p>
            <a:r>
              <a:t>Validated intake</a:t>
            </a:r>
          </a:p>
          <a:p>
            <a:r>
              <a:t>Versions + owned work</a:t>
            </a:r>
          </a:p>
          <a:p>
            <a:r>
              <a:t>No uncontrolled write-back.</a:t>
            </a:r>
          </a:p>
          <a:p>
            <a:r>
              <a:t>People + channels</a:t>
            </a:r>
          </a:p>
          <a:p>
            <a:r>
              <a:t>Role queues</a:t>
            </a:r>
          </a:p>
          <a:p>
            <a:r>
              <a:t>Supported resident routes</a:t>
            </a:r>
          </a:p>
          <a:p>
            <a:r>
              <a:t>Scoped supplier exchange.</a:t>
            </a:r>
          </a:p>
          <a:p>
            <a:r>
              <a:t>Target context — links proposed, not all delivered. Excel reports.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11 - Models propose. People and rules control change.</a:t>
            </a:r>
          </a:p>
          <a:p>
            <a:r>
              <a:t>Topic sentinel: control flow</a:t>
            </a:r>
          </a:p>
          <a:p>
            <a:r>
              <a:t>Message: the existing lean runtime preserves a separate human/domain write path.</a:t>
            </a:r>
          </a:p>
          <a:p>
            <a:r>
              <a:t>Status: strategist-recommended proposal; refreshed 14 October 2026.</a:t>
            </a:r>
          </a:p>
          <a:p/>
          <a:p>
            <a:r>
              <a:t>"The current exercise reuses the existing workbench, API, SQL</a:t>
            </a:r>
          </a:p>
          <a:p>
            <a:r>
              <a:t>  and model connection. Calls occur outside case/database locks. Typed</a:t>
            </a:r>
          </a:p>
          <a:p>
            <a:r>
              <a:t>  validation and source permissions surround the model; proposal review only</a:t>
            </a:r>
          </a:p>
          <a:p>
            <a:r>
              <a:t>  changes proposal/audit state. Human source verification must precede</a:t>
            </a:r>
          </a:p>
          <a:p>
            <a:r>
              <a:t>  acceptance, and proposal acceptance still is not work or financial approval.</a:t>
            </a:r>
          </a:p>
          <a:p>
            <a:r>
              <a:t>  The broader proposed queue/private-network/durable-worker estate is not</a:t>
            </a:r>
          </a:p>
          <a:p>
            <a:r>
              <a:t>  this deployment. Manual case work remains available when assistance fails,</a:t>
            </a:r>
          </a:p>
          <a:p>
            <a:r>
              <a:t>  expires or is disabled. Full identity, leakage, restore and role assurance</a:t>
            </a:r>
          </a:p>
          <a:p>
            <a:r>
              <a:t>  are separate evidence gates."</a:t>
            </a:r>
          </a:p>
          <a:p>
            <a:r>
              <a:t>* Transition: "Here is what we can actually substantiate today."</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Now separate that design boundary from the evidence actually recorded.</a:t>
            </a:r>
          </a:p>
          <a:p>
            <a:r>
              <a:t>Accepting a proposal is a separate review request, not domain approval. Manual controlled work remains available; model calls do not span SQL locks.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Let models propose; keep decisions on the controlled path.</a:t>
            </a:r>
          </a:p>
          <a:p>
            <a:r>
              <a:t>PROPOSAL PATH  /  observed operator integration; staff acceptance open</a:t>
            </a:r>
          </a:p>
          <a:p>
            <a:r>
              <a:t>Request → API</a:t>
            </a:r>
          </a:p>
          <a:p>
            <a:r>
              <a:t>Permitted task.</a:t>
            </a:r>
          </a:p>
          <a:p>
            <a:r>
              <a:t>Snapshot → model</a:t>
            </a:r>
          </a:p>
          <a:p>
            <a:r>
              <a:t>Bounded proposal.</a:t>
            </a:r>
          </a:p>
          <a:p>
            <a:r>
              <a:t>Human review</a:t>
            </a:r>
          </a:p>
          <a:p>
            <a:r>
              <a:t>Verify sources first.</a:t>
            </a:r>
          </a:p>
          <a:p>
            <a:r>
              <a:t>SEPARATE CONTROLLED PATH  /  authority remains with people and rules</a:t>
            </a:r>
          </a:p>
          <a:p>
            <a:r>
              <a:t>Authorized action</a:t>
            </a:r>
          </a:p>
          <a:p>
            <a:r>
              <a:t>Effective authority.</a:t>
            </a:r>
          </a:p>
          <a:p>
            <a:r>
              <a:t>Deterministic gates</a:t>
            </a:r>
          </a:p>
          <a:p>
            <a:r>
              <a:t>Holds + evidence.</a:t>
            </a:r>
          </a:p>
          <a:p>
            <a:r>
              <a:t>SQL + audit</a:t>
            </a:r>
          </a:p>
          <a:p>
            <a:r>
              <a:t>Controlled write.</a:t>
            </a:r>
          </a:p>
          <a:p>
            <a:r>
              <a:t>Model cannot approve, send, book, pay or clear a hold.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12 - Five real proposal paths. No delegated decisions.</a:t>
            </a:r>
          </a:p>
          <a:p>
            <a:r>
              <a:t>Topic sentinel: task fit and technical proof</a:t>
            </a:r>
          </a:p>
          <a:p>
            <a:r>
              <a:t>Message: observed operator-service integration is real; human/value acceptance is open.</a:t>
            </a:r>
          </a:p>
          <a:p>
            <a:r>
              <a:t>Status: strategist-recommended proposal; refreshed 14 October 2026.</a:t>
            </a:r>
          </a:p>
          <a:p/>
          <a:p>
            <a:r>
              <a:t>* 0–15: "The hook is evidence assembly without changing the controlled</a:t>
            </a:r>
          </a:p>
          <a:p>
            <a:r>
              <a:t>    case. This is recorded operator-service proof, not a live staff demo."</a:t>
            </a:r>
          </a:p>
          <a:p>
            <a:r>
              <a:t>  * 15–40: point to the five-path receipt and registered names in S10/S11:</a:t>
            </a:r>
          </a:p>
          <a:p>
            <a:r>
              <a:t>    stock, assessment, funding, coordination and quality; all returned</a:t>
            </a:r>
          </a:p>
          <a:p>
            <a:r>
              <a:t>    distinct citation-validated ready proposals from Azure OpenAI standard /</a:t>
            </a:r>
          </a:p>
          <a:p>
            <a:r>
              <a:t>    gpt-4.1-mini-2025-04-14. Show only aggregate/public repository evidence.</a:t>
            </a:r>
          </a:p>
          <a:p>
            <a:r>
              <a:t>  * 40–70: show the receipt's independent SQL/content/restart result.</a:t>
            </a:r>
          </a:p>
          <a:p>
            <a:r>
              <a:t>    "Generation left the controlled domain unchanged; persisted proposal</a:t>
            </a:r>
          </a:p>
          <a:p>
            <a:r>
              <a:t>    contents and usage survived the actual revision restart. The old</a:t>
            </a:r>
          </a:p>
          <a:p>
            <a:r>
              <a:t>    recommendations and audit were deliberately reset before this new</a:t>
            </a:r>
          </a:p>
          <a:p>
            <a:r>
              <a:t>    baseline; this was not an unchanged-history migration."</a:t>
            </a:r>
          </a:p>
          <a:p>
            <a:r>
              <a:t>  * 70–95: "Ready means a valid, unreviewed proposal. It does not mean</a:t>
            </a:r>
          </a:p>
          <a:p>
            <a:r>
              <a:t>    correct, source-verified by a human, accepted or useful. This bypassed</a:t>
            </a:r>
          </a:p>
          <a:p>
            <a:r>
              <a:t>    neither the staff-session gate nor professional decisions: it was</a:t>
            </a:r>
          </a:p>
          <a:p>
            <a:r>
              <a:t>    operator service execution, not staff browser/API acceptance."</a:t>
            </a:r>
          </a:p>
          <a:p>
            <a:r>
              <a:t>  * 95–110: "Five calls prove integration, not savings or autonomy. QA ended;</a:t>
            </a:r>
          </a:p>
          <a:p>
            <a:r>
              <a:t>    normal authority is absent and scans are off. Next are human acceptance</a:t>
            </a:r>
          </a:p>
          <a:p>
            <a:r>
              <a:t>    and a fair value test."</a:t>
            </a:r>
          </a:p>
          <a:p>
            <a:r>
              <a:t>* Recovery: if the local evidence view fails, pivot within 15s:</a:t>
            </a:r>
          </a:p>
          <a:p>
            <a:r>
              <a:t>  "The evidence view is unavailable; this native summary reports the</a:t>
            </a:r>
          </a:p>
          <a:p>
            <a:r>
              <a:t>  recorded receipt, not a live run. The result is five proposal paths and</a:t>
            </a:r>
          </a:p>
          <a:p>
            <a:r>
              <a:t>  durable contents. Staff, semantic and value acceptance remain open."</a:t>
            </a:r>
          </a:p>
          <a:p>
            <a:r>
              <a:t>  Stay inside 110s by shortening the middle walkthrough. Do not retry</a:t>
            </a:r>
          </a:p>
          <a:p>
            <a:r>
              <a:t>  inference, sign in, enable scans, reset data, manufacture source-review</a:t>
            </a:r>
          </a:p>
          <a:p>
            <a:r>
              <a:t>  clicks or display private native receipt/output files.</a:t>
            </a:r>
          </a:p>
          <a:p>
            <a:r>
              <a:t>* Transition: "Now place those bounded capabilities in the whole process."</a:t>
            </a:r>
          </a:p>
          <a:p/>
          <a:p>
            <a:r>
              <a:t>Sources — workspace-relative paths, section and evidence status; as read 14 October 2026:</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110 seconds; not rehearsed.</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Those five proposal paths serve these five human-owned stages.</a:t>
            </a:r>
          </a:p>
          <a:p>
            <a:r>
              <a:t>Synthetic context retained: 60,000 stock lineage; recreated 980 programme cases / 38 booked visits / 11 private staff bindings. Previous exercise audit/recommendations reset under explicit 14 October owner reauthorisation. No private details.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Five real proposal paths. No delegated decisions.</a:t>
            </a:r>
          </a:p>
          <a:p>
            <a:r>
              <a:t>OBSERVED</a:t>
            </a:r>
          </a:p>
          <a:p>
            <a:r>
              <a:t>5 distinct ready proposals</a:t>
            </a:r>
          </a:p>
          <a:p>
            <a:r>
              <a:t>5 real calls · 6,884 tokens</a:t>
            </a:r>
          </a:p>
          <a:p>
            <a:r>
              <a:t>15 ledger events</a:t>
            </a:r>
          </a:p>
          <a:p/>
          <a:p>
            <a:r>
              <a:t>Controlled state unchanged;</a:t>
            </a:r>
          </a:p>
          <a:p>
            <a:r>
              <a:t>proposal contents survived restart.</a:t>
            </a:r>
          </a:p>
          <a:p>
            <a:r>
              <a:t>STILL TO PROVE</a:t>
            </a:r>
          </a:p>
          <a:p>
            <a:r>
              <a:t>Staff browser/API + roles</a:t>
            </a:r>
          </a:p>
          <a:p>
            <a:r>
              <a:t>Human source verification</a:t>
            </a:r>
          </a:p>
          <a:p>
            <a:r>
              <a:t>Semantic correctness + value</a:t>
            </a:r>
          </a:p>
          <a:p/>
          <a:p>
            <a:r>
              <a:t>Current authority absent.</a:t>
            </a:r>
          </a:p>
          <a:p>
            <a:r>
              <a:t>Proactive OFF; gates OPEN.</a:t>
            </a:r>
          </a:p>
          <a:p>
            <a:r>
              <a:t>Recorded operator-service proof · 14 October · image05 / e0254cb3 · revision12</a:t>
            </a:r>
          </a:p>
          <a:p>
            <a:r>
              <a:t>Synthetic baseline: 980 cases / 38 visits / 11 private staff bindings. No identity details.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14 - See cash before optimism.</a:t>
            </a:r>
          </a:p>
          <a:p>
            <a:r>
              <a:t>Topic sentinel: fictional cash</a:t>
            </a:r>
          </a:p>
          <a:p>
            <a:r>
              <a:t>Message: an award or claim is not cash, and fictional economics are not a budget.</a:t>
            </a:r>
          </a:p>
          <a:p>
            <a:r>
              <a:t>Status: strategist-recommended proposal; refreshed 14 October 2026.</a:t>
            </a:r>
          </a:p>
          <a:p/>
          <a:p>
            <a:r>
              <a:t>"These are the selected home-cost fixtures, not a company budget,</a:t>
            </a:r>
          </a:p>
          <a:p>
            <a:r>
              <a:t>  grant allocation, liquidity position or approved scheme calculation.</a:t>
            </a:r>
          </a:p>
          <a:p>
            <a:r>
              <a:t>  Before receipt the gross base cash exposure remains twenty thousand.</a:t>
            </a:r>
          </a:p>
          <a:p>
            <a:r>
              <a:t>  Whole-life technology, integration, training, review, assurance, financing,</a:t>
            </a:r>
          </a:p>
          <a:p>
            <a:r>
              <a:t>  support and exit cost need their own appraisal. Five calls and token limits</a:t>
            </a:r>
          </a:p>
          <a:p>
            <a:r>
              <a:t>  do not establish a currency cap or cost per accepted home. The historical</a:t>
            </a:r>
          </a:p>
          <a:p>
            <a:r>
              <a:t>  exercise budget and scoped #58 override are not today's appropriation."</a:t>
            </a:r>
          </a:p>
          <a:p>
            <a:r>
              <a:t>* Transition: "Affordability also depends on making transition usable."</a:t>
            </a:r>
          </a:p>
          <a:p/>
          <a:p>
            <a:r>
              <a:t>Sources — workspace-relative paths, section and evidence status; as read 14 October 2026:</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S09: infra/README.md, Five-assistant version: current handover. Status: Exact serving/source/model/SQL/restart receipt and authority-off state, 14 October; no fresh cloud inspection in this task.</a:t>
            </a:r>
          </a:p>
          <a:p/>
          <a:p>
            <a:r>
              <a:t>Planned allocation: 50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prerequisite: accepted evidence plus separate application/award/claim/cash ledger states. A form is not funding. This is not technology price or budget.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See cash before optimism.</a:t>
            </a:r>
          </a:p>
          <a:p>
            <a:r>
              <a:t>FICTIONAL EXA-010/015  /  not a workbench price or award</a:t>
            </a:r>
          </a:p>
          <a:p>
            <a:r>
              <a:t>BEFORE GRANT RECEIPT</a:t>
            </a:r>
          </a:p>
          <a:p>
            <a:r>
              <a:t>£20,000 gross base cash</a:t>
            </a:r>
          </a:p>
          <a:p>
            <a:r>
              <a:t>IF RECEIVED</a:t>
            </a:r>
          </a:p>
          <a:p>
            <a:r>
              <a:t>£7,500 fictional grant</a:t>
            </a:r>
          </a:p>
          <a:p>
            <a:r>
              <a:t>→ £12,500 provider base.</a:t>
            </a:r>
          </a:p>
          <a:p>
            <a:r>
              <a:t>IF CONTINGENCY SPENT</a:t>
            </a:r>
          </a:p>
          <a:p>
            <a:r>
              <a:t>£22,000 gross exposure</a:t>
            </a:r>
          </a:p>
          <a:p>
            <a:r>
              <a:t>£14,500 provider exposure.</a:t>
            </a:r>
          </a:p>
          <a:p>
            <a:r>
              <a:t>Application ≠ award ≠ claim ≠ cash.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15 - Make the first change small enough to learn.</a:t>
            </a:r>
          </a:p>
          <a:p>
            <a:r>
              <a:t>Topic sentinel: supported change</a:t>
            </a:r>
          </a:p>
          <a:p>
            <a:r>
              <a:t>Message: supported staged adoption must avoid permanent dual entry.</a:t>
            </a:r>
          </a:p>
          <a:p>
            <a:r>
              <a:t>Status: strategist-recommended proposal; refreshed 14 October 2026.</a:t>
            </a:r>
          </a:p>
          <a:p/>
          <a:p>
            <a:r>
              <a:t>"Programme and workbook owners establish tasks and baseline.</a:t>
            </a:r>
          </a:p>
          <a:p>
            <a:r>
              <a:t>  Data owners reconcile and own quarantine. Team leads support role tasks;</a:t>
            </a:r>
          </a:p>
          <a:p>
            <a:r>
              <a:t>  these walkthroughs are proposed, not a rehearsal already completed.</a:t>
            </a:r>
          </a:p>
          <a:p>
            <a:r>
              <a:t>  Digital and work owners agree exit tests and rollback before changing the</a:t>
            </a:r>
          </a:p>
          <a:p>
            <a:r>
              <a:t>  write path. Excel can then report from the controlled API. Count training,</a:t>
            </a:r>
          </a:p>
          <a:p>
            <a:r>
              <a:t>  recording and transition burden, and test accessible/non-digital routes</a:t>
            </a:r>
          </a:p>
          <a:p>
            <a:r>
              <a:t>  with people rather than declaring a scan score to be acceptance."</a:t>
            </a:r>
          </a:p>
          <a:p>
            <a:r>
              <a:t>* Transition: "The benefit test must distinguish a better process from better AI."</a:t>
            </a:r>
          </a:p>
          <a:p/>
          <a:p>
            <a:r>
              <a:t>Sources — workspace-relative paths, section and evidence status; as read 14 October 2026:</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r>
              <a:t>S12: docs/adrs/0001-azure-architecture.md, Hybrid M365 and Excel transition; Options still to compare; provisional appraisal. Status: Proposed transition/full topology and historical illustration, not current deployment or scored customer platform choice.</a:t>
            </a:r>
          </a:p>
          <a:p/>
          <a:p>
            <a:r>
              <a:t>Planned allocation: 30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Make the first change small enough to learn.</a:t>
            </a:r>
          </a:p>
          <a:p>
            <a:r>
              <a:t>Co-design</a:t>
            </a:r>
          </a:p>
          <a:p>
            <a:r>
              <a:t>tasks</a:t>
            </a:r>
          </a:p>
          <a:p>
            <a:r>
              <a:t>Programme +</a:t>
            </a:r>
          </a:p>
          <a:p>
            <a:r>
              <a:t>workbook owners.</a:t>
            </a:r>
          </a:p>
          <a:p>
            <a:r>
              <a:t>Shadow</a:t>
            </a:r>
          </a:p>
          <a:p>
            <a:r>
              <a:t>one-way import</a:t>
            </a:r>
          </a:p>
          <a:p>
            <a:r>
              <a:t>Data owners:</a:t>
            </a:r>
          </a:p>
          <a:p>
            <a:r>
              <a:t>reconcile + quarantine.</a:t>
            </a:r>
          </a:p>
          <a:p>
            <a:r>
              <a:t>Supported task</a:t>
            </a:r>
          </a:p>
          <a:p>
            <a:r>
              <a:t>walkthroughs</a:t>
            </a:r>
          </a:p>
          <a:p>
            <a:r>
              <a:t>Team leads:</a:t>
            </a:r>
          </a:p>
          <a:p>
            <a:r>
              <a:t>help + observe.</a:t>
            </a:r>
          </a:p>
          <a:p>
            <a:r>
              <a:t>Controlled switch</a:t>
            </a:r>
          </a:p>
          <a:p>
            <a:r>
              <a:t>and rollback</a:t>
            </a:r>
          </a:p>
          <a:p>
            <a:r>
              <a:t>Digital + work owners:</a:t>
            </a:r>
          </a:p>
          <a:p>
            <a:r>
              <a:t>exit tests first.</a:t>
            </a:r>
          </a:p>
          <a:p>
            <a:r>
              <a:t>Proposed owners. No permanent dual entry. No compulsory portal.</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16 - Prove the programme. Test the AI separately.</a:t>
            </a:r>
          </a:p>
          <a:p>
            <a:r>
              <a:t>Topic sentinel: two comparisons</a:t>
            </a:r>
          </a:p>
          <a:p>
            <a:r>
              <a:t>Message: a fair counterfactual, not a dashboard, establishes incremental value.</a:t>
            </a:r>
          </a:p>
          <a:p>
            <a:r>
              <a:t>Status: strategist-recommended proposal; refreshed 14 October 2026.</a:t>
            </a:r>
          </a:p>
          <a:p/>
          <a:p>
            <a:r>
              <a:t>"Compare changes against an instrumented pre-period and concurrent</a:t>
            </a:r>
          </a:p>
          <a:p>
            <a:r>
              <a:t>  matched delivery, logging shared staff/suppliers and displacement. The</a:t>
            </a:r>
          </a:p>
          <a:p>
            <a:r>
              <a:t>  twelve-month reconstruction is context, not the counterfactual by itself.</a:t>
            </a:r>
          </a:p>
          <a:p>
            <a:r>
              <a:t>  At task level pair the same inputs and count gathering, preparation,</a:t>
            </a:r>
          </a:p>
          <a:p>
            <a:r>
              <a:t>  review, correction, re-review and shifted burden. Proposed 20% cycle-time</a:t>
            </a:r>
          </a:p>
          <a:p>
            <a:r>
              <a:t>  and 25% coordination-effort reductions remain hypotheses, not ratified or</a:t>
            </a:r>
          </a:p>
          <a:p>
            <a:r>
              <a:t>  measured benefits. Cycle time is assessment-to-ready-to-install; accepted</a:t>
            </a:r>
          </a:p>
          <a:p>
            <a:r>
              <a:t>  handover is separate. Freeze definitions/thresholds before measurement;</a:t>
            </a:r>
          </a:p>
          <a:p>
            <a:r>
              <a:t>  keep the simpler path if AI fails value or quality tests."</a:t>
            </a:r>
          </a:p>
          <a:p>
            <a:r>
              <a:t>* Transition: "That tells us what the next gate must ask for."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50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Prove the programme. Test the AI separately.</a:t>
            </a:r>
          </a:p>
          <a:p>
            <a:r>
              <a:t>Programme comparison</a:t>
            </a:r>
          </a:p>
          <a:p>
            <a:r>
              <a:t>Matched existing teams.</a:t>
            </a:r>
          </a:p>
          <a:p>
            <a:r>
              <a:t>Frozen cohort; same events.</a:t>
            </a:r>
          </a:p>
          <a:p>
            <a:r>
              <a:t>Accepted handovers +</a:t>
            </a:r>
          </a:p>
          <a:p>
            <a:r>
              <a:t>whole-chain cost.</a:t>
            </a:r>
          </a:p>
          <a:p>
            <a:r>
              <a:t>Paired task comparison</a:t>
            </a:r>
          </a:p>
          <a:p>
            <a:r>
              <a:t>Same inputs: manual/rules</a:t>
            </a:r>
          </a:p>
          <a:p>
            <a:r>
              <a:t>versus assistance.</a:t>
            </a:r>
          </a:p>
          <a:p>
            <a:r>
              <a:t>Quality, net human effort,</a:t>
            </a:r>
          </a:p>
          <a:p>
            <a:r>
              <a:t>latency and cost.</a:t>
            </a:r>
          </a:p>
          <a:p>
            <a:r>
              <a:t>Include unfinished/withdrawn homes. Protect safety, choice, quality, equity + cash.</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17 - Earn the next gate; do not repeat the last proof.</a:t>
            </a:r>
          </a:p>
          <a:p>
            <a:r>
              <a:t>Topic sentinel: gates</a:t>
            </a:r>
          </a:p>
          <a:p>
            <a:r>
              <a:t>Message: proceed from delivered technical evidence to human and value evidence.</a:t>
            </a:r>
          </a:p>
          <a:p>
            <a:r>
              <a:t>Status: strategist-recommended proposal; refreshed 14 October 2026.</a:t>
            </a:r>
          </a:p>
          <a:p/>
          <a:p>
            <a:r>
              <a:t>"Historical v0.12 exercise approval does not approve the v0.14</a:t>
            </a:r>
          </a:p>
          <a:p>
            <a:r>
              <a:t>  candidate. Confirm requirements and actual delegations. RV-001 requires</a:t>
            </a:r>
          </a:p>
          <a:p>
            <a:r>
              <a:t>  representative staff with real sessions, roles, source verification and</a:t>
            </a:r>
          </a:p>
          <a:p>
            <a:r>
              <a:t>  accessible manual/failure paths. RV-002 requires semantic grading and paired</a:t>
            </a:r>
          </a:p>
          <a:p>
            <a:r>
              <a:t>  human-effort/quality/cost evidence. Expand restart proof to the necessary</a:t>
            </a:r>
          </a:p>
          <a:p>
            <a:r>
              <a:t>  recovery/restore evidence where appropriate. Return with explicit passed,</a:t>
            </a:r>
          </a:p>
          <a:p>
            <a:r>
              <a:t>  failed, blocked and not-run results; the owner then decides within a</a:t>
            </a:r>
          </a:p>
          <a:p>
            <a:r>
              <a:t>  separately scoped authority. Do not reopen delivered technical work merely</a:t>
            </a:r>
          </a:p>
          <a:p>
            <a:r>
              <a:t>  to simulate acceptance."</a:t>
            </a:r>
          </a:p>
          <a:p>
            <a:r>
              <a:t>* Transition: "Here is the decision I ask this council to make."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p>
            <a:r>
              <a:t>Planned allocation: 45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transition: The next decision is to prepare a scoped proposal, not enable a rollout.</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Earn the next gate; do not repeat the last proof.</a:t>
            </a:r>
          </a:p>
          <a:p>
            <a:r>
              <a:t>1  Confirm</a:t>
            </a:r>
          </a:p>
          <a:p>
            <a:r>
              <a:t>Requirements,</a:t>
            </a:r>
          </a:p>
          <a:p>
            <a:r>
              <a:t>owners, authority.</a:t>
            </a:r>
          </a:p>
          <a:p>
            <a:r>
              <a:t>2  Accept</a:t>
            </a:r>
          </a:p>
          <a:p>
            <a:r>
              <a:t>Real staff/session,</a:t>
            </a:r>
          </a:p>
          <a:p>
            <a:r>
              <a:t>source review, roles,</a:t>
            </a:r>
          </a:p>
          <a:p>
            <a:r>
              <a:t>accessibility.</a:t>
            </a:r>
          </a:p>
          <a:p>
            <a:r>
              <a:t>3  Compare</a:t>
            </a:r>
          </a:p>
          <a:p>
            <a:r>
              <a:t>Semantics, net effort,</a:t>
            </a:r>
          </a:p>
          <a:p>
            <a:r>
              <a:t>cost, recovery.</a:t>
            </a:r>
          </a:p>
          <a:p>
            <a:r>
              <a:t>4  Decide</a:t>
            </a:r>
          </a:p>
          <a:p>
            <a:r>
              <a:t>Continue,</a:t>
            </a:r>
          </a:p>
          <a:p>
            <a:r>
              <a:t>simplify or stop.</a:t>
            </a:r>
          </a:p>
          <a:p>
            <a:r>
              <a:t>Recorded operator proof is an input — not production approval.</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18 - Endorse the next acceptance-and-value proposal.</a:t>
            </a:r>
          </a:p>
          <a:p>
            <a:r>
              <a:t>Topic sentinel: decision</a:t>
            </a:r>
          </a:p>
          <a:p>
            <a:r>
              <a:t>Message: make a clear planning-only choice with named responsibilities.</a:t>
            </a:r>
          </a:p>
          <a:p>
            <a:r>
              <a:t>Status: strategist-recommended proposal; refreshed 14 October 2026.</a:t>
            </a:r>
          </a:p>
          <a:p/>
          <a:p>
            <a:r>
              <a:t>"The recommendation is yes to preparing the next bounded</a:t>
            </a:r>
          </a:p>
          <a:p>
            <a:r>
              <a:t>  acceptance-and-value proposal, not yes to autonomous rollout. Confirm</a:t>
            </a:r>
          </a:p>
          <a:p>
            <a:r>
              <a:t>  owners and delegations, require fair alternatives and whole-life costs,</a:t>
            </a:r>
          </a:p>
          <a:p>
            <a:r>
              <a:t>  and agree a return date rather than inventing one. If a critical control</a:t>
            </a:r>
          </a:p>
          <a:p>
            <a:r>
              <a:t>  fails or authority is absent, stop that activity. If AI adds no net value,</a:t>
            </a:r>
          </a:p>
          <a:p>
            <a:r>
              <a:t>  simplify it. We have real service evidence; now let assistance earn its</a:t>
            </a:r>
          </a:p>
          <a:p>
            <a:r>
              <a:t>  place in safe, resident-accepted handovers."</a:t>
            </a:r>
          </a:p>
          <a:p>
            <a:r>
              <a:t>* Transition: "Which gate would you most need resolved before supporting</a:t>
            </a:r>
          </a:p>
          <a:p>
            <a:r>
              <a:t>  the next proposal?" Then listen; use optional appendices only as needed.</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S10: .copilot-tracking/reviews/logs/2026-10-14/five-assistant-live-delivery-review.md, Completed Work; Validation; RV-001/RV-002; Outcome. Status: Technical Review Complete / Residual work, not blanket product conformance.</a:t>
            </a:r>
          </a:p>
          <a:p/>
          <a:p>
            <a:r>
              <a:t>Planned allocation: 35 seconds; not rehearsed.</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Critical safety/rights/authority failure stops affected work. No incremental AI value -&gt; simplify. Unresolved evidence -&gt; return with named owner and status. Roles are proposals, not approved corporate delegations; date is to agree, not invented.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Endorse the next evidence proposal.</a:t>
            </a:r>
          </a:p>
          <a:p>
            <a:r>
              <a:t>CEO / Assets</a:t>
            </a:r>
          </a:p>
          <a:p>
            <a:r>
              <a:t>Sponsor +</a:t>
            </a:r>
          </a:p>
          <a:p>
            <a:r>
              <a:t>accountable owners.</a:t>
            </a:r>
          </a:p>
          <a:p>
            <a:r>
              <a:t>CIO / Programme</a:t>
            </a:r>
          </a:p>
          <a:p>
            <a:r>
              <a:t>Human, permission</a:t>
            </a:r>
          </a:p>
          <a:p>
            <a:r>
              <a:t>and recovery evidence.</a:t>
            </a:r>
          </a:p>
          <a:p>
            <a:r>
              <a:t>CFO</a:t>
            </a:r>
          </a:p>
          <a:p>
            <a:r>
              <a:t>Whole-life affordability</a:t>
            </a:r>
          </a:p>
          <a:p>
            <a:r>
              <a:t>+ scoped authority review.</a:t>
            </a:r>
          </a:p>
          <a:p>
            <a:r>
              <a:t>Agree the return date and stop tests.</a:t>
            </a:r>
          </a:p>
          <a:p>
            <a:r>
              <a:t>No new procurement, spending, rollout or production authority.</a:t>
            </a:r>
          </a:p>
          <a:p>
            <a:r>
              <a:t>Whole-life affordability</a:t>
            </a:r>
          </a:p>
          <a:p>
            <a:r>
              <a:t>scoped authority review.</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19 - One runtime. Proposals are not domain approvals.</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Individual unmodified official Azure SVG assets are locally rasterised for product icons; native containers, labels and connectors remain editable.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RETAINED TECHNICAL LIMITS FROM19:</a:t>
            </a:r>
          </a:p>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r>
              <a:t>ZAVA NORTH HOMES  /  ZAVA FORWARD  /  OPTIONAL REFERENCE</a:t>
            </a:r>
          </a:p>
          <a:p/>
          <a:p/>
          <a:p>
            <a:r>
              <a:t>Technical challenge: bounded does not mean fully assured.</a:t>
            </a:r>
          </a:p>
          <a:p>
            <a:r>
              <a:t>14 OCT 2026  •  S07 / S08 / S11 / S12 / S13  •  Sources + status in notes</a:t>
            </a:r>
          </a:p>
          <a:p>
            <a:r>
              <a:t>19 / 22</a:t>
            </a:r>
          </a:p>
          <a:p/>
          <a:p>
            <a:r>
              <a:t>State</a:t>
            </a:r>
          </a:p>
          <a:p>
            <a:r>
              <a:t>Versions, fenced attempts,</a:t>
            </a:r>
          </a:p>
          <a:p>
            <a:r>
              <a:t>reservations.</a:t>
            </a:r>
          </a:p>
          <a:p>
            <a:r>
              <a:t>Content restart observed.</a:t>
            </a:r>
          </a:p>
          <a:p/>
          <a:p>
            <a:r>
              <a:t>Trust</a:t>
            </a:r>
          </a:p>
          <a:p>
            <a:r>
              <a:t>Permitted sources,</a:t>
            </a:r>
          </a:p>
          <a:p>
            <a:r>
              <a:t>current role checks,</a:t>
            </a:r>
          </a:p>
          <a:p>
            <a:r>
              <a:t>independent review.</a:t>
            </a:r>
          </a:p>
          <a:p>
            <a:r>
              <a:t>Real-session assurance open.</a:t>
            </a:r>
          </a:p>
          <a:p/>
          <a:p>
            <a:r>
              <a:t>Operate</a:t>
            </a:r>
          </a:p>
          <a:p>
            <a:r>
              <a:t>Owned manual path.</a:t>
            </a:r>
          </a:p>
          <a:p>
            <a:r>
              <a:t>Performance, restore,</a:t>
            </a:r>
          </a:p>
          <a:p>
            <a:r>
              <a:t>quality and unit cost open.</a:t>
            </a:r>
          </a:p>
          <a:p/>
          <a:p>
            <a:r>
              <a:t>Decision 1 is separate from the five new GPT proposal calls.</a:t>
            </a:r>
          </a:p>
          <a:p>
            <a:r>
              <a:t>Threats: prompt injection, source leakage, stale/duplicate proposals. Allowed sources and current role/source/version checks are separate from semantic verification. Fenced attempts/reservations constrain duplicates; a timeout does not mean zero usage; billing is not exactly once. Historical Decision 1 evaluation/autonomy gaps remain separate.</a:t>
            </a:r>
          </a:p>
          <a:p>
            <a:r>
              <a:t>Source flow 676ff72690ed81e0823b: staff -&gt; entra; native runtime-sign-in-segment-1.</a:t>
            </a:r>
          </a:p>
          <a:p>
            <a:r>
              <a:t>Source flow 12b3abbdb6718ff774f7: staff -&gt; auth; native runtime-browser-body.</a:t>
            </a:r>
          </a:p>
          <a:p>
            <a:r>
              <a:t>Source flow 3a398502e2258877069e: entra -&gt; auth; native runtime-issuer-segment-1.</a:t>
            </a:r>
          </a:p>
          <a:p>
            <a:r>
              <a:t>Source flow 95a13aafa833607e8907: auth -&gt; api; native runtime-principal-segment-1.</a:t>
            </a:r>
          </a:p>
          <a:p>
            <a:r>
              <a:t>Source flow 3ceaae8bf6c64f995ab3: api -&gt; sql; native runtime-api-sql-segment-1.</a:t>
            </a:r>
          </a:p>
          <a:p>
            <a:r>
              <a:t>Source flow 36259cde5295635f2668: api -&gt; blob; native runtime-api-blob-segment-1.</a:t>
            </a:r>
          </a:p>
          <a:p>
            <a:r>
              <a:t>Source flow bde189caec5340903daf: api -&gt; model; native runtime-api-model-segment-1.</a:t>
            </a:r>
          </a:p>
          <a:p>
            <a:r>
              <a:t>VISIBLE NATIVE DIAGRAM TEXT EQUIVALENT (unspoken):</a:t>
            </a:r>
          </a:p>
          <a:p>
            <a:r>
              <a:t>ZAVA NORTH HOMES / ZAVA FORWARD / OPTIONAL REFERENCE</a:t>
            </a:r>
          </a:p>
          <a:p>
            <a:r>
              <a:t>One runtime. Proposals are not domain approvals.</a:t>
            </a:r>
          </a:p>
          <a:p>
            <a:r>
              <a:t>14 OCT 2026 | S16 + retained sources/status in notes</a:t>
            </a:r>
          </a:p>
          <a:p>
            <a:r>
              <a:t>19 / 24</a:t>
            </a:r>
          </a:p>
          <a:p>
            <a:r>
              <a:t>Staff browser | HUMAN</a:t>
            </a:r>
          </a:p>
          <a:p>
            <a:r>
              <a:t>Entra sign-in; HTTPS ingress.</a:t>
            </a:r>
          </a:p>
          <a:p>
            <a:r>
              <a:t>Public /; protected /app + APIs.</a:t>
            </a:r>
          </a:p>
          <a:p>
            <a:r>
              <a:t>Microsoft Entra ID</a:t>
            </a:r>
          </a:p>
          <a:p>
            <a:r>
              <a:t>CONFIGURED | issuer + roles.</a:t>
            </a:r>
          </a:p>
          <a:p>
            <a:r>
              <a:t>Identity -&gt; EasyAuth.</a:t>
            </a:r>
          </a:p>
          <a:p>
            <a:r>
              <a:t>EasyAuth | CONFIGURED</a:t>
            </a:r>
          </a:p>
          <a:p>
            <a:r>
              <a:t>HTTPS -&gt; verified principal.</a:t>
            </a:r>
          </a:p>
          <a:p>
            <a:r>
              <a:t>443 -&gt; 8088; /healthz.</a:t>
            </a:r>
          </a:p>
          <a:p>
            <a:r>
              <a:t>Azure OpenAI</a:t>
            </a:r>
          </a:p>
          <a:p>
            <a:r>
              <a:t>CONDITIONAL / OFF; draft only.</a:t>
            </a:r>
          </a:p>
          <a:p>
            <a:r>
              <a:t>Usage; no DB/workflow rights.</a:t>
            </a:r>
          </a:p>
          <a:p>
            <a:r>
              <a:t>No Foundry Agent Service.</a:t>
            </a:r>
          </a:p>
          <a:p>
            <a:r>
              <a:t>Azure Container Apps</a:t>
            </a:r>
          </a:p>
          <a:p>
            <a:r>
              <a:t>CORE | one Python API.</a:t>
            </a:r>
          </a:p>
          <a:p>
            <a:r>
              <a:t>Five assistant modules in one API.</a:t>
            </a:r>
          </a:p>
          <a:p>
            <a:r>
              <a:t>Capture/reserve; validate/store.</a:t>
            </a:r>
          </a:p>
          <a:p>
            <a:r>
              <a:t>Azure SQL | CORE</a:t>
            </a:r>
          </a:p>
          <a:p>
            <a:r>
              <a:t>Domain/proposal state + audit.</a:t>
            </a:r>
          </a:p>
          <a:p>
            <a:r>
              <a:t>Dedupe, reservations, fences.</a:t>
            </a:r>
          </a:p>
          <a:p>
            <a:r>
              <a:t>Inference outside locks.</a:t>
            </a:r>
          </a:p>
          <a:p>
            <a:r>
              <a:t>Human proposal review | SEPARATE REQUEST</a:t>
            </a:r>
          </a:p>
          <a:p>
            <a:r>
              <a:t>Verify sources. API rechecks permission, source/version/status.</a:t>
            </a:r>
          </a:p>
          <a:p>
            <a:r>
              <a:t>Accept proposal -&gt; proposal/audit only, NEVER domain approval.</a:t>
            </a:r>
          </a:p>
          <a:p>
            <a:r>
              <a:t>Azure Blob</a:t>
            </a:r>
          </a:p>
          <a:p>
            <a:r>
              <a:t>CONFIGURED | files + hashes.</a:t>
            </a:r>
          </a:p>
          <a:p>
            <a:r>
              <a:t>AI: allowed metadata only.</a:t>
            </a:r>
          </a:p>
          <a:p>
            <a:r>
              <a:t>Five-assistant authority absent. Proactive OFF. Controlled approvals stay separate.</a:t>
            </a:r>
          </a:p>
          <a:p>
            <a:r>
              <a:t>Operations: slide 23</a:t>
            </a:r>
          </a:p>
          <a:p>
            <a:r>
              <a:t>Deferred topology: slide 24</a:t>
            </a:r>
          </a:p>
          <a:p>
            <a:r>
              <a:t>Return to decision: slide 18</a:t>
            </a:r>
          </a:p>
          <a:p>
            <a:r>
              <a:t>Full source views: docs/architecture/zava-forward-executive-architecture.excalidraw / .svg / .png; docs/architecture/zava-forward-technical-architecture.excalidraw / .svg / .png. README and assets/README hold source/status/provenance.</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Technical challenge: bounded does not mean fully assured.</a:t>
            </a:r>
          </a:p>
          <a:p>
            <a:r>
              <a:t>State</a:t>
            </a:r>
          </a:p>
          <a:p>
            <a:r>
              <a:t>Versions, fenced attempts,</a:t>
            </a:r>
          </a:p>
          <a:p>
            <a:r>
              <a:t>reservations.</a:t>
            </a:r>
          </a:p>
          <a:p>
            <a:r>
              <a:t>Content restart observed.</a:t>
            </a:r>
          </a:p>
          <a:p>
            <a:r>
              <a:t>Trust</a:t>
            </a:r>
          </a:p>
          <a:p>
            <a:r>
              <a:t>Permitted sources,</a:t>
            </a:r>
          </a:p>
          <a:p>
            <a:r>
              <a:t>current role checks,</a:t>
            </a:r>
          </a:p>
          <a:p>
            <a:r>
              <a:t>independent review.</a:t>
            </a:r>
          </a:p>
          <a:p>
            <a:r>
              <a:t>Real-session assurance open.</a:t>
            </a:r>
          </a:p>
          <a:p>
            <a:r>
              <a:t>Operate</a:t>
            </a:r>
          </a:p>
          <a:p>
            <a:r>
              <a:t>Owned manual path.</a:t>
            </a:r>
          </a:p>
          <a:p>
            <a:r>
              <a:t>Performance, restore,</a:t>
            </a:r>
          </a:p>
          <a:p>
            <a:r>
              <a:t>quality and unit cost open.</a:t>
            </a:r>
          </a:p>
          <a:p>
            <a:r>
              <a:t>Decision 1 is separate from the five new GPT proposal calls.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20 - Council challenge: the objections we welcome.</a:t>
            </a:r>
          </a:p>
          <a:p>
            <a:r>
              <a:t>Topic sentinel: council challenge</a:t>
            </a:r>
          </a:p>
          <a:p>
            <a:r>
              <a:t>Message: defend the recommendation without hiding reversal conditions.</a:t>
            </a:r>
          </a:p>
          <a:p>
            <a:r>
              <a:t>Status: strategist-recommended proposal; refreshed 14 October 2026.</a:t>
            </a:r>
          </a:p>
          <a:p/>
          <a:p>
            <a:r>
              <a:t>"Restate the challenge before answering. Excel improvement is a</a:t>
            </a:r>
          </a:p>
          <a:p>
            <a:r>
              <a:t>  fair comparator, not a straw man. Power Apps/Dataverse would be greenfield;</a:t>
            </a:r>
          </a:p>
          <a:p>
            <a:r>
              <a:t>  company tenant/licensing/support fit is unverified. Azure is the exercise</a:t>
            </a:r>
          </a:p>
          <a:p>
            <a:r>
              <a:t>  choice, not proof of the best customer investment. Five proposals prove</a:t>
            </a:r>
          </a:p>
          <a:p>
            <a:r>
              <a:t>  integration, not five approved agents running a service. No new budget is</a:t>
            </a:r>
          </a:p>
          <a:p>
            <a:r>
              <a:t>  approved here; cost includes review and operational burden. Choose the</a:t>
            </a:r>
          </a:p>
          <a:p>
            <a:r>
              <a:t>  simpler path when assistance adds no net value. Unknown answers get an owner</a:t>
            </a:r>
          </a:p>
          <a:p>
            <a:r>
              <a:t>  and evidence route, not a confident guess."</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S05: docs/reference/research/company/pilot-measurement-challenge.md, Owner Decision; Proposed Measurement Design; Freeze/Analysis; Guardrails. Status: Proposed comparisons and protected outcomes, not executed experiments.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Question routes: current runtime19; equivalent options22; operations23; deferred topology24. Listen/restate/answer/concede/assign unknown owner, then return18. No actual audience dialogue is claimed.</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Council challenge: the objections we welcome.</a:t>
            </a:r>
          </a:p>
          <a:p>
            <a:r>
              <a:t>Why not improve Excel?</a:t>
            </a:r>
          </a:p>
          <a:p>
            <a:r>
              <a:t>Test equal scope and controls.</a:t>
            </a:r>
          </a:p>
          <a:p>
            <a:r>
              <a:t>Why not launch now?</a:t>
            </a:r>
          </a:p>
          <a:p>
            <a:r>
              <a:t>Human, semantic and value gates open.</a:t>
            </a:r>
          </a:p>
          <a:p>
            <a:r>
              <a:t>What budget?</a:t>
            </a:r>
          </a:p>
          <a:p>
            <a:r>
              <a:t>No new commitment; whole-life appraisal.</a:t>
            </a:r>
          </a:p>
          <a:p>
            <a:r>
              <a:t>What if AI fails?</a:t>
            </a:r>
          </a:p>
          <a:p>
            <a:r>
              <a:t>Manual workflow remains; simplify.</a:t>
            </a:r>
          </a:p>
          <a:p>
            <a:r>
              <a:t>Unknown answers get an owner and evidence route, not a confident guess.</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21 - Read the evidence label before the claim.</a:t>
            </a:r>
          </a:p>
          <a:p>
            <a:r>
              <a:t>Topic sentinel: provenance</a:t>
            </a:r>
          </a:p>
          <a:p>
            <a:r>
              <a:t>Message: separate strong technical evidence from the open pitch and adoption gates.</a:t>
            </a:r>
          </a:p>
          <a:p>
            <a:r>
              <a:t>Status: strategist-recommended proposal; refreshed 14 October 2026.</a:t>
            </a:r>
          </a:p>
          <a:p/>
          <a:p>
            <a:r>
              <a:t>"Full source, section, date and status references accompany each</a:t>
            </a:r>
          </a:p>
          <a:p>
            <a:r>
              <a:t>  slide. PRD v0.14 awaits fresh review and amended owner acceptance. Current</a:t>
            </a:r>
          </a:p>
          <a:p>
            <a:r>
              <a:t>  source cabe05c is not the runtime source. The complete rubric informs this</a:t>
            </a:r>
          </a:p>
          <a:p>
            <a:r>
              <a:t>  handover, but slides and plan arithmetic do not prove live presence,</a:t>
            </a:r>
          </a:p>
          <a:p>
            <a:r>
              <a:t>  listening, under-two-minute delivery, Q&amp;A, autonomous reasoning, business</a:t>
            </a:r>
          </a:p>
          <a:p>
            <a:r>
              <a:t>  outcomes or Section D dissemination. No pitch or thought-leadership folder</a:t>
            </a:r>
          </a:p>
          <a:p>
            <a:r>
              <a:t>  was present in the inspected capstone tree. A single separate thought</a:t>
            </a:r>
          </a:p>
          <a:p>
            <a:r>
              <a:t>  leadership submission and masterclass attendance evidence remain owner</a:t>
            </a:r>
          </a:p>
          <a:p>
            <a:r>
              <a:t>  responsibilities; existing deck notes are not submission/dissemination proof."</a:t>
            </a:r>
          </a:p>
          <a:p/>
          <a:p>
            <a:r>
              <a:t>Sources — workspace-relative paths, section and evidence status; as read 14 October 2026:</a:t>
            </a:r>
          </a:p>
          <a:p>
            <a:r>
              <a:t>S01: docs/case_study_48_original.md, Business Challenge; Architecture Brief; Expected Outcomes. Status: Original 10 September request; 60,000-home case, five pressure points, not achieved benefits.</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S04: docs/reference/research/company/agent-request-challenge.md, Summary and capability sections; docs/reference/research/company/agent-what-if-study.md, method and revised verdicts, as carried in S02. Status: Sector-informed role-agent hypotheses, not employee interviews or resident testimony.</a:t>
            </a:r>
          </a:p>
          <a:p>
            <a:r>
              <a:t>S05: docs/reference/research/company/pilot-measurement-challenge.md, Owner Decision; Proposed Measurement Design; Freeze/Analysis; Guardrails. Status: Proposed comparisons and protected outcomes, not executed experiments.</a:t>
            </a:r>
          </a:p>
          <a:p>
            <a:r>
              <a:t>S06: docs/case_study_48_addendum.md, EXA-002/003/004/005/007/008/010/011/012/013/015; Numerical Targets and Attribution; Subsequent Application Exercise Builds. Status: Historical selected exercise assumptions; explicitly fictional costs/terms, not budgets, awards or current open authority.</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S09: infra/README.md, Five-assistant version: current handover. Status: Exact serving/source/model/SQL/restart receipt and authority-off state, 14 October; no fresh cloud inspection in this task.</a:t>
            </a:r>
          </a:p>
          <a:p>
            <a:r>
              <a:t>S10: .copilot-tracking/reviews/logs/2026-10-14/five-assistant-live-delivery-review.md, Completed Work; Validation; RV-001/RV-002; Outcome. Status: Technical Review Complete / Residual work, not blanket product conformance.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r>
              <a:t>S14: docs/capstone/README.md; docs/reference/method/ama-capstone-assessment-guide.md; docs/reference/memory.md. Status: Publication/storage map, complete official guide, owner communication preferences; these are distinct from observed pitch/score evidence.</a:t>
            </a:r>
          </a:p>
          <a:p>
            <a:r>
              <a:t>S15: docs/capstone/deck/zava-forward-executive-draft.pptx; docs/capstone/deck/agents-in-retrofit-process.svg. Status: Existing 22-slide content/relationship-resolved notes and map semantic source, not proof of future operation.</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SOURCE BASELINE LEGEND:</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Individual unmodified official Azure SVG assets are locally rasterised for product icons; native containers, labels and connectors remain editable.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Read the evidence label before the claim.</a:t>
            </a:r>
          </a:p>
          <a:p>
            <a:r>
              <a:t>Request + research</a:t>
            </a:r>
          </a:p>
          <a:p>
            <a:r>
              <a:t>Request ≠ result.</a:t>
            </a:r>
          </a:p>
          <a:p>
            <a:r>
              <a:t>Research instruments</a:t>
            </a:r>
          </a:p>
          <a:p>
            <a:r>
              <a:t>≠ residents.</a:t>
            </a:r>
          </a:p>
          <a:p>
            <a:r>
              <a:t>Exercise fixtures</a:t>
            </a:r>
          </a:p>
          <a:p>
            <a:r>
              <a:t>Fixtures ≠ company</a:t>
            </a:r>
          </a:p>
          <a:p>
            <a:r>
              <a:t>performance or budgets.</a:t>
            </a:r>
          </a:p>
          <a:p>
            <a:r>
              <a:t>Observed proof</a:t>
            </a:r>
          </a:p>
          <a:p>
            <a:r>
              <a:t>Operator proof ≠ human,</a:t>
            </a:r>
          </a:p>
          <a:p>
            <a:r>
              <a:t>semantic or value</a:t>
            </a:r>
          </a:p>
          <a:p>
            <a:r>
              <a:t>acceptance.</a:t>
            </a:r>
          </a:p>
          <a:p>
            <a:r>
              <a:t>As at 14 October. Legal currentness not refreshed.</a:t>
            </a:r>
          </a:p>
          <a:p>
            <a:r>
              <a:t>Live pitch, rehearsal and thought-leadership evidence still required.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txBody>
          <a:bodyPr/>
          <a:p/>
        </p:txBody>
      </p:sp>
      <p:sp>
        <p:nvSpPr>
          <p:cNvPr id="3" name="Notes Placeholder 2"/>
          <p:cNvSpPr>
            <a:spLocks noGrp="1"/>
          </p:cNvSpPr>
          <p:nvPr>
            <p:ph type="body" idx="3" sz="quarter"/>
          </p:nvPr>
        </p:nvSpPr>
        <p:spPr/>
        <p:txBody>
          <a:bodyPr/>
          <a:lstStyle/>
          <a:p>
            <a:r>
              <a:t>Message / evidence limit / planned script:</a:t>
            </a:r>
          </a:p>
          <a:p>
            <a:r>
              <a:t>SLIDE 22 - Compare equivalent routes before selecting a winner.</a:t>
            </a:r>
          </a:p>
          <a:p>
            <a:r>
              <a:t>Topic sentinel: options</a:t>
            </a:r>
          </a:p>
          <a:p>
            <a:r>
              <a:t>Message: production platform choice must earn customer value, not follow the capstone preference.</a:t>
            </a:r>
          </a:p>
          <a:p>
            <a:r>
              <a:t>Status: strategist-recommended proposal; refreshed 14 October 2026.</a:t>
            </a:r>
          </a:p>
          <a:p/>
          <a:p>
            <a:r>
              <a:t>"Compare workflow/evidence, permissions, migration, integration,</a:t>
            </a:r>
          </a:p>
          <a:p>
            <a:r>
              <a:t>  resident access, whole-life cost and readiness on the same journey and</a:t>
            </a:r>
          </a:p>
          <a:p>
            <a:r>
              <a:t>  controls. Include safety hold, withdrawal, missing evidence and failed</a:t>
            </a:r>
          </a:p>
          <a:p>
            <a:r>
              <a:t>  integration. Confirm tenant, workbook quality, skills, licences and</a:t>
            </a:r>
          </a:p>
          <a:p>
            <a:r>
              <a:t>  support; no Dataverse or Dynamics estate is available for assumed reuse.</a:t>
            </a:r>
          </a:p>
          <a:p>
            <a:r>
              <a:t>  The Azure-led hybrid is the provisional exercise direction. Historical</a:t>
            </a:r>
          </a:p>
          <a:p>
            <a:r>
              <a:t>  architect-proposed weights/scores are not customer-approved comparative</a:t>
            </a:r>
          </a:p>
          <a:p>
            <a:r>
              <a:t>  evidence. A safety/privacy/consent/approval failure is a gate, not a score</a:t>
            </a:r>
          </a:p>
          <a:p>
            <a:r>
              <a:t>  that another attractive feature can offset. Select the supportable option</a:t>
            </a:r>
          </a:p>
          <a:p>
            <a:r>
              <a:t>  that meets controls at justified whole-life cost, even if simpler."</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S03: docs/reference/research/company/company-profile-research.md, Confirmed Company Information; Role and Decision Map; Priority Company Gaps; Evidence Limitations. Status: Owner-confirmed not-for-profit; modelled company/resident/finance attributes are not company facts or delegations.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S12: docs/adrs/0001-azure-architecture.md, Hybrid M365 and Excel transition; Options still to compare; provisional appraisal. Status: Proposed transition/full topology and historical illustration, not current deployment or scored customer platform choice.</a:t>
            </a:r>
          </a:p>
          <a:p/>
          <a:p>
            <a:r>
              <a:t>Optional appendix, outside the planned 795-second main route.</a:t>
            </a:r>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r>
              <a:t>Azure hybrid is the provisional bounded exercise preference, not a customer investment winner. No existing Dataverse/Dynamics reuse. Test the same journey, safety hold, withdrawn choice, missing evidence and integration failure; include all transition/access/support/recovery/whole-life costs.</a:t>
            </a:r>
          </a:p>
          <a:p/>
          <a:p>
            <a:r>
              <a:t>RETAINED BASELINE VISIBLE COPY / TRACEABILITY, UNSPOKEN:</a:t>
            </a:r>
          </a:p>
          <a:p>
            <a:r>
              <a:t>Historical wording below is retained, not promoted to current fact or permission. Current oracle/status and refreshed visible copy govern. In particular, old 'gates OPEN' meant outstanding acceptance, not permission; Excel reporting is a conditional intended transition, not delivered integration.</a:t>
            </a:r>
          </a:p>
          <a:p>
            <a:r>
              <a:t>Compare equivalent routes before selecting a winner.</a:t>
            </a:r>
          </a:p>
          <a:p>
            <a:r>
              <a:t>Improve current</a:t>
            </a:r>
          </a:p>
          <a:p>
            <a:r>
              <a:t>workflow</a:t>
            </a:r>
          </a:p>
          <a:p>
            <a:r>
              <a:t>Greenfield</a:t>
            </a:r>
          </a:p>
          <a:p>
            <a:r>
              <a:t>business platform</a:t>
            </a:r>
          </a:p>
          <a:p>
            <a:r>
              <a:t>Azure-led</a:t>
            </a:r>
          </a:p>
          <a:p>
            <a:r>
              <a:t>hybrid</a:t>
            </a:r>
          </a:p>
          <a:p>
            <a:r>
              <a:t>Mandatory controls</a:t>
            </a:r>
          </a:p>
          <a:p>
            <a:r>
              <a:t>To verify</a:t>
            </a:r>
          </a:p>
          <a:p>
            <a:r>
              <a:t>To verify</a:t>
            </a:r>
          </a:p>
          <a:p>
            <a:r>
              <a:t>To verify</a:t>
            </a:r>
          </a:p>
          <a:p>
            <a:r>
              <a:t>Transition + access</a:t>
            </a:r>
          </a:p>
          <a:p>
            <a:r>
              <a:t>To test</a:t>
            </a:r>
          </a:p>
          <a:p>
            <a:r>
              <a:t>To test</a:t>
            </a:r>
          </a:p>
          <a:p>
            <a:r>
              <a:t>To test</a:t>
            </a:r>
          </a:p>
          <a:p>
            <a:r>
              <a:t>Support + recovery</a:t>
            </a:r>
          </a:p>
          <a:p>
            <a:r>
              <a:t>To test</a:t>
            </a:r>
          </a:p>
          <a:p>
            <a:r>
              <a:t>To test</a:t>
            </a:r>
          </a:p>
          <a:p>
            <a:r>
              <a:t>To test</a:t>
            </a:r>
          </a:p>
          <a:p>
            <a:r>
              <a:t>Whole-life cost</a:t>
            </a:r>
          </a:p>
          <a:p>
            <a:r>
              <a:t>To price</a:t>
            </a:r>
          </a:p>
          <a:p>
            <a:r>
              <a:t>To price</a:t>
            </a:r>
          </a:p>
          <a:p>
            <a:r>
              <a:t>To price</a:t>
            </a:r>
          </a:p>
          <a:p>
            <a:r>
              <a:t>Equivalent-scope evidence still needed — no winner scored.</a:t>
            </a:r>
          </a:p>
        </p:txBody>
      </p:sp>
      <p:sp>
        <p:nvSpPr>
          <p:cNvPr id="4" name="Slide Number Placeholder 3"/>
          <p:cNvSpPr>
            <a:spLocks noGrp="1"/>
          </p:cNvSpPr>
          <p:nvPr>
            <p:ph type="sldNum" idx="5" sz="quarter"/>
          </p:nvPr>
        </p:nvSpPr>
        <p:spPr/>
        <p:txBody>
          <a:bodyP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Five assists. One controlled journey.</a:t>
            </a:r>
          </a:p>
          <a:p>
            <a:r>
              <a:t>Topic sentinel: map</a:t>
            </a:r>
          </a:p>
          <a:p>
            <a:r>
              <a:t>Message: capabilities prepare evidence; workflow and people retain progression and decisions.</a:t>
            </a:r>
          </a:p>
          <a:p>
            <a:r>
              <a:t>Status: strategist-recommended proposal; refreshed 14 October 2026.</a:t>
            </a:r>
          </a:p>
          <a:p/>
          <a:p>
            <a:r>
              <a:t>"Each column serves a process stage, not an autonomous manager.</a:t>
            </a:r>
          </a:p>
          <a:p>
            <a:r>
              <a:t>  A person may request help under effective authority. A future authorized</a:t>
            </a:r>
          </a:p>
          <a:p>
            <a:r>
              <a:t>  event or scheduled check could create an owned review item after rules</a:t>
            </a:r>
          </a:p>
          <a:p>
            <a:r>
              <a:t>  determine eligibility; scans are currently off. Data owners/Assets,</a:t>
            </a:r>
          </a:p>
          <a:p>
            <a:r>
              <a:t>  competent technical roles, Finance, the resident/Programme/contract</a:t>
            </a:r>
          </a:p>
          <a:p>
            <a:r>
              <a:t>  authority and independent QA retain their respective decisions.</a:t>
            </a:r>
          </a:p>
          <a:p>
            <a:r>
              <a:t>  Funding spans planning through claims and cash. Hazards go directly to</a:t>
            </a:r>
          </a:p>
          <a:p>
            <a:r>
              <a:t>  the human service; neither an empty model result nor a queue delays intake.</a:t>
            </a:r>
          </a:p>
          <a:p>
            <a:r>
              <a:t>  Failure, stale evidence and expired authority preserve controlled state and</a:t>
            </a:r>
          </a:p>
          <a:p>
            <a:r>
              <a:t>  an owned manual path. Fewer gaps and less rework are value hypotheses."</a:t>
            </a:r>
          </a:p>
          <a:p>
            <a:r>
              <a:t>* Transition: "The financial boundary is as important as the technical one."</a:t>
            </a:r>
          </a:p>
          <a:p/>
          <a:p>
            <a:r>
              <a:t>Sources — workspace-relative paths, section and evidence status; as read 14 October 2026:</a:t>
            </a:r>
          </a:p>
          <a:p>
            <a:r>
              <a:t>S02: docs/case_study_48_addendum.md, Business Challenge; Executive Assessment; Digital Foundation; Where Agents Fit; Recommended Executive Decision. Status: Maintained 14 October synthesis and proposed controls; bottleneck/outcomes not verified company findings.</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S09: infra/README.md, Five-assistant version: current handover. Status: Exact serving/source/model/SQL/restart receipt and authority-off state, 14 October; no fresh cloud inspection in this task.</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S15: docs/capstone/deck/zava-forward-executive-draft.pptx; docs/capstone/deck/agents-in-retrofit-process.svg. Status: Existing 22-slide content/relationship-resolved notes and map semantic source, not proof of future operation.</a:t>
            </a:r>
          </a:p>
          <a:p/>
          <a:p>
            <a:r>
              <a:t>Planned allocation: 60 seconds; not rehearsed.</a:t>
            </a:r>
          </a:p>
          <a:p/>
          <a:p>
            <a:r>
              <a:t>FULL MAP TEXT EQUIVALENT — five capabilities, owners, requests and OFF triggers:</a:t>
            </a:r>
          </a:p>
          <a:p/>
          <a:p/>
          <a:p>
            <a:r>
              <a:t>Required result: a full-width, readable, editable PowerPoint process map.</a:t>
            </a:r>
          </a:p>
          <a:p>
            <a:r>
              <a:t>Existing SVG/PNG remain references only. No diagram image, cropped fragments,</a:t>
            </a:r>
          </a:p>
          <a:p>
            <a:r>
              <a:t>single flattened vector, giant paragraph or hidden text layer substitutes for</a:t>
            </a:r>
          </a:p>
          <a:p>
            <a:r>
              <a:t>native elements.</a:t>
            </a:r>
          </a:p>
          <a:p/>
          <a:p>
            <a:r>
              <a:t>Use the canonical widescreen aspect ratio; inspect actual cx/cy rather than</a:t>
            </a:r>
          </a:p>
          <a:p>
            <a:r>
              <a:t>trusting the existing misleading `type="screen4x3"` attribute. It is about</a:t>
            </a:r>
          </a:p>
          <a:p>
            <a:r>
              <a:t>13.333 × 7.5 inches. Values below describe a 13.333 × 7.5 canvas; scale x</a:t>
            </a:r>
          </a:p>
          <a:p>
            <a:r>
              <a:t>coordinates proportionally if preserving the exact existing EMUs. Do not</a:t>
            </a:r>
          </a:p>
          <a:p>
            <a:r>
              <a:t>change the whole deck's aspect ratio accidentally.</a:t>
            </a:r>
          </a:p>
          <a:p/>
          <a:p>
            <a:r>
              <a:t>* Content x = 0.45–12.883. Five columns of width approximately 2.375 with</a:t>
            </a:r>
          </a:p>
          <a:p>
            <a:r>
              <a:t>  0.14 gutters; x positions approximately 0.450, 2.965, 5.479, 7.994, 10.508.</a:t>
            </a:r>
          </a:p>
          <a:p>
            <a:r>
              <a:t>* Title y=0.40, height=0.48, ≥28pt. Short status/subtitle y=0.99,</a:t>
            </a:r>
          </a:p>
          <a:p>
            <a:r>
              <a:t>  height=0.30. Keep logo/footer clear.</a:t>
            </a:r>
          </a:p>
          <a:p>
            <a:r>
              <a:t>* Stage boxes y=1.42, height=0.45, 17–18pt. Short native arrow connectors</a:t>
            </a:r>
          </a:p>
          <a:p>
            <a:r>
              <a:t>  occupy gutters, do not run through owners or imply autonomous release.</a:t>
            </a:r>
          </a:p>
          <a:p>
            <a:r>
              <a:t>* Owner text y=1.98, height=0.72, 16pt, max three compact lines.</a:t>
            </a:r>
          </a:p>
          <a:p>
            <a:r>
              <a:t>* Capability card background y=2.80, height=3.04. Every capability title</a:t>
            </a:r>
          </a:p>
          <a:p>
            <a:r>
              <a:t>  textbox y=2.90, height=0.78, 17pt bold, same insets; reserve this full</a:t>
            </a:r>
          </a:p>
          <a:p>
            <a:r>
              <a:t>  region for all five whether title wraps to one, two or three lines.</a:t>
            </a:r>
          </a:p>
          <a:p>
            <a:r>
              <a:t>* On-request label y=3.77, height=0.27, 16pt; body y=4.10,</a:t>
            </a:r>
          </a:p>
          <a:p>
            <a:r>
              <a:t>  height=0.65, 16pt. Proactive label y=4.83, height=0.27, 16pt;</a:t>
            </a:r>
          </a:p>
          <a:p>
            <a:r>
              <a:t>  body y=5.16, height=0.60, 16pt. Shorten to the copy below if wrapping</a:t>
            </a:r>
          </a:p>
          <a:p>
            <a:r>
              <a:t>  fails; do not shrink, clip or vertically centre. Label itself can say</a:t>
            </a:r>
          </a:p>
          <a:p>
            <a:r>
              <a:t>  "Review trigger • OFF" if needed to fit the column.</a:t>
            </a:r>
          </a:p>
          <a:p>
            <a:r>
              <a:t>* Full-width core band y=6.00, height=0.44, 16pt:</a:t>
            </a:r>
          </a:p>
          <a:p>
            <a:r>
              <a:t>  "Workflow core: rights • versions • gates • human approvals • audit •</a:t>
            </a:r>
          </a:p>
          <a:p>
            <a:r>
              <a:t>  retries • manual recovery". This is deterministic infrastructure, not a</a:t>
            </a:r>
          </a:p>
          <a:p>
            <a:r>
              <a:t>  sixth supervisor agent.</a:t>
            </a:r>
          </a:p>
          <a:p>
            <a:r>
              <a:t>* Boundary lines y=6.53, height≈0.52, 16pt over two short full-width lines:</a:t>
            </a:r>
          </a:p>
          <a:p>
            <a:r>
              <a:t>  "Checks OFF now; future eligibility → named human queue. Funding:</a:t>
            </a:r>
          </a:p>
          <a:p>
            <a:r>
              <a:t>  application ≠ award ≠ claim ≠ cash."</a:t>
            </a:r>
          </a:p>
          <a:p>
            <a:r>
              <a:t>  "Hazard → human service now, never wait for AI. Value remains a hypothesis."</a:t>
            </a:r>
          </a:p>
          <a:p>
            <a:r>
              <a:t>  Source/footer below without collision.</a:t>
            </a:r>
          </a:p>
          <a:p/>
          <a:p>
            <a:r>
              <a:t>| Peer element | Choose homes | Assess &amp; design | Prepare funding | Coordinate works | Verify &amp; hand over |</a:t>
            </a:r>
          </a:p>
          <a:p>
            <a:r>
              <a:t>| --- | --- | --- | --- | --- | --- |</a:t>
            </a:r>
          </a:p>
          <a:p>
            <a:r>
              <a:t>| Capability title | Stock Prioritisation | Assessment Preparation | Grant &amp; Funding Evidence | Works &amp; Resident Coordination | Quality Evidence Review |</a:t>
            </a:r>
          </a:p>
          <a:p>
            <a:r>
              <a:t>| Human owner | Assets: policy; data owners: verify | Assessor + coordinator: independent sign-off | Finance: validate, approve, submit | Resident: choice; Programme: release | Independent quality authority: accept |</a:t>
            </a:r>
          </a:p>
          <a:p>
            <a:r>
              <a:t>| On request body | Explain facts; query conflicts | Prepare sourced survey/design pack | Draft source-linked evidence pack | Draft update; suggest crew slots | Assemble evidence; raise gaps |</a:t>
            </a:r>
          </a:p>
          <a:p>
            <a:r>
              <a:t>| Proactive body, OFF now | Missing/conflicting stock facts | Missing/changed survey or design | Missing inputs or changed terms | Unaccepted handoff; overdue update | Missing/conflicting quality evidence |</a:t>
            </a:r>
          </a:p>
          <a:p/>
          <a:p>
            <a:r>
              <a:t>The on-slide short labels retain all five capabilities; notes list canonical</a:t>
            </a:r>
          </a:p>
          <a:p>
            <a:r>
              <a:t>IDs from S11 and detail source categories/permissions, registered purposes</a:t>
            </a:r>
          </a:p>
          <a:p>
            <a:r>
              <a:t>and synthetic predicates. The diagram expresses the process/design contract;</a:t>
            </a:r>
          </a:p>
          <a:p>
            <a:r>
              <a:t>it does not claim actual broader document analysis or professional assessment</a:t>
            </a:r>
          </a:p>
          <a:p>
            <a:r>
              <a:t>delivery. In particular current sources include permitted metadata/hashes,</a:t>
            </a:r>
          </a:p>
          <a:p>
            <a:r>
              <a:t>not arbitrary document/photo content. Scheduled/event initiation is proposed</a:t>
            </a:r>
          </a:p>
          <a:p>
            <a:r>
              <a:t>or implemented-but-disabled contract behaviour, not observed paid scanning.</a:t>
            </a:r>
          </a:p>
          <a:p>
            <a:r>
              <a:t>Funding's lane spans planning through later claims/cash and is not a gate</a:t>
            </a:r>
          </a:p>
          <a:p>
            <a:r>
              <a:t>that automatically approves work. Programme release also requires current</a:t>
            </a:r>
          </a:p>
          <a:p>
            <a:r>
              <a:t>technical evidence, resident measure choice, funding/budget and committed</a:t>
            </a:r>
          </a:p>
          <a:p>
            <a:r>
              <a:t>competent capacity; contract authority alone instructs suppliers.</a:t>
            </a:r>
          </a:p>
          <a:p/>
          <a:p/>
          <a:p/>
          <a:p>
            <a:r>
              <a:t>Canonical capability identifiers, permitted source categories, registry purposes and synthetic predicates:</a:t>
            </a:r>
          </a:p>
          <a:p>
            <a:r>
              <a:t>REGISTRY = {</a:t>
            </a:r>
          </a:p>
          <a:p>
            <a:r>
              <a:t>    "stock-prioritisation": dict(roles=("Retrofit Coordinator", "Programme Manager"), categories=("home", "survey", "ranking"),</a:t>
            </a:r>
          </a:p>
          <a:p>
            <a:r>
              <a:t>                               purpose="Explain stock facts and prepare a data-owner query"),</a:t>
            </a:r>
          </a:p>
          <a:p>
            <a:r>
              <a:t>    "assessment-preparation": dict(roles=("Retrofit Coordinator", "Programme Manager"), categories=("home", "survey", "measures", "technical", "documents"),</a:t>
            </a:r>
          </a:p>
          <a:p>
            <a:r>
              <a:t>                                  purpose="Prepare a survey/design evidence checklist"),</a:t>
            </a:r>
          </a:p>
          <a:p>
            <a:r>
              <a:t>    "funding-evidence": dict(roles=("Grants and Evidence Officer", "Programme Manager"),</a:t>
            </a:r>
          </a:p>
          <a:p>
            <a:r>
              <a:t>                            categories=("home", "measures", "funding", "finance", "grants", "documents"),</a:t>
            </a:r>
          </a:p>
          <a:p>
            <a:r>
              <a:t>                            purpose="Prepare application/claim evidence gaps"),</a:t>
            </a:r>
          </a:p>
          <a:p>
            <a:r>
              <a:t>    "works-resident-coordination": dict(roles=("Retrofit Coordinator", "Resident Liaison Officer", "Programme Manager"),</a:t>
            </a:r>
          </a:p>
          <a:p>
            <a:r>
              <a:t>                                       categories=("home", "measures", "preferences", "appointments", "handoff", "capacity", "requests"),</a:t>
            </a:r>
          </a:p>
          <a:p>
            <a:r>
              <a:t>                                       purpose="Draft an update or committed-capacity option"),</a:t>
            </a:r>
          </a:p>
          <a:p>
            <a:r>
              <a:t>    "quality-evidence": dict(roles=("Quality Inspector", "Programme Manager"),</a:t>
            </a:r>
          </a:p>
          <a:p>
            <a:r>
              <a:t>                            categories=("home", "measures", "quality", "checklists", "documents"),</a:t>
            </a:r>
          </a:p>
          <a:p>
            <a:r>
              <a:t>                            purpose="Assemble per-measure quality evidence discrepancies"),</a:t>
            </a:r>
          </a:p>
          <a:p>
            <a:r>
              <a:t>}</a:t>
            </a:r>
          </a:p>
          <a:p>
            <a:r>
              <a:t>RULES = {</a:t>
            </a:r>
          </a:p>
          <a:p>
            <a:r>
              <a:t>    "stock-prioritisation": "Missing/unknown home.epc, home.type or home.built; supplied survey.epc/type/built conflicts with home.",</a:t>
            </a:r>
          </a:p>
          <a:p>
            <a:r>
              <a:t>    "assessment-preparation": "Missing Survey/Design metadata/content hash or technical.design_version; relevant permitted source signature changes.",</a:t>
            </a:r>
          </a:p>
          <a:p>
            <a:r>
              <a:t>    "funding-evidence": "Missing measures, funding.route/reference, grants or budget amount; incomplete supplied invoice ref/lines/milestone inputs; claim-phase grant lacks sourced history or hashed Funding evidence metadata; relevant permitted terms/evidence signature changes.",</a:t>
            </a:r>
          </a:p>
          <a:p>
            <a:r>
              <a:t>    "works-resident-coordination": "handoff.state=Offered; past appointment.date with missing/Booked/Planned/No access/Missed outcome; past open service_request.next_update.",</a:t>
            </a:r>
          </a:p>
          <a:p>
            <a:r>
              <a:t>    "quality-evidence": "Missing measures; not exactly one quality record per measure; missing/conflicting checklist item evidence or checklist version mismatch; relevant permitted signature changes.",</a:t>
            </a:r>
          </a:p>
          <a:p>
            <a:r>
              <a:t>}</a:t>
            </a:r>
          </a:p>
          <a:p/>
          <a:p/>
          <a:p>
            <a:r>
              <a:t>Proposal review is separate from domain approval. Programme release additionally requires current technical evidence, resident measure choice, funding/budget and committed competent capacity. Only contract authority instructs suppliers. Failed, stale or expired assistance leaves controlled state unchanged, with an owned manual path. Actual sources include permitted metadata and hashes, not arbitrary document/photo analysis. OFF triggers are not paid scans. The workflow core is deterministic infrastructure, never a sixth supervisor agent.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 evidence limit / planned script:</a:t>
            </a:r>
          </a:p>
          <a:p>
            <a:r>
              <a:t>SLIDE 23 - Operate the core without overstating assurance.</a:t>
            </a:r>
          </a:p>
          <a:p>
            <a:r>
              <a:t>Message: Operate the core without overstating assurance.</a:t>
            </a:r>
          </a:p>
          <a:p>
            <a:r>
              <a:t>Optional appendix; no scheduled main-route time.</a:t>
            </a:r>
          </a:p>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Individual unmodified official Azure SVG assets are locally rasterised for product icons; native containers, labels and connectors remain editable.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RETAINED OPERATIONS REFERENCE:</a:t>
            </a:r>
          </a:p>
          <a:p>
            <a:r>
              <a:t>SLIDE 19 — Technical challenge: bounded does not mean fully assured.</a:t>
            </a:r>
          </a:p>
          <a:p>
            <a:r>
              <a:t>Topic sentinel: technical limits</a:t>
            </a:r>
          </a:p>
          <a:p>
            <a:r>
              <a:t>Message: disclose runtime limits and the evidence required for stronger claims.</a:t>
            </a:r>
          </a:p>
          <a:p>
            <a:r>
              <a:t>Status: strategist-recommended proposal; refreshed 14 October 2026.</a:t>
            </a:r>
          </a:p>
          <a:p/>
          <a:p>
            <a:r>
              <a:t>"Threats include source injection, cross-role leakage, stale</a:t>
            </a:r>
          </a:p>
          <a:p>
            <a:r>
              <a:t>  approvals and duplicate or lost transitions. Application controls—not a</a:t>
            </a:r>
          </a:p>
          <a:p>
            <a:r>
              <a:t>  prompt alone—constrain proposals. SQL controls claim/lease fences and finite</a:t>
            </a:r>
          </a:p>
          <a:p>
            <a:r>
              <a:t>  shared liabilities; timeouts do not mean zero usage and billing is not</a:t>
            </a:r>
          </a:p>
          <a:p>
            <a:r>
              <a:t>  exactly once. Local SQL/browser tests and deployed content-restart receipts</a:t>
            </a:r>
          </a:p>
          <a:p>
            <a:r>
              <a:t>  are different evidence. No measured Azure scale load, full restore,</a:t>
            </a:r>
          </a:p>
          <a:p>
            <a:r>
              <a:t>  production SLO or externally anchored whole-system audit is established.</a:t>
            </a:r>
          </a:p>
          <a:p>
            <a:r>
              <a:t>  Present runtime still shares in-memory domain mechanisms described in</a:t>
            </a:r>
          </a:p>
          <a:p>
            <a:r>
              <a:t>  the MVP limits; proposed queue workers/private topology remain distinct.</a:t>
            </a:r>
          </a:p>
          <a:p>
            <a:r>
              <a:t>  Decision 1 is a separate candidate-selection/screening design with historical</a:t>
            </a:r>
          </a:p>
          <a:p>
            <a:r>
              <a:t>  narrow evidence; it did not power the five new GPT proposal calls.</a:t>
            </a:r>
          </a:p>
          <a:p>
            <a:r>
              <a:t>  Held-out calibration, alternatives on quality/latency/cost and independent</a:t>
            </a:r>
          </a:p>
          <a:p>
            <a:r>
              <a:t>  human source labels remain required. Structured trigger predicates do not</a:t>
            </a:r>
          </a:p>
          <a:p>
            <a:r>
              <a:t>  establish autonomous reasoning; A7 is not claimed complete."</a:t>
            </a:r>
          </a:p>
          <a:p/>
          <a:p>
            <a:r>
              <a:t>Sources — workspace-relative paths, section and evidence status; as read 14 October 2026:</a:t>
            </a:r>
          </a:p>
          <a:p>
            <a:r>
              <a:t>S07: docs/prds/zava-forward-retrofit-programme-demonstrator.md, v0.14 front matter; component contracts; threat model; Five Reactive and Proactive Assistants; orchestration; evaluation; current handoff. Status: Current candidate, 47 FRs/61 ACs; fresh requirements review and amended owner acceptance open; CON-009/AC-057 full acceptance not passed.</a:t>
            </a:r>
          </a:p>
          <a:p>
            <a:r>
              <a:t>S08: docs/adrs/0002-pilot-readiness-architecture.md, Five-Assistant Exercise Runtime; Fresh Ledger and Synthetic Coverage Learning; current delta. Status: Current lean proposal runtime, explicit reset, image/source/revision-linked service proof; proposed readiness estate separate.</a:t>
            </a:r>
          </a:p>
          <a:p>
            <a:r>
              <a:t>S11: mvp/README.md, Honest limits; Five retrofit assistants; Operator authority; current delivery paragraphs; mvp/zavaforward_mvp/assistants.py, REGISTRY/RULES/capture/eligible/review. Status: Source and documented implementation; captured metadata/category citations, not unrestricted document reading, human source review or semantic entailment.</a:t>
            </a:r>
          </a:p>
          <a:p>
            <a:r>
              <a:t>S12: docs/adrs/0001-azure-architecture.md, Hybrid M365 and Excel transition; Options still to compare; provisional appraisal. Status: Proposed transition/full topology and historical illustration, not current deployment or scored customer platform choice.</a:t>
            </a:r>
          </a:p>
          <a:p>
            <a:r>
              <a:t>S13: docs/ideas/typesafe-system-one-agent-fit.md, pinned #58 feasibility/parallel experiment, as carried in S02/S07. Status: Historical separate Decision 1 selection/generation evidence; not the provider for the five new service calls; no new evaluation results.</a:t>
            </a:r>
          </a:p>
          <a:p/>
          <a:p>
            <a:r>
              <a:t>Optional appendix, outside the planned 795-second main route.</a:t>
            </a:r>
          </a:p>
          <a:p/>
          <a:p>
            <a:r>
              <a:t>Exact current claim-status oracle:</a:t>
            </a:r>
          </a:p>
          <a:p>
            <a:r>
              <a:t>1. Historical documentation/source context was cabe05c; runtime source is</a:t>
            </a:r>
          </a:p>
          <a:p>
            <a:r>
              <a:t>   cd14b3b379026a87ebfa3e9058ac10c0df7888eb, not cabe05c.</a:t>
            </a:r>
          </a:p>
          <a:p>
            <a:r>
              <a:t>2. Image05 is assistants-20261013-05, manifest</a:t>
            </a:r>
          </a:p>
          <a:p>
            <a:r>
              <a:t>   sha256:e0254cb3a0599c21802f0b6515f975550cf00ddce4849d04fd3fa3d50683af20,</a:t>
            </a:r>
          </a:p>
          <a:p>
            <a:r>
              <a:t>   serving ca-forward-test-api--0000012. Short forms on screen; exact forms</a:t>
            </a:r>
          </a:p>
          <a:p>
            <a:r>
              <a:t>   in notes. Do not rename historical revisions.</a:t>
            </a:r>
          </a:p>
          <a:p>
            <a:r>
              <a:t>3. The owner explicitly reauthorized the synthetic database reset on</a:t>
            </a:r>
          </a:p>
          <a:p>
            <a:r>
              <a:t>   14 October after the earlier cancellation. Previous exercise</a:t>
            </a:r>
          </a:p>
          <a:p>
            <a:r>
              <a:t>   recommendations/audit were reset, not preserved by migration. Retain</a:t>
            </a:r>
          </a:p>
          <a:p>
            <a:r>
              <a:t>   generator/60,000-stock lineage; the new programme baseline is 980 cases,</a:t>
            </a:r>
          </a:p>
          <a:p>
            <a:r>
              <a:t>   38 booked visits and 11 actual privately bound tenant staff. Do not publish</a:t>
            </a:r>
          </a:p>
          <a:p>
            <a:r>
              <a:t>   their identities. Counts are exercise context, not real resident activity,</a:t>
            </a:r>
          </a:p>
          <a:p>
            <a:r>
              <a:t>   staff use or programme success.</a:t>
            </a:r>
          </a:p>
          <a:p>
            <a:r>
              <a:t>4. Five distinct registered operator service paths returned citation-validated</a:t>
            </a:r>
          </a:p>
          <a:p>
            <a:r>
              <a:t>   ready proposals through real Azure OpenAI deployment standard, model</a:t>
            </a:r>
          </a:p>
          <a:p>
            <a:r>
              <a:t>   gpt-4.1-mini-2025-04-14: five calls/attempts, 6884 total tokens, 15 ledger</a:t>
            </a:r>
          </a:p>
          <a:p>
            <a:r>
              <a:t>   events. These are not Decision 1 calls or five independent autonomous agents.</a:t>
            </a:r>
          </a:p>
          <a:p>
            <a:r>
              <a:t>5. Against that new baseline, independent controlled-domain hashes stayed</a:t>
            </a:r>
          </a:p>
          <a:p>
            <a:r>
              <a:t>   unchanged by proposal generation, and full assistant-table content,</a:t>
            </a:r>
          </a:p>
          <a:p>
            <a:r>
              <a:t>   outputs and usage survived an actual serving-revision restart. This is</a:t>
            </a:r>
          </a:p>
          <a:p>
            <a:r>
              <a:t>   stronger than row-count equality, weaker than disaster recovery/restore.</a:t>
            </a:r>
          </a:p>
          <a:p>
            <a:r>
              <a:t>6. Bounded operator QA ended. Normal serving assistant authority is absent;</a:t>
            </a:r>
          </a:p>
          <a:p>
            <a:r>
              <a:t>   proactive scans are off. A registered capability is not current standing</a:t>
            </a:r>
          </a:p>
          <a:p>
            <a:r>
              <a:t>   authority. Neither proactive enablement nor new calls are authorized here.</a:t>
            </a:r>
          </a:p>
          <a:p>
            <a:r>
              <a:t>7. Citation validity means permitted source/provenance binding, not semantic</a:t>
            </a:r>
          </a:p>
          <a:p>
            <a:r>
              <a:t>   correctness or competent source verification. None of the five has human</a:t>
            </a:r>
          </a:p>
          <a:p>
            <a:r>
              <a:t>   verification/acceptance recorded by that operator exercise.</a:t>
            </a:r>
          </a:p>
          <a:p>
            <a:r>
              <a:t>8. Real staff-browser/API, role/human/source/accessibility acceptance,</a:t>
            </a:r>
          </a:p>
          <a:p>
            <a:r>
              <a:t>   semantic calibration, paired task value and operational outcomes remain</a:t>
            </a:r>
          </a:p>
          <a:p>
            <a:r>
              <a:t>   open (RV-001/RV-002). PRD v0.14 remains a candidate. Do not mark AC-057</a:t>
            </a:r>
          </a:p>
          <a:p>
            <a:r>
              <a:t>   or full requirements/product/pilot/production acceptance passed.</a:t>
            </a:r>
          </a:p>
          <a:p>
            <a:r>
              <a:t>9. No observed doubled throughput, lower bills, secured £40m, programme</a:t>
            </a:r>
          </a:p>
          <a:p>
            <a:r>
              <a:t>   savings, cost per accepted home, currency-cost cap, production selection</a:t>
            </a:r>
          </a:p>
          <a:p>
            <a:r>
              <a:t>   or corporate investment approval follows. Token allowance is not a</a:t>
            </a:r>
          </a:p>
          <a:p>
            <a:r>
              <a:t>   currency guarantee; historical EXA-012 and the scoped #58 override are</a:t>
            </a:r>
          </a:p>
          <a:p>
            <a:r>
              <a:t>   not a new funding commitment.</a:t>
            </a:r>
          </a:p>
          <a:p>
            <a:r>
              <a:t>10. Source-level automated contract tests are evidence of tested boundaries,</a:t>
            </a:r>
          </a:p>
          <a:p>
            <a:r>
              <a:t>    not a live staff session or panel behaviour. No new score is inferred from</a:t>
            </a:r>
          </a:p>
          <a:p>
            <a:r>
              <a:t>    cabe05c's historical rubric update or from successful CI.</a:t>
            </a:r>
          </a:p>
          <a:p>
            <a:r>
              <a:t>Model failure leaves manual work; SQL failure may block writes. Token renewal failure needs action before expiry. Safety intake has an independent named human repairs/hazard-service route, never AI/Teams dependent. SLO/load/unit cost, real sessions and full restore acceptance remain unmeasured. One deployable shares failure/scaling boundaries, a lean trade-off, not decoupled-microservice proof.</a:t>
            </a:r>
          </a:p>
          <a:p>
            <a:r>
              <a:t>Source flow a93858ce6826d7e2ab9f: vault -&gt; auth; native ops-vault-body.</a:t>
            </a:r>
          </a:p>
          <a:p>
            <a:r>
              <a:t>Source flow 7609eb7a35e5338d6d83: api -&gt; graph; native ops-support.</a:t>
            </a:r>
          </a:p>
          <a:p>
            <a:r>
              <a:t>Source flow 2eae8e0ea7b026ef35e9: staff -&gt; maps; native ops-support.</a:t>
            </a:r>
          </a:p>
          <a:p>
            <a:r>
              <a:t>Source flow 34dab47235c72c168f38: renewal -&gt; tokens; native renewal-token-key-segment-1.</a:t>
            </a:r>
          </a:p>
          <a:p>
            <a:r>
              <a:t>Source flow dc4c3ddd7f1f218075b5: renewal -&gt; vault; native renewal-vault-write-segment-1.</a:t>
            </a:r>
          </a:p>
          <a:p>
            <a:r>
              <a:t>Source flow b5a9d2f3ab17b9a4ab43: auth -&gt; tokens; native ops-tokens-body.</a:t>
            </a:r>
          </a:p>
          <a:p>
            <a:r>
              <a:t>Source flow 0115c864403bfdf58b00: api -&gt; registry; native ops-registry-body.</a:t>
            </a:r>
          </a:p>
          <a:p>
            <a:r>
              <a:t>Source flow f2dc7f9116778dce9629: insights -&gt; logs; native ops-logs-body.</a:t>
            </a:r>
          </a:p>
          <a:p>
            <a:r>
              <a:t>Source flow cb3b6a244b00514fb4de: sql -&gt; logs; native ops-logs-body.</a:t>
            </a:r>
          </a:p>
          <a:p>
            <a:r>
              <a:t>Source flow 0448430d9d92f5c980be: model -&gt; alerts; native ops-alerts-body.</a:t>
            </a:r>
          </a:p>
          <a:p>
            <a:r>
              <a:t>VISIBLE NATIVE DIAGRAM TEXT EQUIVALENT (unspoken):</a:t>
            </a:r>
          </a:p>
          <a:p>
            <a:r>
              <a:t>ZAVA NORTH HOMES / ZAVA FORWARD / OPTIONAL REFERENCE</a:t>
            </a:r>
          </a:p>
          <a:p>
            <a:r>
              <a:t>Operate the core without overstating assurance.</a:t>
            </a:r>
          </a:p>
          <a:p>
            <a:r>
              <a:t>14 OCT 2026 | S16 + retained sources/status in notes</a:t>
            </a:r>
          </a:p>
          <a:p>
            <a:r>
              <a:t>23 / 24</a:t>
            </a:r>
          </a:p>
          <a:p>
            <a:r>
              <a:t>Azure Blob | auth tokens</a:t>
            </a:r>
          </a:p>
          <a:p>
            <a:r>
              <a:t>CONFIGURED | private store</a:t>
            </a:r>
          </a:p>
          <a:p>
            <a:r>
              <a:t>EasyAuth19 uses SAS.</a:t>
            </a:r>
          </a:p>
          <a:p>
            <a:r>
              <a:t>Renewal gets delegation key.</a:t>
            </a:r>
          </a:p>
          <a:p>
            <a:r>
              <a:t>Azure Container Apps</a:t>
            </a:r>
          </a:p>
          <a:p>
            <a:r>
              <a:t>CONFIGURED | renewal job</a:t>
            </a:r>
          </a:p>
          <a:p>
            <a:r>
              <a:t>03:00 UTC; daily five-day SAS.</a:t>
            </a:r>
          </a:p>
          <a:p>
            <a:r>
              <a:t>Own maintenance identity.</a:t>
            </a:r>
          </a:p>
          <a:p>
            <a:r>
              <a:t>Azure Key Vault</a:t>
            </a:r>
          </a:p>
          <a:p>
            <a:r>
              <a:t>CONFIGURED | one secret</a:t>
            </a:r>
          </a:p>
          <a:p>
            <a:r>
              <a:t>Renewal writes; auth reads.</a:t>
            </a:r>
          </a:p>
          <a:p>
            <a:r>
              <a:t>No browser token retrieval.</a:t>
            </a:r>
          </a:p>
          <a:p>
            <a:r>
              <a:t>Azure Container Registry</a:t>
            </a:r>
          </a:p>
          <a:p>
            <a:r>
              <a:t>CONFIGURED | MI image pull</a:t>
            </a:r>
          </a:p>
          <a:p>
            <a:r>
              <a:t>Operator build + deploy.</a:t>
            </a:r>
          </a:p>
          <a:p>
            <a:r>
              <a:t>CI: tests / scan / SBOM only.</a:t>
            </a:r>
          </a:p>
          <a:p>
            <a:r>
              <a:t>Azure Log Analytics</a:t>
            </a:r>
          </a:p>
          <a:p>
            <a:r>
              <a:t>CONFIGURED | logs + audit</a:t>
            </a:r>
          </a:p>
          <a:p>
            <a:r>
              <a:t>App Insights + SQL/API logs.</a:t>
            </a:r>
          </a:p>
          <a:p>
            <a:r>
              <a:t>Full tracing not established.</a:t>
            </a:r>
          </a:p>
          <a:p>
            <a:r>
              <a:t>Azure Monitor alerts</a:t>
            </a:r>
          </a:p>
          <a:p>
            <a:r>
              <a:t>CONFIGURED | email alerts</a:t>
            </a:r>
          </a:p>
          <a:p>
            <a:r>
              <a:t>80% actual / 100% forecast.</a:t>
            </a:r>
          </a:p>
          <a:p>
            <a:r>
              <a:t>Not a hard spending cap.</a:t>
            </a:r>
          </a:p>
          <a:p>
            <a:r>
              <a:t>SOURCE-CONFIGURED: VNet, subnets, NSGs, private endpoints, DNS, AMPLS.</a:t>
            </a:r>
          </a:p>
          <a:p>
            <a:r>
              <a:t>Development also permits public access. PaaS services are NOT VNet-hosted.</a:t>
            </a:r>
          </a:p>
          <a:p>
            <a:r>
              <a:t>CONFIGURED: API19 -&gt; Graph own-photo User.Read; browser -&gt; tile provider (list alternative).</a:t>
            </a:r>
          </a:p>
          <a:p>
            <a:r>
              <a:t>Model fails: manual work. SQL fails: writes may block. Token renewal fails: act before expiry.</a:t>
            </a:r>
          </a:p>
          <a:p>
            <a:r>
              <a:t>Return to decision: slide 18</a:t>
            </a:r>
          </a:p>
          <a:p>
            <a:r>
              <a:t>Full source views: docs/architecture/zava-forward-executive-architecture.excalidraw / .svg / .png; docs/architecture/zava-forward-technical-architecture.excalidraw / .svg / .png. README and assets/README hold source/status/provenance.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 evidence limit / planned script:</a:t>
            </a:r>
          </a:p>
          <a:p>
            <a:r>
              <a:t>SLIDE 24 - Deferred services are not the five-assistant runtime.</a:t>
            </a:r>
          </a:p>
          <a:p>
            <a:r>
              <a:t>Message: Deferred services are not the five-assistant runtime.</a:t>
            </a:r>
          </a:p>
          <a:p>
            <a:r>
              <a:t>Optional appendix; no scheduled main-route time.</a:t>
            </a:r>
          </a:p>
          <a:p/>
          <a:p/>
          <a:p>
            <a:r>
              <a:t>REFRESH BASELINE / UN SPOKEN REFERENCE: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p>
            <a:r>
              <a:t>Spoken return: That is the current boundary; the decision remains which evidence gate to resolve next.</a:t>
            </a:r>
          </a:p>
          <a:p/>
          <a:p>
            <a:r>
              <a:t>S16 ARCHITECTURE / TEXT EQUIVALENT:</a:t>
            </a:r>
          </a:p>
          <a:p>
            <a:r>
              <a:t>S16: docs/architecture/README.md, executive and technical Excalidraw/SVG/PNG views, docs/architecture/assets/README.md; 14 October 2026. Static source baseline 062434a1fedbf6a87d1374c767c2bf0a11491ab6, not a fresh inventory or acceptance. Source Excalidraw remains editing authority; this PPTX is a simplified native adaptation. Individual unmodified official Azure SVG assets are locally rasterised for product icons; native containers, labels and connectors remain editable.</a:t>
            </a:r>
          </a:p>
          <a:p>
            <a:r>
              <a:t>Refresh documentation intake: f94f53a56c36d38ec36f7f662595912084571380. Architecture source: 062434a1fedbf6a87d1374c767c2bf0a11491ab6. Runtime source: cd14b3b379026a87ebfa3e9058ac10c0df7888eb. Historical cabe05c context below is not the current runtime or this documentation intake.</a:t>
            </a:r>
          </a:p>
          <a:p>
            <a:r>
              <a:t>Current five assistants are modules in ONE Python API Container App, not five microservices or the deferred queue-worker estate. Direct Azure OpenAI; no deployed Foundry Agent Service. SQL owns domain/proposal state, dedupe, reservations and fenced leases. Inference is outside database locks; the provider has no DB/workflow credentials. Accepting a proposal changes proposal/audit state, never resident, professional, work-release, quality or Finance approval.</a:t>
            </a:r>
          </a:p>
          <a:p>
            <a:r>
              <a:t>Normal five-assistant authority is absent; proactive OFF. This does not disable every legacy AI draft route. Ready = generated, unreviewed. Five operator paths, five calls, 6884 tokens, 15 ledger events and full SQL content/restart proof are technical observations only, not staff-browser, human source, semantic or value acceptance. Restart is not restore acceptance.</a:t>
            </a:r>
          </a:p>
          <a:p>
            <a:r>
              <a:t>Development public-network exceptions coexist with configured private controls; PaaS is not VNet-hosted. Source-configured diagnostics are not full app tracing. External immutable audit digest anchoring is unimplemented. M365/import/queue workers are conditional or deferred. User.Read own-photo permission is not Sites.Selected plus a site grant. SharePoint topology parameter is not an implemented adapter. Front Door Premium/WAF is not deployed.</a:t>
            </a:r>
          </a:p>
          <a:p>
            <a:r>
              <a:t>Tokens: separate private Blob; daily 03:00 UTC renewal of a five-day user-delegation SAS; one vault secret write, distinct maintenance identity, no browser token retrieval. Budget 80% actual/100% forecast notifications are not a hard cap. Managed-identity ACR image pull/operator build-deploy is distinct from CI tests/scan/SBOM, not automatic Azure deployment.</a:t>
            </a:r>
          </a:p>
          <a:p>
            <a:r>
              <a:t>The owner explicitly reauthorised synthetic ledger recreation on 14 October; previous exercise audit/recommendations reset, not an unchanged migration. Retained 60,000-stock lineage; 980 cases, 38 booked visits and 11 private staff bindings are aggregate fixture counts only. No private identifiers are reproduced. Historical Decision 1 is not a current five-assistant runtime dependency. Finance fixtures and 20%/25% benefits are hypotheses, not measured success. No new legal currentness, expenditure, rollout or production approval.</a:t>
            </a:r>
          </a:p>
          <a:p>
            <a:r>
              <a:t>Diagram reading order: identity/request -&gt; single API -&gt; stores/model -&gt; separate human authority. Connectors are editable; no composite architecture image. No native-viewer accessibility claim.</a:t>
            </a:r>
          </a:p>
          <a:p>
            <a:r>
              <a:t>SharePoint EVIDENCE_STORE topology parameter is not an implemented adapter. Agent KEDA 0-5, import event scale 0-2 and five-minute orchestrator are placeholder definitions, not current working code. Proposed workers have no SQL/Blob/Key Vault credential; API owns checkpoints/context/proposal contracts. Token maintenance is distinct from these workers. Additional evidence containers are defined; audit-archive policy is unlocked, complete immutable digest anchoring unimplemented.</a:t>
            </a:r>
          </a:p>
          <a:p>
            <a:r>
              <a:t>Source flow 477d90fbcf1aa01e03ec: orchestrator -&gt; queues; native deferred-enqueue-segment-1.</a:t>
            </a:r>
          </a:p>
          <a:p>
            <a:r>
              <a:t>Source flow fd0a0dedeb1522230ee0: queues -&gt; agents; native deferred-keda-segment-1.</a:t>
            </a:r>
          </a:p>
          <a:p>
            <a:r>
              <a:t>Source flow a67a2167aaacf3253bde: queues -&gt; import; native deferred-import-queue-segment-1.</a:t>
            </a:r>
          </a:p>
          <a:p>
            <a:r>
              <a:t>Source flow 2f1a9894e847a80b4dce: import -&gt; other-containers; native deferred-quarantine-segment-1.</a:t>
            </a:r>
          </a:p>
          <a:p>
            <a:r>
              <a:t>Source flow beb89f6cd68c373ae69d: agents -&gt; api; native deferred-agents-body.</a:t>
            </a:r>
          </a:p>
          <a:p>
            <a:r>
              <a:t>Source flow d3ee97bb09a723d14c7c: orchestrator -&gt; api; native deferred-orchestrator-body.</a:t>
            </a:r>
          </a:p>
          <a:p>
            <a:r>
              <a:t>Source flow 16ad35bd0bdf7e22f9a9: agents -&gt; model; native deferred-agents-body.</a:t>
            </a:r>
          </a:p>
          <a:p>
            <a:r>
              <a:t>Source flow 2a121655841b6b3abef0: m365 -&gt; import; native deferred-snapshot-segment-1.</a:t>
            </a:r>
          </a:p>
          <a:p>
            <a:r>
              <a:t>Source flow f9ff73c6ea523e3532b1: import -&gt; sql; native deferred-import-body.</a:t>
            </a:r>
          </a:p>
          <a:p>
            <a:r>
              <a:t>Source flow fc64c30353ef27ae6319: alerts -&gt; m365; native deferred-teams.</a:t>
            </a:r>
          </a:p>
          <a:p>
            <a:r>
              <a:t>VISIBLE NATIVE DIAGRAM TEXT EQUIVALENT (unspoken):</a:t>
            </a:r>
          </a:p>
          <a:p>
            <a:r>
              <a:t>ZAVA NORTH HOMES / ZAVA FORWARD / OPTIONAL REFERENCE</a:t>
            </a:r>
          </a:p>
          <a:p>
            <a:r>
              <a:t>Deferred services are not the five-assistant runtime.</a:t>
            </a:r>
          </a:p>
          <a:p>
            <a:r>
              <a:t>14 OCT 2026 | S16 + retained sources/status in notes</a:t>
            </a:r>
          </a:p>
          <a:p>
            <a:r>
              <a:t>24 / 24</a:t>
            </a:r>
          </a:p>
          <a:p>
            <a:r>
              <a:t>DEFERRED ADR 0001 | placeholder contracts, NOT the five-assistant runtime</a:t>
            </a:r>
          </a:p>
          <a:p>
            <a:r>
              <a:t>Orchestrator | DEFERRED</a:t>
            </a:r>
          </a:p>
          <a:p>
            <a:r>
              <a:t>5-minute task placeholder.</a:t>
            </a:r>
          </a:p>
          <a:p>
            <a:r>
              <a:t>Checkpoints -&gt; API19.</a:t>
            </a:r>
          </a:p>
          <a:p>
            <a:r>
              <a:t>Not an AI supervisor.</a:t>
            </a:r>
          </a:p>
          <a:p>
            <a:r>
              <a:t>Azure Queue Storage</a:t>
            </a:r>
          </a:p>
          <a:p>
            <a:r>
              <a:t>DEFERRED | agent-tasks</a:t>
            </a:r>
          </a:p>
          <a:p>
            <a:r>
              <a:t>import-jobs + poison queues.</a:t>
            </a:r>
          </a:p>
          <a:p>
            <a:r>
              <a:t>KEDA tasks / import events.</a:t>
            </a:r>
          </a:p>
          <a:p>
            <a:r>
              <a:t>Agent app | DEFERRED</a:t>
            </a:r>
          </a:p>
          <a:p>
            <a:r>
              <a:t>KEDA placeholder, not current AI.</a:t>
            </a:r>
          </a:p>
          <a:p>
            <a:r>
              <a:t>Context/proposals -&gt; API19.</a:t>
            </a:r>
          </a:p>
          <a:p>
            <a:r>
              <a:t>Models19; no data-store tools.</a:t>
            </a:r>
          </a:p>
          <a:p>
            <a:r>
              <a:t>M365 | CONDITIONAL</a:t>
            </a:r>
          </a:p>
          <a:p>
            <a:r>
              <a:t>SharePoint/Excel snapshot.</a:t>
            </a:r>
          </a:p>
          <a:p>
            <a:r>
              <a:t>Sites.Selected + site grant.</a:t>
            </a:r>
          </a:p>
          <a:p>
            <a:r>
              <a:t>One-way; not photo rights.</a:t>
            </a:r>
          </a:p>
          <a:p>
            <a:r>
              <a:t>Azure Container Apps</a:t>
            </a:r>
          </a:p>
          <a:p>
            <a:r>
              <a:t>DEFERRED | import-jobs stub.</a:t>
            </a:r>
          </a:p>
          <a:p>
            <a:r>
              <a:t>Limited SQL; Blob quarantine.</a:t>
            </a:r>
          </a:p>
          <a:p>
            <a:r>
              <a:t>No workbook write-back.</a:t>
            </a:r>
          </a:p>
          <a:p>
            <a:r>
              <a:t>Azure Blob | DEFERRED</a:t>
            </a:r>
          </a:p>
          <a:p>
            <a:r>
              <a:t>imports / quarantine</a:t>
            </a:r>
          </a:p>
          <a:p>
            <a:r>
              <a:t>exports / audit-archive</a:t>
            </a:r>
          </a:p>
          <a:p>
            <a:r>
              <a:t>Current API + SQL: see19.</a:t>
            </a:r>
          </a:p>
          <a:p>
            <a:r>
              <a:t>Azure Front Door Premium/WAF</a:t>
            </a:r>
          </a:p>
          <a:p>
            <a:r>
              <a:t>NOT DEPLOYED | intended edge; ingress direct.</a:t>
            </a:r>
          </a:p>
          <a:p>
            <a:r>
              <a:t>Audit digest | NOT IMPLEMENTED</a:t>
            </a:r>
          </a:p>
          <a:p>
            <a:r>
              <a:t>Unlocked policy is not immutable anchoring.</a:t>
            </a:r>
          </a:p>
          <a:p>
            <a:r>
              <a:t>CONDITIONAL: ops23 -&gt; Teams Workflows. Never approval, consent or safety response.</a:t>
            </a:r>
          </a:p>
          <a:p>
            <a:r>
              <a:t>Return to decision: slide 18</a:t>
            </a:r>
          </a:p>
          <a:p>
            <a:r>
              <a:t>Actual runtime: slide 19</a:t>
            </a:r>
          </a:p>
          <a:p>
            <a:r>
              <a:t>Full source views: docs/architecture/zava-forward-executive-architecture.excalidraw / .svg / .png; docs/architecture/zava-forward-technical-architecture.excalidraw / .svg / .png. README and assets/README hold source/status/provenance.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slide" Target="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 Target="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hyperlink" Target="https://github.com/jmservera/ama/blob/f94f53a56c36d38ec36f7f662595912084571380/infra/README.md#five-assistant-version-current-handover"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slide" Target="slide23.xml"/><Relationship Id="rId10" Type="http://schemas.openxmlformats.org/officeDocument/2006/relationships/slide" Target="slide24.xml"/><Relationship Id="rId11" Type="http://schemas.openxmlformats.org/officeDocument/2006/relationships/slide" Target="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slide" Target="slide18.xml"/><Relationship Id="rId5" Type="http://schemas.openxmlformats.org/officeDocument/2006/relationships/slide" Target="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hyperlink" Target="https://github.com/jmservera/ama/blob/f94f53a56c36d38ec36f7f662595912084571380/docs/architecture/README.md" TargetMode="External"/><Relationship Id="rId5" Type="http://schemas.openxmlformats.org/officeDocument/2006/relationships/slide" Target="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slide" Target="slide18.xml"/><Relationship Id="rId5"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notesSlide" Target="../notesSlides/notesSlide23.xml"/><Relationship Id="rId10" Type="http://schemas.openxmlformats.org/officeDocument/2006/relationships/slide" Target="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notesSlide" Target="../notesSlides/notesSlide24.xml"/><Relationship Id="rId8" Type="http://schemas.openxmlformats.org/officeDocument/2006/relationships/slide" Target="slide18.xml"/><Relationship Id="rId9" Type="http://schemas.openxmlformats.org/officeDocument/2006/relationships/slide" Target="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Back the evidence. Keep the resident promise.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S01 / S02 / S03 / S09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01 / 24</a:t>
            </a:r>
          </a:p>
        </p:txBody>
      </p:sp>
      <p:sp>
        <p:nvSpPr>
          <p:cNvPr id="8" name="resident-scale"/>
          <p:cNvSpPr txBox="1"/>
          <p:nvPr/>
        </p:nvSpPr>
        <p:spPr>
          <a:xfrm>
            <a:off x="502920" y="1938528"/>
            <a:ext cx="6583680"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3800" b="1" i="0">
                <a:solidFill>
                  <a:srgbClr val="F7F2E7"/>
                </a:solidFill>
                <a:latin typeface="Liberation Sans"/>
              </a:rPr>
              <a:t>60,000 homes.</a:t>
            </a:r>
          </a:p>
        </p:txBody>
      </p:sp>
      <p:sp>
        <p:nvSpPr>
          <p:cNvPr id="9" name="resident-outcome"/>
          <p:cNvSpPr txBox="1"/>
          <p:nvPr/>
        </p:nvSpPr>
        <p:spPr>
          <a:xfrm>
            <a:off x="502920" y="2734056"/>
            <a:ext cx="6400800" cy="1280160"/>
          </a:xfrm>
          <a:prstGeom prst="rect">
            <a:avLst/>
          </a:prstGeom>
          <a:noFill/>
        </p:spPr>
        <p:txBody>
          <a:bodyPr wrap="square" lIns="18288" rIns="18288" tIns="18288" bIns="18288" anchor="t">
            <a:noAutofit/>
          </a:bodyPr>
          <a:lstStyle/>
          <a:p>
            <a:pPr>
              <a:lnSpc>
                <a:spcPct val="108000"/>
              </a:lnSpc>
              <a:spcBef>
                <a:spcPts val="0"/>
              </a:spcBef>
              <a:spcAft>
                <a:spcPts val="500"/>
              </a:spcAft>
            </a:pPr>
            <a:r>
              <a:rPr sz="3400" b="0" i="0">
                <a:solidFill>
                  <a:srgbClr val="F7F2E7"/>
                </a:solidFill>
                <a:latin typeface="Liberation Sans"/>
              </a:rPr>
              <a:t>Safe, resident-accepted</a:t>
            </a:r>
          </a:p>
          <a:p>
            <a:pPr>
              <a:lnSpc>
                <a:spcPct val="108000"/>
              </a:lnSpc>
              <a:spcBef>
                <a:spcPts val="0"/>
              </a:spcBef>
              <a:spcAft>
                <a:spcPts val="500"/>
              </a:spcAft>
            </a:pPr>
            <a:r>
              <a:rPr sz="3400" b="0" i="0">
                <a:solidFill>
                  <a:srgbClr val="F7F2E7"/>
                </a:solidFill>
                <a:latin typeface="Liberation Sans"/>
              </a:rPr>
              <a:t>handovers.</a:t>
            </a:r>
          </a:p>
        </p:txBody>
      </p:sp>
      <p:sp>
        <p:nvSpPr>
          <p:cNvPr id="10" name="opening-evidence"/>
          <p:cNvSpPr txBox="1"/>
          <p:nvPr/>
        </p:nvSpPr>
        <p:spPr>
          <a:xfrm>
            <a:off x="502920" y="4681728"/>
            <a:ext cx="6492240" cy="91440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F7F2E7"/>
                </a:solidFill>
                <a:latin typeface="Liberation Sans"/>
              </a:rPr>
              <a:t>Real service proof now.</a:t>
            </a:r>
          </a:p>
          <a:p>
            <a:pPr>
              <a:lnSpc>
                <a:spcPct val="108000"/>
              </a:lnSpc>
              <a:spcBef>
                <a:spcPts val="0"/>
              </a:spcBef>
              <a:spcAft>
                <a:spcPts val="500"/>
              </a:spcAft>
            </a:pPr>
            <a:r>
              <a:rPr sz="2400" b="0" i="0">
                <a:solidFill>
                  <a:srgbClr val="F7F2E7"/>
                </a:solidFill>
                <a:latin typeface="Liberation Sans"/>
              </a:rPr>
              <a:t>Human and value gates next.</a:t>
            </a:r>
          </a:p>
        </p:txBody>
      </p:sp>
      <p:sp>
        <p:nvSpPr>
          <p:cNvPr id="11" name="decision-background" descr="Container background; accompanying native text provides content."/>
          <p:cNvSpPr/>
          <p:nvPr/>
        </p:nvSpPr>
        <p:spPr>
          <a:xfrm>
            <a:off x="7589520" y="1938528"/>
            <a:ext cx="4096512" cy="3557016"/>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decision-title"/>
          <p:cNvSpPr txBox="1"/>
          <p:nvPr/>
        </p:nvSpPr>
        <p:spPr>
          <a:xfrm>
            <a:off x="7818120" y="2185416"/>
            <a:ext cx="3639312"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TODAY’S DECISION</a:t>
            </a:r>
          </a:p>
        </p:txBody>
      </p:sp>
      <p:sp>
        <p:nvSpPr>
          <p:cNvPr id="13" name="decision-body"/>
          <p:cNvSpPr txBox="1"/>
          <p:nvPr/>
        </p:nvSpPr>
        <p:spPr>
          <a:xfrm>
            <a:off x="7818120" y="3035808"/>
            <a:ext cx="3639312" cy="1645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Endorse preparation</a:t>
            </a:r>
          </a:p>
          <a:p>
            <a:pPr>
              <a:lnSpc>
                <a:spcPct val="108000"/>
              </a:lnSpc>
              <a:spcBef>
                <a:spcPts val="0"/>
              </a:spcBef>
              <a:spcAft>
                <a:spcPts val="500"/>
              </a:spcAft>
            </a:pPr>
            <a:r>
              <a:rPr sz="2400" b="1" i="0">
                <a:solidFill>
                  <a:srgbClr val="183A31"/>
                </a:solidFill>
                <a:latin typeface="Liberation Sans"/>
              </a:rPr>
              <a:t>of the next acceptance-</a:t>
            </a:r>
          </a:p>
          <a:p>
            <a:pPr>
              <a:lnSpc>
                <a:spcPct val="108000"/>
              </a:lnSpc>
              <a:spcBef>
                <a:spcPts val="0"/>
              </a:spcBef>
              <a:spcAft>
                <a:spcPts val="500"/>
              </a:spcAft>
            </a:pPr>
            <a:r>
              <a:rPr sz="2400" b="1" i="0">
                <a:solidFill>
                  <a:srgbClr val="183A31"/>
                </a:solidFill>
                <a:latin typeface="Liberation Sans"/>
              </a:rPr>
              <a:t>and-value proposal.</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Planning only - no new spending, rollout or production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pressure points. One accepted home.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S01 / S02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02 / 24</a:t>
            </a:r>
          </a:p>
        </p:txBody>
      </p:sp>
      <p:sp>
        <p:nvSpPr>
          <p:cNvPr id="8" name="peer-1-background" descr="Container background; accompanying native text provides content."/>
          <p:cNvSpPr/>
          <p:nvPr/>
        </p:nvSpPr>
        <p:spPr>
          <a:xfrm>
            <a:off x="502920"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Choose</a:t>
            </a:r>
          </a:p>
          <a:p>
            <a:pPr>
              <a:lnSpc>
                <a:spcPct val="108000"/>
              </a:lnSpc>
              <a:spcBef>
                <a:spcPts val="0"/>
              </a:spcBef>
              <a:spcAft>
                <a:spcPts val="500"/>
              </a:spcAft>
            </a:pPr>
            <a:r>
              <a:rPr sz="2300" b="1" i="0">
                <a:solidFill>
                  <a:srgbClr val="183A31"/>
                </a:solidFill>
                <a:latin typeface="Liberation Sans"/>
              </a:rPr>
              <a:t>homes</a:t>
            </a:r>
          </a:p>
        </p:txBody>
      </p:sp>
      <p:sp>
        <p:nvSpPr>
          <p:cNvPr id="10" name="peer-1-body"/>
          <p:cNvSpPr txBox="1"/>
          <p:nvPr/>
        </p:nvSpPr>
        <p:spPr>
          <a:xfrm>
            <a:off x="667512"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Prioritisation</a:t>
            </a:r>
          </a:p>
        </p:txBody>
      </p:sp>
      <p:sp>
        <p:nvSpPr>
          <p:cNvPr id="11" name="peer-2-background" descr="Container background; accompanying native text provides content."/>
          <p:cNvSpPr/>
          <p:nvPr/>
        </p:nvSpPr>
        <p:spPr>
          <a:xfrm>
            <a:off x="2779776"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2944368"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Assess &amp;</a:t>
            </a:r>
          </a:p>
          <a:p>
            <a:pPr>
              <a:lnSpc>
                <a:spcPct val="108000"/>
              </a:lnSpc>
              <a:spcBef>
                <a:spcPts val="0"/>
              </a:spcBef>
              <a:spcAft>
                <a:spcPts val="500"/>
              </a:spcAft>
            </a:pPr>
            <a:r>
              <a:rPr sz="2300" b="1" i="0">
                <a:solidFill>
                  <a:srgbClr val="183A31"/>
                </a:solidFill>
                <a:latin typeface="Liberation Sans"/>
              </a:rPr>
              <a:t>design</a:t>
            </a:r>
          </a:p>
        </p:txBody>
      </p:sp>
      <p:sp>
        <p:nvSpPr>
          <p:cNvPr id="13" name="peer-2-body"/>
          <p:cNvSpPr txBox="1"/>
          <p:nvPr/>
        </p:nvSpPr>
        <p:spPr>
          <a:xfrm>
            <a:off x="2944368"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Assessment</a:t>
            </a:r>
          </a:p>
        </p:txBody>
      </p:sp>
      <p:sp>
        <p:nvSpPr>
          <p:cNvPr id="14" name="peer-3-background" descr="Container background; accompanying native text provides content."/>
          <p:cNvSpPr/>
          <p:nvPr/>
        </p:nvSpPr>
        <p:spPr>
          <a:xfrm>
            <a:off x="5056632"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5221224"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Prepare</a:t>
            </a:r>
          </a:p>
          <a:p>
            <a:pPr>
              <a:lnSpc>
                <a:spcPct val="108000"/>
              </a:lnSpc>
              <a:spcBef>
                <a:spcPts val="0"/>
              </a:spcBef>
              <a:spcAft>
                <a:spcPts val="500"/>
              </a:spcAft>
            </a:pPr>
            <a:r>
              <a:rPr sz="2300" b="1" i="0">
                <a:solidFill>
                  <a:srgbClr val="183A31"/>
                </a:solidFill>
                <a:latin typeface="Liberation Sans"/>
              </a:rPr>
              <a:t>funding</a:t>
            </a:r>
          </a:p>
        </p:txBody>
      </p:sp>
      <p:sp>
        <p:nvSpPr>
          <p:cNvPr id="16" name="peer-3-body"/>
          <p:cNvSpPr txBox="1"/>
          <p:nvPr/>
        </p:nvSpPr>
        <p:spPr>
          <a:xfrm>
            <a:off x="5221224"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Evidence</a:t>
            </a:r>
          </a:p>
        </p:txBody>
      </p:sp>
      <p:sp>
        <p:nvSpPr>
          <p:cNvPr id="17" name="peer-4-background" descr="Container background; accompanying native text provides content."/>
          <p:cNvSpPr/>
          <p:nvPr/>
        </p:nvSpPr>
        <p:spPr>
          <a:xfrm>
            <a:off x="7333488"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7498080"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Coordinate</a:t>
            </a:r>
          </a:p>
          <a:p>
            <a:pPr>
              <a:lnSpc>
                <a:spcPct val="108000"/>
              </a:lnSpc>
              <a:spcBef>
                <a:spcPts val="0"/>
              </a:spcBef>
              <a:spcAft>
                <a:spcPts val="500"/>
              </a:spcAft>
            </a:pPr>
            <a:r>
              <a:rPr sz="2300" b="1" i="0">
                <a:solidFill>
                  <a:srgbClr val="183A31"/>
                </a:solidFill>
                <a:latin typeface="Liberation Sans"/>
              </a:rPr>
              <a:t>works</a:t>
            </a:r>
          </a:p>
        </p:txBody>
      </p:sp>
      <p:sp>
        <p:nvSpPr>
          <p:cNvPr id="19" name="peer-4-body"/>
          <p:cNvSpPr txBox="1"/>
          <p:nvPr/>
        </p:nvSpPr>
        <p:spPr>
          <a:xfrm>
            <a:off x="7498080"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Delivery</a:t>
            </a:r>
          </a:p>
        </p:txBody>
      </p:sp>
      <p:sp>
        <p:nvSpPr>
          <p:cNvPr id="20" name="peer-5-background" descr="Container background; accompanying native text provides content."/>
          <p:cNvSpPr/>
          <p:nvPr/>
        </p:nvSpPr>
        <p:spPr>
          <a:xfrm>
            <a:off x="9610344" y="1847088"/>
            <a:ext cx="2075688" cy="25603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eer-5-title"/>
          <p:cNvSpPr txBox="1"/>
          <p:nvPr/>
        </p:nvSpPr>
        <p:spPr>
          <a:xfrm>
            <a:off x="9774936" y="2029968"/>
            <a:ext cx="1746504" cy="96012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Verify &amp;</a:t>
            </a:r>
          </a:p>
          <a:p>
            <a:pPr>
              <a:lnSpc>
                <a:spcPct val="108000"/>
              </a:lnSpc>
              <a:spcBef>
                <a:spcPts val="0"/>
              </a:spcBef>
              <a:spcAft>
                <a:spcPts val="500"/>
              </a:spcAft>
            </a:pPr>
            <a:r>
              <a:rPr sz="2300" b="1" i="0">
                <a:solidFill>
                  <a:srgbClr val="183A31"/>
                </a:solidFill>
                <a:latin typeface="Liberation Sans"/>
              </a:rPr>
              <a:t>hand over</a:t>
            </a:r>
          </a:p>
        </p:txBody>
      </p:sp>
      <p:sp>
        <p:nvSpPr>
          <p:cNvPr id="22" name="peer-5-body"/>
          <p:cNvSpPr txBox="1"/>
          <p:nvPr/>
        </p:nvSpPr>
        <p:spPr>
          <a:xfrm>
            <a:off x="9774936" y="3145536"/>
            <a:ext cx="1746504" cy="1078991"/>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Quality</a:t>
            </a:r>
          </a:p>
        </p:txBody>
      </p:sp>
      <p:sp>
        <p:nvSpPr>
          <p:cNvPr id="23" name="outcome"/>
          <p:cNvSpPr txBox="1"/>
          <p:nvPr/>
        </p:nvSpPr>
        <p:spPr>
          <a:xfrm>
            <a:off x="685800" y="4764024"/>
            <a:ext cx="10789920" cy="59436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183A31"/>
                </a:solidFill>
                <a:latin typeface="Liberation Sans"/>
              </a:rPr>
              <a:t>Safe + resident-accepted + evidence-complete</a:t>
            </a:r>
          </a:p>
        </p:txBody>
      </p:sp>
      <p:sp>
        <p:nvSpPr>
          <p:cNvPr id="2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Measure accepted outcomes, not messages or drafts.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Each request needs rules, people and bounded AI.</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S04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03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Rules</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Gates, clocks,</a:t>
            </a:r>
          </a:p>
          <a:p>
            <a:pPr>
              <a:lnSpc>
                <a:spcPct val="108000"/>
              </a:lnSpc>
              <a:spcBef>
                <a:spcPts val="0"/>
              </a:spcBef>
              <a:spcAft>
                <a:spcPts val="500"/>
              </a:spcAft>
            </a:pPr>
            <a:r>
              <a:rPr sz="2200" b="0" i="0">
                <a:solidFill>
                  <a:srgbClr val="183A31"/>
                </a:solidFill>
                <a:latin typeface="Liberation Sans"/>
              </a:rPr>
              <a:t>eligibility, versions.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People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Policy, consent,</a:t>
            </a:r>
          </a:p>
          <a:p>
            <a:pPr>
              <a:lnSpc>
                <a:spcPct val="108000"/>
              </a:lnSpc>
              <a:spcBef>
                <a:spcPts val="0"/>
              </a:spcBef>
              <a:spcAft>
                <a:spcPts val="500"/>
              </a:spcAft>
            </a:pPr>
            <a:r>
              <a:rPr sz="2200" b="0" i="0">
                <a:solidFill>
                  <a:srgbClr val="183A31"/>
                </a:solidFill>
                <a:latin typeface="Liberation Sans"/>
              </a:rPr>
              <a:t>professional and</a:t>
            </a:r>
          </a:p>
          <a:p>
            <a:pPr>
              <a:lnSpc>
                <a:spcPct val="108000"/>
              </a:lnSpc>
              <a:spcBef>
                <a:spcPts val="0"/>
              </a:spcBef>
              <a:spcAft>
                <a:spcPts val="500"/>
              </a:spcAft>
            </a:pPr>
            <a:r>
              <a:rPr sz="2200" b="0" i="0">
                <a:solidFill>
                  <a:srgbClr val="183A31"/>
                </a:solidFill>
                <a:latin typeface="Liberation Sans"/>
              </a:rPr>
              <a:t>financial decisions.</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Bounded AI</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Reconcile, prepare,</a:t>
            </a:r>
          </a:p>
          <a:p>
            <a:pPr>
              <a:lnSpc>
                <a:spcPct val="108000"/>
              </a:lnSpc>
              <a:spcBef>
                <a:spcPts val="0"/>
              </a:spcBef>
              <a:spcAft>
                <a:spcPts val="500"/>
              </a:spcAft>
            </a:pPr>
            <a:r>
              <a:rPr sz="2200" b="0" i="0">
                <a:solidFill>
                  <a:srgbClr val="183A31"/>
                </a:solidFill>
                <a:latin typeface="Liberation Sans"/>
              </a:rPr>
              <a:t>draft, flag.</a:t>
            </a:r>
          </a:p>
        </p:txBody>
      </p:sp>
      <p:sp>
        <p:nvSpPr>
          <p:cNvPr id="17"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Eight role-agent research instruments — not employee interviews.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routes; keep the exercise choice provisional.</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04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Improve workflow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Least platform change.</a:t>
            </a:r>
          </a:p>
          <a:p>
            <a:pPr>
              <a:lnSpc>
                <a:spcPct val="102000"/>
              </a:lnSpc>
              <a:spcBef>
                <a:spcPts val="0"/>
              </a:spcBef>
              <a:spcAft>
                <a:spcPts val="0"/>
              </a:spcAft>
            </a:pPr>
            <a:r>
              <a:rPr sz="2200" b="0" i="0">
                <a:solidFill>
                  <a:srgbClr val="183A31"/>
                </a:solidFill>
                <a:latin typeface="Liberation Sans"/>
              </a:rPr>
              <a:t>Controls still to test.</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Greenfield business platform</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Managed tools.</a:t>
            </a:r>
          </a:p>
          <a:p>
            <a:pPr>
              <a:lnSpc>
                <a:spcPct val="102000"/>
              </a:lnSpc>
              <a:spcBef>
                <a:spcPts val="0"/>
              </a:spcBef>
              <a:spcAft>
                <a:spcPts val="0"/>
              </a:spcAft>
            </a:pPr>
            <a:r>
              <a:rPr sz="2200" b="0" i="0">
                <a:solidFill>
                  <a:srgbClr val="183A31"/>
                </a:solidFill>
                <a:latin typeface="Liberation Sans"/>
              </a:rPr>
              <a:t>New adoption, licensing</a:t>
            </a:r>
          </a:p>
          <a:p>
            <a:pPr>
              <a:lnSpc>
                <a:spcPct val="102000"/>
              </a:lnSpc>
              <a:spcBef>
                <a:spcPts val="0"/>
              </a:spcBef>
              <a:spcAft>
                <a:spcPts val="0"/>
              </a:spcAft>
            </a:pPr>
            <a:r>
              <a:rPr sz="2200" b="0" i="0">
                <a:solidFill>
                  <a:srgbClr val="183A31"/>
                </a:solidFill>
                <a:latin typeface="Liberation Sans"/>
              </a:rPr>
              <a:t>and support.</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183A31"/>
                </a:solidFill>
                <a:latin typeface="Liberation Sans"/>
              </a:rPr>
              <a:t>Azure-led hybrid</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0" i="0">
                <a:solidFill>
                  <a:srgbClr val="183A31"/>
                </a:solidFill>
                <a:latin typeface="Liberation Sans"/>
              </a:rPr>
              <a:t>Explicit contracts.</a:t>
            </a:r>
          </a:p>
          <a:p>
            <a:pPr>
              <a:lnSpc>
                <a:spcPct val="102000"/>
              </a:lnSpc>
              <a:spcBef>
                <a:spcPts val="0"/>
              </a:spcBef>
              <a:spcAft>
                <a:spcPts val="0"/>
              </a:spcAft>
            </a:pPr>
            <a:r>
              <a:rPr sz="2200" b="0" i="0">
                <a:solidFill>
                  <a:srgbClr val="183A31"/>
                </a:solidFill>
                <a:latin typeface="Liberation Sans"/>
              </a:rPr>
              <a:t>Bespoke engineering</a:t>
            </a:r>
          </a:p>
          <a:p>
            <a:pPr>
              <a:lnSpc>
                <a:spcPct val="102000"/>
              </a:lnSpc>
              <a:spcBef>
                <a:spcPts val="0"/>
              </a:spcBef>
              <a:spcAft>
                <a:spcPts val="0"/>
              </a:spcAft>
            </a:pPr>
            <a:r>
              <a:rPr sz="2200" b="0" i="0">
                <a:solidFill>
                  <a:srgbClr val="183A31"/>
                </a:solidFill>
                <a:latin typeface="Liberation Sans"/>
              </a:rPr>
              <a:t>and operations.</a:t>
            </a:r>
          </a:p>
        </p:txBody>
      </p:sp>
      <p:sp>
        <p:nvSpPr>
          <p:cNvPr id="17" name="options-provisional-background" descr="Container background; accompanying native text provides content."/>
          <p:cNvSpPr/>
          <p:nvPr/>
        </p:nvSpPr>
        <p:spPr>
          <a:xfrm>
            <a:off x="502920" y="5486400"/>
            <a:ext cx="11183112" cy="731520"/>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ptions-provisional"/>
          <p:cNvSpPr txBox="1"/>
          <p:nvPr/>
        </p:nvSpPr>
        <p:spPr>
          <a:xfrm>
            <a:off x="640080" y="5559552"/>
            <a:ext cx="10908792" cy="658368"/>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Recommend hybrid for the bounded exercise only.</a:t>
            </a:r>
          </a:p>
          <a:p>
            <a:pPr>
              <a:lnSpc>
                <a:spcPct val="102000"/>
              </a:lnSpc>
              <a:spcBef>
                <a:spcPts val="0"/>
              </a:spcBef>
              <a:spcAft>
                <a:spcPts val="0"/>
              </a:spcAft>
            </a:pPr>
            <a:r>
              <a:rPr sz="2000" b="1" i="0">
                <a:solidFill>
                  <a:srgbClr val="183A31"/>
                </a:solidFill>
                <a:latin typeface="Liberation Sans"/>
              </a:rPr>
              <a:t>Provisional baseline, NOT a customer investment winner.</a:t>
            </a:r>
          </a:p>
        </p:txBody>
      </p:sp>
      <p:sp>
        <p:nvSpPr>
          <p:cNvPr id="19" name="options-link" descr="Equal-control appraisal: slide 22">
            <a:hlinkClick action="ppaction://hlinksldjump" r:id="rId4"/>
          </p:cNvPr>
          <p:cNvSpPr txBox="1"/>
          <p:nvPr/>
        </p:nvSpPr>
        <p:spPr>
          <a:xfrm>
            <a:off x="502920" y="6309360"/>
            <a:ext cx="54864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Equal-control appraisal: slide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Change the handoffs, not the whole company.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S02 / S07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05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KEEP</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Teams, suppliers,</a:t>
            </a:r>
          </a:p>
          <a:p>
            <a:pPr>
              <a:lnSpc>
                <a:spcPct val="108000"/>
              </a:lnSpc>
              <a:spcBef>
                <a:spcPts val="0"/>
              </a:spcBef>
              <a:spcAft>
                <a:spcPts val="500"/>
              </a:spcAft>
            </a:pPr>
            <a:r>
              <a:rPr sz="2700" b="0" i="0">
                <a:solidFill>
                  <a:srgbClr val="183A31"/>
                </a:solidFill>
                <a:latin typeface="Liberation Sans"/>
              </a:rPr>
              <a:t>useful systems.</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F7F2E7"/>
          </a:solidFill>
          <a:ln>
            <a:solidFill>
              <a:srgbClr val="F7F2E7"/>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800" b="1" i="0">
                <a:solidFill>
                  <a:srgbClr val="183A31"/>
                </a:solidFill>
                <a:latin typeface="Liberation Sans"/>
              </a:rPr>
              <a:t>ADD</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700" b="0" i="0">
                <a:solidFill>
                  <a:srgbClr val="183A31"/>
                </a:solidFill>
                <a:latin typeface="Liberation Sans"/>
              </a:rPr>
              <a:t>One case, owned transitions,</a:t>
            </a:r>
          </a:p>
          <a:p>
            <a:pPr>
              <a:lnSpc>
                <a:spcPct val="108000"/>
              </a:lnSpc>
              <a:spcBef>
                <a:spcPts val="0"/>
              </a:spcBef>
              <a:spcAft>
                <a:spcPts val="500"/>
              </a:spcAft>
            </a:pPr>
            <a:r>
              <a:rPr sz="2700" b="0" i="0">
                <a:solidFill>
                  <a:srgbClr val="183A31"/>
                </a:solidFill>
                <a:latin typeface="Liberation Sans"/>
              </a:rPr>
              <a:t>evidence, bounded assistance.</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Excel could become reporting after a controlled transition.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Every handoff needs an owner and a next action.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S06 / S07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06 / 24</a:t>
            </a:r>
          </a:p>
        </p:txBody>
      </p:sp>
      <p:sp>
        <p:nvSpPr>
          <p:cNvPr id="8" name="row-1-peer-1-background" descr="Container background; accompanying native text provides content."/>
          <p:cNvSpPr/>
          <p:nvPr/>
        </p:nvSpPr>
        <p:spPr>
          <a:xfrm>
            <a:off x="50292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ow-1-peer-1-title"/>
          <p:cNvSpPr txBox="1"/>
          <p:nvPr/>
        </p:nvSpPr>
        <p:spPr>
          <a:xfrm>
            <a:off x="66751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Owner + receiver</a:t>
            </a:r>
          </a:p>
        </p:txBody>
      </p:sp>
      <p:sp>
        <p:nvSpPr>
          <p:cNvPr id="10" name="row-1-peer-1-body"/>
          <p:cNvSpPr txBox="1"/>
          <p:nvPr/>
        </p:nvSpPr>
        <p:spPr>
          <a:xfrm>
            <a:off x="66751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Sender chases until accepted.</a:t>
            </a:r>
          </a:p>
        </p:txBody>
      </p:sp>
      <p:sp>
        <p:nvSpPr>
          <p:cNvPr id="11" name="row-1-peer-2-background" descr="Container background; accompanying native text provides content."/>
          <p:cNvSpPr/>
          <p:nvPr/>
        </p:nvSpPr>
        <p:spPr>
          <a:xfrm>
            <a:off x="429768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w-1-peer-2-title"/>
          <p:cNvSpPr txBox="1"/>
          <p:nvPr/>
        </p:nvSpPr>
        <p:spPr>
          <a:xfrm>
            <a:off x="446227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State</a:t>
            </a:r>
          </a:p>
        </p:txBody>
      </p:sp>
      <p:sp>
        <p:nvSpPr>
          <p:cNvPr id="13" name="row-1-peer-2-body"/>
          <p:cNvSpPr txBox="1"/>
          <p:nvPr/>
        </p:nvSpPr>
        <p:spPr>
          <a:xfrm>
            <a:off x="446227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What is actually true now?</a:t>
            </a:r>
          </a:p>
        </p:txBody>
      </p:sp>
      <p:sp>
        <p:nvSpPr>
          <p:cNvPr id="14" name="row-1-peer-3-background" descr="Container background; accompanying native text provides content."/>
          <p:cNvSpPr/>
          <p:nvPr/>
        </p:nvSpPr>
        <p:spPr>
          <a:xfrm>
            <a:off x="8092440" y="1837943"/>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w-1-peer-3-title"/>
          <p:cNvSpPr txBox="1"/>
          <p:nvPr/>
        </p:nvSpPr>
        <p:spPr>
          <a:xfrm>
            <a:off x="8257032" y="2020824"/>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Entry, exit, pause</a:t>
            </a:r>
          </a:p>
        </p:txBody>
      </p:sp>
      <p:sp>
        <p:nvSpPr>
          <p:cNvPr id="16" name="row-1-peer-3-body"/>
          <p:cNvSpPr txBox="1"/>
          <p:nvPr/>
        </p:nvSpPr>
        <p:spPr>
          <a:xfrm>
            <a:off x="8257032" y="2679191"/>
            <a:ext cx="3264408" cy="603504"/>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Explicit conditions and holds.</a:t>
            </a:r>
          </a:p>
        </p:txBody>
      </p:sp>
      <p:sp>
        <p:nvSpPr>
          <p:cNvPr id="17" name="row-2-peer-1-background" descr="Container background; accompanying native text provides content."/>
          <p:cNvSpPr/>
          <p:nvPr/>
        </p:nvSpPr>
        <p:spPr>
          <a:xfrm>
            <a:off x="50292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ow-2-peer-1-title"/>
          <p:cNvSpPr txBox="1"/>
          <p:nvPr/>
        </p:nvSpPr>
        <p:spPr>
          <a:xfrm>
            <a:off x="66751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Blocker + next action</a:t>
            </a:r>
          </a:p>
        </p:txBody>
      </p:sp>
      <p:sp>
        <p:nvSpPr>
          <p:cNvPr id="19" name="row-2-peer-1-body"/>
          <p:cNvSpPr txBox="1"/>
          <p:nvPr/>
        </p:nvSpPr>
        <p:spPr>
          <a:xfrm>
            <a:off x="66751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Named action and update owner.</a:t>
            </a:r>
          </a:p>
        </p:txBody>
      </p:sp>
      <p:sp>
        <p:nvSpPr>
          <p:cNvPr id="20" name="row-2-peer-2-background" descr="Container background; accompanying native text provides content."/>
          <p:cNvSpPr/>
          <p:nvPr/>
        </p:nvSpPr>
        <p:spPr>
          <a:xfrm>
            <a:off x="429768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ow-2-peer-2-title"/>
          <p:cNvSpPr txBox="1"/>
          <p:nvPr/>
        </p:nvSpPr>
        <p:spPr>
          <a:xfrm>
            <a:off x="446227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Evidence version</a:t>
            </a:r>
          </a:p>
        </p:txBody>
      </p:sp>
      <p:sp>
        <p:nvSpPr>
          <p:cNvPr id="22" name="row-2-peer-2-body"/>
          <p:cNvSpPr txBox="1"/>
          <p:nvPr/>
        </p:nvSpPr>
        <p:spPr>
          <a:xfrm>
            <a:off x="446227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Reopen dependent reviews.</a:t>
            </a:r>
          </a:p>
        </p:txBody>
      </p:sp>
      <p:sp>
        <p:nvSpPr>
          <p:cNvPr id="23" name="row-2-peer-3-background" descr="Container background; accompanying native text provides content."/>
          <p:cNvSpPr/>
          <p:nvPr/>
        </p:nvSpPr>
        <p:spPr>
          <a:xfrm>
            <a:off x="8092440" y="3639311"/>
            <a:ext cx="3593592" cy="1627632"/>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w-2-peer-3-title"/>
          <p:cNvSpPr txBox="1"/>
          <p:nvPr/>
        </p:nvSpPr>
        <p:spPr>
          <a:xfrm>
            <a:off x="8257032" y="3822191"/>
            <a:ext cx="3264408" cy="50292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1" i="0">
                <a:solidFill>
                  <a:srgbClr val="183A31"/>
                </a:solidFill>
                <a:latin typeface="Liberation Sans"/>
              </a:rPr>
              <a:t>Decision + reason</a:t>
            </a:r>
          </a:p>
        </p:txBody>
      </p:sp>
      <p:sp>
        <p:nvSpPr>
          <p:cNvPr id="25" name="row-2-peer-3-body"/>
          <p:cNvSpPr txBox="1"/>
          <p:nvPr/>
        </p:nvSpPr>
        <p:spPr>
          <a:xfrm>
            <a:off x="8257032" y="4480559"/>
            <a:ext cx="326440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Authority, rationale, history.</a:t>
            </a:r>
          </a:p>
        </p:txBody>
      </p:sp>
      <p:sp>
        <p:nvSpPr>
          <p:cNvPr id="26"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Sent ≠ accepted. Completed ≠ handed 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home shows the journey we still need to prove.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07 / 24</a:t>
            </a:r>
          </a:p>
        </p:txBody>
      </p:sp>
      <p:sp>
        <p:nvSpPr>
          <p:cNvPr id="8" name="peer-1-background" descr="Container background; accompanying native text provides content."/>
          <p:cNvSpPr/>
          <p:nvPr/>
        </p:nvSpPr>
        <p:spPr>
          <a:xfrm>
            <a:off x="50292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1  Resolve</a:t>
            </a:r>
          </a:p>
        </p:txBody>
      </p:sp>
      <p:sp>
        <p:nvSpPr>
          <p:cNvPr id="10" name="peer-1-body"/>
          <p:cNvSpPr txBox="1"/>
          <p:nvPr/>
        </p:nvSpPr>
        <p:spPr>
          <a:xfrm>
            <a:off x="66751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Conflicting evidence.</a:t>
            </a:r>
          </a:p>
          <a:p>
            <a:pPr>
              <a:lnSpc>
                <a:spcPct val="108000"/>
              </a:lnSpc>
              <a:spcBef>
                <a:spcPts val="0"/>
              </a:spcBef>
              <a:spcAft>
                <a:spcPts val="500"/>
              </a:spcAft>
            </a:pPr>
            <a:r>
              <a:rPr sz="2200" b="0" i="0">
                <a:solidFill>
                  <a:srgbClr val="183A31"/>
                </a:solidFill>
                <a:latin typeface="Liberation Sans"/>
              </a:rPr>
              <a:t>Named resolver.</a:t>
            </a:r>
          </a:p>
        </p:txBody>
      </p:sp>
      <p:sp>
        <p:nvSpPr>
          <p:cNvPr id="11" name="peer-2-background" descr="Container background; accompanying native text provides content."/>
          <p:cNvSpPr/>
          <p:nvPr/>
        </p:nvSpPr>
        <p:spPr>
          <a:xfrm>
            <a:off x="334899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2  Agree</a:t>
            </a:r>
          </a:p>
        </p:txBody>
      </p:sp>
      <p:sp>
        <p:nvSpPr>
          <p:cNvPr id="13" name="peer-2-body"/>
          <p:cNvSpPr txBox="1"/>
          <p:nvPr/>
        </p:nvSpPr>
        <p:spPr>
          <a:xfrm>
            <a:off x="351358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Scope, resident choice,</a:t>
            </a:r>
          </a:p>
          <a:p>
            <a:pPr>
              <a:lnSpc>
                <a:spcPct val="108000"/>
              </a:lnSpc>
              <a:spcBef>
                <a:spcPts val="0"/>
              </a:spcBef>
              <a:spcAft>
                <a:spcPts val="500"/>
              </a:spcAft>
            </a:pPr>
            <a:r>
              <a:rPr sz="2200" b="0" i="0">
                <a:solidFill>
                  <a:srgbClr val="183A31"/>
                </a:solidFill>
                <a:latin typeface="Liberation Sans"/>
              </a:rPr>
              <a:t>funding, capacity.</a:t>
            </a:r>
          </a:p>
        </p:txBody>
      </p:sp>
      <p:sp>
        <p:nvSpPr>
          <p:cNvPr id="14" name="peer-3-background" descr="Container background; accompanying native text provides content."/>
          <p:cNvSpPr/>
          <p:nvPr/>
        </p:nvSpPr>
        <p:spPr>
          <a:xfrm>
            <a:off x="619506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3  Deliver</a:t>
            </a:r>
          </a:p>
        </p:txBody>
      </p:sp>
      <p:sp>
        <p:nvSpPr>
          <p:cNvPr id="16" name="peer-3-body"/>
          <p:cNvSpPr txBox="1"/>
          <p:nvPr/>
        </p:nvSpPr>
        <p:spPr>
          <a:xfrm>
            <a:off x="635965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Inspect work.</a:t>
            </a:r>
          </a:p>
          <a:p>
            <a:pPr>
              <a:lnSpc>
                <a:spcPct val="108000"/>
              </a:lnSpc>
              <a:spcBef>
                <a:spcPts val="0"/>
              </a:spcBef>
              <a:spcAft>
                <a:spcPts val="500"/>
              </a:spcAft>
            </a:pPr>
            <a:r>
              <a:rPr sz="2200" b="0" i="0">
                <a:solidFill>
                  <a:srgbClr val="183A31"/>
                </a:solidFill>
                <a:latin typeface="Liberation Sans"/>
              </a:rPr>
              <a:t>Return defects.</a:t>
            </a:r>
          </a:p>
        </p:txBody>
      </p:sp>
      <p:sp>
        <p:nvSpPr>
          <p:cNvPr id="17" name="peer-4-background" descr="Container background; accompanying native text provides content."/>
          <p:cNvSpPr/>
          <p:nvPr/>
        </p:nvSpPr>
        <p:spPr>
          <a:xfrm>
            <a:off x="9041130" y="1847088"/>
            <a:ext cx="2644902" cy="301752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576072"/>
          </a:xfrm>
          <a:prstGeom prst="rect">
            <a:avLst/>
          </a:prstGeom>
          <a:noFill/>
        </p:spPr>
        <p:txBody>
          <a:bodyPr wrap="square" lIns="18288" rIns="18288" tIns="18288" bIns="18288" anchor="t">
            <a:noAutofit/>
          </a:bodyPr>
          <a:lstStyle/>
          <a:p>
            <a:pPr>
              <a:lnSpc>
                <a:spcPct val="108000"/>
              </a:lnSpc>
              <a:spcBef>
                <a:spcPts val="0"/>
              </a:spcBef>
              <a:spcAft>
                <a:spcPts val="500"/>
              </a:spcAft>
            </a:pPr>
            <a:r>
              <a:rPr sz="2500" b="1" i="0">
                <a:solidFill>
                  <a:srgbClr val="183A31"/>
                </a:solidFill>
                <a:latin typeface="Liberation Sans"/>
              </a:rPr>
              <a:t>4  Accept</a:t>
            </a:r>
          </a:p>
        </p:txBody>
      </p:sp>
      <p:sp>
        <p:nvSpPr>
          <p:cNvPr id="19" name="peer-4-body"/>
          <p:cNvSpPr txBox="1"/>
          <p:nvPr/>
        </p:nvSpPr>
        <p:spPr>
          <a:xfrm>
            <a:off x="9205722" y="2761488"/>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Resident handover.</a:t>
            </a:r>
          </a:p>
          <a:p>
            <a:pPr>
              <a:lnSpc>
                <a:spcPct val="108000"/>
              </a:lnSpc>
              <a:spcBef>
                <a:spcPts val="0"/>
              </a:spcBef>
              <a:spcAft>
                <a:spcPts val="500"/>
              </a:spcAft>
            </a:pPr>
            <a:r>
              <a:rPr sz="2200" b="0" i="0">
                <a:solidFill>
                  <a:srgbClr val="183A31"/>
                </a:solidFill>
                <a:latin typeface="Liberation Sans"/>
              </a:rPr>
              <a:t>Finance closes separately.</a:t>
            </a:r>
          </a:p>
        </p:txBody>
      </p:sp>
      <p:cxnSp>
        <p:nvCxnSpPr>
          <p:cNvPr id="20" name="journey-arrow-1"/>
          <p:cNvCxnSpPr/>
          <p:nvPr/>
        </p:nvCxnSpPr>
        <p:spPr>
          <a:xfrm>
            <a:off x="316611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journey-arrow-2"/>
          <p:cNvCxnSpPr/>
          <p:nvPr/>
        </p:nvCxnSpPr>
        <p:spPr>
          <a:xfrm>
            <a:off x="6012179" y="2834640"/>
            <a:ext cx="164593"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cxnSp>
        <p:nvCxnSpPr>
          <p:cNvPr id="22" name="journey-arrow-3"/>
          <p:cNvCxnSpPr/>
          <p:nvPr/>
        </p:nvCxnSpPr>
        <p:spPr>
          <a:xfrm>
            <a:off x="8858250" y="2834640"/>
            <a:ext cx="164592"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3" name="journey-hold-return-background" descr="Container background; accompanying native text provides content."/>
          <p:cNvSpPr/>
          <p:nvPr/>
        </p:nvSpPr>
        <p:spPr>
          <a:xfrm>
            <a:off x="502920" y="5038344"/>
            <a:ext cx="11183112" cy="39319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journey-hold-return"/>
          <p:cNvSpPr txBox="1"/>
          <p:nvPr/>
        </p:nvSpPr>
        <p:spPr>
          <a:xfrm>
            <a:off x="667512" y="5102352"/>
            <a:ext cx="10853928" cy="33832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Hold / return → named, competent human owner</a:t>
            </a:r>
          </a:p>
        </p:txBody>
      </p:sp>
      <p:sp>
        <p:nvSpPr>
          <p:cNvPr id="25" name="boundary-background" descr="Container background; accompanying native text provides content."/>
          <p:cNvSpPr/>
          <p:nvPr/>
        </p:nvSpPr>
        <p:spPr>
          <a:xfrm>
            <a:off x="502920" y="5577840"/>
            <a:ext cx="11183112" cy="64008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boundary-text"/>
          <p:cNvSpPr txBox="1"/>
          <p:nvPr/>
        </p:nvSpPr>
        <p:spPr>
          <a:xfrm>
            <a:off x="667512" y="5669279"/>
            <a:ext cx="10853928" cy="51206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Illustrative exercise journey — not an executed end-to-end customer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A resident is not a scheduling variable.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S06 / S07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08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Resident</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Clear options.</a:t>
            </a:r>
          </a:p>
          <a:p>
            <a:pPr>
              <a:lnSpc>
                <a:spcPct val="108000"/>
              </a:lnSpc>
              <a:spcBef>
                <a:spcPts val="0"/>
              </a:spcBef>
              <a:spcAft>
                <a:spcPts val="500"/>
              </a:spcAft>
            </a:pPr>
            <a:r>
              <a:rPr sz="2400" b="0" i="0">
                <a:solidFill>
                  <a:srgbClr val="183A31"/>
                </a:solidFill>
                <a:latin typeface="Liberation Sans"/>
              </a:rPr>
              <a:t>Safe phone, letter or assisted route.</a:t>
            </a:r>
          </a:p>
          <a:p>
            <a:pPr>
              <a:lnSpc>
                <a:spcPct val="108000"/>
              </a:lnSpc>
              <a:spcBef>
                <a:spcPts val="0"/>
              </a:spcBef>
              <a:spcAft>
                <a:spcPts val="500"/>
              </a:spcAft>
            </a:pPr>
            <a:r>
              <a:rPr sz="2400" b="0" i="0">
                <a:solidFill>
                  <a:srgbClr val="183A31"/>
                </a:solidFill>
                <a:latin typeface="Liberation Sans"/>
              </a:rPr>
              <a:t>Measure-specific choice.</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Delivery</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Committed crew, competence,</a:t>
            </a:r>
          </a:p>
          <a:p>
            <a:pPr>
              <a:lnSpc>
                <a:spcPct val="108000"/>
              </a:lnSpc>
              <a:spcBef>
                <a:spcPts val="0"/>
              </a:spcBef>
              <a:spcAft>
                <a:spcPts val="500"/>
              </a:spcAft>
            </a:pPr>
            <a:r>
              <a:rPr sz="2400" b="0" i="0">
                <a:solidFill>
                  <a:srgbClr val="183A31"/>
                </a:solidFill>
                <a:latin typeface="Liberation Sans"/>
              </a:rPr>
              <a:t>materials and named liaison.</a:t>
            </a:r>
          </a:p>
        </p:txBody>
      </p:sp>
      <p:sp>
        <p:nvSpPr>
          <p:cNvPr id="14" name="boundary-background" descr="Container background; accompanying native text provides content."/>
          <p:cNvSpPr/>
          <p:nvPr/>
        </p:nvSpPr>
        <p:spPr>
          <a:xfrm>
            <a:off x="502920" y="5431536"/>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522976"/>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A proposed slot is not consent. Silence/no-access is not refusal.</a:t>
            </a:r>
          </a:p>
        </p:txBody>
      </p:sp>
      <p:sp>
        <p:nvSpPr>
          <p:cNvPr id="16" name="human-hazard-route"/>
          <p:cNvSpPr txBox="1"/>
          <p:nvPr/>
        </p:nvSpPr>
        <p:spPr>
          <a:xfrm>
            <a:off x="640080" y="6099048"/>
            <a:ext cx="10881360" cy="356616"/>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Human hazard route — never wait for 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Show the decision trace, not just an AI explanation.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S07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09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Know</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Source + evidence</a:t>
            </a:r>
          </a:p>
          <a:p>
            <a:pPr>
              <a:lnSpc>
                <a:spcPct val="108000"/>
              </a:lnSpc>
              <a:spcBef>
                <a:spcPts val="0"/>
              </a:spcBef>
              <a:spcAft>
                <a:spcPts val="500"/>
              </a:spcAft>
            </a:pPr>
            <a:r>
              <a:rPr sz="2400" b="0" i="0">
                <a:solidFill>
                  <a:srgbClr val="183A31"/>
                </a:solidFill>
                <a:latin typeface="Liberation Sans"/>
              </a:rPr>
              <a:t>version + unknowns.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Decide</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Rule + result +</a:t>
            </a:r>
          </a:p>
          <a:p>
            <a:pPr>
              <a:lnSpc>
                <a:spcPct val="108000"/>
              </a:lnSpc>
              <a:spcBef>
                <a:spcPts val="0"/>
              </a:spcBef>
              <a:spcAft>
                <a:spcPts val="500"/>
              </a:spcAft>
            </a:pPr>
            <a:r>
              <a:rPr sz="2400" b="0" i="0">
                <a:solidFill>
                  <a:srgbClr val="183A31"/>
                </a:solidFill>
                <a:latin typeface="Liberation Sans"/>
              </a:rPr>
              <a:t>reviewer + reason.</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Change</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Authority + dependent</a:t>
            </a:r>
          </a:p>
          <a:p>
            <a:pPr>
              <a:lnSpc>
                <a:spcPct val="108000"/>
              </a:lnSpc>
              <a:spcBef>
                <a:spcPts val="0"/>
              </a:spcBef>
              <a:spcAft>
                <a:spcPts val="500"/>
              </a:spcAft>
            </a:pPr>
            <a:r>
              <a:rPr sz="2400" b="0" i="0">
                <a:solidFill>
                  <a:srgbClr val="183A31"/>
                </a:solidFill>
                <a:latin typeface="Liberation Sans"/>
              </a:rPr>
              <a:t>re-review + preserved</a:t>
            </a:r>
          </a:p>
          <a:p>
            <a:pPr>
              <a:lnSpc>
                <a:spcPct val="108000"/>
              </a:lnSpc>
              <a:spcBef>
                <a:spcPts val="0"/>
              </a:spcBef>
              <a:spcAft>
                <a:spcPts val="500"/>
              </a:spcAft>
            </a:pPr>
            <a:r>
              <a:rPr sz="2400" b="0" i="0">
                <a:solidFill>
                  <a:srgbClr val="183A31"/>
                </a:solidFill>
                <a:latin typeface="Liberation Sans"/>
              </a:rPr>
              <a:t>history.</a:t>
            </a:r>
          </a:p>
        </p:txBody>
      </p:sp>
      <p:sp>
        <p:nvSpPr>
          <p:cNvPr id="17"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New source ≠ approved new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API supports the work. People retain authority.</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10 / 24</a:t>
            </a:r>
          </a:p>
        </p:txBody>
      </p:sp>
      <p:cxnSp>
        <p:nvCxnSpPr>
          <p:cNvPr id="8" name="exec-staff-api-segment-1"/>
          <p:cNvCxnSpPr/>
          <p:nvPr/>
        </p:nvCxnSpPr>
        <p:spPr>
          <a:xfrm>
            <a:off x="2880360" y="2907792"/>
            <a:ext cx="320040"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9" name="exec-people-api-segment-1"/>
          <p:cNvCxnSpPr/>
          <p:nvPr/>
        </p:nvCxnSpPr>
        <p:spPr>
          <a:xfrm>
            <a:off x="2880360" y="4251960"/>
            <a:ext cx="320040"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0" name="exec-entra-api-segment-1"/>
          <p:cNvCxnSpPr/>
          <p:nvPr/>
        </p:nvCxnSpPr>
        <p:spPr>
          <a:xfrm>
            <a:off x="5486400" y="2532888"/>
            <a:ext cx="0" cy="256032"/>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exec-api-model-segment-1"/>
          <p:cNvCxnSpPr/>
          <p:nvPr/>
        </p:nvCxnSpPr>
        <p:spPr>
          <a:xfrm>
            <a:off x="7772400" y="3566160"/>
            <a:ext cx="502920" cy="0"/>
          </a:xfrm>
          <a:prstGeom prst="line">
            <a:avLst/>
          </a:prstGeom>
          <a:ln w="22860">
            <a:solidFill>
              <a:srgbClr val="173F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 name="exec-api-sql-segment-1"/>
          <p:cNvCxnSpPr/>
          <p:nvPr/>
        </p:nvCxnSpPr>
        <p:spPr>
          <a:xfrm>
            <a:off x="4297680" y="4434840"/>
            <a:ext cx="0" cy="36576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3" name="exec-api-blob-segment-1"/>
          <p:cNvCxnSpPr/>
          <p:nvPr/>
        </p:nvCxnSpPr>
        <p:spPr>
          <a:xfrm>
            <a:off x="6675120" y="4434840"/>
            <a:ext cx="0" cy="36576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exec-staff-background" descr="Container background; accompanying native text provides content."/>
          <p:cNvSpPr/>
          <p:nvPr/>
        </p:nvSpPr>
        <p:spPr>
          <a:xfrm>
            <a:off x="502920" y="1847088"/>
            <a:ext cx="2377440" cy="182880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exec-staff-title"/>
          <p:cNvSpPr txBox="1"/>
          <p:nvPr/>
        </p:nvSpPr>
        <p:spPr>
          <a:xfrm>
            <a:off x="612648" y="1920240"/>
            <a:ext cx="2157984" cy="59436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Staff assist</a:t>
            </a:r>
          </a:p>
          <a:p>
            <a:pPr>
              <a:lnSpc>
                <a:spcPct val="102000"/>
              </a:lnSpc>
              <a:spcBef>
                <a:spcPts val="0"/>
              </a:spcBef>
              <a:spcAft>
                <a:spcPts val="0"/>
              </a:spcAft>
            </a:pPr>
            <a:r>
              <a:rPr sz="1800" b="1" i="0">
                <a:solidFill>
                  <a:srgbClr val="183A31"/>
                </a:solidFill>
                <a:latin typeface="Liberation Sans"/>
              </a:rPr>
              <a:t>residents</a:t>
            </a:r>
          </a:p>
        </p:txBody>
      </p:sp>
      <p:sp>
        <p:nvSpPr>
          <p:cNvPr id="16" name="exec-staff-body"/>
          <p:cNvSpPr txBox="1"/>
          <p:nvPr/>
        </p:nvSpPr>
        <p:spPr>
          <a:xfrm>
            <a:off x="612648" y="2624328"/>
            <a:ext cx="215798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HUMAN | requests</a:t>
            </a:r>
          </a:p>
          <a:p>
            <a:pPr>
              <a:lnSpc>
                <a:spcPct val="102000"/>
              </a:lnSpc>
              <a:spcBef>
                <a:spcPts val="0"/>
              </a:spcBef>
              <a:spcAft>
                <a:spcPts val="0"/>
              </a:spcAft>
            </a:pPr>
            <a:r>
              <a:rPr sz="1800" b="0" i="0">
                <a:solidFill>
                  <a:srgbClr val="183A31"/>
                </a:solidFill>
                <a:latin typeface="Liberation Sans"/>
              </a:rPr>
              <a:t>Phone/letter/help.</a:t>
            </a:r>
          </a:p>
          <a:p>
            <a:pPr>
              <a:lnSpc>
                <a:spcPct val="102000"/>
              </a:lnSpc>
              <a:spcBef>
                <a:spcPts val="0"/>
              </a:spcBef>
              <a:spcAft>
                <a:spcPts val="0"/>
              </a:spcAft>
            </a:pPr>
            <a:r>
              <a:rPr sz="1800" b="0" i="0">
                <a:solidFill>
                  <a:srgbClr val="183A31"/>
                </a:solidFill>
                <a:latin typeface="Liberation Sans"/>
              </a:rPr>
              <a:t>No resident portal.</a:t>
            </a:r>
          </a:p>
        </p:txBody>
      </p:sp>
      <p:sp>
        <p:nvSpPr>
          <p:cNvPr id="17" name="exec-people-background" descr="Container background; accompanying native text provides content."/>
          <p:cNvSpPr/>
          <p:nvPr/>
        </p:nvSpPr>
        <p:spPr>
          <a:xfrm>
            <a:off x="502920" y="3895344"/>
            <a:ext cx="2377440" cy="182880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exec-people-title"/>
          <p:cNvSpPr txBox="1"/>
          <p:nvPr/>
        </p:nvSpPr>
        <p:spPr>
          <a:xfrm>
            <a:off x="612648" y="3968496"/>
            <a:ext cx="2157984" cy="59436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People own</a:t>
            </a:r>
          </a:p>
          <a:p>
            <a:pPr>
              <a:lnSpc>
                <a:spcPct val="102000"/>
              </a:lnSpc>
              <a:spcBef>
                <a:spcPts val="0"/>
              </a:spcBef>
              <a:spcAft>
                <a:spcPts val="0"/>
              </a:spcAft>
            </a:pPr>
            <a:r>
              <a:rPr sz="1800" b="1" i="0">
                <a:solidFill>
                  <a:srgbClr val="183A31"/>
                </a:solidFill>
                <a:latin typeface="Liberation Sans"/>
              </a:rPr>
              <a:t>approval</a:t>
            </a:r>
          </a:p>
        </p:txBody>
      </p:sp>
      <p:sp>
        <p:nvSpPr>
          <p:cNvPr id="19" name="exec-people-body"/>
          <p:cNvSpPr txBox="1"/>
          <p:nvPr/>
        </p:nvSpPr>
        <p:spPr>
          <a:xfrm>
            <a:off x="612648" y="4672583"/>
            <a:ext cx="215798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HUMAN | approves</a:t>
            </a:r>
          </a:p>
          <a:p>
            <a:pPr>
              <a:lnSpc>
                <a:spcPct val="102000"/>
              </a:lnSpc>
              <a:spcBef>
                <a:spcPts val="0"/>
              </a:spcBef>
              <a:spcAft>
                <a:spcPts val="0"/>
              </a:spcAft>
            </a:pPr>
            <a:r>
              <a:rPr sz="1800" b="0" i="0">
                <a:solidFill>
                  <a:srgbClr val="183A31"/>
                </a:solidFill>
                <a:latin typeface="Liberation Sans"/>
              </a:rPr>
              <a:t>Resident + Finance.</a:t>
            </a:r>
          </a:p>
          <a:p>
            <a:pPr>
              <a:lnSpc>
                <a:spcPct val="102000"/>
              </a:lnSpc>
              <a:spcBef>
                <a:spcPts val="0"/>
              </a:spcBef>
              <a:spcAft>
                <a:spcPts val="0"/>
              </a:spcAft>
            </a:pPr>
            <a:r>
              <a:rPr sz="1800" b="0" i="0">
                <a:solidFill>
                  <a:srgbClr val="183A31"/>
                </a:solidFill>
                <a:latin typeface="Liberation Sans"/>
              </a:rPr>
              <a:t>Professionals; QA.</a:t>
            </a:r>
          </a:p>
        </p:txBody>
      </p:sp>
      <p:sp>
        <p:nvSpPr>
          <p:cNvPr id="20" name="exec-entra-background" descr="Container background; accompanying native text provides content."/>
          <p:cNvSpPr/>
          <p:nvPr/>
        </p:nvSpPr>
        <p:spPr>
          <a:xfrm>
            <a:off x="3200400" y="1847088"/>
            <a:ext cx="4572000" cy="6858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exec-entra-title"/>
          <p:cNvSpPr txBox="1"/>
          <p:nvPr/>
        </p:nvSpPr>
        <p:spPr>
          <a:xfrm>
            <a:off x="3666744" y="1901952"/>
            <a:ext cx="3995928"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Microsoft Entra ID | CONFIGURED</a:t>
            </a:r>
          </a:p>
        </p:txBody>
      </p:sp>
      <p:sp>
        <p:nvSpPr>
          <p:cNvPr id="22" name="exec-entra-body"/>
          <p:cNvSpPr txBox="1"/>
          <p:nvPr/>
        </p:nvSpPr>
        <p:spPr>
          <a:xfrm>
            <a:off x="3310128" y="2221992"/>
            <a:ext cx="435254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Microsoft sign-in; role-limited access.</a:t>
            </a:r>
          </a:p>
        </p:txBody>
      </p:sp>
      <p:sp>
        <p:nvSpPr>
          <p:cNvPr id="23" name="exec-api-background" descr="Container background; accompanying native text provides content."/>
          <p:cNvSpPr/>
          <p:nvPr/>
        </p:nvSpPr>
        <p:spPr>
          <a:xfrm>
            <a:off x="3200400" y="2788920"/>
            <a:ext cx="4572000" cy="164592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exec-api-title"/>
          <p:cNvSpPr txBox="1"/>
          <p:nvPr/>
        </p:nvSpPr>
        <p:spPr>
          <a:xfrm>
            <a:off x="3666744" y="2862072"/>
            <a:ext cx="3995928" cy="45720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Azure Container Apps</a:t>
            </a:r>
          </a:p>
        </p:txBody>
      </p:sp>
      <p:sp>
        <p:nvSpPr>
          <p:cNvPr id="25" name="exec-api-body"/>
          <p:cNvSpPr txBox="1"/>
          <p:nvPr/>
        </p:nvSpPr>
        <p:spPr>
          <a:xfrm>
            <a:off x="3310128" y="3383279"/>
            <a:ext cx="4352544"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CORE | one workbench + Python API.</a:t>
            </a:r>
          </a:p>
          <a:p>
            <a:pPr>
              <a:lnSpc>
                <a:spcPct val="102000"/>
              </a:lnSpc>
              <a:spcBef>
                <a:spcPts val="0"/>
              </a:spcBef>
              <a:spcAft>
                <a:spcPts val="0"/>
              </a:spcAft>
            </a:pPr>
            <a:r>
              <a:rPr sz="2000" b="0" i="0">
                <a:solidFill>
                  <a:srgbClr val="183A31"/>
                </a:solidFill>
                <a:latin typeface="Liberation Sans"/>
              </a:rPr>
              <a:t>Workflow + five assistant modules.</a:t>
            </a:r>
          </a:p>
        </p:txBody>
      </p:sp>
      <p:sp>
        <p:nvSpPr>
          <p:cNvPr id="26" name="exec-model-background" descr="Container background; accompanying native text provides content."/>
          <p:cNvSpPr/>
          <p:nvPr/>
        </p:nvSpPr>
        <p:spPr>
          <a:xfrm>
            <a:off x="8275320" y="2788920"/>
            <a:ext cx="3410712" cy="16459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exec-model-title"/>
          <p:cNvSpPr txBox="1"/>
          <p:nvPr/>
        </p:nvSpPr>
        <p:spPr>
          <a:xfrm>
            <a:off x="8741664" y="2862072"/>
            <a:ext cx="2834640" cy="45720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Azure OpenAI</a:t>
            </a:r>
          </a:p>
        </p:txBody>
      </p:sp>
      <p:sp>
        <p:nvSpPr>
          <p:cNvPr id="28" name="exec-model-body"/>
          <p:cNvSpPr txBox="1"/>
          <p:nvPr/>
        </p:nvSpPr>
        <p:spPr>
          <a:xfrm>
            <a:off x="8385048" y="3383279"/>
            <a:ext cx="3191256" cy="996695"/>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CONDITIONAL | draft only</a:t>
            </a:r>
          </a:p>
          <a:p>
            <a:pPr>
              <a:lnSpc>
                <a:spcPct val="102000"/>
              </a:lnSpc>
              <a:spcBef>
                <a:spcPts val="0"/>
              </a:spcBef>
              <a:spcAft>
                <a:spcPts val="0"/>
              </a:spcAft>
            </a:pPr>
            <a:r>
              <a:rPr sz="1800" b="0" i="0">
                <a:solidFill>
                  <a:srgbClr val="183A31"/>
                </a:solidFill>
                <a:latin typeface="Liberation Sans"/>
              </a:rPr>
              <a:t>Scoped request; usage back.</a:t>
            </a:r>
          </a:p>
          <a:p>
            <a:pPr>
              <a:lnSpc>
                <a:spcPct val="102000"/>
              </a:lnSpc>
              <a:spcBef>
                <a:spcPts val="0"/>
              </a:spcBef>
              <a:spcAft>
                <a:spcPts val="0"/>
              </a:spcAft>
            </a:pPr>
            <a:r>
              <a:rPr sz="1800" b="0" i="0">
                <a:solidFill>
                  <a:srgbClr val="183A31"/>
                </a:solidFill>
                <a:latin typeface="Liberation Sans"/>
              </a:rPr>
              <a:t>No DB/workflow credentials.</a:t>
            </a:r>
          </a:p>
        </p:txBody>
      </p:sp>
      <p:sp>
        <p:nvSpPr>
          <p:cNvPr id="29" name="exec-sql-background" descr="Container background; accompanying native text provides content."/>
          <p:cNvSpPr/>
          <p:nvPr/>
        </p:nvSpPr>
        <p:spPr>
          <a:xfrm>
            <a:off x="3200400" y="4754880"/>
            <a:ext cx="2194560" cy="106984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exec-sql-title"/>
          <p:cNvSpPr txBox="1"/>
          <p:nvPr/>
        </p:nvSpPr>
        <p:spPr>
          <a:xfrm>
            <a:off x="3666744" y="4828032"/>
            <a:ext cx="1618488"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SQL</a:t>
            </a:r>
          </a:p>
        </p:txBody>
      </p:sp>
      <p:sp>
        <p:nvSpPr>
          <p:cNvPr id="31" name="exec-sql-body"/>
          <p:cNvSpPr txBox="1"/>
          <p:nvPr/>
        </p:nvSpPr>
        <p:spPr>
          <a:xfrm>
            <a:off x="3310128" y="5175504"/>
            <a:ext cx="1975104"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CORE | records</a:t>
            </a:r>
          </a:p>
          <a:p>
            <a:pPr>
              <a:lnSpc>
                <a:spcPct val="102000"/>
              </a:lnSpc>
              <a:spcBef>
                <a:spcPts val="0"/>
              </a:spcBef>
              <a:spcAft>
                <a:spcPts val="0"/>
              </a:spcAft>
            </a:pPr>
            <a:r>
              <a:rPr sz="1800" b="0" i="0">
                <a:solidFill>
                  <a:srgbClr val="183A31"/>
                </a:solidFill>
                <a:latin typeface="Liberation Sans"/>
              </a:rPr>
              <a:t>Proposals / audit</a:t>
            </a:r>
          </a:p>
        </p:txBody>
      </p:sp>
      <p:sp>
        <p:nvSpPr>
          <p:cNvPr id="32" name="exec-blob-background" descr="Container background; accompanying native text provides content."/>
          <p:cNvSpPr/>
          <p:nvPr/>
        </p:nvSpPr>
        <p:spPr>
          <a:xfrm>
            <a:off x="5577840" y="4754880"/>
            <a:ext cx="2194560" cy="1069848"/>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exec-blob-title"/>
          <p:cNvSpPr txBox="1"/>
          <p:nvPr/>
        </p:nvSpPr>
        <p:spPr>
          <a:xfrm>
            <a:off x="6044183" y="4828032"/>
            <a:ext cx="1618488"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Blob</a:t>
            </a:r>
          </a:p>
        </p:txBody>
      </p:sp>
      <p:sp>
        <p:nvSpPr>
          <p:cNvPr id="34" name="exec-blob-body"/>
          <p:cNvSpPr txBox="1"/>
          <p:nvPr/>
        </p:nvSpPr>
        <p:spPr>
          <a:xfrm>
            <a:off x="5687568" y="5175504"/>
            <a:ext cx="1975104"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a:t>
            </a:r>
          </a:p>
          <a:p>
            <a:pPr>
              <a:lnSpc>
                <a:spcPct val="102000"/>
              </a:lnSpc>
              <a:spcBef>
                <a:spcPts val="0"/>
              </a:spcBef>
              <a:spcAft>
                <a:spcPts val="0"/>
              </a:spcAft>
            </a:pPr>
            <a:r>
              <a:rPr sz="1800" b="0" i="0">
                <a:solidFill>
                  <a:srgbClr val="183A31"/>
                </a:solidFill>
                <a:latin typeface="Liberation Sans"/>
              </a:rPr>
              <a:t>Files; SQL hashes</a:t>
            </a:r>
          </a:p>
        </p:txBody>
      </p:sp>
      <p:sp>
        <p:nvSpPr>
          <p:cNvPr id="35" name="exec-sql-evidence"/>
          <p:cNvSpPr txBox="1"/>
          <p:nvPr/>
        </p:nvSpPr>
        <p:spPr>
          <a:xfrm>
            <a:off x="8275320" y="4864608"/>
            <a:ext cx="3410712" cy="73152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SQL persistence:</a:t>
            </a:r>
          </a:p>
          <a:p>
            <a:pPr>
              <a:lnSpc>
                <a:spcPct val="102000"/>
              </a:lnSpc>
              <a:spcBef>
                <a:spcPts val="0"/>
              </a:spcBef>
              <a:spcAft>
                <a:spcPts val="0"/>
              </a:spcAft>
            </a:pPr>
            <a:r>
              <a:rPr sz="1800" b="1" i="0">
                <a:solidFill>
                  <a:srgbClr val="183A31"/>
                </a:solidFill>
                <a:latin typeface="Liberation Sans"/>
              </a:rPr>
              <a:t>recorded technical evidence</a:t>
            </a:r>
          </a:p>
        </p:txBody>
      </p:sp>
      <p:sp>
        <p:nvSpPr>
          <p:cNvPr id="36" name="exec-boundary-background" descr="Container background; accompanying native text provides content."/>
          <p:cNvSpPr/>
          <p:nvPr/>
        </p:nvSpPr>
        <p:spPr>
          <a:xfrm>
            <a:off x="502920" y="5870448"/>
            <a:ext cx="11183112" cy="713232"/>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exec-boundary"/>
          <p:cNvSpPr txBox="1"/>
          <p:nvPr/>
        </p:nvSpPr>
        <p:spPr>
          <a:xfrm>
            <a:off x="640080" y="5943600"/>
            <a:ext cx="10908792" cy="60350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Five-assistant authority absent / proactive OFF.</a:t>
            </a:r>
          </a:p>
          <a:p>
            <a:pPr>
              <a:lnSpc>
                <a:spcPct val="102000"/>
              </a:lnSpc>
              <a:spcBef>
                <a:spcPts val="0"/>
              </a:spcBef>
              <a:spcAft>
                <a:spcPts val="0"/>
              </a:spcAft>
            </a:pPr>
            <a:r>
              <a:rPr sz="1800" b="1" i="0">
                <a:solidFill>
                  <a:srgbClr val="183A31"/>
                </a:solidFill>
                <a:latin typeface="Liberation Sans"/>
              </a:rPr>
              <a:t>Human and value acceptance outstanding.</a:t>
            </a:r>
          </a:p>
        </p:txBody>
      </p:sp>
      <p:sp>
        <p:nvSpPr>
          <p:cNvPr id="38" name="runtime-link" descr="Runtime detail: slide 19">
            <a:hlinkClick action="ppaction://hlinksldjump" r:id="rId9"/>
          </p:cNvPr>
          <p:cNvSpPr txBox="1"/>
          <p:nvPr/>
        </p:nvSpPr>
        <p:spPr>
          <a:xfrm>
            <a:off x="8275320" y="2011680"/>
            <a:ext cx="3410712"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Runtime detail: slide 19</a:t>
            </a:r>
          </a:p>
        </p:txBody>
      </p:sp>
      <p:pic>
        <p:nvPicPr>
          <p:cNvPr id="39" name="azure-icon-entra-exec-entra" descr="Official Azure product icon; adjacent native label: Microsoft Entra ID | CONFIGURED."/>
          <p:cNvPicPr>
            <a:picLocks noChangeAspect="1"/>
          </p:cNvPicPr>
          <p:nvPr/>
        </p:nvPicPr>
        <p:blipFill>
          <a:blip r:embed="rId4"/>
          <a:stretch>
            <a:fillRect/>
          </a:stretch>
        </p:blipFill>
        <p:spPr>
          <a:xfrm>
            <a:off x="3310128" y="1906524"/>
            <a:ext cx="265176" cy="265176"/>
          </a:xfrm>
          <a:prstGeom prst="rect">
            <a:avLst/>
          </a:prstGeom>
        </p:spPr>
      </p:pic>
      <p:pic>
        <p:nvPicPr>
          <p:cNvPr id="40" name="azure-icon-aca-exec-api" descr="Official Azure product icon; adjacent native label: Azure Container Apps."/>
          <p:cNvPicPr>
            <a:picLocks noChangeAspect="1"/>
          </p:cNvPicPr>
          <p:nvPr/>
        </p:nvPicPr>
        <p:blipFill>
          <a:blip r:embed="rId5"/>
          <a:stretch>
            <a:fillRect/>
          </a:stretch>
        </p:blipFill>
        <p:spPr>
          <a:xfrm>
            <a:off x="3310128" y="2866644"/>
            <a:ext cx="265176" cy="265176"/>
          </a:xfrm>
          <a:prstGeom prst="rect">
            <a:avLst/>
          </a:prstGeom>
        </p:spPr>
      </p:pic>
      <p:pic>
        <p:nvPicPr>
          <p:cNvPr id="41" name="azure-icon-openai-exec-model" descr="Official Azure product icon; adjacent native label: Azure OpenAI."/>
          <p:cNvPicPr>
            <a:picLocks noChangeAspect="1"/>
          </p:cNvPicPr>
          <p:nvPr/>
        </p:nvPicPr>
        <p:blipFill>
          <a:blip r:embed="rId6"/>
          <a:stretch>
            <a:fillRect/>
          </a:stretch>
        </p:blipFill>
        <p:spPr>
          <a:xfrm>
            <a:off x="8385048" y="2866644"/>
            <a:ext cx="265176" cy="265176"/>
          </a:xfrm>
          <a:prstGeom prst="rect">
            <a:avLst/>
          </a:prstGeom>
        </p:spPr>
      </p:pic>
      <p:pic>
        <p:nvPicPr>
          <p:cNvPr id="42" name="azure-icon-sql-exec-sql" descr="Official Azure product icon; adjacent native label: Azure SQL."/>
          <p:cNvPicPr>
            <a:picLocks noChangeAspect="1"/>
          </p:cNvPicPr>
          <p:nvPr/>
        </p:nvPicPr>
        <p:blipFill>
          <a:blip r:embed="rId7"/>
          <a:stretch>
            <a:fillRect/>
          </a:stretch>
        </p:blipFill>
        <p:spPr>
          <a:xfrm>
            <a:off x="3310128" y="4832604"/>
            <a:ext cx="265176" cy="265176"/>
          </a:xfrm>
          <a:prstGeom prst="rect">
            <a:avLst/>
          </a:prstGeom>
        </p:spPr>
      </p:pic>
      <p:pic>
        <p:nvPicPr>
          <p:cNvPr id="43" name="azure-icon-blob-exec-blob" descr="Official Azure product icon; adjacent native label: Azure Blob."/>
          <p:cNvPicPr>
            <a:picLocks noChangeAspect="1"/>
          </p:cNvPicPr>
          <p:nvPr/>
        </p:nvPicPr>
        <p:blipFill>
          <a:blip r:embed="rId8"/>
          <a:stretch>
            <a:fillRect/>
          </a:stretch>
        </p:blipFill>
        <p:spPr>
          <a:xfrm>
            <a:off x="5687568" y="4832604"/>
            <a:ext cx="265176" cy="26517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Models propose. People and rules control change.</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S08 / S10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11 / 24</a:t>
            </a:r>
          </a:p>
        </p:txBody>
      </p:sp>
      <p:sp>
        <p:nvSpPr>
          <p:cNvPr id="8" name="proposal-lane-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PROPOSAL PATH / recorded operator integration; staff acceptance outstanding</a:t>
            </a:r>
          </a:p>
        </p:txBody>
      </p:sp>
      <p:sp>
        <p:nvSpPr>
          <p:cNvPr id="9" name="proposal-peer-1-background" descr="Container background; accompanying native text provides content."/>
          <p:cNvSpPr/>
          <p:nvPr/>
        </p:nvSpPr>
        <p:spPr>
          <a:xfrm>
            <a:off x="50292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roposal-peer-1-title"/>
          <p:cNvSpPr txBox="1"/>
          <p:nvPr/>
        </p:nvSpPr>
        <p:spPr>
          <a:xfrm>
            <a:off x="66751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Request → API</a:t>
            </a:r>
          </a:p>
        </p:txBody>
      </p:sp>
      <p:sp>
        <p:nvSpPr>
          <p:cNvPr id="11" name="proposal-peer-1-body"/>
          <p:cNvSpPr txBox="1"/>
          <p:nvPr/>
        </p:nvSpPr>
        <p:spPr>
          <a:xfrm>
            <a:off x="66751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Permitted task.</a:t>
            </a:r>
          </a:p>
        </p:txBody>
      </p:sp>
      <p:sp>
        <p:nvSpPr>
          <p:cNvPr id="12" name="proposal-peer-2-background" descr="Container background; accompanying native text provides content."/>
          <p:cNvSpPr/>
          <p:nvPr/>
        </p:nvSpPr>
        <p:spPr>
          <a:xfrm>
            <a:off x="429768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roposal-peer-2-title"/>
          <p:cNvSpPr txBox="1"/>
          <p:nvPr/>
        </p:nvSpPr>
        <p:spPr>
          <a:xfrm>
            <a:off x="446227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Snapshot → model</a:t>
            </a:r>
          </a:p>
        </p:txBody>
      </p:sp>
      <p:sp>
        <p:nvSpPr>
          <p:cNvPr id="14" name="proposal-peer-2-body"/>
          <p:cNvSpPr txBox="1"/>
          <p:nvPr/>
        </p:nvSpPr>
        <p:spPr>
          <a:xfrm>
            <a:off x="446227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Bounded proposal.</a:t>
            </a:r>
          </a:p>
        </p:txBody>
      </p:sp>
      <p:sp>
        <p:nvSpPr>
          <p:cNvPr id="15" name="proposal-peer-3-background" descr="Container background; accompanying native text provides content."/>
          <p:cNvSpPr/>
          <p:nvPr/>
        </p:nvSpPr>
        <p:spPr>
          <a:xfrm>
            <a:off x="8092440" y="2221992"/>
            <a:ext cx="3593592" cy="160020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posal-peer-3-title"/>
          <p:cNvSpPr txBox="1"/>
          <p:nvPr/>
        </p:nvSpPr>
        <p:spPr>
          <a:xfrm>
            <a:off x="8257032" y="2404872"/>
            <a:ext cx="3264408" cy="438912"/>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Human review</a:t>
            </a:r>
          </a:p>
        </p:txBody>
      </p:sp>
      <p:sp>
        <p:nvSpPr>
          <p:cNvPr id="17" name="proposal-peer-3-body"/>
          <p:cNvSpPr txBox="1"/>
          <p:nvPr/>
        </p:nvSpPr>
        <p:spPr>
          <a:xfrm>
            <a:off x="8257032" y="2999232"/>
            <a:ext cx="3264408" cy="64008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0" i="0">
                <a:solidFill>
                  <a:srgbClr val="183A31"/>
                </a:solidFill>
                <a:latin typeface="Liberation Sans"/>
              </a:rPr>
              <a:t>Verify sources first.</a:t>
            </a:r>
          </a:p>
        </p:txBody>
      </p:sp>
      <p:sp>
        <p:nvSpPr>
          <p:cNvPr id="18" name="domain-lane-label"/>
          <p:cNvSpPr txBox="1"/>
          <p:nvPr/>
        </p:nvSpPr>
        <p:spPr>
          <a:xfrm>
            <a:off x="502920" y="4069080"/>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SEPARATE CONTROLLED PATH / authority stays with people and rules</a:t>
            </a:r>
          </a:p>
        </p:txBody>
      </p:sp>
      <p:sp>
        <p:nvSpPr>
          <p:cNvPr id="19" name="domain-peer-1-background" descr="Container background; accompanying native text provides content."/>
          <p:cNvSpPr/>
          <p:nvPr/>
        </p:nvSpPr>
        <p:spPr>
          <a:xfrm>
            <a:off x="50292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domain-peer-1-title"/>
          <p:cNvSpPr txBox="1"/>
          <p:nvPr/>
        </p:nvSpPr>
        <p:spPr>
          <a:xfrm>
            <a:off x="66751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Authorized action</a:t>
            </a:r>
          </a:p>
        </p:txBody>
      </p:sp>
      <p:sp>
        <p:nvSpPr>
          <p:cNvPr id="21" name="domain-peer-1-body"/>
          <p:cNvSpPr txBox="1"/>
          <p:nvPr/>
        </p:nvSpPr>
        <p:spPr>
          <a:xfrm>
            <a:off x="66751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Effective authority.</a:t>
            </a:r>
          </a:p>
        </p:txBody>
      </p:sp>
      <p:sp>
        <p:nvSpPr>
          <p:cNvPr id="22" name="domain-peer-2-background" descr="Container background; accompanying native text provides content."/>
          <p:cNvSpPr/>
          <p:nvPr/>
        </p:nvSpPr>
        <p:spPr>
          <a:xfrm>
            <a:off x="429768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domain-peer-2-title"/>
          <p:cNvSpPr txBox="1"/>
          <p:nvPr/>
        </p:nvSpPr>
        <p:spPr>
          <a:xfrm>
            <a:off x="446227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Deterministic gates</a:t>
            </a:r>
          </a:p>
        </p:txBody>
      </p:sp>
      <p:sp>
        <p:nvSpPr>
          <p:cNvPr id="24" name="domain-peer-2-body"/>
          <p:cNvSpPr txBox="1"/>
          <p:nvPr/>
        </p:nvSpPr>
        <p:spPr>
          <a:xfrm>
            <a:off x="446227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Holds + evidence.</a:t>
            </a:r>
          </a:p>
        </p:txBody>
      </p:sp>
      <p:sp>
        <p:nvSpPr>
          <p:cNvPr id="25" name="domain-peer-3-background" descr="Container background; accompanying native text provides content."/>
          <p:cNvSpPr/>
          <p:nvPr/>
        </p:nvSpPr>
        <p:spPr>
          <a:xfrm>
            <a:off x="8092440" y="4517136"/>
            <a:ext cx="3593592" cy="123444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domain-peer-3-title"/>
          <p:cNvSpPr txBox="1"/>
          <p:nvPr/>
        </p:nvSpPr>
        <p:spPr>
          <a:xfrm>
            <a:off x="8257032" y="4700016"/>
            <a:ext cx="326440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SQL + audit</a:t>
            </a:r>
          </a:p>
        </p:txBody>
      </p:sp>
      <p:sp>
        <p:nvSpPr>
          <p:cNvPr id="27" name="domain-peer-3-body"/>
          <p:cNvSpPr txBox="1"/>
          <p:nvPr/>
        </p:nvSpPr>
        <p:spPr>
          <a:xfrm>
            <a:off x="8257032" y="5184648"/>
            <a:ext cx="3264408"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0" i="0">
                <a:solidFill>
                  <a:srgbClr val="183A31"/>
                </a:solidFill>
                <a:latin typeface="Liberation Sans"/>
              </a:rPr>
              <a:t>Controlled write.</a:t>
            </a:r>
          </a:p>
        </p:txBody>
      </p:sp>
      <p:sp>
        <p:nvSpPr>
          <p:cNvPr id="28" name="boundary-background" descr="Container background; accompanying native text provides content."/>
          <p:cNvSpPr/>
          <p:nvPr/>
        </p:nvSpPr>
        <p:spPr>
          <a:xfrm>
            <a:off x="502920" y="5870448"/>
            <a:ext cx="11183112" cy="438912"/>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boundary-text"/>
          <p:cNvSpPr txBox="1"/>
          <p:nvPr/>
        </p:nvSpPr>
        <p:spPr>
          <a:xfrm>
            <a:off x="667512" y="5961888"/>
            <a:ext cx="10853928" cy="374904"/>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Model cannot approve, send, book, pay or clear a hold.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Five real proposal paths. No delegated decisions.</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12 / 24</a:t>
            </a:r>
          </a:p>
        </p:txBody>
      </p:sp>
      <p:sp>
        <p:nvSpPr>
          <p:cNvPr id="8" name="proof-implication"/>
          <p:cNvSpPr txBox="1"/>
          <p:nvPr/>
        </p:nvSpPr>
        <p:spPr>
          <a:xfrm>
            <a:off x="502920" y="1783080"/>
            <a:ext cx="11183112" cy="365760"/>
          </a:xfrm>
          <a:prstGeom prst="rect">
            <a:avLst/>
          </a:prstGeom>
          <a:noFill/>
        </p:spPr>
        <p:txBody>
          <a:bodyPr wrap="square" lIns="18288" rIns="18288" tIns="18288" bIns="18288" anchor="t">
            <a:noAutofit/>
          </a:bodyPr>
          <a:lstStyle/>
          <a:p>
            <a:pPr>
              <a:lnSpc>
                <a:spcPct val="102000"/>
              </a:lnSpc>
              <a:spcBef>
                <a:spcPts val="0"/>
              </a:spcBef>
              <a:spcAft>
                <a:spcPts val="0"/>
              </a:spcAft>
            </a:pPr>
            <a:r>
              <a:rPr sz="2200" b="1" i="0">
                <a:solidFill>
                  <a:srgbClr val="183A31"/>
                </a:solidFill>
                <a:latin typeface="Liberation Sans"/>
              </a:rPr>
              <a:t>Integration and durability observed; usefulness not established.</a:t>
            </a:r>
          </a:p>
        </p:txBody>
      </p:sp>
      <p:sp>
        <p:nvSpPr>
          <p:cNvPr id="9" name="peer-1-background" descr="Container background; accompanying native text provides content."/>
          <p:cNvSpPr/>
          <p:nvPr/>
        </p:nvSpPr>
        <p:spPr>
          <a:xfrm>
            <a:off x="502920" y="2313432"/>
            <a:ext cx="5490972" cy="3081528"/>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eer-1-title"/>
          <p:cNvSpPr txBox="1"/>
          <p:nvPr/>
        </p:nvSpPr>
        <p:spPr>
          <a:xfrm>
            <a:off x="667512" y="2496312"/>
            <a:ext cx="5161788"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RECORDED TECHNICAL</a:t>
            </a:r>
          </a:p>
          <a:p>
            <a:pPr>
              <a:lnSpc>
                <a:spcPct val="102000"/>
              </a:lnSpc>
              <a:spcBef>
                <a:spcPts val="0"/>
              </a:spcBef>
              <a:spcAft>
                <a:spcPts val="0"/>
              </a:spcAft>
            </a:pPr>
            <a:r>
              <a:rPr sz="2000" b="1" i="0">
                <a:solidFill>
                  <a:srgbClr val="183A31"/>
                </a:solidFill>
                <a:latin typeface="Liberation Sans"/>
              </a:rPr>
              <a:t>EVIDENCE</a:t>
            </a:r>
          </a:p>
        </p:txBody>
      </p:sp>
      <p:sp>
        <p:nvSpPr>
          <p:cNvPr id="11" name="peer-1-body"/>
          <p:cNvSpPr txBox="1"/>
          <p:nvPr/>
        </p:nvSpPr>
        <p:spPr>
          <a:xfrm>
            <a:off x="667512" y="3291839"/>
            <a:ext cx="5161788" cy="192024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5 distinct proposal paths</a:t>
            </a:r>
          </a:p>
          <a:p>
            <a:pPr>
              <a:lnSpc>
                <a:spcPct val="102000"/>
              </a:lnSpc>
              <a:spcBef>
                <a:spcPts val="0"/>
              </a:spcBef>
              <a:spcAft>
                <a:spcPts val="0"/>
              </a:spcAft>
            </a:pPr>
            <a:r>
              <a:rPr sz="2000" b="0" i="0">
                <a:solidFill>
                  <a:srgbClr val="183A31"/>
                </a:solidFill>
                <a:latin typeface="Liberation Sans"/>
              </a:rPr>
              <a:t>5 real calls / 6,884 tokens</a:t>
            </a:r>
          </a:p>
          <a:p>
            <a:pPr>
              <a:lnSpc>
                <a:spcPct val="102000"/>
              </a:lnSpc>
              <a:spcBef>
                <a:spcPts val="0"/>
              </a:spcBef>
              <a:spcAft>
                <a:spcPts val="0"/>
              </a:spcAft>
            </a:pPr>
            <a:r>
              <a:rPr sz="2000" b="0" i="0">
                <a:solidFill>
                  <a:srgbClr val="183A31"/>
                </a:solidFill>
                <a:latin typeface="Liberation Sans"/>
              </a:rPr>
              <a:t>15 ledger events</a:t>
            </a:r>
          </a:p>
          <a:p>
            <a:pPr>
              <a:lnSpc>
                <a:spcPct val="102000"/>
              </a:lnSpc>
              <a:spcBef>
                <a:spcPts val="0"/>
              </a:spcBef>
              <a:spcAft>
                <a:spcPts val="0"/>
              </a:spcAft>
            </a:pPr>
            <a:r>
              <a:rPr sz="2000" b="0" i="0">
                <a:solidFill>
                  <a:srgbClr val="183A31"/>
                </a:solidFill>
                <a:latin typeface="Liberation Sans"/>
              </a:rPr>
              <a:t>Controlled state unchanged.</a:t>
            </a:r>
          </a:p>
          <a:p>
            <a:pPr>
              <a:lnSpc>
                <a:spcPct val="102000"/>
              </a:lnSpc>
              <a:spcBef>
                <a:spcPts val="0"/>
              </a:spcBef>
              <a:spcAft>
                <a:spcPts val="0"/>
              </a:spcAft>
            </a:pPr>
            <a:r>
              <a:rPr sz="2000" b="0" i="0">
                <a:solidFill>
                  <a:srgbClr val="183A31"/>
                </a:solidFill>
                <a:latin typeface="Liberation Sans"/>
              </a:rPr>
              <a:t>Full contents + usage survived restart.</a:t>
            </a:r>
          </a:p>
        </p:txBody>
      </p:sp>
      <p:sp>
        <p:nvSpPr>
          <p:cNvPr id="12" name="peer-2-background" descr="Container background; accompanying native text provides content."/>
          <p:cNvSpPr/>
          <p:nvPr/>
        </p:nvSpPr>
        <p:spPr>
          <a:xfrm>
            <a:off x="6195059" y="2313432"/>
            <a:ext cx="5490972" cy="3081528"/>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2-title"/>
          <p:cNvSpPr txBox="1"/>
          <p:nvPr/>
        </p:nvSpPr>
        <p:spPr>
          <a:xfrm>
            <a:off x="6359651" y="2496312"/>
            <a:ext cx="5161788"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NOT YET ESTABLISHED</a:t>
            </a:r>
          </a:p>
        </p:txBody>
      </p:sp>
      <p:sp>
        <p:nvSpPr>
          <p:cNvPr id="14" name="peer-2-body"/>
          <p:cNvSpPr txBox="1"/>
          <p:nvPr/>
        </p:nvSpPr>
        <p:spPr>
          <a:xfrm>
            <a:off x="6359651" y="3291839"/>
            <a:ext cx="5161788" cy="192024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0" i="0">
                <a:solidFill>
                  <a:srgbClr val="183A31"/>
                </a:solidFill>
                <a:latin typeface="Liberation Sans"/>
              </a:rPr>
              <a:t>Staff browser/API + roles</a:t>
            </a:r>
          </a:p>
          <a:p>
            <a:pPr>
              <a:lnSpc>
                <a:spcPct val="102000"/>
              </a:lnSpc>
              <a:spcBef>
                <a:spcPts val="0"/>
              </a:spcBef>
              <a:spcAft>
                <a:spcPts val="0"/>
              </a:spcAft>
            </a:pPr>
            <a:r>
              <a:rPr sz="2000" b="0" i="0">
                <a:solidFill>
                  <a:srgbClr val="183A31"/>
                </a:solidFill>
                <a:latin typeface="Liberation Sans"/>
              </a:rPr>
              <a:t>Human source verification</a:t>
            </a:r>
          </a:p>
          <a:p>
            <a:pPr>
              <a:lnSpc>
                <a:spcPct val="102000"/>
              </a:lnSpc>
              <a:spcBef>
                <a:spcPts val="0"/>
              </a:spcBef>
              <a:spcAft>
                <a:spcPts val="0"/>
              </a:spcAft>
            </a:pPr>
            <a:r>
              <a:rPr sz="2000" b="0" i="0">
                <a:solidFill>
                  <a:srgbClr val="183A31"/>
                </a:solidFill>
                <a:latin typeface="Liberation Sans"/>
              </a:rPr>
              <a:t>Semantic correctness + value</a:t>
            </a:r>
          </a:p>
          <a:p>
            <a:pPr>
              <a:lnSpc>
                <a:spcPct val="102000"/>
              </a:lnSpc>
              <a:spcBef>
                <a:spcPts val="0"/>
              </a:spcBef>
              <a:spcAft>
                <a:spcPts val="0"/>
              </a:spcAft>
            </a:pPr>
            <a:r>
              <a:rPr sz="2000" b="0" i="0">
                <a:solidFill>
                  <a:srgbClr val="183A31"/>
                </a:solidFill>
                <a:latin typeface="Liberation Sans"/>
              </a:rPr>
              <a:t>Ready = generated, unreviewed.</a:t>
            </a:r>
          </a:p>
          <a:p>
            <a:pPr>
              <a:lnSpc>
                <a:spcPct val="102000"/>
              </a:lnSpc>
              <a:spcBef>
                <a:spcPts val="0"/>
              </a:spcBef>
              <a:spcAft>
                <a:spcPts val="0"/>
              </a:spcAft>
            </a:pPr>
            <a:r>
              <a:rPr sz="2000" b="0" i="0">
                <a:solidFill>
                  <a:srgbClr val="183A31"/>
                </a:solidFill>
                <a:latin typeface="Liberation Sans"/>
              </a:rPr>
              <a:t>Acceptance gates outstanding.</a:t>
            </a:r>
          </a:p>
        </p:txBody>
      </p:sp>
      <p:sp>
        <p:nvSpPr>
          <p:cNvPr id="15" name="proof-authority-background" descr="Container background; accompanying native text provides content."/>
          <p:cNvSpPr/>
          <p:nvPr/>
        </p:nvSpPr>
        <p:spPr>
          <a:xfrm>
            <a:off x="502920" y="5550408"/>
            <a:ext cx="11183112" cy="438912"/>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roof-authority"/>
          <p:cNvSpPr txBox="1"/>
          <p:nvPr/>
        </p:nvSpPr>
        <p:spPr>
          <a:xfrm>
            <a:off x="640080" y="5623560"/>
            <a:ext cx="1090879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Normal five-assistant authority absent. Proactive OFF.</a:t>
            </a:r>
          </a:p>
        </p:txBody>
      </p:sp>
      <p:sp>
        <p:nvSpPr>
          <p:cNvPr id="17" name="proof-provenance">
            <a:hlinkClick r:id="rId4"/>
          </p:cNvPr>
          <p:cNvSpPr txBox="1"/>
          <p:nvPr/>
        </p:nvSpPr>
        <p:spPr>
          <a:xfrm>
            <a:off x="621792" y="6099048"/>
            <a:ext cx="10972800" cy="30175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PUBLIC REPOSITORY EVIDENCE | 14 October | image05 / e0254cb3 | revision12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0000"/>
              </a:lnSpc>
              <a:spcBef>
                <a:spcPts val="0"/>
              </a:spcBef>
              <a:spcAft>
                <a:spcPts val="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594360"/>
            <a:ext cx="11183112" cy="521207"/>
          </a:xfrm>
          <a:prstGeom prst="rect">
            <a:avLst/>
          </a:prstGeom>
          <a:noFill/>
        </p:spPr>
        <p:txBody>
          <a:bodyPr wrap="square" lIns="18288" rIns="18288" tIns="18288" bIns="18288" anchor="t">
            <a:noAutofit/>
          </a:bodyPr>
          <a:lstStyle/>
          <a:p>
            <a:pPr>
              <a:lnSpc>
                <a:spcPct val="100000"/>
              </a:lnSpc>
              <a:spcBef>
                <a:spcPts val="0"/>
              </a:spcBef>
              <a:spcAft>
                <a:spcPts val="0"/>
              </a:spcAft>
            </a:pPr>
            <a:r>
              <a:rPr sz="3000" b="1" i="0">
                <a:solidFill>
                  <a:srgbClr val="183A31"/>
                </a:solidFill>
                <a:latin typeface="Liberation Sans"/>
              </a:rPr>
              <a:t>Five assists. One controlled journey.</a:t>
            </a:r>
          </a:p>
        </p:txBody>
      </p:sp>
      <p:sp>
        <p:nvSpPr>
          <p:cNvPr id="6" name="source-footer"/>
          <p:cNvSpPr txBox="1"/>
          <p:nvPr/>
        </p:nvSpPr>
        <p:spPr>
          <a:xfrm>
            <a:off x="502920" y="6620256"/>
            <a:ext cx="10424160" cy="228600"/>
          </a:xfrm>
          <a:prstGeom prst="rect">
            <a:avLst/>
          </a:prstGeom>
          <a:noFill/>
        </p:spPr>
        <p:txBody>
          <a:bodyPr wrap="square" lIns="18288" rIns="18288" tIns="18288" bIns="18288" anchor="t">
            <a:noAutofit/>
          </a:bodyPr>
          <a:lstStyle/>
          <a:p>
            <a:pPr>
              <a:lnSpc>
                <a:spcPct val="100000"/>
              </a:lnSpc>
              <a:spcBef>
                <a:spcPts val="0"/>
              </a:spcBef>
              <a:spcAft>
                <a:spcPts val="0"/>
              </a:spcAft>
            </a:pPr>
            <a:r>
              <a:rPr sz="900" b="0" i="0">
                <a:solidFill>
                  <a:srgbClr val="183A31"/>
                </a:solidFill>
                <a:latin typeface="Liberation Sans"/>
              </a:rPr>
              <a:t>14 OCT 2026  •  S02 / S07 / S09 / S11 / S15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0000"/>
              </a:lnSpc>
              <a:spcBef>
                <a:spcPts val="0"/>
              </a:spcBef>
              <a:spcAft>
                <a:spcPts val="0"/>
              </a:spcAft>
            </a:pPr>
            <a:r>
              <a:rPr sz="1100" b="1" i="0">
                <a:solidFill>
                  <a:srgbClr val="183A31"/>
                </a:solidFill>
                <a:latin typeface="Liberation Sans"/>
              </a:rPr>
              <a:t>13 / 24</a:t>
            </a:r>
          </a:p>
        </p:txBody>
      </p:sp>
      <p:sp>
        <p:nvSpPr>
          <p:cNvPr id="8" name="map-status"/>
          <p:cNvSpPr txBox="1"/>
          <p:nvPr/>
        </p:nvSpPr>
        <p:spPr>
          <a:xfrm>
            <a:off x="502920" y="1133856"/>
            <a:ext cx="11183112"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Workflow controls progression. People retain decisions.  |  Design + implemented contracts; proactive OFF.</a:t>
            </a:r>
          </a:p>
        </p:txBody>
      </p:sp>
      <p:sp>
        <p:nvSpPr>
          <p:cNvPr id="9" name="map-peer-1-stage-background" descr="Container background; accompanying native text provides content."/>
          <p:cNvSpPr/>
          <p:nvPr/>
        </p:nvSpPr>
        <p:spPr>
          <a:xfrm>
            <a:off x="50292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map-peer-1-stage"/>
          <p:cNvSpPr txBox="1"/>
          <p:nvPr/>
        </p:nvSpPr>
        <p:spPr>
          <a:xfrm>
            <a:off x="548640" y="1554480"/>
            <a:ext cx="2050084" cy="374904"/>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F7F2E7"/>
                </a:solidFill>
                <a:latin typeface="Liberation Sans"/>
              </a:rPr>
              <a:t>Choose homes</a:t>
            </a:r>
          </a:p>
        </p:txBody>
      </p:sp>
      <p:sp>
        <p:nvSpPr>
          <p:cNvPr id="11" name="map-peer-1-owner"/>
          <p:cNvSpPr txBox="1"/>
          <p:nvPr/>
        </p:nvSpPr>
        <p:spPr>
          <a:xfrm>
            <a:off x="548640" y="2066543"/>
            <a:ext cx="2050084" cy="630936"/>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Assets: policy;</a:t>
            </a:r>
          </a:p>
          <a:p>
            <a:pPr>
              <a:lnSpc>
                <a:spcPct val="100000"/>
              </a:lnSpc>
              <a:spcBef>
                <a:spcPts val="0"/>
              </a:spcBef>
              <a:spcAft>
                <a:spcPts val="0"/>
              </a:spcAft>
            </a:pPr>
            <a:r>
              <a:rPr sz="1600" b="0" i="0">
                <a:solidFill>
                  <a:srgbClr val="183A31"/>
                </a:solidFill>
                <a:latin typeface="Liberation Sans"/>
              </a:rPr>
              <a:t>data owners: verify</a:t>
            </a:r>
          </a:p>
        </p:txBody>
      </p:sp>
      <p:sp>
        <p:nvSpPr>
          <p:cNvPr id="12" name="map-peer-1-capability-background" descr="Container background; accompanying native text provides content."/>
          <p:cNvSpPr/>
          <p:nvPr/>
        </p:nvSpPr>
        <p:spPr>
          <a:xfrm>
            <a:off x="502920" y="2752344"/>
            <a:ext cx="2141524" cy="26974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map-peer-1-title"/>
          <p:cNvSpPr txBox="1"/>
          <p:nvPr/>
        </p:nvSpPr>
        <p:spPr>
          <a:xfrm>
            <a:off x="594360" y="2834640"/>
            <a:ext cx="1958644" cy="676656"/>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183A31"/>
                </a:solidFill>
                <a:latin typeface="Liberation Sans"/>
              </a:rPr>
              <a:t>Stock</a:t>
            </a:r>
          </a:p>
          <a:p>
            <a:pPr>
              <a:lnSpc>
                <a:spcPct val="100000"/>
              </a:lnSpc>
              <a:spcBef>
                <a:spcPts val="0"/>
              </a:spcBef>
              <a:spcAft>
                <a:spcPts val="0"/>
              </a:spcAft>
            </a:pPr>
            <a:r>
              <a:rPr sz="1700" b="1" i="0">
                <a:solidFill>
                  <a:srgbClr val="183A31"/>
                </a:solidFill>
                <a:latin typeface="Liberation Sans"/>
              </a:rPr>
              <a:t>Prioritisation</a:t>
            </a:r>
          </a:p>
        </p:txBody>
      </p:sp>
      <p:sp>
        <p:nvSpPr>
          <p:cNvPr id="14" name="map-peer-1-request-label"/>
          <p:cNvSpPr txBox="1"/>
          <p:nvPr/>
        </p:nvSpPr>
        <p:spPr>
          <a:xfrm>
            <a:off x="594360" y="3575304"/>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On request</a:t>
            </a:r>
          </a:p>
        </p:txBody>
      </p:sp>
      <p:sp>
        <p:nvSpPr>
          <p:cNvPr id="15" name="map-peer-1-request-body"/>
          <p:cNvSpPr txBox="1"/>
          <p:nvPr/>
        </p:nvSpPr>
        <p:spPr>
          <a:xfrm>
            <a:off x="594360" y="3922776"/>
            <a:ext cx="1958644" cy="5303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Explain facts;</a:t>
            </a:r>
          </a:p>
          <a:p>
            <a:pPr>
              <a:lnSpc>
                <a:spcPct val="100000"/>
              </a:lnSpc>
              <a:spcBef>
                <a:spcPts val="0"/>
              </a:spcBef>
              <a:spcAft>
                <a:spcPts val="0"/>
              </a:spcAft>
            </a:pPr>
            <a:r>
              <a:rPr sz="1600" b="0" i="0">
                <a:solidFill>
                  <a:srgbClr val="183A31"/>
                </a:solidFill>
                <a:latin typeface="Liberation Sans"/>
              </a:rPr>
              <a:t>query conflicts</a:t>
            </a:r>
          </a:p>
        </p:txBody>
      </p:sp>
      <p:sp>
        <p:nvSpPr>
          <p:cNvPr id="16" name="map-peer-1-proactive-label"/>
          <p:cNvSpPr txBox="1"/>
          <p:nvPr/>
        </p:nvSpPr>
        <p:spPr>
          <a:xfrm>
            <a:off x="594360" y="4462272"/>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Trigger • OFF</a:t>
            </a:r>
          </a:p>
        </p:txBody>
      </p:sp>
      <p:sp>
        <p:nvSpPr>
          <p:cNvPr id="17" name="map-peer-1-proactive-body"/>
          <p:cNvSpPr txBox="1"/>
          <p:nvPr/>
        </p:nvSpPr>
        <p:spPr>
          <a:xfrm>
            <a:off x="594360" y="4828032"/>
            <a:ext cx="1958644" cy="566928"/>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Missing/conflicting</a:t>
            </a:r>
          </a:p>
          <a:p>
            <a:pPr>
              <a:lnSpc>
                <a:spcPct val="100000"/>
              </a:lnSpc>
              <a:spcBef>
                <a:spcPts val="0"/>
              </a:spcBef>
              <a:spcAft>
                <a:spcPts val="0"/>
              </a:spcAft>
            </a:pPr>
            <a:r>
              <a:rPr sz="1600" b="0" i="0">
                <a:solidFill>
                  <a:srgbClr val="183A31"/>
                </a:solidFill>
                <a:latin typeface="Liberation Sans"/>
              </a:rPr>
              <a:t>stock facts</a:t>
            </a:r>
          </a:p>
        </p:txBody>
      </p:sp>
      <p:cxnSp>
        <p:nvCxnSpPr>
          <p:cNvPr id="18" name="map-peer-1-stage-arrow"/>
          <p:cNvCxnSpPr/>
          <p:nvPr/>
        </p:nvCxnSpPr>
        <p:spPr>
          <a:xfrm>
            <a:off x="2653588"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19" name="map-peer-2-stage-background" descr="Container background; accompanying native text provides content."/>
          <p:cNvSpPr/>
          <p:nvPr/>
        </p:nvSpPr>
        <p:spPr>
          <a:xfrm>
            <a:off x="2763316"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map-peer-2-stage"/>
          <p:cNvSpPr txBox="1"/>
          <p:nvPr/>
        </p:nvSpPr>
        <p:spPr>
          <a:xfrm>
            <a:off x="2809036" y="1554480"/>
            <a:ext cx="2050084" cy="374904"/>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F7F2E7"/>
                </a:solidFill>
                <a:latin typeface="Liberation Sans"/>
              </a:rPr>
              <a:t>Assess &amp; design</a:t>
            </a:r>
          </a:p>
        </p:txBody>
      </p:sp>
      <p:sp>
        <p:nvSpPr>
          <p:cNvPr id="21" name="map-peer-2-owner"/>
          <p:cNvSpPr txBox="1"/>
          <p:nvPr/>
        </p:nvSpPr>
        <p:spPr>
          <a:xfrm>
            <a:off x="2809036" y="2066543"/>
            <a:ext cx="2050084" cy="630936"/>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Assessor/coordinator:</a:t>
            </a:r>
          </a:p>
          <a:p>
            <a:pPr>
              <a:lnSpc>
                <a:spcPct val="100000"/>
              </a:lnSpc>
              <a:spcBef>
                <a:spcPts val="0"/>
              </a:spcBef>
              <a:spcAft>
                <a:spcPts val="0"/>
              </a:spcAft>
            </a:pPr>
            <a:r>
              <a:rPr sz="1600" b="0" i="0">
                <a:solidFill>
                  <a:srgbClr val="183A31"/>
                </a:solidFill>
                <a:latin typeface="Liberation Sans"/>
              </a:rPr>
              <a:t>independent sign-off</a:t>
            </a:r>
          </a:p>
        </p:txBody>
      </p:sp>
      <p:sp>
        <p:nvSpPr>
          <p:cNvPr id="22" name="map-peer-2-capability-background" descr="Container background; accompanying native text provides content."/>
          <p:cNvSpPr/>
          <p:nvPr/>
        </p:nvSpPr>
        <p:spPr>
          <a:xfrm>
            <a:off x="2763316" y="2752344"/>
            <a:ext cx="2141524" cy="26974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ap-peer-2-title"/>
          <p:cNvSpPr txBox="1"/>
          <p:nvPr/>
        </p:nvSpPr>
        <p:spPr>
          <a:xfrm>
            <a:off x="2854756" y="2834640"/>
            <a:ext cx="1958644" cy="676656"/>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183A31"/>
                </a:solidFill>
                <a:latin typeface="Liberation Sans"/>
              </a:rPr>
              <a:t>Assessment</a:t>
            </a:r>
          </a:p>
          <a:p>
            <a:pPr>
              <a:lnSpc>
                <a:spcPct val="100000"/>
              </a:lnSpc>
              <a:spcBef>
                <a:spcPts val="0"/>
              </a:spcBef>
              <a:spcAft>
                <a:spcPts val="0"/>
              </a:spcAft>
            </a:pPr>
            <a:r>
              <a:rPr sz="1700" b="1" i="0">
                <a:solidFill>
                  <a:srgbClr val="183A31"/>
                </a:solidFill>
                <a:latin typeface="Liberation Sans"/>
              </a:rPr>
              <a:t>Preparation</a:t>
            </a:r>
          </a:p>
        </p:txBody>
      </p:sp>
      <p:sp>
        <p:nvSpPr>
          <p:cNvPr id="24" name="map-peer-2-request-label"/>
          <p:cNvSpPr txBox="1"/>
          <p:nvPr/>
        </p:nvSpPr>
        <p:spPr>
          <a:xfrm>
            <a:off x="2854756" y="3575304"/>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On request</a:t>
            </a:r>
          </a:p>
        </p:txBody>
      </p:sp>
      <p:sp>
        <p:nvSpPr>
          <p:cNvPr id="25" name="map-peer-2-request-body"/>
          <p:cNvSpPr txBox="1"/>
          <p:nvPr/>
        </p:nvSpPr>
        <p:spPr>
          <a:xfrm>
            <a:off x="2854756" y="3922776"/>
            <a:ext cx="1958644" cy="5303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Prepare sourced</a:t>
            </a:r>
          </a:p>
          <a:p>
            <a:pPr>
              <a:lnSpc>
                <a:spcPct val="100000"/>
              </a:lnSpc>
              <a:spcBef>
                <a:spcPts val="0"/>
              </a:spcBef>
              <a:spcAft>
                <a:spcPts val="0"/>
              </a:spcAft>
            </a:pPr>
            <a:r>
              <a:rPr sz="1600" b="0" i="0">
                <a:solidFill>
                  <a:srgbClr val="183A31"/>
                </a:solidFill>
                <a:latin typeface="Liberation Sans"/>
              </a:rPr>
              <a:t>survey/design pack</a:t>
            </a:r>
          </a:p>
        </p:txBody>
      </p:sp>
      <p:sp>
        <p:nvSpPr>
          <p:cNvPr id="26" name="map-peer-2-proactive-label"/>
          <p:cNvSpPr txBox="1"/>
          <p:nvPr/>
        </p:nvSpPr>
        <p:spPr>
          <a:xfrm>
            <a:off x="2854756" y="4462272"/>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Trigger • OFF</a:t>
            </a:r>
          </a:p>
        </p:txBody>
      </p:sp>
      <p:sp>
        <p:nvSpPr>
          <p:cNvPr id="27" name="map-peer-2-proactive-body"/>
          <p:cNvSpPr txBox="1"/>
          <p:nvPr/>
        </p:nvSpPr>
        <p:spPr>
          <a:xfrm>
            <a:off x="2854756" y="4828032"/>
            <a:ext cx="1958644" cy="566928"/>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Missing/changed</a:t>
            </a:r>
          </a:p>
          <a:p>
            <a:pPr>
              <a:lnSpc>
                <a:spcPct val="100000"/>
              </a:lnSpc>
              <a:spcBef>
                <a:spcPts val="0"/>
              </a:spcBef>
              <a:spcAft>
                <a:spcPts val="0"/>
              </a:spcAft>
            </a:pPr>
            <a:r>
              <a:rPr sz="1600" b="0" i="0">
                <a:solidFill>
                  <a:srgbClr val="183A31"/>
                </a:solidFill>
                <a:latin typeface="Liberation Sans"/>
              </a:rPr>
              <a:t>survey or design</a:t>
            </a:r>
          </a:p>
        </p:txBody>
      </p:sp>
      <p:cxnSp>
        <p:nvCxnSpPr>
          <p:cNvPr id="28" name="map-peer-2-stage-arrow"/>
          <p:cNvCxnSpPr/>
          <p:nvPr/>
        </p:nvCxnSpPr>
        <p:spPr>
          <a:xfrm>
            <a:off x="4913985"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29" name="map-peer-3-stage-background" descr="Container background; accompanying native text provides content."/>
          <p:cNvSpPr/>
          <p:nvPr/>
        </p:nvSpPr>
        <p:spPr>
          <a:xfrm>
            <a:off x="5023713"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map-peer-3-stage"/>
          <p:cNvSpPr txBox="1"/>
          <p:nvPr/>
        </p:nvSpPr>
        <p:spPr>
          <a:xfrm>
            <a:off x="5069433" y="1554480"/>
            <a:ext cx="2050084" cy="374904"/>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F7F2E7"/>
                </a:solidFill>
                <a:latin typeface="Liberation Sans"/>
              </a:rPr>
              <a:t>Prepare funding</a:t>
            </a:r>
          </a:p>
        </p:txBody>
      </p:sp>
      <p:sp>
        <p:nvSpPr>
          <p:cNvPr id="31" name="map-peer-3-owner"/>
          <p:cNvSpPr txBox="1"/>
          <p:nvPr/>
        </p:nvSpPr>
        <p:spPr>
          <a:xfrm>
            <a:off x="5069433" y="2066543"/>
            <a:ext cx="2050084" cy="630936"/>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Finance: validate,</a:t>
            </a:r>
          </a:p>
          <a:p>
            <a:pPr>
              <a:lnSpc>
                <a:spcPct val="100000"/>
              </a:lnSpc>
              <a:spcBef>
                <a:spcPts val="0"/>
              </a:spcBef>
              <a:spcAft>
                <a:spcPts val="0"/>
              </a:spcAft>
            </a:pPr>
            <a:r>
              <a:rPr sz="1600" b="0" i="0">
                <a:solidFill>
                  <a:srgbClr val="183A31"/>
                </a:solidFill>
                <a:latin typeface="Liberation Sans"/>
              </a:rPr>
              <a:t>approve, submit</a:t>
            </a:r>
          </a:p>
        </p:txBody>
      </p:sp>
      <p:sp>
        <p:nvSpPr>
          <p:cNvPr id="32" name="map-peer-3-capability-background" descr="Container background; accompanying native text provides content."/>
          <p:cNvSpPr/>
          <p:nvPr/>
        </p:nvSpPr>
        <p:spPr>
          <a:xfrm>
            <a:off x="5023713" y="2752344"/>
            <a:ext cx="2141524" cy="26974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map-peer-3-title"/>
          <p:cNvSpPr txBox="1"/>
          <p:nvPr/>
        </p:nvSpPr>
        <p:spPr>
          <a:xfrm>
            <a:off x="5115153" y="2834640"/>
            <a:ext cx="1958644" cy="676656"/>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183A31"/>
                </a:solidFill>
                <a:latin typeface="Liberation Sans"/>
              </a:rPr>
              <a:t>Grant &amp; Funding</a:t>
            </a:r>
          </a:p>
          <a:p>
            <a:pPr>
              <a:lnSpc>
                <a:spcPct val="100000"/>
              </a:lnSpc>
              <a:spcBef>
                <a:spcPts val="0"/>
              </a:spcBef>
              <a:spcAft>
                <a:spcPts val="0"/>
              </a:spcAft>
            </a:pPr>
            <a:r>
              <a:rPr sz="1700" b="1" i="0">
                <a:solidFill>
                  <a:srgbClr val="183A31"/>
                </a:solidFill>
                <a:latin typeface="Liberation Sans"/>
              </a:rPr>
              <a:t>Evidence</a:t>
            </a:r>
          </a:p>
        </p:txBody>
      </p:sp>
      <p:sp>
        <p:nvSpPr>
          <p:cNvPr id="34" name="map-peer-3-request-label"/>
          <p:cNvSpPr txBox="1"/>
          <p:nvPr/>
        </p:nvSpPr>
        <p:spPr>
          <a:xfrm>
            <a:off x="5115153" y="3575304"/>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On request</a:t>
            </a:r>
          </a:p>
        </p:txBody>
      </p:sp>
      <p:sp>
        <p:nvSpPr>
          <p:cNvPr id="35" name="map-peer-3-request-body"/>
          <p:cNvSpPr txBox="1"/>
          <p:nvPr/>
        </p:nvSpPr>
        <p:spPr>
          <a:xfrm>
            <a:off x="5115153" y="3922776"/>
            <a:ext cx="1958644" cy="5303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Draft source-linked</a:t>
            </a:r>
          </a:p>
          <a:p>
            <a:pPr>
              <a:lnSpc>
                <a:spcPct val="100000"/>
              </a:lnSpc>
              <a:spcBef>
                <a:spcPts val="0"/>
              </a:spcBef>
              <a:spcAft>
                <a:spcPts val="0"/>
              </a:spcAft>
            </a:pPr>
            <a:r>
              <a:rPr sz="1600" b="0" i="0">
                <a:solidFill>
                  <a:srgbClr val="183A31"/>
                </a:solidFill>
                <a:latin typeface="Liberation Sans"/>
              </a:rPr>
              <a:t>evidence pack</a:t>
            </a:r>
          </a:p>
        </p:txBody>
      </p:sp>
      <p:sp>
        <p:nvSpPr>
          <p:cNvPr id="36" name="map-peer-3-proactive-label"/>
          <p:cNvSpPr txBox="1"/>
          <p:nvPr/>
        </p:nvSpPr>
        <p:spPr>
          <a:xfrm>
            <a:off x="5115153" y="4462272"/>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Trigger • OFF</a:t>
            </a:r>
          </a:p>
        </p:txBody>
      </p:sp>
      <p:sp>
        <p:nvSpPr>
          <p:cNvPr id="37" name="map-peer-3-proactive-body"/>
          <p:cNvSpPr txBox="1"/>
          <p:nvPr/>
        </p:nvSpPr>
        <p:spPr>
          <a:xfrm>
            <a:off x="5115153" y="4828032"/>
            <a:ext cx="1958644" cy="566928"/>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Missing inputs or</a:t>
            </a:r>
          </a:p>
          <a:p>
            <a:pPr>
              <a:lnSpc>
                <a:spcPct val="100000"/>
              </a:lnSpc>
              <a:spcBef>
                <a:spcPts val="0"/>
              </a:spcBef>
              <a:spcAft>
                <a:spcPts val="0"/>
              </a:spcAft>
            </a:pPr>
            <a:r>
              <a:rPr sz="1600" b="0" i="0">
                <a:solidFill>
                  <a:srgbClr val="183A31"/>
                </a:solidFill>
                <a:latin typeface="Liberation Sans"/>
              </a:rPr>
              <a:t>changed terms</a:t>
            </a:r>
          </a:p>
        </p:txBody>
      </p:sp>
      <p:cxnSp>
        <p:nvCxnSpPr>
          <p:cNvPr id="38" name="map-peer-3-stage-arrow"/>
          <p:cNvCxnSpPr/>
          <p:nvPr/>
        </p:nvCxnSpPr>
        <p:spPr>
          <a:xfrm>
            <a:off x="7174382"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39" name="map-peer-4-stage-background" descr="Container background; accompanying native text provides content."/>
          <p:cNvSpPr/>
          <p:nvPr/>
        </p:nvSpPr>
        <p:spPr>
          <a:xfrm>
            <a:off x="7284110"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map-peer-4-stage"/>
          <p:cNvSpPr txBox="1"/>
          <p:nvPr/>
        </p:nvSpPr>
        <p:spPr>
          <a:xfrm>
            <a:off x="7329830" y="1554480"/>
            <a:ext cx="2050084" cy="374904"/>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F7F2E7"/>
                </a:solidFill>
                <a:latin typeface="Liberation Sans"/>
              </a:rPr>
              <a:t>Coordinate works</a:t>
            </a:r>
          </a:p>
        </p:txBody>
      </p:sp>
      <p:sp>
        <p:nvSpPr>
          <p:cNvPr id="41" name="map-peer-4-owner"/>
          <p:cNvSpPr txBox="1"/>
          <p:nvPr/>
        </p:nvSpPr>
        <p:spPr>
          <a:xfrm>
            <a:off x="7329830" y="2066543"/>
            <a:ext cx="2050084" cy="630936"/>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Resident: choice;</a:t>
            </a:r>
          </a:p>
          <a:p>
            <a:pPr>
              <a:lnSpc>
                <a:spcPct val="100000"/>
              </a:lnSpc>
              <a:spcBef>
                <a:spcPts val="0"/>
              </a:spcBef>
              <a:spcAft>
                <a:spcPts val="0"/>
              </a:spcAft>
            </a:pPr>
            <a:r>
              <a:rPr sz="1600" b="0" i="0">
                <a:solidFill>
                  <a:srgbClr val="183A31"/>
                </a:solidFill>
                <a:latin typeface="Liberation Sans"/>
              </a:rPr>
              <a:t>Programme: release</a:t>
            </a:r>
          </a:p>
        </p:txBody>
      </p:sp>
      <p:sp>
        <p:nvSpPr>
          <p:cNvPr id="42" name="map-peer-4-capability-background" descr="Container background; accompanying native text provides content."/>
          <p:cNvSpPr/>
          <p:nvPr/>
        </p:nvSpPr>
        <p:spPr>
          <a:xfrm>
            <a:off x="7284110" y="2752344"/>
            <a:ext cx="2141524" cy="26974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ap-peer-4-title"/>
          <p:cNvSpPr txBox="1"/>
          <p:nvPr/>
        </p:nvSpPr>
        <p:spPr>
          <a:xfrm>
            <a:off x="7375550" y="2834640"/>
            <a:ext cx="1958644" cy="676656"/>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183A31"/>
                </a:solidFill>
                <a:latin typeface="Liberation Sans"/>
              </a:rPr>
              <a:t>Works &amp; Resident</a:t>
            </a:r>
          </a:p>
          <a:p>
            <a:pPr>
              <a:lnSpc>
                <a:spcPct val="100000"/>
              </a:lnSpc>
              <a:spcBef>
                <a:spcPts val="0"/>
              </a:spcBef>
              <a:spcAft>
                <a:spcPts val="0"/>
              </a:spcAft>
            </a:pPr>
            <a:r>
              <a:rPr sz="1700" b="1" i="0">
                <a:solidFill>
                  <a:srgbClr val="183A31"/>
                </a:solidFill>
                <a:latin typeface="Liberation Sans"/>
              </a:rPr>
              <a:t>Coordination</a:t>
            </a:r>
          </a:p>
        </p:txBody>
      </p:sp>
      <p:sp>
        <p:nvSpPr>
          <p:cNvPr id="44" name="map-peer-4-request-label"/>
          <p:cNvSpPr txBox="1"/>
          <p:nvPr/>
        </p:nvSpPr>
        <p:spPr>
          <a:xfrm>
            <a:off x="7375550" y="3575304"/>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On request</a:t>
            </a:r>
          </a:p>
        </p:txBody>
      </p:sp>
      <p:sp>
        <p:nvSpPr>
          <p:cNvPr id="45" name="map-peer-4-request-body"/>
          <p:cNvSpPr txBox="1"/>
          <p:nvPr/>
        </p:nvSpPr>
        <p:spPr>
          <a:xfrm>
            <a:off x="7375550" y="3922776"/>
            <a:ext cx="1958644" cy="5303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Draft update;</a:t>
            </a:r>
          </a:p>
          <a:p>
            <a:pPr>
              <a:lnSpc>
                <a:spcPct val="100000"/>
              </a:lnSpc>
              <a:spcBef>
                <a:spcPts val="0"/>
              </a:spcBef>
              <a:spcAft>
                <a:spcPts val="0"/>
              </a:spcAft>
            </a:pPr>
            <a:r>
              <a:rPr sz="1600" b="0" i="0">
                <a:solidFill>
                  <a:srgbClr val="183A31"/>
                </a:solidFill>
                <a:latin typeface="Liberation Sans"/>
              </a:rPr>
              <a:t>suggest crew slots</a:t>
            </a:r>
          </a:p>
        </p:txBody>
      </p:sp>
      <p:sp>
        <p:nvSpPr>
          <p:cNvPr id="46" name="map-peer-4-proactive-label"/>
          <p:cNvSpPr txBox="1"/>
          <p:nvPr/>
        </p:nvSpPr>
        <p:spPr>
          <a:xfrm>
            <a:off x="7375550" y="4462272"/>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Trigger • OFF</a:t>
            </a:r>
          </a:p>
        </p:txBody>
      </p:sp>
      <p:sp>
        <p:nvSpPr>
          <p:cNvPr id="47" name="map-peer-4-proactive-body"/>
          <p:cNvSpPr txBox="1"/>
          <p:nvPr/>
        </p:nvSpPr>
        <p:spPr>
          <a:xfrm>
            <a:off x="7375550" y="4828032"/>
            <a:ext cx="1958644" cy="566928"/>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Unaccepted handoff;</a:t>
            </a:r>
          </a:p>
          <a:p>
            <a:pPr>
              <a:lnSpc>
                <a:spcPct val="100000"/>
              </a:lnSpc>
              <a:spcBef>
                <a:spcPts val="0"/>
              </a:spcBef>
              <a:spcAft>
                <a:spcPts val="0"/>
              </a:spcAft>
            </a:pPr>
            <a:r>
              <a:rPr sz="1600" b="0" i="0">
                <a:solidFill>
                  <a:srgbClr val="183A31"/>
                </a:solidFill>
                <a:latin typeface="Liberation Sans"/>
              </a:rPr>
              <a:t>overdue update</a:t>
            </a:r>
          </a:p>
        </p:txBody>
      </p:sp>
      <p:cxnSp>
        <p:nvCxnSpPr>
          <p:cNvPr id="48" name="map-peer-4-stage-arrow"/>
          <p:cNvCxnSpPr/>
          <p:nvPr/>
        </p:nvCxnSpPr>
        <p:spPr>
          <a:xfrm>
            <a:off x="9434779" y="1737360"/>
            <a:ext cx="100584" cy="0"/>
          </a:xfrm>
          <a:prstGeom prst="line">
            <a:avLst/>
          </a:prstGeom>
          <a:ln w="22860">
            <a:solidFill>
              <a:srgbClr val="446056"/>
            </a:solidFill>
            <a:tailEnd type="triangle"/>
          </a:ln>
        </p:spPr>
        <p:style>
          <a:lnRef idx="2">
            <a:schemeClr val="accent1"/>
          </a:lnRef>
          <a:fillRef idx="0">
            <a:schemeClr val="accent1"/>
          </a:fillRef>
          <a:effectRef idx="1">
            <a:schemeClr val="accent1"/>
          </a:effectRef>
          <a:fontRef idx="minor">
            <a:schemeClr val="tx1"/>
          </a:fontRef>
        </p:style>
      </p:cxnSp>
      <p:sp>
        <p:nvSpPr>
          <p:cNvPr id="49" name="map-peer-5-stage-background" descr="Container background; accompanying native text provides content."/>
          <p:cNvSpPr/>
          <p:nvPr/>
        </p:nvSpPr>
        <p:spPr>
          <a:xfrm>
            <a:off x="9544507" y="1490472"/>
            <a:ext cx="2141524" cy="493776"/>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map-peer-5-stage"/>
          <p:cNvSpPr txBox="1"/>
          <p:nvPr/>
        </p:nvSpPr>
        <p:spPr>
          <a:xfrm>
            <a:off x="9590227" y="1554480"/>
            <a:ext cx="2050084" cy="374904"/>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F7F2E7"/>
                </a:solidFill>
                <a:latin typeface="Liberation Sans"/>
              </a:rPr>
              <a:t>Verify &amp; hand over</a:t>
            </a:r>
          </a:p>
        </p:txBody>
      </p:sp>
      <p:sp>
        <p:nvSpPr>
          <p:cNvPr id="51" name="map-peer-5-owner"/>
          <p:cNvSpPr txBox="1"/>
          <p:nvPr/>
        </p:nvSpPr>
        <p:spPr>
          <a:xfrm>
            <a:off x="9590227" y="2066543"/>
            <a:ext cx="2050084" cy="630936"/>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Independent quality</a:t>
            </a:r>
          </a:p>
          <a:p>
            <a:pPr>
              <a:lnSpc>
                <a:spcPct val="100000"/>
              </a:lnSpc>
              <a:spcBef>
                <a:spcPts val="0"/>
              </a:spcBef>
              <a:spcAft>
                <a:spcPts val="0"/>
              </a:spcAft>
            </a:pPr>
            <a:r>
              <a:rPr sz="1600" b="0" i="0">
                <a:solidFill>
                  <a:srgbClr val="183A31"/>
                </a:solidFill>
                <a:latin typeface="Liberation Sans"/>
              </a:rPr>
              <a:t>authority: accept</a:t>
            </a:r>
          </a:p>
        </p:txBody>
      </p:sp>
      <p:sp>
        <p:nvSpPr>
          <p:cNvPr id="52" name="map-peer-5-capability-background" descr="Container background; accompanying native text provides content."/>
          <p:cNvSpPr/>
          <p:nvPr/>
        </p:nvSpPr>
        <p:spPr>
          <a:xfrm>
            <a:off x="9544507" y="2752344"/>
            <a:ext cx="2141524" cy="26974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map-peer-5-title"/>
          <p:cNvSpPr txBox="1"/>
          <p:nvPr/>
        </p:nvSpPr>
        <p:spPr>
          <a:xfrm>
            <a:off x="9635947" y="2834640"/>
            <a:ext cx="1958644" cy="676656"/>
          </a:xfrm>
          <a:prstGeom prst="rect">
            <a:avLst/>
          </a:prstGeom>
          <a:noFill/>
        </p:spPr>
        <p:txBody>
          <a:bodyPr wrap="square" lIns="18288" rIns="18288" tIns="18288" bIns="18288" anchor="t">
            <a:noAutofit/>
          </a:bodyPr>
          <a:lstStyle/>
          <a:p>
            <a:pPr>
              <a:lnSpc>
                <a:spcPct val="100000"/>
              </a:lnSpc>
              <a:spcBef>
                <a:spcPts val="0"/>
              </a:spcBef>
              <a:spcAft>
                <a:spcPts val="0"/>
              </a:spcAft>
            </a:pPr>
            <a:r>
              <a:rPr sz="1700" b="1" i="0">
                <a:solidFill>
                  <a:srgbClr val="183A31"/>
                </a:solidFill>
                <a:latin typeface="Liberation Sans"/>
              </a:rPr>
              <a:t>Quality Evidence</a:t>
            </a:r>
          </a:p>
          <a:p>
            <a:pPr>
              <a:lnSpc>
                <a:spcPct val="100000"/>
              </a:lnSpc>
              <a:spcBef>
                <a:spcPts val="0"/>
              </a:spcBef>
              <a:spcAft>
                <a:spcPts val="0"/>
              </a:spcAft>
            </a:pPr>
            <a:r>
              <a:rPr sz="1700" b="1" i="0">
                <a:solidFill>
                  <a:srgbClr val="183A31"/>
                </a:solidFill>
                <a:latin typeface="Liberation Sans"/>
              </a:rPr>
              <a:t>Review</a:t>
            </a:r>
          </a:p>
        </p:txBody>
      </p:sp>
      <p:sp>
        <p:nvSpPr>
          <p:cNvPr id="54" name="map-peer-5-request-label"/>
          <p:cNvSpPr txBox="1"/>
          <p:nvPr/>
        </p:nvSpPr>
        <p:spPr>
          <a:xfrm>
            <a:off x="9635947" y="3575304"/>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On request</a:t>
            </a:r>
          </a:p>
        </p:txBody>
      </p:sp>
      <p:sp>
        <p:nvSpPr>
          <p:cNvPr id="55" name="map-peer-5-request-body"/>
          <p:cNvSpPr txBox="1"/>
          <p:nvPr/>
        </p:nvSpPr>
        <p:spPr>
          <a:xfrm>
            <a:off x="9635947" y="3922776"/>
            <a:ext cx="1958644" cy="5303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Assemble evidence;</a:t>
            </a:r>
          </a:p>
          <a:p>
            <a:pPr>
              <a:lnSpc>
                <a:spcPct val="100000"/>
              </a:lnSpc>
              <a:spcBef>
                <a:spcPts val="0"/>
              </a:spcBef>
              <a:spcAft>
                <a:spcPts val="0"/>
              </a:spcAft>
            </a:pPr>
            <a:r>
              <a:rPr sz="1600" b="0" i="0">
                <a:solidFill>
                  <a:srgbClr val="183A31"/>
                </a:solidFill>
                <a:latin typeface="Liberation Sans"/>
              </a:rPr>
              <a:t>raise gaps</a:t>
            </a:r>
          </a:p>
        </p:txBody>
      </p:sp>
      <p:sp>
        <p:nvSpPr>
          <p:cNvPr id="56" name="map-peer-5-proactive-label"/>
          <p:cNvSpPr txBox="1"/>
          <p:nvPr/>
        </p:nvSpPr>
        <p:spPr>
          <a:xfrm>
            <a:off x="9635947" y="4462272"/>
            <a:ext cx="1958644" cy="320040"/>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183A31"/>
                </a:solidFill>
                <a:latin typeface="Liberation Sans"/>
              </a:rPr>
              <a:t>Trigger • OFF</a:t>
            </a:r>
          </a:p>
        </p:txBody>
      </p:sp>
      <p:sp>
        <p:nvSpPr>
          <p:cNvPr id="57" name="map-peer-5-proactive-body"/>
          <p:cNvSpPr txBox="1"/>
          <p:nvPr/>
        </p:nvSpPr>
        <p:spPr>
          <a:xfrm>
            <a:off x="9635947" y="4828032"/>
            <a:ext cx="1958644" cy="566928"/>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Missing/conflicting</a:t>
            </a:r>
          </a:p>
          <a:p>
            <a:pPr>
              <a:lnSpc>
                <a:spcPct val="100000"/>
              </a:lnSpc>
              <a:spcBef>
                <a:spcPts val="0"/>
              </a:spcBef>
              <a:spcAft>
                <a:spcPts val="0"/>
              </a:spcAft>
            </a:pPr>
            <a:r>
              <a:rPr sz="1600" b="0" i="0">
                <a:solidFill>
                  <a:srgbClr val="183A31"/>
                </a:solidFill>
                <a:latin typeface="Liberation Sans"/>
              </a:rPr>
              <a:t>quality evidence</a:t>
            </a:r>
          </a:p>
        </p:txBody>
      </p:sp>
      <p:sp>
        <p:nvSpPr>
          <p:cNvPr id="58" name="map-core-background" descr="Container background; accompanying native text provides content."/>
          <p:cNvSpPr/>
          <p:nvPr/>
        </p:nvSpPr>
        <p:spPr>
          <a:xfrm>
            <a:off x="502920" y="5477256"/>
            <a:ext cx="11183112" cy="41148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map-core"/>
          <p:cNvSpPr txBox="1"/>
          <p:nvPr/>
        </p:nvSpPr>
        <p:spPr>
          <a:xfrm>
            <a:off x="630936" y="5559552"/>
            <a:ext cx="10927080" cy="283464"/>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1" i="0">
                <a:solidFill>
                  <a:srgbClr val="F7F2E7"/>
                </a:solidFill>
                <a:latin typeface="Liberation Sans"/>
              </a:rPr>
              <a:t>Workflow core: rights • versions • gates • human approvals • audit • retries • manual recovery</a:t>
            </a:r>
          </a:p>
        </p:txBody>
      </p:sp>
      <p:sp>
        <p:nvSpPr>
          <p:cNvPr id="60" name="map-funding-boundary"/>
          <p:cNvSpPr txBox="1"/>
          <p:nvPr/>
        </p:nvSpPr>
        <p:spPr>
          <a:xfrm>
            <a:off x="502920" y="5980176"/>
            <a:ext cx="11183112" cy="3017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Checks OFF now; future eligibility → named human queue. Funding: application ≠ award ≠ claim ≠ cash.</a:t>
            </a:r>
          </a:p>
        </p:txBody>
      </p:sp>
      <p:sp>
        <p:nvSpPr>
          <p:cNvPr id="61" name="map-hazard-boundary"/>
          <p:cNvSpPr txBox="1"/>
          <p:nvPr/>
        </p:nvSpPr>
        <p:spPr>
          <a:xfrm>
            <a:off x="502920" y="6309360"/>
            <a:ext cx="11183112" cy="301752"/>
          </a:xfrm>
          <a:prstGeom prst="rect">
            <a:avLst/>
          </a:prstGeom>
          <a:noFill/>
        </p:spPr>
        <p:txBody>
          <a:bodyPr wrap="square" lIns="18288" rIns="18288" tIns="18288" bIns="18288" anchor="t">
            <a:noAutofit/>
          </a:bodyPr>
          <a:lstStyle/>
          <a:p>
            <a:pPr>
              <a:lnSpc>
                <a:spcPct val="100000"/>
              </a:lnSpc>
              <a:spcBef>
                <a:spcPts val="0"/>
              </a:spcBef>
              <a:spcAft>
                <a:spcPts val="0"/>
              </a:spcAft>
            </a:pPr>
            <a:r>
              <a:rPr sz="1600" b="0" i="0">
                <a:solidFill>
                  <a:srgbClr val="183A31"/>
                </a:solidFill>
                <a:latin typeface="Liberation Sans"/>
              </a:rPr>
              <a:t>Hazard → human service now, never wait for AI. Value remains a hypothesis.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See cash before optimism.</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S03 / S06 / S09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14 / 24</a:t>
            </a:r>
          </a:p>
        </p:txBody>
      </p:sp>
      <p:sp>
        <p:nvSpPr>
          <p:cNvPr id="8" name="fictional-label"/>
          <p:cNvSpPr txBox="1"/>
          <p:nvPr/>
        </p:nvSpPr>
        <p:spPr>
          <a:xfrm>
            <a:off x="502920" y="1764792"/>
            <a:ext cx="11155680" cy="320040"/>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FICTIONAL EXA-010/015 / not a technology price, award or budget</a:t>
            </a:r>
          </a:p>
        </p:txBody>
      </p:sp>
      <p:sp>
        <p:nvSpPr>
          <p:cNvPr id="9" name="gross-background" descr="Container background; accompanying native text provides content."/>
          <p:cNvSpPr/>
          <p:nvPr/>
        </p:nvSpPr>
        <p:spPr>
          <a:xfrm>
            <a:off x="502920" y="2295144"/>
            <a:ext cx="11183112" cy="1033271"/>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gross-title"/>
          <p:cNvSpPr txBox="1"/>
          <p:nvPr/>
        </p:nvSpPr>
        <p:spPr>
          <a:xfrm>
            <a:off x="731520" y="2487168"/>
            <a:ext cx="5120640"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BEFORE GRANT RECEIPT</a:t>
            </a:r>
          </a:p>
        </p:txBody>
      </p:sp>
      <p:sp>
        <p:nvSpPr>
          <p:cNvPr id="11" name="gross-value"/>
          <p:cNvSpPr txBox="1"/>
          <p:nvPr/>
        </p:nvSpPr>
        <p:spPr>
          <a:xfrm>
            <a:off x="6007608" y="2487168"/>
            <a:ext cx="5449824" cy="548640"/>
          </a:xfrm>
          <a:prstGeom prst="rect">
            <a:avLst/>
          </a:prstGeom>
          <a:noFill/>
        </p:spPr>
        <p:txBody>
          <a:bodyPr wrap="square" lIns="18288" rIns="18288" tIns="18288" bIns="18288" anchor="t">
            <a:noAutofit/>
          </a:bodyPr>
          <a:lstStyle/>
          <a:p>
            <a:pPr>
              <a:lnSpc>
                <a:spcPct val="108000"/>
              </a:lnSpc>
              <a:spcBef>
                <a:spcPts val="0"/>
              </a:spcBef>
              <a:spcAft>
                <a:spcPts val="500"/>
              </a:spcAft>
            </a:pPr>
            <a:r>
              <a:rPr sz="2900" b="1" i="0">
                <a:solidFill>
                  <a:srgbClr val="F7F2E7"/>
                </a:solidFill>
                <a:latin typeface="Liberation Sans"/>
              </a:rPr>
              <a:t>£20,000 gross base cash</a:t>
            </a:r>
          </a:p>
        </p:txBody>
      </p:sp>
      <p:sp>
        <p:nvSpPr>
          <p:cNvPr id="12" name="peer-1-background" descr="Container background; accompanying native text provides content."/>
          <p:cNvSpPr/>
          <p:nvPr/>
        </p:nvSpPr>
        <p:spPr>
          <a:xfrm>
            <a:off x="502920"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1-title"/>
          <p:cNvSpPr txBox="1"/>
          <p:nvPr/>
        </p:nvSpPr>
        <p:spPr>
          <a:xfrm>
            <a:off x="667512"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RECEIVED</a:t>
            </a:r>
          </a:p>
        </p:txBody>
      </p:sp>
      <p:sp>
        <p:nvSpPr>
          <p:cNvPr id="14" name="peer-1-body"/>
          <p:cNvSpPr txBox="1"/>
          <p:nvPr/>
        </p:nvSpPr>
        <p:spPr>
          <a:xfrm>
            <a:off x="667512"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£7,500 fictional grant</a:t>
            </a:r>
          </a:p>
          <a:p>
            <a:pPr>
              <a:lnSpc>
                <a:spcPct val="108000"/>
              </a:lnSpc>
              <a:spcBef>
                <a:spcPts val="0"/>
              </a:spcBef>
              <a:spcAft>
                <a:spcPts val="500"/>
              </a:spcAft>
            </a:pPr>
            <a:r>
              <a:rPr sz="2300" b="0" i="0">
                <a:solidFill>
                  <a:srgbClr val="183A31"/>
                </a:solidFill>
                <a:latin typeface="Liberation Sans"/>
              </a:rPr>
              <a:t>→ £12,500 provider base.</a:t>
            </a:r>
          </a:p>
        </p:txBody>
      </p:sp>
      <p:sp>
        <p:nvSpPr>
          <p:cNvPr id="15" name="peer-2-background" descr="Container background; accompanying native text provides content."/>
          <p:cNvSpPr/>
          <p:nvPr/>
        </p:nvSpPr>
        <p:spPr>
          <a:xfrm>
            <a:off x="6195059" y="3639312"/>
            <a:ext cx="5490972" cy="178308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2-title"/>
          <p:cNvSpPr txBox="1"/>
          <p:nvPr/>
        </p:nvSpPr>
        <p:spPr>
          <a:xfrm>
            <a:off x="6359651" y="3822191"/>
            <a:ext cx="5161788" cy="393192"/>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183A31"/>
                </a:solidFill>
                <a:latin typeface="Liberation Sans"/>
              </a:rPr>
              <a:t>IF CONTINGENCY SPENT</a:t>
            </a:r>
          </a:p>
        </p:txBody>
      </p:sp>
      <p:sp>
        <p:nvSpPr>
          <p:cNvPr id="17" name="peer-2-body"/>
          <p:cNvSpPr txBox="1"/>
          <p:nvPr/>
        </p:nvSpPr>
        <p:spPr>
          <a:xfrm>
            <a:off x="6359651" y="4370831"/>
            <a:ext cx="5161788" cy="868680"/>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£22,000 gross exposure</a:t>
            </a:r>
          </a:p>
          <a:p>
            <a:pPr>
              <a:lnSpc>
                <a:spcPct val="108000"/>
              </a:lnSpc>
              <a:spcBef>
                <a:spcPts val="0"/>
              </a:spcBef>
              <a:spcAft>
                <a:spcPts val="500"/>
              </a:spcAft>
            </a:pPr>
            <a:r>
              <a:rPr sz="2300" b="0" i="0">
                <a:solidFill>
                  <a:srgbClr val="183A31"/>
                </a:solidFill>
                <a:latin typeface="Liberation Sans"/>
              </a:rPr>
              <a:t>£14,500 provider exposure.</a:t>
            </a:r>
          </a:p>
        </p:txBody>
      </p:sp>
      <p:sp>
        <p:nvSpPr>
          <p:cNvPr id="18" name="boundary-background" descr="Container background; accompanying native text provides content."/>
          <p:cNvSpPr/>
          <p:nvPr/>
        </p:nvSpPr>
        <p:spPr>
          <a:xfrm>
            <a:off x="502920" y="569671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undary-text"/>
          <p:cNvSpPr txBox="1"/>
          <p:nvPr/>
        </p:nvSpPr>
        <p:spPr>
          <a:xfrm>
            <a:off x="667512" y="578815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Application ≠ award ≠ claim ≠ cash.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Make the first change small enough to learn.</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S06 / S07 / S10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15 / 24</a:t>
            </a:r>
          </a:p>
        </p:txBody>
      </p:sp>
      <p:sp>
        <p:nvSpPr>
          <p:cNvPr id="8" name="peer-1-background" descr="Container background; accompanying native text provides content."/>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1051560"/>
          </a:xfrm>
          <a:prstGeom prst="rect">
            <a:avLst/>
          </a:prstGeom>
          <a:noFill/>
        </p:spPr>
        <p:txBody>
          <a:bodyPr wrap="square" lIns="18288" rIns="18288" tIns="18288" bIns="18288" anchor="t">
            <a:noAutofit/>
          </a:bodyPr>
          <a:lstStyle/>
          <a:p>
            <a:pPr>
              <a:lnSpc>
                <a:spcPct val="100000"/>
              </a:lnSpc>
              <a:spcBef>
                <a:spcPts val="0"/>
              </a:spcBef>
              <a:spcAft>
                <a:spcPts val="0"/>
              </a:spcAft>
            </a:pPr>
            <a:r>
              <a:rPr sz="2200" b="1" i="0">
                <a:solidFill>
                  <a:srgbClr val="183A31"/>
                </a:solidFill>
                <a:latin typeface="Liberation Sans"/>
              </a:rPr>
              <a:t>Co-design</a:t>
            </a:r>
          </a:p>
          <a:p>
            <a:pPr>
              <a:lnSpc>
                <a:spcPct val="100000"/>
              </a:lnSpc>
              <a:spcBef>
                <a:spcPts val="0"/>
              </a:spcBef>
              <a:spcAft>
                <a:spcPts val="0"/>
              </a:spcAft>
            </a:pPr>
            <a:r>
              <a:rPr sz="2200" b="1" i="0">
                <a:solidFill>
                  <a:srgbClr val="183A31"/>
                </a:solidFill>
                <a:latin typeface="Liberation Sans"/>
              </a:rPr>
              <a:t>tasks</a:t>
            </a:r>
          </a:p>
        </p:txBody>
      </p:sp>
      <p:sp>
        <p:nvSpPr>
          <p:cNvPr id="10" name="peer-1-body"/>
          <p:cNvSpPr txBox="1"/>
          <p:nvPr/>
        </p:nvSpPr>
        <p:spPr>
          <a:xfrm>
            <a:off x="66751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Programme +</a:t>
            </a:r>
          </a:p>
          <a:p>
            <a:pPr>
              <a:lnSpc>
                <a:spcPct val="108000"/>
              </a:lnSpc>
              <a:spcBef>
                <a:spcPts val="0"/>
              </a:spcBef>
              <a:spcAft>
                <a:spcPts val="500"/>
              </a:spcAft>
            </a:pPr>
            <a:r>
              <a:rPr sz="2200" b="0" i="0">
                <a:solidFill>
                  <a:srgbClr val="183A31"/>
                </a:solidFill>
                <a:latin typeface="Liberation Sans"/>
              </a:rPr>
              <a:t>workbook owners.</a:t>
            </a:r>
          </a:p>
        </p:txBody>
      </p:sp>
      <p:sp>
        <p:nvSpPr>
          <p:cNvPr id="11" name="peer-2-background" descr="Container background; accompanying native text provides content."/>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1051560"/>
          </a:xfrm>
          <a:prstGeom prst="rect">
            <a:avLst/>
          </a:prstGeom>
          <a:noFill/>
        </p:spPr>
        <p:txBody>
          <a:bodyPr wrap="square" lIns="18288" rIns="18288" tIns="18288" bIns="18288" anchor="t">
            <a:noAutofit/>
          </a:bodyPr>
          <a:lstStyle/>
          <a:p>
            <a:pPr>
              <a:lnSpc>
                <a:spcPct val="100000"/>
              </a:lnSpc>
              <a:spcBef>
                <a:spcPts val="0"/>
              </a:spcBef>
              <a:spcAft>
                <a:spcPts val="0"/>
              </a:spcAft>
            </a:pPr>
            <a:r>
              <a:rPr sz="2200" b="1" i="0">
                <a:solidFill>
                  <a:srgbClr val="183A31"/>
                </a:solidFill>
                <a:latin typeface="Liberation Sans"/>
              </a:rPr>
              <a:t>Shadow</a:t>
            </a:r>
          </a:p>
          <a:p>
            <a:pPr>
              <a:lnSpc>
                <a:spcPct val="100000"/>
              </a:lnSpc>
              <a:spcBef>
                <a:spcPts val="0"/>
              </a:spcBef>
              <a:spcAft>
                <a:spcPts val="0"/>
              </a:spcAft>
            </a:pPr>
            <a:r>
              <a:rPr sz="2200" b="1" i="0">
                <a:solidFill>
                  <a:srgbClr val="183A31"/>
                </a:solidFill>
                <a:latin typeface="Liberation Sans"/>
              </a:rPr>
              <a:t>one-way import</a:t>
            </a:r>
          </a:p>
        </p:txBody>
      </p:sp>
      <p:sp>
        <p:nvSpPr>
          <p:cNvPr id="13" name="peer-2-body"/>
          <p:cNvSpPr txBox="1"/>
          <p:nvPr/>
        </p:nvSpPr>
        <p:spPr>
          <a:xfrm>
            <a:off x="351358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Data owners:</a:t>
            </a:r>
          </a:p>
          <a:p>
            <a:pPr>
              <a:lnSpc>
                <a:spcPct val="108000"/>
              </a:lnSpc>
              <a:spcBef>
                <a:spcPts val="0"/>
              </a:spcBef>
              <a:spcAft>
                <a:spcPts val="500"/>
              </a:spcAft>
            </a:pPr>
            <a:r>
              <a:rPr sz="2200" b="0" i="0">
                <a:solidFill>
                  <a:srgbClr val="183A31"/>
                </a:solidFill>
                <a:latin typeface="Liberation Sans"/>
              </a:rPr>
              <a:t>reconcile + quarantine.</a:t>
            </a:r>
          </a:p>
        </p:txBody>
      </p:sp>
      <p:sp>
        <p:nvSpPr>
          <p:cNvPr id="14" name="peer-3-background" descr="Container background; accompanying native text provides content."/>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1051560"/>
          </a:xfrm>
          <a:prstGeom prst="rect">
            <a:avLst/>
          </a:prstGeom>
          <a:noFill/>
        </p:spPr>
        <p:txBody>
          <a:bodyPr wrap="square" lIns="18288" rIns="18288" tIns="18288" bIns="18288" anchor="t">
            <a:noAutofit/>
          </a:bodyPr>
          <a:lstStyle/>
          <a:p>
            <a:pPr>
              <a:lnSpc>
                <a:spcPct val="100000"/>
              </a:lnSpc>
              <a:spcBef>
                <a:spcPts val="0"/>
              </a:spcBef>
              <a:spcAft>
                <a:spcPts val="0"/>
              </a:spcAft>
            </a:pPr>
            <a:r>
              <a:rPr sz="2200" b="1" i="0">
                <a:solidFill>
                  <a:srgbClr val="183A31"/>
                </a:solidFill>
                <a:latin typeface="Liberation Sans"/>
              </a:rPr>
              <a:t>Supported task</a:t>
            </a:r>
          </a:p>
          <a:p>
            <a:pPr>
              <a:lnSpc>
                <a:spcPct val="100000"/>
              </a:lnSpc>
              <a:spcBef>
                <a:spcPts val="0"/>
              </a:spcBef>
              <a:spcAft>
                <a:spcPts val="0"/>
              </a:spcAft>
            </a:pPr>
            <a:r>
              <a:rPr sz="2200" b="1" i="0">
                <a:solidFill>
                  <a:srgbClr val="183A31"/>
                </a:solidFill>
                <a:latin typeface="Liberation Sans"/>
              </a:rPr>
              <a:t>walkthroughs</a:t>
            </a:r>
          </a:p>
        </p:txBody>
      </p:sp>
      <p:sp>
        <p:nvSpPr>
          <p:cNvPr id="16" name="peer-3-body"/>
          <p:cNvSpPr txBox="1"/>
          <p:nvPr/>
        </p:nvSpPr>
        <p:spPr>
          <a:xfrm>
            <a:off x="635965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Team leads:</a:t>
            </a:r>
          </a:p>
          <a:p>
            <a:pPr>
              <a:lnSpc>
                <a:spcPct val="108000"/>
              </a:lnSpc>
              <a:spcBef>
                <a:spcPts val="0"/>
              </a:spcBef>
              <a:spcAft>
                <a:spcPts val="500"/>
              </a:spcAft>
            </a:pPr>
            <a:r>
              <a:rPr sz="2200" b="0" i="0">
                <a:solidFill>
                  <a:srgbClr val="183A31"/>
                </a:solidFill>
                <a:latin typeface="Liberation Sans"/>
              </a:rPr>
              <a:t>help + observe.</a:t>
            </a:r>
          </a:p>
        </p:txBody>
      </p:sp>
      <p:sp>
        <p:nvSpPr>
          <p:cNvPr id="17" name="peer-4-background" descr="Container background; accompanying native text provides content."/>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1051560"/>
          </a:xfrm>
          <a:prstGeom prst="rect">
            <a:avLst/>
          </a:prstGeom>
          <a:noFill/>
        </p:spPr>
        <p:txBody>
          <a:bodyPr wrap="square" lIns="18288" rIns="18288" tIns="18288" bIns="18288" anchor="t">
            <a:noAutofit/>
          </a:bodyPr>
          <a:lstStyle/>
          <a:p>
            <a:pPr>
              <a:lnSpc>
                <a:spcPct val="100000"/>
              </a:lnSpc>
              <a:spcBef>
                <a:spcPts val="0"/>
              </a:spcBef>
              <a:spcAft>
                <a:spcPts val="0"/>
              </a:spcAft>
            </a:pPr>
            <a:r>
              <a:rPr sz="2200" b="1" i="0">
                <a:solidFill>
                  <a:srgbClr val="183A31"/>
                </a:solidFill>
                <a:latin typeface="Liberation Sans"/>
              </a:rPr>
              <a:t>Controlled switch</a:t>
            </a:r>
          </a:p>
          <a:p>
            <a:pPr>
              <a:lnSpc>
                <a:spcPct val="100000"/>
              </a:lnSpc>
              <a:spcBef>
                <a:spcPts val="0"/>
              </a:spcBef>
              <a:spcAft>
                <a:spcPts val="0"/>
              </a:spcAft>
            </a:pPr>
            <a:r>
              <a:rPr sz="2200" b="1" i="0">
                <a:solidFill>
                  <a:srgbClr val="183A31"/>
                </a:solidFill>
                <a:latin typeface="Liberation Sans"/>
              </a:rPr>
              <a:t>and rollback</a:t>
            </a:r>
          </a:p>
        </p:txBody>
      </p:sp>
      <p:sp>
        <p:nvSpPr>
          <p:cNvPr id="19" name="peer-4-body"/>
          <p:cNvSpPr txBox="1"/>
          <p:nvPr/>
        </p:nvSpPr>
        <p:spPr>
          <a:xfrm>
            <a:off x="9205722" y="3145536"/>
            <a:ext cx="2315718" cy="1920240"/>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Digital + work owners:</a:t>
            </a:r>
          </a:p>
          <a:p>
            <a:pPr>
              <a:lnSpc>
                <a:spcPct val="108000"/>
              </a:lnSpc>
              <a:spcBef>
                <a:spcPts val="0"/>
              </a:spcBef>
              <a:spcAft>
                <a:spcPts val="500"/>
              </a:spcAft>
            </a:pPr>
            <a:r>
              <a:rPr sz="2200" b="0" i="0">
                <a:solidFill>
                  <a:srgbClr val="183A31"/>
                </a:solidFill>
                <a:latin typeface="Liberation Sans"/>
              </a:rPr>
              <a:t>exit tests first.</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Proposed owners. No permanent dual entry. No compulsory portal.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Prove the programme. Test the AI separately.</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S02 / S05 / S07 / S10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16 / 24</a:t>
            </a:r>
          </a:p>
        </p:txBody>
      </p:sp>
      <p:sp>
        <p:nvSpPr>
          <p:cNvPr id="8" name="peer-1-background" descr="Container background; accompanying native text provides content."/>
          <p:cNvSpPr/>
          <p:nvPr/>
        </p:nvSpPr>
        <p:spPr>
          <a:xfrm>
            <a:off x="502920"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Programme comparison</a:t>
            </a:r>
          </a:p>
        </p:txBody>
      </p:sp>
      <p:sp>
        <p:nvSpPr>
          <p:cNvPr id="10" name="peer-1-body"/>
          <p:cNvSpPr txBox="1"/>
          <p:nvPr/>
        </p:nvSpPr>
        <p:spPr>
          <a:xfrm>
            <a:off x="667512"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Matched existing teams.</a:t>
            </a:r>
          </a:p>
          <a:p>
            <a:pPr>
              <a:lnSpc>
                <a:spcPct val="108000"/>
              </a:lnSpc>
              <a:spcBef>
                <a:spcPts val="0"/>
              </a:spcBef>
              <a:spcAft>
                <a:spcPts val="500"/>
              </a:spcAft>
            </a:pPr>
            <a:r>
              <a:rPr sz="2400" b="0" i="0">
                <a:solidFill>
                  <a:srgbClr val="183A31"/>
                </a:solidFill>
                <a:latin typeface="Liberation Sans"/>
              </a:rPr>
              <a:t>Frozen cohort; same events.</a:t>
            </a:r>
          </a:p>
          <a:p>
            <a:pPr>
              <a:lnSpc>
                <a:spcPct val="108000"/>
              </a:lnSpc>
              <a:spcBef>
                <a:spcPts val="0"/>
              </a:spcBef>
              <a:spcAft>
                <a:spcPts val="500"/>
              </a:spcAft>
            </a:pPr>
            <a:r>
              <a:rPr sz="2400" b="0" i="0">
                <a:solidFill>
                  <a:srgbClr val="183A31"/>
                </a:solidFill>
                <a:latin typeface="Liberation Sans"/>
              </a:rPr>
              <a:t>Accepted handovers +</a:t>
            </a:r>
          </a:p>
          <a:p>
            <a:pPr>
              <a:lnSpc>
                <a:spcPct val="108000"/>
              </a:lnSpc>
              <a:spcBef>
                <a:spcPts val="0"/>
              </a:spcBef>
              <a:spcAft>
                <a:spcPts val="500"/>
              </a:spcAft>
            </a:pPr>
            <a:r>
              <a:rPr sz="2400" b="0" i="0">
                <a:solidFill>
                  <a:srgbClr val="183A31"/>
                </a:solidFill>
                <a:latin typeface="Liberation Sans"/>
              </a:rPr>
              <a:t>whole-chain cost.</a:t>
            </a:r>
          </a:p>
        </p:txBody>
      </p:sp>
      <p:sp>
        <p:nvSpPr>
          <p:cNvPr id="11" name="peer-2-background" descr="Container background; accompanying native text provides content."/>
          <p:cNvSpPr/>
          <p:nvPr/>
        </p:nvSpPr>
        <p:spPr>
          <a:xfrm>
            <a:off x="6195059" y="1847088"/>
            <a:ext cx="549097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6359651" y="2029968"/>
            <a:ext cx="516178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Paired task comparison</a:t>
            </a:r>
          </a:p>
        </p:txBody>
      </p:sp>
      <p:sp>
        <p:nvSpPr>
          <p:cNvPr id="13" name="peer-2-body"/>
          <p:cNvSpPr txBox="1"/>
          <p:nvPr/>
        </p:nvSpPr>
        <p:spPr>
          <a:xfrm>
            <a:off x="6359651" y="3044952"/>
            <a:ext cx="516178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0" i="0">
                <a:solidFill>
                  <a:srgbClr val="183A31"/>
                </a:solidFill>
                <a:latin typeface="Liberation Sans"/>
              </a:rPr>
              <a:t>Same inputs: manual/rules</a:t>
            </a:r>
          </a:p>
          <a:p>
            <a:pPr>
              <a:lnSpc>
                <a:spcPct val="108000"/>
              </a:lnSpc>
              <a:spcBef>
                <a:spcPts val="0"/>
              </a:spcBef>
              <a:spcAft>
                <a:spcPts val="500"/>
              </a:spcAft>
            </a:pPr>
            <a:r>
              <a:rPr sz="2400" b="0" i="0">
                <a:solidFill>
                  <a:srgbClr val="183A31"/>
                </a:solidFill>
                <a:latin typeface="Liberation Sans"/>
              </a:rPr>
              <a:t>versus assistance.</a:t>
            </a:r>
          </a:p>
          <a:p>
            <a:pPr>
              <a:lnSpc>
                <a:spcPct val="108000"/>
              </a:lnSpc>
              <a:spcBef>
                <a:spcPts val="0"/>
              </a:spcBef>
              <a:spcAft>
                <a:spcPts val="500"/>
              </a:spcAft>
            </a:pPr>
            <a:r>
              <a:rPr sz="2400" b="0" i="0">
                <a:solidFill>
                  <a:srgbClr val="183A31"/>
                </a:solidFill>
                <a:latin typeface="Liberation Sans"/>
              </a:rPr>
              <a:t>Quality, net human effort,</a:t>
            </a:r>
          </a:p>
          <a:p>
            <a:pPr>
              <a:lnSpc>
                <a:spcPct val="108000"/>
              </a:lnSpc>
              <a:spcBef>
                <a:spcPts val="0"/>
              </a:spcBef>
              <a:spcAft>
                <a:spcPts val="500"/>
              </a:spcAft>
            </a:pPr>
            <a:r>
              <a:rPr sz="2400" b="0" i="0">
                <a:solidFill>
                  <a:srgbClr val="183A31"/>
                </a:solidFill>
                <a:latin typeface="Liberation Sans"/>
              </a:rPr>
              <a:t>latency and cost.</a:t>
            </a:r>
          </a:p>
        </p:txBody>
      </p:sp>
      <p:sp>
        <p:nvSpPr>
          <p:cNvPr id="14"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Include unfinished/withdrawn homes. Protect safety, choice, quality, equity + cash.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Earn the next gate; do not repeat the last proof.</a:t>
            </a:r>
          </a:p>
        </p:txBody>
      </p:sp>
      <p:sp>
        <p:nvSpPr>
          <p:cNvPr id="6" name="source-footer"/>
          <p:cNvSpPr txBox="1"/>
          <p:nvPr/>
        </p:nvSpPr>
        <p:spPr>
          <a:xfrm>
            <a:off x="502920" y="6510528"/>
            <a:ext cx="10424160" cy="182880"/>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S07 / S09 / S10 / S11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17 / 24</a:t>
            </a:r>
          </a:p>
        </p:txBody>
      </p:sp>
      <p:sp>
        <p:nvSpPr>
          <p:cNvPr id="8" name="peer-1-background" descr="Container background; accompanying native text provides content."/>
          <p:cNvSpPr/>
          <p:nvPr/>
        </p:nvSpPr>
        <p:spPr>
          <a:xfrm>
            <a:off x="50292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1  Confirm</a:t>
            </a:r>
          </a:p>
        </p:txBody>
      </p:sp>
      <p:sp>
        <p:nvSpPr>
          <p:cNvPr id="10" name="peer-1-body"/>
          <p:cNvSpPr txBox="1"/>
          <p:nvPr/>
        </p:nvSpPr>
        <p:spPr>
          <a:xfrm>
            <a:off x="66751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Requirements,</a:t>
            </a:r>
          </a:p>
          <a:p>
            <a:pPr>
              <a:lnSpc>
                <a:spcPct val="108000"/>
              </a:lnSpc>
              <a:spcBef>
                <a:spcPts val="0"/>
              </a:spcBef>
              <a:spcAft>
                <a:spcPts val="500"/>
              </a:spcAft>
            </a:pPr>
            <a:r>
              <a:rPr sz="2300" b="0" i="0">
                <a:solidFill>
                  <a:srgbClr val="183A31"/>
                </a:solidFill>
                <a:latin typeface="Liberation Sans"/>
              </a:rPr>
              <a:t>owners, authority.</a:t>
            </a:r>
          </a:p>
        </p:txBody>
      </p:sp>
      <p:sp>
        <p:nvSpPr>
          <p:cNvPr id="11" name="peer-2-background" descr="Container background; accompanying native text provides content."/>
          <p:cNvSpPr/>
          <p:nvPr/>
        </p:nvSpPr>
        <p:spPr>
          <a:xfrm>
            <a:off x="334899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351358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2  Test</a:t>
            </a:r>
          </a:p>
        </p:txBody>
      </p:sp>
      <p:sp>
        <p:nvSpPr>
          <p:cNvPr id="13" name="peer-2-body"/>
          <p:cNvSpPr txBox="1"/>
          <p:nvPr/>
        </p:nvSpPr>
        <p:spPr>
          <a:xfrm>
            <a:off x="351358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Real staff/session,</a:t>
            </a:r>
          </a:p>
          <a:p>
            <a:pPr>
              <a:lnSpc>
                <a:spcPct val="108000"/>
              </a:lnSpc>
              <a:spcBef>
                <a:spcPts val="0"/>
              </a:spcBef>
              <a:spcAft>
                <a:spcPts val="500"/>
              </a:spcAft>
            </a:pPr>
            <a:r>
              <a:rPr sz="2300" b="0" i="0">
                <a:solidFill>
                  <a:srgbClr val="183A31"/>
                </a:solidFill>
                <a:latin typeface="Liberation Sans"/>
              </a:rPr>
              <a:t>source review, roles,</a:t>
            </a:r>
          </a:p>
          <a:p>
            <a:pPr>
              <a:lnSpc>
                <a:spcPct val="108000"/>
              </a:lnSpc>
              <a:spcBef>
                <a:spcPts val="0"/>
              </a:spcBef>
              <a:spcAft>
                <a:spcPts val="500"/>
              </a:spcAft>
            </a:pPr>
            <a:r>
              <a:rPr sz="2300" b="0" i="0">
                <a:solidFill>
                  <a:srgbClr val="183A31"/>
                </a:solidFill>
                <a:latin typeface="Liberation Sans"/>
              </a:rPr>
              <a:t>accessibility.</a:t>
            </a:r>
          </a:p>
        </p:txBody>
      </p:sp>
      <p:sp>
        <p:nvSpPr>
          <p:cNvPr id="14" name="peer-3-background" descr="Container background; accompanying native text provides content."/>
          <p:cNvSpPr/>
          <p:nvPr/>
        </p:nvSpPr>
        <p:spPr>
          <a:xfrm>
            <a:off x="619506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635965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3  Compare</a:t>
            </a:r>
          </a:p>
        </p:txBody>
      </p:sp>
      <p:sp>
        <p:nvSpPr>
          <p:cNvPr id="16" name="peer-3-body"/>
          <p:cNvSpPr txBox="1"/>
          <p:nvPr/>
        </p:nvSpPr>
        <p:spPr>
          <a:xfrm>
            <a:off x="635965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Semantics, net effort,</a:t>
            </a:r>
          </a:p>
          <a:p>
            <a:pPr>
              <a:lnSpc>
                <a:spcPct val="108000"/>
              </a:lnSpc>
              <a:spcBef>
                <a:spcPts val="0"/>
              </a:spcBef>
              <a:spcAft>
                <a:spcPts val="500"/>
              </a:spcAft>
            </a:pPr>
            <a:r>
              <a:rPr sz="2300" b="0" i="0">
                <a:solidFill>
                  <a:srgbClr val="183A31"/>
                </a:solidFill>
                <a:latin typeface="Liberation Sans"/>
              </a:rPr>
              <a:t>cost, recovery.</a:t>
            </a:r>
          </a:p>
        </p:txBody>
      </p:sp>
      <p:sp>
        <p:nvSpPr>
          <p:cNvPr id="17" name="peer-4-background" descr="Container background; accompanying native text provides content."/>
          <p:cNvSpPr/>
          <p:nvPr/>
        </p:nvSpPr>
        <p:spPr>
          <a:xfrm>
            <a:off x="9041130" y="1847088"/>
            <a:ext cx="264490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peer-4-title"/>
          <p:cNvSpPr txBox="1"/>
          <p:nvPr/>
        </p:nvSpPr>
        <p:spPr>
          <a:xfrm>
            <a:off x="9205722" y="2029968"/>
            <a:ext cx="2315718" cy="667512"/>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4  Decide</a:t>
            </a:r>
          </a:p>
        </p:txBody>
      </p:sp>
      <p:sp>
        <p:nvSpPr>
          <p:cNvPr id="19" name="peer-4-body"/>
          <p:cNvSpPr txBox="1"/>
          <p:nvPr/>
        </p:nvSpPr>
        <p:spPr>
          <a:xfrm>
            <a:off x="9205722" y="2852928"/>
            <a:ext cx="2315718" cy="2212848"/>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Continue,</a:t>
            </a:r>
          </a:p>
          <a:p>
            <a:pPr>
              <a:lnSpc>
                <a:spcPct val="108000"/>
              </a:lnSpc>
              <a:spcBef>
                <a:spcPts val="0"/>
              </a:spcBef>
              <a:spcAft>
                <a:spcPts val="500"/>
              </a:spcAft>
            </a:pPr>
            <a:r>
              <a:rPr sz="2300" b="0" i="0">
                <a:solidFill>
                  <a:srgbClr val="183A31"/>
                </a:solidFill>
                <a:latin typeface="Liberation Sans"/>
              </a:rPr>
              <a:t>simplify or stop.</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Outstanding gates: critical failure -&gt; stop; no AI value -&gt; simplify.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F35"/>
        </a:solidFill>
        <a:effectLst/>
      </p:bgPr>
    </p:bg>
    <p:spTree>
      <p:nvGrpSpPr>
        <p:cNvPr id="1" name=""/>
        <p:cNvGrpSpPr/>
        <p:nvPr/>
      </p:nvGrpSpPr>
      <p:grpSpPr/>
      <p:sp>
        <p:nvSpPr>
          <p:cNvPr id="2" name="deck-eyebrow"/>
          <p:cNvSpPr txBox="1"/>
          <p:nvPr/>
        </p:nvSpPr>
        <p:spPr>
          <a:xfrm>
            <a:off x="502920" y="228600"/>
            <a:ext cx="731520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ZAVA NORTH HOMES / ZAVA FORWARD / EXECUTIVE PROPOSAL</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F7F2E7"/>
                </a:solidFill>
                <a:latin typeface="Liberation Sans"/>
              </a:rPr>
              <a:t>Endorse the next acceptance-and-value proposal.</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F7F2E7"/>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F7F2E7"/>
                </a:solidFill>
                <a:latin typeface="Liberation Sans"/>
              </a:rPr>
              <a:t>18 / 24</a:t>
            </a:r>
          </a:p>
        </p:txBody>
      </p:sp>
      <p:sp>
        <p:nvSpPr>
          <p:cNvPr id="8" name="closing-ask"/>
          <p:cNvSpPr txBox="1"/>
          <p:nvPr/>
        </p:nvSpPr>
        <p:spPr>
          <a:xfrm>
            <a:off x="502920" y="1810512"/>
            <a:ext cx="11183112" cy="676656"/>
          </a:xfrm>
          <a:prstGeom prst="rect">
            <a:avLst/>
          </a:prstGeom>
          <a:noFill/>
        </p:spPr>
        <p:txBody>
          <a:bodyPr wrap="square" lIns="18288" rIns="18288" tIns="18288" bIns="18288" anchor="t">
            <a:noAutofit/>
          </a:bodyPr>
          <a:lstStyle/>
          <a:p>
            <a:pPr>
              <a:lnSpc>
                <a:spcPct val="102000"/>
              </a:lnSpc>
              <a:spcBef>
                <a:spcPts val="0"/>
              </a:spcBef>
              <a:spcAft>
                <a:spcPts val="0"/>
              </a:spcAft>
            </a:pPr>
            <a:r>
              <a:rPr sz="2400" b="1" i="0">
                <a:solidFill>
                  <a:srgbClr val="F7F2E7"/>
                </a:solidFill>
                <a:latin typeface="Liberation Sans"/>
              </a:rPr>
              <a:t>Endorse preparation of the next acceptance-and-value proposal.</a:t>
            </a:r>
          </a:p>
        </p:txBody>
      </p:sp>
      <p:sp>
        <p:nvSpPr>
          <p:cNvPr id="9" name="peer-1-background" descr="Container background; accompanying native text provides content."/>
          <p:cNvSpPr/>
          <p:nvPr/>
        </p:nvSpPr>
        <p:spPr>
          <a:xfrm>
            <a:off x="50292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eer-1-title"/>
          <p:cNvSpPr txBox="1"/>
          <p:nvPr/>
        </p:nvSpPr>
        <p:spPr>
          <a:xfrm>
            <a:off x="66751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CEO / Assets</a:t>
            </a:r>
          </a:p>
        </p:txBody>
      </p:sp>
      <p:sp>
        <p:nvSpPr>
          <p:cNvPr id="11" name="peer-1-body"/>
          <p:cNvSpPr txBox="1"/>
          <p:nvPr/>
        </p:nvSpPr>
        <p:spPr>
          <a:xfrm>
            <a:off x="66751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sponsor</a:t>
            </a:r>
          </a:p>
          <a:p>
            <a:pPr>
              <a:lnSpc>
                <a:spcPct val="102000"/>
              </a:lnSpc>
              <a:spcBef>
                <a:spcPts val="0"/>
              </a:spcBef>
              <a:spcAft>
                <a:spcPts val="0"/>
              </a:spcAft>
            </a:pPr>
            <a:r>
              <a:rPr sz="2100" b="0" i="0">
                <a:solidFill>
                  <a:srgbClr val="183A31"/>
                </a:solidFill>
                <a:latin typeface="Liberation Sans"/>
              </a:rPr>
              <a:t>Deliverable: accountable</a:t>
            </a:r>
          </a:p>
          <a:p>
            <a:pPr>
              <a:lnSpc>
                <a:spcPct val="102000"/>
              </a:lnSpc>
              <a:spcBef>
                <a:spcPts val="0"/>
              </a:spcBef>
              <a:spcAft>
                <a:spcPts val="0"/>
              </a:spcAft>
            </a:pPr>
            <a:r>
              <a:rPr sz="2100" b="0" i="0">
                <a:solidFill>
                  <a:srgbClr val="183A31"/>
                </a:solidFill>
                <a:latin typeface="Liberation Sans"/>
              </a:rPr>
              <a:t>owners + scope.</a:t>
            </a:r>
          </a:p>
        </p:txBody>
      </p:sp>
      <p:sp>
        <p:nvSpPr>
          <p:cNvPr id="12" name="peer-2-background" descr="Container background; accompanying native text provides content."/>
          <p:cNvSpPr/>
          <p:nvPr/>
        </p:nvSpPr>
        <p:spPr>
          <a:xfrm>
            <a:off x="429768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peer-2-title"/>
          <p:cNvSpPr txBox="1"/>
          <p:nvPr/>
        </p:nvSpPr>
        <p:spPr>
          <a:xfrm>
            <a:off x="446227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CIO / Programme</a:t>
            </a:r>
          </a:p>
        </p:txBody>
      </p:sp>
      <p:sp>
        <p:nvSpPr>
          <p:cNvPr id="14" name="peer-2-body"/>
          <p:cNvSpPr txBox="1"/>
          <p:nvPr/>
        </p:nvSpPr>
        <p:spPr>
          <a:xfrm>
            <a:off x="446227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operator</a:t>
            </a:r>
          </a:p>
          <a:p>
            <a:pPr>
              <a:lnSpc>
                <a:spcPct val="102000"/>
              </a:lnSpc>
              <a:spcBef>
                <a:spcPts val="0"/>
              </a:spcBef>
              <a:spcAft>
                <a:spcPts val="0"/>
              </a:spcAft>
            </a:pPr>
            <a:r>
              <a:rPr sz="2100" b="0" i="0">
                <a:solidFill>
                  <a:srgbClr val="183A31"/>
                </a:solidFill>
                <a:latin typeface="Liberation Sans"/>
              </a:rPr>
              <a:t>Deliverable: human, access</a:t>
            </a:r>
          </a:p>
          <a:p>
            <a:pPr>
              <a:lnSpc>
                <a:spcPct val="102000"/>
              </a:lnSpc>
              <a:spcBef>
                <a:spcPts val="0"/>
              </a:spcBef>
              <a:spcAft>
                <a:spcPts val="0"/>
              </a:spcAft>
            </a:pPr>
            <a:r>
              <a:rPr sz="2100" b="0" i="0">
                <a:solidFill>
                  <a:srgbClr val="183A31"/>
                </a:solidFill>
                <a:latin typeface="Liberation Sans"/>
              </a:rPr>
              <a:t>and recovery evidence.</a:t>
            </a:r>
          </a:p>
        </p:txBody>
      </p:sp>
      <p:sp>
        <p:nvSpPr>
          <p:cNvPr id="15" name="peer-3-background" descr="Container background; accompanying native text provides content."/>
          <p:cNvSpPr/>
          <p:nvPr/>
        </p:nvSpPr>
        <p:spPr>
          <a:xfrm>
            <a:off x="8092440" y="2724912"/>
            <a:ext cx="3593592" cy="24688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eer-3-title"/>
          <p:cNvSpPr txBox="1"/>
          <p:nvPr/>
        </p:nvSpPr>
        <p:spPr>
          <a:xfrm>
            <a:off x="8257032" y="2907792"/>
            <a:ext cx="3264408" cy="466344"/>
          </a:xfrm>
          <a:prstGeom prst="rect">
            <a:avLst/>
          </a:prstGeom>
          <a:noFill/>
        </p:spPr>
        <p:txBody>
          <a:bodyPr wrap="square" lIns="18288" rIns="18288" tIns="18288" bIns="18288" anchor="t">
            <a:noAutofit/>
          </a:bodyPr>
          <a:lstStyle/>
          <a:p>
            <a:pPr>
              <a:lnSpc>
                <a:spcPct val="102000"/>
              </a:lnSpc>
              <a:spcBef>
                <a:spcPts val="0"/>
              </a:spcBef>
              <a:spcAft>
                <a:spcPts val="0"/>
              </a:spcAft>
            </a:pPr>
            <a:r>
              <a:rPr sz="2300" b="1" i="0">
                <a:solidFill>
                  <a:srgbClr val="183A31"/>
                </a:solidFill>
                <a:latin typeface="Liberation Sans"/>
              </a:rPr>
              <a:t>CFO</a:t>
            </a:r>
          </a:p>
        </p:txBody>
      </p:sp>
      <p:sp>
        <p:nvSpPr>
          <p:cNvPr id="17" name="peer-3-body"/>
          <p:cNvSpPr txBox="1"/>
          <p:nvPr/>
        </p:nvSpPr>
        <p:spPr>
          <a:xfrm>
            <a:off x="8257032" y="3529584"/>
            <a:ext cx="3264408" cy="1481328"/>
          </a:xfrm>
          <a:prstGeom prst="rect">
            <a:avLst/>
          </a:prstGeom>
          <a:noFill/>
        </p:spPr>
        <p:txBody>
          <a:bodyPr wrap="square" lIns="18288" rIns="18288" tIns="18288" bIns="18288" anchor="t">
            <a:noAutofit/>
          </a:bodyPr>
          <a:lstStyle/>
          <a:p>
            <a:pPr>
              <a:lnSpc>
                <a:spcPct val="102000"/>
              </a:lnSpc>
              <a:spcBef>
                <a:spcPts val="0"/>
              </a:spcBef>
              <a:spcAft>
                <a:spcPts val="0"/>
              </a:spcAft>
            </a:pPr>
            <a:r>
              <a:rPr sz="2100" b="0" i="0">
                <a:solidFill>
                  <a:srgbClr val="183A31"/>
                </a:solidFill>
                <a:latin typeface="Liberation Sans"/>
              </a:rPr>
              <a:t>Owner: proposed reviewer</a:t>
            </a:r>
          </a:p>
          <a:p>
            <a:pPr>
              <a:lnSpc>
                <a:spcPct val="102000"/>
              </a:lnSpc>
              <a:spcBef>
                <a:spcPts val="0"/>
              </a:spcBef>
              <a:spcAft>
                <a:spcPts val="0"/>
              </a:spcAft>
            </a:pPr>
            <a:r>
              <a:rPr sz="2100" b="0" i="0">
                <a:solidFill>
                  <a:srgbClr val="183A31"/>
                </a:solidFill>
                <a:latin typeface="Liberation Sans"/>
              </a:rPr>
              <a:t>Deliverable: whole-life cost</a:t>
            </a:r>
          </a:p>
          <a:p>
            <a:pPr marL="228600" indent="-228600">
              <a:lnSpc>
                <a:spcPct val="102000"/>
              </a:lnSpc>
              <a:spcBef>
                <a:spcPts val="0"/>
              </a:spcBef>
              <a:spcAft>
                <a:spcPts val="0"/>
              </a:spcAft>
              <a:buChar char="•"/>
            </a:pPr>
            <a:r>
              <a:rPr sz="2100" b="0" i="0">
                <a:solidFill>
                  <a:srgbClr val="183A31"/>
                </a:solidFill>
                <a:latin typeface="Liberation Sans"/>
              </a:rPr>
              <a:t>scoped authority review.</a:t>
            </a:r>
          </a:p>
        </p:txBody>
      </p:sp>
      <p:sp>
        <p:nvSpPr>
          <p:cNvPr id="18" name="closing-action-background" descr="Container background; accompanying native text provides content."/>
          <p:cNvSpPr/>
          <p:nvPr/>
        </p:nvSpPr>
        <p:spPr>
          <a:xfrm>
            <a:off x="502920" y="5468112"/>
            <a:ext cx="11183112" cy="749808"/>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losing-action"/>
          <p:cNvSpPr txBox="1"/>
          <p:nvPr/>
        </p:nvSpPr>
        <p:spPr>
          <a:xfrm>
            <a:off x="640080" y="5541264"/>
            <a:ext cx="10908792" cy="640080"/>
          </a:xfrm>
          <a:prstGeom prst="rect">
            <a:avLst/>
          </a:prstGeom>
          <a:noFill/>
        </p:spPr>
        <p:txBody>
          <a:bodyPr wrap="square" lIns="18288" rIns="18288" tIns="18288" bIns="18288" anchor="t">
            <a:noAutofit/>
          </a:bodyPr>
          <a:lstStyle/>
          <a:p>
            <a:pPr>
              <a:lnSpc>
                <a:spcPct val="102000"/>
              </a:lnSpc>
              <a:spcBef>
                <a:spcPts val="0"/>
              </a:spcBef>
              <a:spcAft>
                <a:spcPts val="0"/>
              </a:spcAft>
            </a:pPr>
            <a:r>
              <a:rPr sz="2000" b="1" i="0">
                <a:solidFill>
                  <a:srgbClr val="183A31"/>
                </a:solidFill>
                <a:latin typeface="Liberation Sans"/>
              </a:rPr>
              <a:t>Agree owners + return date (to agree). Continue, simplify or stop</a:t>
            </a:r>
          </a:p>
          <a:p>
            <a:pPr>
              <a:lnSpc>
                <a:spcPct val="102000"/>
              </a:lnSpc>
              <a:spcBef>
                <a:spcPts val="0"/>
              </a:spcBef>
              <a:spcAft>
                <a:spcPts val="0"/>
              </a:spcAft>
            </a:pPr>
            <a:r>
              <a:rPr sz="2000" b="1" i="0">
                <a:solidFill>
                  <a:srgbClr val="183A31"/>
                </a:solidFill>
                <a:latin typeface="Liberation Sans"/>
              </a:rPr>
              <a:t>against pre-agreed tests.</a:t>
            </a:r>
          </a:p>
        </p:txBody>
      </p:sp>
      <p:sp>
        <p:nvSpPr>
          <p:cNvPr id="20" name="closing-boundary"/>
          <p:cNvSpPr txBox="1"/>
          <p:nvPr/>
        </p:nvSpPr>
        <p:spPr>
          <a:xfrm>
            <a:off x="502920" y="6281928"/>
            <a:ext cx="1118311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F7F2E7"/>
                </a:solidFill>
                <a:latin typeface="Liberation Sans"/>
              </a:rPr>
              <a:t>No new spending, procurement, rollout or production authority.</a:t>
            </a:r>
          </a:p>
        </p:txBody>
      </p:sp>
      <p:sp>
        <p:nvSpPr>
          <p:cNvPr id="21" name="challenge-19-link" descr="Runtime detail:19">
            <a:hlinkClick action="ppaction://hlinksldjump" r:id="rId4"/>
          </p:cNvPr>
          <p:cNvSpPr txBox="1"/>
          <p:nvPr/>
        </p:nvSpPr>
        <p:spPr>
          <a:xfrm>
            <a:off x="8001000" y="219456"/>
            <a:ext cx="27432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F7F2E7"/>
                </a:solidFill>
                <a:latin typeface="Liberation Sans"/>
              </a:rPr>
              <a:t>Runtime: slide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One runtime. Proposals are not domain approvals.</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19 / 24</a:t>
            </a:r>
          </a:p>
        </p:txBody>
      </p:sp>
      <p:cxnSp>
        <p:nvCxnSpPr>
          <p:cNvPr id="8" name="runtime-sign-in-segment-1"/>
          <p:cNvCxnSpPr/>
          <p:nvPr/>
        </p:nvCxnSpPr>
        <p:spPr>
          <a:xfrm>
            <a:off x="3913632" y="2331720"/>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runtime-issuer-segment-1"/>
          <p:cNvCxnSpPr/>
          <p:nvPr/>
        </p:nvCxnSpPr>
        <p:spPr>
          <a:xfrm>
            <a:off x="7799831" y="2331720"/>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 name="runtime-principal-segment-1"/>
          <p:cNvCxnSpPr/>
          <p:nvPr/>
        </p:nvCxnSpPr>
        <p:spPr>
          <a:xfrm>
            <a:off x="9966960" y="2889504"/>
            <a:ext cx="0" cy="164592"/>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1" name="runtime-principal-segment-2"/>
          <p:cNvCxnSpPr/>
          <p:nvPr/>
        </p:nvCxnSpPr>
        <p:spPr>
          <a:xfrm flipH="1">
            <a:off x="6080760" y="3054096"/>
            <a:ext cx="3886200" cy="0"/>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2" name="runtime-principal-segment-3"/>
          <p:cNvCxnSpPr/>
          <p:nvPr/>
        </p:nvCxnSpPr>
        <p:spPr>
          <a:xfrm>
            <a:off x="6080760" y="3054096"/>
            <a:ext cx="0" cy="192024"/>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 name="runtime-api-model-segment-1"/>
          <p:cNvCxnSpPr/>
          <p:nvPr/>
        </p:nvCxnSpPr>
        <p:spPr>
          <a:xfrm flipH="1">
            <a:off x="3913632" y="3913632"/>
            <a:ext cx="475488" cy="0"/>
          </a:xfrm>
          <a:prstGeom prst="line">
            <a:avLst/>
          </a:prstGeom>
          <a:ln w="22860">
            <a:solidFill>
              <a:srgbClr val="173F35"/>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runtime-api-sql-segment-1"/>
          <p:cNvCxnSpPr/>
          <p:nvPr/>
        </p:nvCxnSpPr>
        <p:spPr>
          <a:xfrm>
            <a:off x="7799831" y="3913632"/>
            <a:ext cx="475489" cy="0"/>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5" name="runtime-review-api-segment-1"/>
          <p:cNvCxnSpPr/>
          <p:nvPr/>
        </p:nvCxnSpPr>
        <p:spPr>
          <a:xfrm flipV="1">
            <a:off x="6080760" y="4553712"/>
            <a:ext cx="0" cy="310896"/>
          </a:xfrm>
          <a:prstGeom prst="line">
            <a:avLst/>
          </a:prstGeom>
          <a:ln w="22860">
            <a:solidFill>
              <a:srgbClr val="173F35"/>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6" name="runtime-api-blob-segment-1"/>
          <p:cNvCxnSpPr/>
          <p:nvPr/>
        </p:nvCxnSpPr>
        <p:spPr>
          <a:xfrm>
            <a:off x="7452360" y="4553712"/>
            <a:ext cx="0" cy="201168"/>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7" name="runtime-api-blob-segment-2"/>
          <p:cNvCxnSpPr/>
          <p:nvPr/>
        </p:nvCxnSpPr>
        <p:spPr>
          <a:xfrm>
            <a:off x="7452360" y="4754880"/>
            <a:ext cx="2514600" cy="0"/>
          </a:xfrm>
          <a:prstGeom prst="line">
            <a:avLst/>
          </a:prstGeom>
          <a:ln w="22860">
            <a:solidFill>
              <a:srgbClr val="173F35"/>
            </a:solidFill>
            <a:prstDash val="dash"/>
          </a:ln>
        </p:spPr>
        <p:style>
          <a:lnRef idx="2">
            <a:schemeClr val="accent1"/>
          </a:lnRef>
          <a:fillRef idx="0">
            <a:schemeClr val="accent1"/>
          </a:fillRef>
          <a:effectRef idx="1">
            <a:schemeClr val="accent1"/>
          </a:effectRef>
          <a:fontRef idx="minor">
            <a:schemeClr val="tx1"/>
          </a:fontRef>
        </p:style>
      </p:cxnSp>
      <p:cxnSp>
        <p:nvCxnSpPr>
          <p:cNvPr id="18" name="runtime-api-blob-segment-3"/>
          <p:cNvCxnSpPr/>
          <p:nvPr/>
        </p:nvCxnSpPr>
        <p:spPr>
          <a:xfrm>
            <a:off x="9966960" y="4754880"/>
            <a:ext cx="0" cy="109728"/>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runtime-browser-background" descr="Container background; accompanying native text provides content."/>
          <p:cNvSpPr/>
          <p:nvPr/>
        </p:nvSpPr>
        <p:spPr>
          <a:xfrm>
            <a:off x="502920" y="1847088"/>
            <a:ext cx="3410712" cy="1078992"/>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untime-browser-title"/>
          <p:cNvSpPr txBox="1"/>
          <p:nvPr/>
        </p:nvSpPr>
        <p:spPr>
          <a:xfrm>
            <a:off x="6126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Staff browser | HUMAN</a:t>
            </a:r>
          </a:p>
        </p:txBody>
      </p:sp>
      <p:sp>
        <p:nvSpPr>
          <p:cNvPr id="21" name="runtime-browser-body"/>
          <p:cNvSpPr txBox="1"/>
          <p:nvPr/>
        </p:nvSpPr>
        <p:spPr>
          <a:xfrm>
            <a:off x="6126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Entra sign-in; HTTPS ingress.</a:t>
            </a:r>
          </a:p>
          <a:p>
            <a:pPr>
              <a:lnSpc>
                <a:spcPct val="102000"/>
              </a:lnSpc>
              <a:spcBef>
                <a:spcPts val="0"/>
              </a:spcBef>
              <a:spcAft>
                <a:spcPts val="0"/>
              </a:spcAft>
            </a:pPr>
            <a:r>
              <a:rPr sz="1600" b="0" i="0">
                <a:solidFill>
                  <a:srgbClr val="183A31"/>
                </a:solidFill>
                <a:latin typeface="Liberation Sans"/>
              </a:rPr>
              <a:t>Public /; protected /app + APIs.</a:t>
            </a:r>
          </a:p>
        </p:txBody>
      </p:sp>
      <p:sp>
        <p:nvSpPr>
          <p:cNvPr id="22" name="runtime-entra-background" descr="Container background; accompanying native text provides content."/>
          <p:cNvSpPr/>
          <p:nvPr/>
        </p:nvSpPr>
        <p:spPr>
          <a:xfrm>
            <a:off x="4389120" y="1847088"/>
            <a:ext cx="3410712" cy="107899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untime-entra-title"/>
          <p:cNvSpPr txBox="1"/>
          <p:nvPr/>
        </p:nvSpPr>
        <p:spPr>
          <a:xfrm>
            <a:off x="4855464" y="1920240"/>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Microsoft Entra ID</a:t>
            </a:r>
          </a:p>
        </p:txBody>
      </p:sp>
      <p:sp>
        <p:nvSpPr>
          <p:cNvPr id="24" name="runtime-entra-body"/>
          <p:cNvSpPr txBox="1"/>
          <p:nvPr/>
        </p:nvSpPr>
        <p:spPr>
          <a:xfrm>
            <a:off x="44988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issuer + roles.</a:t>
            </a:r>
          </a:p>
          <a:p>
            <a:pPr>
              <a:lnSpc>
                <a:spcPct val="102000"/>
              </a:lnSpc>
              <a:spcBef>
                <a:spcPts val="0"/>
              </a:spcBef>
              <a:spcAft>
                <a:spcPts val="0"/>
              </a:spcAft>
            </a:pPr>
            <a:r>
              <a:rPr sz="1800" b="0" i="0">
                <a:solidFill>
                  <a:srgbClr val="183A31"/>
                </a:solidFill>
                <a:latin typeface="Liberation Sans"/>
              </a:rPr>
              <a:t>Identity -&gt; EasyAuth.</a:t>
            </a:r>
          </a:p>
        </p:txBody>
      </p:sp>
      <p:sp>
        <p:nvSpPr>
          <p:cNvPr id="25" name="runtime-auth-background" descr="Container background; accompanying native text provides content."/>
          <p:cNvSpPr/>
          <p:nvPr/>
        </p:nvSpPr>
        <p:spPr>
          <a:xfrm>
            <a:off x="8275320" y="1847088"/>
            <a:ext cx="3410712" cy="107899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untime-auth-title"/>
          <p:cNvSpPr txBox="1"/>
          <p:nvPr/>
        </p:nvSpPr>
        <p:spPr>
          <a:xfrm>
            <a:off x="8385048" y="1920240"/>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EasyAuth | CONFIGURED</a:t>
            </a:r>
          </a:p>
        </p:txBody>
      </p:sp>
      <p:sp>
        <p:nvSpPr>
          <p:cNvPr id="27" name="runtime-auth-body"/>
          <p:cNvSpPr txBox="1"/>
          <p:nvPr/>
        </p:nvSpPr>
        <p:spPr>
          <a:xfrm>
            <a:off x="8385048" y="2267712"/>
            <a:ext cx="3191256" cy="603503"/>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HTTPS -&gt; verified principal.</a:t>
            </a:r>
          </a:p>
          <a:p>
            <a:pPr>
              <a:lnSpc>
                <a:spcPct val="102000"/>
              </a:lnSpc>
              <a:spcBef>
                <a:spcPts val="0"/>
              </a:spcBef>
              <a:spcAft>
                <a:spcPts val="0"/>
              </a:spcAft>
            </a:pPr>
            <a:r>
              <a:rPr sz="1800" b="0" i="0">
                <a:solidFill>
                  <a:srgbClr val="183A31"/>
                </a:solidFill>
                <a:latin typeface="Liberation Sans"/>
              </a:rPr>
              <a:t>443 -&gt; 8088; /healthz.</a:t>
            </a:r>
          </a:p>
        </p:txBody>
      </p:sp>
      <p:sp>
        <p:nvSpPr>
          <p:cNvPr id="28" name="runtime-model-background" descr="Container background; accompanying native text provides content."/>
          <p:cNvSpPr/>
          <p:nvPr/>
        </p:nvSpPr>
        <p:spPr>
          <a:xfrm>
            <a:off x="502920" y="3246120"/>
            <a:ext cx="3410712" cy="132588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untime-model-title"/>
          <p:cNvSpPr txBox="1"/>
          <p:nvPr/>
        </p:nvSpPr>
        <p:spPr>
          <a:xfrm>
            <a:off x="969264" y="3319272"/>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OpenAI</a:t>
            </a:r>
          </a:p>
        </p:txBody>
      </p:sp>
      <p:sp>
        <p:nvSpPr>
          <p:cNvPr id="30" name="runtime-model-body"/>
          <p:cNvSpPr txBox="1"/>
          <p:nvPr/>
        </p:nvSpPr>
        <p:spPr>
          <a:xfrm>
            <a:off x="6126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CONDITIONAL / OFF; draft only.</a:t>
            </a:r>
          </a:p>
          <a:p>
            <a:pPr>
              <a:lnSpc>
                <a:spcPct val="102000"/>
              </a:lnSpc>
              <a:spcBef>
                <a:spcPts val="0"/>
              </a:spcBef>
              <a:spcAft>
                <a:spcPts val="0"/>
              </a:spcAft>
            </a:pPr>
            <a:r>
              <a:rPr sz="1600" b="0" i="0">
                <a:solidFill>
                  <a:srgbClr val="183A31"/>
                </a:solidFill>
                <a:latin typeface="Liberation Sans"/>
              </a:rPr>
              <a:t>Usage; no DB/workflow rights.</a:t>
            </a:r>
          </a:p>
          <a:p>
            <a:pPr>
              <a:lnSpc>
                <a:spcPct val="102000"/>
              </a:lnSpc>
              <a:spcBef>
                <a:spcPts val="0"/>
              </a:spcBef>
              <a:spcAft>
                <a:spcPts val="0"/>
              </a:spcAft>
            </a:pPr>
            <a:r>
              <a:rPr sz="1600" b="0" i="0">
                <a:solidFill>
                  <a:srgbClr val="183A31"/>
                </a:solidFill>
                <a:latin typeface="Liberation Sans"/>
              </a:rPr>
              <a:t>No Foundry Agent Service.</a:t>
            </a:r>
          </a:p>
        </p:txBody>
      </p:sp>
      <p:sp>
        <p:nvSpPr>
          <p:cNvPr id="31" name="runtime-api-background" descr="Container background; accompanying native text provides content."/>
          <p:cNvSpPr/>
          <p:nvPr/>
        </p:nvSpPr>
        <p:spPr>
          <a:xfrm>
            <a:off x="4389120" y="3246120"/>
            <a:ext cx="3410712" cy="132588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untime-api-title"/>
          <p:cNvSpPr txBox="1"/>
          <p:nvPr/>
        </p:nvSpPr>
        <p:spPr>
          <a:xfrm>
            <a:off x="4855464" y="3319272"/>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Container Apps</a:t>
            </a:r>
          </a:p>
        </p:txBody>
      </p:sp>
      <p:sp>
        <p:nvSpPr>
          <p:cNvPr id="33" name="runtime-api-body"/>
          <p:cNvSpPr txBox="1"/>
          <p:nvPr/>
        </p:nvSpPr>
        <p:spPr>
          <a:xfrm>
            <a:off x="44988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CORE | one Python API.</a:t>
            </a:r>
          </a:p>
          <a:p>
            <a:pPr>
              <a:lnSpc>
                <a:spcPct val="102000"/>
              </a:lnSpc>
              <a:spcBef>
                <a:spcPts val="0"/>
              </a:spcBef>
              <a:spcAft>
                <a:spcPts val="0"/>
              </a:spcAft>
            </a:pPr>
            <a:r>
              <a:rPr sz="1600" b="0" i="0">
                <a:solidFill>
                  <a:srgbClr val="183A31"/>
                </a:solidFill>
                <a:latin typeface="Liberation Sans"/>
              </a:rPr>
              <a:t>Five assistant modules in one API.</a:t>
            </a:r>
          </a:p>
          <a:p>
            <a:pPr>
              <a:lnSpc>
                <a:spcPct val="102000"/>
              </a:lnSpc>
              <a:spcBef>
                <a:spcPts val="0"/>
              </a:spcBef>
              <a:spcAft>
                <a:spcPts val="0"/>
              </a:spcAft>
            </a:pPr>
            <a:r>
              <a:rPr sz="1600" b="0" i="0">
                <a:solidFill>
                  <a:srgbClr val="183A31"/>
                </a:solidFill>
                <a:latin typeface="Liberation Sans"/>
              </a:rPr>
              <a:t>Capture/reserve; validate/store.</a:t>
            </a:r>
          </a:p>
        </p:txBody>
      </p:sp>
      <p:sp>
        <p:nvSpPr>
          <p:cNvPr id="34" name="runtime-sql-background" descr="Container background; accompanying native text provides content."/>
          <p:cNvSpPr/>
          <p:nvPr/>
        </p:nvSpPr>
        <p:spPr>
          <a:xfrm>
            <a:off x="8275320" y="3246120"/>
            <a:ext cx="3410712" cy="1325880"/>
          </a:xfrm>
          <a:prstGeom prst="roundRect">
            <a:avLst/>
          </a:prstGeom>
          <a:solidFill>
            <a:srgbClr val="D5E2D4"/>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untime-sql-title"/>
          <p:cNvSpPr txBox="1"/>
          <p:nvPr/>
        </p:nvSpPr>
        <p:spPr>
          <a:xfrm>
            <a:off x="8741664" y="3319272"/>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SQL | CORE</a:t>
            </a:r>
          </a:p>
        </p:txBody>
      </p:sp>
      <p:sp>
        <p:nvSpPr>
          <p:cNvPr id="36" name="runtime-sql-body"/>
          <p:cNvSpPr txBox="1"/>
          <p:nvPr/>
        </p:nvSpPr>
        <p:spPr>
          <a:xfrm>
            <a:off x="8385048" y="3666744"/>
            <a:ext cx="3191256" cy="8503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Domain/proposal state + audit.</a:t>
            </a:r>
          </a:p>
          <a:p>
            <a:pPr>
              <a:lnSpc>
                <a:spcPct val="102000"/>
              </a:lnSpc>
              <a:spcBef>
                <a:spcPts val="0"/>
              </a:spcBef>
              <a:spcAft>
                <a:spcPts val="0"/>
              </a:spcAft>
            </a:pPr>
            <a:r>
              <a:rPr sz="1600" b="0" i="0">
                <a:solidFill>
                  <a:srgbClr val="183A31"/>
                </a:solidFill>
                <a:latin typeface="Liberation Sans"/>
              </a:rPr>
              <a:t>Dedupe, reservations, fences.</a:t>
            </a:r>
          </a:p>
          <a:p>
            <a:pPr>
              <a:lnSpc>
                <a:spcPct val="102000"/>
              </a:lnSpc>
              <a:spcBef>
                <a:spcPts val="0"/>
              </a:spcBef>
              <a:spcAft>
                <a:spcPts val="0"/>
              </a:spcAft>
            </a:pPr>
            <a:r>
              <a:rPr sz="1600" b="0" i="0">
                <a:solidFill>
                  <a:srgbClr val="183A31"/>
                </a:solidFill>
                <a:latin typeface="Liberation Sans"/>
              </a:rPr>
              <a:t>Inference outside locks.</a:t>
            </a:r>
          </a:p>
        </p:txBody>
      </p:sp>
      <p:sp>
        <p:nvSpPr>
          <p:cNvPr id="37" name="runtime-review-background" descr="Container background; accompanying native text provides content."/>
          <p:cNvSpPr/>
          <p:nvPr/>
        </p:nvSpPr>
        <p:spPr>
          <a:xfrm>
            <a:off x="502920" y="4864608"/>
            <a:ext cx="7296912" cy="1097280"/>
          </a:xfrm>
          <a:prstGeom prst="roundRect">
            <a:avLst/>
          </a:prstGeom>
          <a:solidFill>
            <a:srgbClr val="F7F2E7"/>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untime-review-title"/>
          <p:cNvSpPr txBox="1"/>
          <p:nvPr/>
        </p:nvSpPr>
        <p:spPr>
          <a:xfrm>
            <a:off x="612648" y="4937760"/>
            <a:ext cx="70774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Human proposal review | SEPARATE REQUEST</a:t>
            </a:r>
          </a:p>
        </p:txBody>
      </p:sp>
      <p:sp>
        <p:nvSpPr>
          <p:cNvPr id="39" name="runtime-review-body"/>
          <p:cNvSpPr txBox="1"/>
          <p:nvPr/>
        </p:nvSpPr>
        <p:spPr>
          <a:xfrm>
            <a:off x="612648" y="5285232"/>
            <a:ext cx="7077456"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Verify sources. API rechecks permission, source/version/status.</a:t>
            </a:r>
          </a:p>
          <a:p>
            <a:pPr>
              <a:lnSpc>
                <a:spcPct val="102000"/>
              </a:lnSpc>
              <a:spcBef>
                <a:spcPts val="0"/>
              </a:spcBef>
              <a:spcAft>
                <a:spcPts val="0"/>
              </a:spcAft>
            </a:pPr>
            <a:r>
              <a:rPr sz="1800" b="0" i="0">
                <a:solidFill>
                  <a:srgbClr val="183A31"/>
                </a:solidFill>
                <a:latin typeface="Liberation Sans"/>
              </a:rPr>
              <a:t>Accept proposal -&gt; proposal/audit only, NEVER domain approval.</a:t>
            </a:r>
          </a:p>
        </p:txBody>
      </p:sp>
      <p:sp>
        <p:nvSpPr>
          <p:cNvPr id="40" name="runtime-blob-background" descr="Container background; accompanying native text provides content."/>
          <p:cNvSpPr/>
          <p:nvPr/>
        </p:nvSpPr>
        <p:spPr>
          <a:xfrm>
            <a:off x="8275320" y="4864608"/>
            <a:ext cx="3410712" cy="109728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untime-blob-title"/>
          <p:cNvSpPr txBox="1"/>
          <p:nvPr/>
        </p:nvSpPr>
        <p:spPr>
          <a:xfrm>
            <a:off x="8741664" y="4937760"/>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Blob</a:t>
            </a:r>
          </a:p>
        </p:txBody>
      </p:sp>
      <p:sp>
        <p:nvSpPr>
          <p:cNvPr id="42" name="runtime-blob-body"/>
          <p:cNvSpPr txBox="1"/>
          <p:nvPr/>
        </p:nvSpPr>
        <p:spPr>
          <a:xfrm>
            <a:off x="8385048" y="5285232"/>
            <a:ext cx="3191256" cy="62179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CONFIGURED | files + hashes.</a:t>
            </a:r>
          </a:p>
          <a:p>
            <a:pPr>
              <a:lnSpc>
                <a:spcPct val="102000"/>
              </a:lnSpc>
              <a:spcBef>
                <a:spcPts val="0"/>
              </a:spcBef>
              <a:spcAft>
                <a:spcPts val="0"/>
              </a:spcAft>
            </a:pPr>
            <a:r>
              <a:rPr sz="1600" b="0" i="0">
                <a:solidFill>
                  <a:srgbClr val="183A31"/>
                </a:solidFill>
                <a:latin typeface="Liberation Sans"/>
              </a:rPr>
              <a:t>AI: allowed metadata only.</a:t>
            </a:r>
          </a:p>
        </p:txBody>
      </p:sp>
      <p:sp>
        <p:nvSpPr>
          <p:cNvPr id="43" name="runtime-authority"/>
          <p:cNvSpPr txBox="1"/>
          <p:nvPr/>
        </p:nvSpPr>
        <p:spPr>
          <a:xfrm>
            <a:off x="502920" y="6007608"/>
            <a:ext cx="11183112" cy="292608"/>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Five-assistant authority absent. Proactive OFF. Controlled approvals stay separate.</a:t>
            </a:r>
          </a:p>
        </p:txBody>
      </p:sp>
      <p:sp>
        <p:nvSpPr>
          <p:cNvPr id="44" name="operations-link" descr="Operations: slide 23">
            <a:hlinkClick action="ppaction://hlinksldjump" r:id="rId9"/>
          </p:cNvPr>
          <p:cNvSpPr txBox="1"/>
          <p:nvPr/>
        </p:nvSpPr>
        <p:spPr>
          <a:xfrm>
            <a:off x="502920" y="6373368"/>
            <a:ext cx="329184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Operations: slide 23</a:t>
            </a:r>
          </a:p>
        </p:txBody>
      </p:sp>
      <p:sp>
        <p:nvSpPr>
          <p:cNvPr id="45" name="deferred-link" descr="Deferred topology: slide 24">
            <a:hlinkClick action="ppaction://hlinksldjump" r:id="rId10"/>
          </p:cNvPr>
          <p:cNvSpPr txBox="1"/>
          <p:nvPr/>
        </p:nvSpPr>
        <p:spPr>
          <a:xfrm>
            <a:off x="4114800" y="6373368"/>
            <a:ext cx="393192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Deferred topology: slide 24</a:t>
            </a:r>
          </a:p>
        </p:txBody>
      </p:sp>
      <p:sp>
        <p:nvSpPr>
          <p:cNvPr id="46" name="return-decision-link" descr="Return to decision: slide 18">
            <a:hlinkClick action="ppaction://hlinksldjump" r:id="rId11"/>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pic>
        <p:nvPicPr>
          <p:cNvPr id="47" name="azure-icon-entra-runtime-entra" descr="Official Azure product icon; adjacent native label: Microsoft Entra ID."/>
          <p:cNvPicPr>
            <a:picLocks noChangeAspect="1"/>
          </p:cNvPicPr>
          <p:nvPr/>
        </p:nvPicPr>
        <p:blipFill>
          <a:blip r:embed="rId4"/>
          <a:stretch>
            <a:fillRect/>
          </a:stretch>
        </p:blipFill>
        <p:spPr>
          <a:xfrm>
            <a:off x="4498848" y="1924812"/>
            <a:ext cx="265176" cy="265176"/>
          </a:xfrm>
          <a:prstGeom prst="rect">
            <a:avLst/>
          </a:prstGeom>
        </p:spPr>
      </p:pic>
      <p:pic>
        <p:nvPicPr>
          <p:cNvPr id="48" name="azure-icon-openai-runtime-model" descr="Official Azure product icon; adjacent native label: Azure OpenAI."/>
          <p:cNvPicPr>
            <a:picLocks noChangeAspect="1"/>
          </p:cNvPicPr>
          <p:nvPr/>
        </p:nvPicPr>
        <p:blipFill>
          <a:blip r:embed="rId5"/>
          <a:stretch>
            <a:fillRect/>
          </a:stretch>
        </p:blipFill>
        <p:spPr>
          <a:xfrm>
            <a:off x="612648" y="3323844"/>
            <a:ext cx="265176" cy="265176"/>
          </a:xfrm>
          <a:prstGeom prst="rect">
            <a:avLst/>
          </a:prstGeom>
        </p:spPr>
      </p:pic>
      <p:pic>
        <p:nvPicPr>
          <p:cNvPr id="49" name="azure-icon-aca-runtime-api" descr="Official Azure product icon; adjacent native label: Azure Container Apps."/>
          <p:cNvPicPr>
            <a:picLocks noChangeAspect="1"/>
          </p:cNvPicPr>
          <p:nvPr/>
        </p:nvPicPr>
        <p:blipFill>
          <a:blip r:embed="rId6"/>
          <a:stretch>
            <a:fillRect/>
          </a:stretch>
        </p:blipFill>
        <p:spPr>
          <a:xfrm>
            <a:off x="4498848" y="3323844"/>
            <a:ext cx="265176" cy="265176"/>
          </a:xfrm>
          <a:prstGeom prst="rect">
            <a:avLst/>
          </a:prstGeom>
        </p:spPr>
      </p:pic>
      <p:pic>
        <p:nvPicPr>
          <p:cNvPr id="50" name="azure-icon-sql-runtime-sql" descr="Official Azure product icon; adjacent native label: Azure SQL | CORE."/>
          <p:cNvPicPr>
            <a:picLocks noChangeAspect="1"/>
          </p:cNvPicPr>
          <p:nvPr/>
        </p:nvPicPr>
        <p:blipFill>
          <a:blip r:embed="rId7"/>
          <a:stretch>
            <a:fillRect/>
          </a:stretch>
        </p:blipFill>
        <p:spPr>
          <a:xfrm>
            <a:off x="8385048" y="3323844"/>
            <a:ext cx="265176" cy="265176"/>
          </a:xfrm>
          <a:prstGeom prst="rect">
            <a:avLst/>
          </a:prstGeom>
        </p:spPr>
      </p:pic>
      <p:pic>
        <p:nvPicPr>
          <p:cNvPr id="51" name="azure-icon-blob-runtime-blob" descr="Official Azure product icon; adjacent native label: Azure Blob."/>
          <p:cNvPicPr>
            <a:picLocks noChangeAspect="1"/>
          </p:cNvPicPr>
          <p:nvPr/>
        </p:nvPicPr>
        <p:blipFill>
          <a:blip r:embed="rId8"/>
          <a:stretch>
            <a:fillRect/>
          </a:stretch>
        </p:blipFill>
        <p:spPr>
          <a:xfrm>
            <a:off x="8385048" y="4942332"/>
            <a:ext cx="265176" cy="26517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Council challenge: the objections we welcome.</a:t>
            </a:r>
          </a:p>
        </p:txBody>
      </p:sp>
      <p:sp>
        <p:nvSpPr>
          <p:cNvPr id="6" name="source-foote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S03 / S05 / S07 / S09 / S10 / S11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20 / 24</a:t>
            </a:r>
          </a:p>
        </p:txBody>
      </p:sp>
      <p:sp>
        <p:nvSpPr>
          <p:cNvPr id="8" name="qa-row-1-peer-1-background" descr="Container background; accompanying native text provides content."/>
          <p:cNvSpPr/>
          <p:nvPr/>
        </p:nvSpPr>
        <p:spPr>
          <a:xfrm>
            <a:off x="502920"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qa-row-1-peer-1-title"/>
          <p:cNvSpPr txBox="1"/>
          <p:nvPr/>
        </p:nvSpPr>
        <p:spPr>
          <a:xfrm>
            <a:off x="667512"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improve Excel?</a:t>
            </a:r>
          </a:p>
        </p:txBody>
      </p:sp>
      <p:sp>
        <p:nvSpPr>
          <p:cNvPr id="10" name="qa-row-1-peer-1-body"/>
          <p:cNvSpPr txBox="1"/>
          <p:nvPr/>
        </p:nvSpPr>
        <p:spPr>
          <a:xfrm>
            <a:off x="667512" y="2697479"/>
            <a:ext cx="5161788" cy="78638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Test equal scope and controls.</a:t>
            </a:r>
          </a:p>
        </p:txBody>
      </p:sp>
      <p:sp>
        <p:nvSpPr>
          <p:cNvPr id="11" name="qa-row-1-peer-2-background" descr="Container background; accompanying native text provides content."/>
          <p:cNvSpPr/>
          <p:nvPr/>
        </p:nvSpPr>
        <p:spPr>
          <a:xfrm>
            <a:off x="6195059" y="1837943"/>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qa-row-1-peer-2-title"/>
          <p:cNvSpPr txBox="1"/>
          <p:nvPr/>
        </p:nvSpPr>
        <p:spPr>
          <a:xfrm>
            <a:off x="6359651" y="2020824"/>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Why not launch now?</a:t>
            </a:r>
          </a:p>
        </p:txBody>
      </p:sp>
      <p:sp>
        <p:nvSpPr>
          <p:cNvPr id="13" name="qa-row-1-peer-2-body"/>
          <p:cNvSpPr txBox="1"/>
          <p:nvPr/>
        </p:nvSpPr>
        <p:spPr>
          <a:xfrm>
            <a:off x="6359651" y="2697479"/>
            <a:ext cx="5161788" cy="786384"/>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Human, semantic and value acceptance outstanding.</a:t>
            </a:r>
          </a:p>
        </p:txBody>
      </p:sp>
      <p:sp>
        <p:nvSpPr>
          <p:cNvPr id="14" name="qa-row-2-peer-1-background" descr="Container background; accompanying native text provides content."/>
          <p:cNvSpPr/>
          <p:nvPr/>
        </p:nvSpPr>
        <p:spPr>
          <a:xfrm>
            <a:off x="502920"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qa-row-2-peer-1-title"/>
          <p:cNvSpPr txBox="1"/>
          <p:nvPr/>
        </p:nvSpPr>
        <p:spPr>
          <a:xfrm>
            <a:off x="667512"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budget?</a:t>
            </a:r>
          </a:p>
        </p:txBody>
      </p:sp>
      <p:sp>
        <p:nvSpPr>
          <p:cNvPr id="16" name="qa-row-2-peer-1-body"/>
          <p:cNvSpPr txBox="1"/>
          <p:nvPr/>
        </p:nvSpPr>
        <p:spPr>
          <a:xfrm>
            <a:off x="667512" y="4553712"/>
            <a:ext cx="5161788" cy="768096"/>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No new commitment; whole-life appraisal.</a:t>
            </a:r>
          </a:p>
        </p:txBody>
      </p:sp>
      <p:sp>
        <p:nvSpPr>
          <p:cNvPr id="17" name="qa-row-2-peer-2-background" descr="Container background; accompanying native text provides content."/>
          <p:cNvSpPr/>
          <p:nvPr/>
        </p:nvSpPr>
        <p:spPr>
          <a:xfrm>
            <a:off x="6195059" y="3694175"/>
            <a:ext cx="5490972" cy="1737360"/>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qa-row-2-peer-2-title"/>
          <p:cNvSpPr txBox="1"/>
          <p:nvPr/>
        </p:nvSpPr>
        <p:spPr>
          <a:xfrm>
            <a:off x="6359651" y="3877055"/>
            <a:ext cx="5161788" cy="521207"/>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1" i="0">
                <a:solidFill>
                  <a:srgbClr val="183A31"/>
                </a:solidFill>
                <a:latin typeface="Liberation Sans"/>
              </a:rPr>
              <a:t>What if AI fails?</a:t>
            </a:r>
          </a:p>
        </p:txBody>
      </p:sp>
      <p:sp>
        <p:nvSpPr>
          <p:cNvPr id="19" name="qa-row-2-peer-2-body"/>
          <p:cNvSpPr txBox="1"/>
          <p:nvPr/>
        </p:nvSpPr>
        <p:spPr>
          <a:xfrm>
            <a:off x="6359651" y="4553712"/>
            <a:ext cx="5161788" cy="768096"/>
          </a:xfrm>
          <a:prstGeom prst="rect">
            <a:avLst/>
          </a:prstGeom>
          <a:noFill/>
        </p:spPr>
        <p:txBody>
          <a:bodyPr wrap="square" lIns="18288" rIns="18288" tIns="18288" bIns="18288" anchor="t">
            <a:noAutofit/>
          </a:bodyPr>
          <a:lstStyle/>
          <a:p>
            <a:pPr>
              <a:lnSpc>
                <a:spcPct val="108000"/>
              </a:lnSpc>
              <a:spcBef>
                <a:spcPts val="0"/>
              </a:spcBef>
              <a:spcAft>
                <a:spcPts val="500"/>
              </a:spcAft>
            </a:pPr>
            <a:r>
              <a:rPr sz="2200" b="0" i="0">
                <a:solidFill>
                  <a:srgbClr val="183A31"/>
                </a:solidFill>
                <a:latin typeface="Liberation Sans"/>
              </a:rPr>
              <a:t>Manual workflow remains; simplify.</a:t>
            </a:r>
          </a:p>
        </p:txBody>
      </p:sp>
      <p:sp>
        <p:nvSpPr>
          <p:cNvPr id="20" name="boundary-background" descr="Container background; accompanying native text provides content."/>
          <p:cNvSpPr/>
          <p:nvPr/>
        </p:nvSpPr>
        <p:spPr>
          <a:xfrm>
            <a:off x="502920" y="5669280"/>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undary-text"/>
          <p:cNvSpPr txBox="1"/>
          <p:nvPr/>
        </p:nvSpPr>
        <p:spPr>
          <a:xfrm>
            <a:off x="667512" y="5760720"/>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Unknowns get an owner: runtime19 / options22 / operations23 / deferred24.</a:t>
            </a:r>
          </a:p>
        </p:txBody>
      </p:sp>
      <p:sp>
        <p:nvSpPr>
          <p:cNvPr id="22"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23" name="challenge-22-link" descr="Options:22">
            <a:hlinkClick action="ppaction://hlinksldjump" r:id="rId5"/>
          </p:cNvPr>
          <p:cNvSpPr txBox="1"/>
          <p:nvPr/>
        </p:nvSpPr>
        <p:spPr>
          <a:xfrm>
            <a:off x="502920" y="6364224"/>
            <a:ext cx="27432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Options:22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Read the evidence label before the claim.</a:t>
            </a:r>
          </a:p>
        </p:txBody>
      </p:sp>
      <p:sp>
        <p:nvSpPr>
          <p:cNvPr id="6" name="source-footer">
            <a:hlinkClick r:id="rId4"/>
          </p:cNvP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S01-S16 full source register + statuses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21 / 24</a:t>
            </a:r>
          </a:p>
        </p:txBody>
      </p:sp>
      <p:sp>
        <p:nvSpPr>
          <p:cNvPr id="8" name="peer-1-background" descr="Container background; accompanying native text provides content."/>
          <p:cNvSpPr/>
          <p:nvPr/>
        </p:nvSpPr>
        <p:spPr>
          <a:xfrm>
            <a:off x="50292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peer-1-title"/>
          <p:cNvSpPr txBox="1"/>
          <p:nvPr/>
        </p:nvSpPr>
        <p:spPr>
          <a:xfrm>
            <a:off x="66751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Request + research</a:t>
            </a:r>
          </a:p>
        </p:txBody>
      </p:sp>
      <p:sp>
        <p:nvSpPr>
          <p:cNvPr id="10" name="peer-1-body"/>
          <p:cNvSpPr txBox="1"/>
          <p:nvPr/>
        </p:nvSpPr>
        <p:spPr>
          <a:xfrm>
            <a:off x="66751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Request ≠ result.</a:t>
            </a:r>
          </a:p>
          <a:p>
            <a:pPr>
              <a:lnSpc>
                <a:spcPct val="108000"/>
              </a:lnSpc>
              <a:spcBef>
                <a:spcPts val="0"/>
              </a:spcBef>
              <a:spcAft>
                <a:spcPts val="500"/>
              </a:spcAft>
            </a:pPr>
            <a:r>
              <a:rPr sz="2300" b="0" i="0">
                <a:solidFill>
                  <a:srgbClr val="183A31"/>
                </a:solidFill>
                <a:latin typeface="Liberation Sans"/>
              </a:rPr>
              <a:t>Research instruments</a:t>
            </a:r>
          </a:p>
          <a:p>
            <a:pPr>
              <a:lnSpc>
                <a:spcPct val="108000"/>
              </a:lnSpc>
              <a:spcBef>
                <a:spcPts val="0"/>
              </a:spcBef>
              <a:spcAft>
                <a:spcPts val="500"/>
              </a:spcAft>
            </a:pPr>
            <a:r>
              <a:rPr sz="2300" b="0" i="0">
                <a:solidFill>
                  <a:srgbClr val="183A31"/>
                </a:solidFill>
                <a:latin typeface="Liberation Sans"/>
              </a:rPr>
              <a:t>≠ residents.</a:t>
            </a:r>
          </a:p>
        </p:txBody>
      </p:sp>
      <p:sp>
        <p:nvSpPr>
          <p:cNvPr id="11" name="peer-2-background" descr="Container background; accompanying native text provides content."/>
          <p:cNvSpPr/>
          <p:nvPr/>
        </p:nvSpPr>
        <p:spPr>
          <a:xfrm>
            <a:off x="429768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eer-2-title"/>
          <p:cNvSpPr txBox="1"/>
          <p:nvPr/>
        </p:nvSpPr>
        <p:spPr>
          <a:xfrm>
            <a:off x="446227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Exercise fixtures</a:t>
            </a:r>
          </a:p>
        </p:txBody>
      </p:sp>
      <p:sp>
        <p:nvSpPr>
          <p:cNvPr id="13" name="peer-2-body"/>
          <p:cNvSpPr txBox="1"/>
          <p:nvPr/>
        </p:nvSpPr>
        <p:spPr>
          <a:xfrm>
            <a:off x="446227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Fixtures ≠ company</a:t>
            </a:r>
          </a:p>
          <a:p>
            <a:pPr>
              <a:lnSpc>
                <a:spcPct val="108000"/>
              </a:lnSpc>
              <a:spcBef>
                <a:spcPts val="0"/>
              </a:spcBef>
              <a:spcAft>
                <a:spcPts val="500"/>
              </a:spcAft>
            </a:pPr>
            <a:r>
              <a:rPr sz="2300" b="0" i="0">
                <a:solidFill>
                  <a:srgbClr val="183A31"/>
                </a:solidFill>
                <a:latin typeface="Liberation Sans"/>
              </a:rPr>
              <a:t>performance or budgets.</a:t>
            </a:r>
          </a:p>
        </p:txBody>
      </p:sp>
      <p:sp>
        <p:nvSpPr>
          <p:cNvPr id="14" name="peer-3-background" descr="Container background; accompanying native text provides content."/>
          <p:cNvSpPr/>
          <p:nvPr/>
        </p:nvSpPr>
        <p:spPr>
          <a:xfrm>
            <a:off x="8092440" y="1847088"/>
            <a:ext cx="3593592" cy="3401568"/>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eer-3-title"/>
          <p:cNvSpPr txBox="1"/>
          <p:nvPr/>
        </p:nvSpPr>
        <p:spPr>
          <a:xfrm>
            <a:off x="8257032" y="2029968"/>
            <a:ext cx="3264408" cy="859536"/>
          </a:xfrm>
          <a:prstGeom prst="rect">
            <a:avLst/>
          </a:prstGeom>
          <a:noFill/>
        </p:spPr>
        <p:txBody>
          <a:bodyPr wrap="square" lIns="18288" rIns="18288" tIns="18288" bIns="18288" anchor="t">
            <a:noAutofit/>
          </a:bodyPr>
          <a:lstStyle/>
          <a:p>
            <a:pPr>
              <a:lnSpc>
                <a:spcPct val="108000"/>
              </a:lnSpc>
              <a:spcBef>
                <a:spcPts val="0"/>
              </a:spcBef>
              <a:spcAft>
                <a:spcPts val="500"/>
              </a:spcAft>
            </a:pPr>
            <a:r>
              <a:rPr sz="2400" b="1" i="0">
                <a:solidFill>
                  <a:srgbClr val="183A31"/>
                </a:solidFill>
                <a:latin typeface="Liberation Sans"/>
              </a:rPr>
              <a:t>Recorded technical proof</a:t>
            </a:r>
          </a:p>
        </p:txBody>
      </p:sp>
      <p:sp>
        <p:nvSpPr>
          <p:cNvPr id="16" name="peer-3-body"/>
          <p:cNvSpPr txBox="1"/>
          <p:nvPr/>
        </p:nvSpPr>
        <p:spPr>
          <a:xfrm>
            <a:off x="8257032" y="3044952"/>
            <a:ext cx="3264408" cy="2020824"/>
          </a:xfrm>
          <a:prstGeom prst="rect">
            <a:avLst/>
          </a:prstGeom>
          <a:noFill/>
        </p:spPr>
        <p:txBody>
          <a:bodyPr wrap="square" lIns="18288" rIns="18288" tIns="18288" bIns="18288" anchor="t">
            <a:noAutofit/>
          </a:bodyPr>
          <a:lstStyle/>
          <a:p>
            <a:pPr>
              <a:lnSpc>
                <a:spcPct val="108000"/>
              </a:lnSpc>
              <a:spcBef>
                <a:spcPts val="0"/>
              </a:spcBef>
              <a:spcAft>
                <a:spcPts val="500"/>
              </a:spcAft>
            </a:pPr>
            <a:r>
              <a:rPr sz="2300" b="0" i="0">
                <a:solidFill>
                  <a:srgbClr val="183A31"/>
                </a:solidFill>
                <a:latin typeface="Liberation Sans"/>
              </a:rPr>
              <a:t>Operator proof ≠ human,</a:t>
            </a:r>
          </a:p>
          <a:p>
            <a:pPr>
              <a:lnSpc>
                <a:spcPct val="108000"/>
              </a:lnSpc>
              <a:spcBef>
                <a:spcPts val="0"/>
              </a:spcBef>
              <a:spcAft>
                <a:spcPts val="500"/>
              </a:spcAft>
            </a:pPr>
            <a:r>
              <a:rPr sz="2300" b="0" i="0">
                <a:solidFill>
                  <a:srgbClr val="183A31"/>
                </a:solidFill>
                <a:latin typeface="Liberation Sans"/>
              </a:rPr>
              <a:t>semantic or value</a:t>
            </a:r>
          </a:p>
          <a:p>
            <a:pPr>
              <a:lnSpc>
                <a:spcPct val="108000"/>
              </a:lnSpc>
              <a:spcBef>
                <a:spcPts val="0"/>
              </a:spcBef>
              <a:spcAft>
                <a:spcPts val="500"/>
              </a:spcAft>
            </a:pPr>
            <a:r>
              <a:rPr sz="2300" b="0" i="0">
                <a:solidFill>
                  <a:srgbClr val="183A31"/>
                </a:solidFill>
                <a:latin typeface="Liberation Sans"/>
              </a:rPr>
              <a:t>acceptance.</a:t>
            </a:r>
          </a:p>
        </p:txBody>
      </p:sp>
      <p:sp>
        <p:nvSpPr>
          <p:cNvPr id="17" name="boundary-background" descr="Container background; accompanying native text provides content."/>
          <p:cNvSpPr/>
          <p:nvPr/>
        </p:nvSpPr>
        <p:spPr>
          <a:xfrm>
            <a:off x="502920" y="5513832"/>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undary-text"/>
          <p:cNvSpPr txBox="1"/>
          <p:nvPr/>
        </p:nvSpPr>
        <p:spPr>
          <a:xfrm>
            <a:off x="667512" y="5605272"/>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2000" b="1" i="0">
                <a:solidFill>
                  <a:srgbClr val="183A31"/>
                </a:solidFill>
                <a:latin typeface="Liberation Sans"/>
              </a:rPr>
              <a:t>As at 14 October. Legal currentness not refreshed.</a:t>
            </a:r>
          </a:p>
        </p:txBody>
      </p:sp>
      <p:sp>
        <p:nvSpPr>
          <p:cNvPr id="19" name="assessment-open"/>
          <p:cNvSpPr txBox="1"/>
          <p:nvPr/>
        </p:nvSpPr>
        <p:spPr>
          <a:xfrm>
            <a:off x="649224" y="6181344"/>
            <a:ext cx="7498079" cy="338328"/>
          </a:xfrm>
          <a:prstGeom prst="rect">
            <a:avLst/>
          </a:prstGeom>
          <a:noFill/>
        </p:spPr>
        <p:txBody>
          <a:bodyPr wrap="square" lIns="18288" rIns="18288" tIns="18288" bIns="18288" anchor="t">
            <a:noAutofit/>
          </a:bodyPr>
          <a:lstStyle/>
          <a:p>
            <a:pPr>
              <a:lnSpc>
                <a:spcPct val="108000"/>
              </a:lnSpc>
              <a:spcBef>
                <a:spcPts val="0"/>
              </a:spcBef>
              <a:spcAft>
                <a:spcPts val="500"/>
              </a:spcAft>
            </a:pPr>
            <a:r>
              <a:rPr sz="1800" b="1" i="0">
                <a:solidFill>
                  <a:srgbClr val="183A31"/>
                </a:solidFill>
                <a:latin typeface="Liberation Sans"/>
              </a:rPr>
              <a:t>Pitch, rehearsal + thought-leadership evidence outstanding.</a:t>
            </a:r>
          </a:p>
        </p:txBody>
      </p:sp>
      <p:sp>
        <p:nvSpPr>
          <p:cNvPr id="20" name="return-decision-link" descr="Return to decision: slide 18">
            <a:hlinkClick action="ppaction://hlinksldjump" r:id="rId5"/>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3"/>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Compare equivalent routes before selecting a winner.</a:t>
            </a:r>
          </a:p>
        </p:txBody>
      </p:sp>
      <p:sp>
        <p:nvSpPr>
          <p:cNvPr id="6" name="source-footer"/>
          <p:cNvSpPr txBox="1"/>
          <p:nvPr/>
        </p:nvSpPr>
        <p:spPr>
          <a:xfrm>
            <a:off x="502920" y="6675120"/>
            <a:ext cx="10424160" cy="155448"/>
          </a:xfrm>
          <a:prstGeom prst="rect">
            <a:avLst/>
          </a:prstGeom>
          <a:noFill/>
        </p:spPr>
        <p:txBody>
          <a:bodyPr wrap="square" lIns="18288" rIns="18288" tIns="18288" bIns="18288" anchor="t">
            <a:noAutofit/>
          </a:bodyPr>
          <a:lstStyle/>
          <a:p>
            <a:pPr>
              <a:lnSpc>
                <a:spcPct val="108000"/>
              </a:lnSpc>
              <a:spcBef>
                <a:spcPts val="0"/>
              </a:spcBef>
              <a:spcAft>
                <a:spcPts val="500"/>
              </a:spcAft>
            </a:pPr>
            <a:r>
              <a:rPr sz="900" b="0" i="0">
                <a:solidFill>
                  <a:srgbClr val="183A31"/>
                </a:solidFill>
                <a:latin typeface="Liberation Sans"/>
              </a:rPr>
              <a:t>14 OCT 2026  •  S02 / S03 / S07 / S12  •  Sources + 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22 / 24</a:t>
            </a:r>
          </a:p>
        </p:txBody>
      </p:sp>
      <p:sp>
        <p:nvSpPr>
          <p:cNvPr id="8" name="option-1-header-background" descr="Container background; accompanying native text provides content."/>
          <p:cNvSpPr/>
          <p:nvPr/>
        </p:nvSpPr>
        <p:spPr>
          <a:xfrm>
            <a:off x="3154680"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ption-peer-1-title"/>
          <p:cNvSpPr txBox="1"/>
          <p:nvPr/>
        </p:nvSpPr>
        <p:spPr>
          <a:xfrm>
            <a:off x="3273552"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Improve current</a:t>
            </a:r>
          </a:p>
          <a:p>
            <a:pPr>
              <a:lnSpc>
                <a:spcPct val="108000"/>
              </a:lnSpc>
              <a:spcBef>
                <a:spcPts val="0"/>
              </a:spcBef>
              <a:spcAft>
                <a:spcPts val="500"/>
              </a:spcAft>
            </a:pPr>
            <a:r>
              <a:rPr sz="2100" b="1" i="0">
                <a:solidFill>
                  <a:srgbClr val="F7F2E7"/>
                </a:solidFill>
                <a:latin typeface="Liberation Sans"/>
              </a:rPr>
              <a:t>workflow</a:t>
            </a:r>
          </a:p>
        </p:txBody>
      </p:sp>
      <p:sp>
        <p:nvSpPr>
          <p:cNvPr id="10" name="option-2-header-background" descr="Container background; accompanying native text provides content."/>
          <p:cNvSpPr/>
          <p:nvPr/>
        </p:nvSpPr>
        <p:spPr>
          <a:xfrm>
            <a:off x="6053328"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ption-peer-2-title"/>
          <p:cNvSpPr txBox="1"/>
          <p:nvPr/>
        </p:nvSpPr>
        <p:spPr>
          <a:xfrm>
            <a:off x="6172200"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Greenfield</a:t>
            </a:r>
          </a:p>
          <a:p>
            <a:pPr>
              <a:lnSpc>
                <a:spcPct val="108000"/>
              </a:lnSpc>
              <a:spcBef>
                <a:spcPts val="0"/>
              </a:spcBef>
              <a:spcAft>
                <a:spcPts val="500"/>
              </a:spcAft>
            </a:pPr>
            <a:r>
              <a:rPr sz="2100" b="1" i="0">
                <a:solidFill>
                  <a:srgbClr val="F7F2E7"/>
                </a:solidFill>
                <a:latin typeface="Liberation Sans"/>
              </a:rPr>
              <a:t>business platform</a:t>
            </a:r>
          </a:p>
        </p:txBody>
      </p:sp>
      <p:sp>
        <p:nvSpPr>
          <p:cNvPr id="12" name="option-3-header-background" descr="Container background; accompanying native text provides content."/>
          <p:cNvSpPr/>
          <p:nvPr/>
        </p:nvSpPr>
        <p:spPr>
          <a:xfrm>
            <a:off x="8951976" y="1810512"/>
            <a:ext cx="2734056" cy="960120"/>
          </a:xfrm>
          <a:prstGeom prst="roundRect">
            <a:avLst/>
          </a:prstGeom>
          <a:solidFill>
            <a:srgbClr val="173F35"/>
          </a:solidFill>
          <a:ln>
            <a:solidFill>
              <a:srgbClr val="173F35"/>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ption-peer-3-title"/>
          <p:cNvSpPr txBox="1"/>
          <p:nvPr/>
        </p:nvSpPr>
        <p:spPr>
          <a:xfrm>
            <a:off x="9070848" y="1956816"/>
            <a:ext cx="2496312" cy="795528"/>
          </a:xfrm>
          <a:prstGeom prst="rect">
            <a:avLst/>
          </a:prstGeom>
          <a:noFill/>
        </p:spPr>
        <p:txBody>
          <a:bodyPr wrap="square" lIns="18288" rIns="18288" tIns="18288" bIns="18288" anchor="t">
            <a:noAutofit/>
          </a:bodyPr>
          <a:lstStyle/>
          <a:p>
            <a:pPr>
              <a:lnSpc>
                <a:spcPct val="108000"/>
              </a:lnSpc>
              <a:spcBef>
                <a:spcPts val="0"/>
              </a:spcBef>
              <a:spcAft>
                <a:spcPts val="500"/>
              </a:spcAft>
            </a:pPr>
            <a:r>
              <a:rPr sz="2100" b="1" i="0">
                <a:solidFill>
                  <a:srgbClr val="F7F2E7"/>
                </a:solidFill>
                <a:latin typeface="Liberation Sans"/>
              </a:rPr>
              <a:t>Azure-led</a:t>
            </a:r>
          </a:p>
          <a:p>
            <a:pPr>
              <a:lnSpc>
                <a:spcPct val="108000"/>
              </a:lnSpc>
              <a:spcBef>
                <a:spcPts val="0"/>
              </a:spcBef>
              <a:spcAft>
                <a:spcPts val="500"/>
              </a:spcAft>
            </a:pPr>
            <a:r>
              <a:rPr sz="2100" b="1" i="0">
                <a:solidFill>
                  <a:srgbClr val="F7F2E7"/>
                </a:solidFill>
                <a:latin typeface="Liberation Sans"/>
              </a:rPr>
              <a:t>hybrid</a:t>
            </a:r>
          </a:p>
        </p:txBody>
      </p:sp>
      <p:sp>
        <p:nvSpPr>
          <p:cNvPr id="14" name="option-row-1-label"/>
          <p:cNvSpPr txBox="1"/>
          <p:nvPr/>
        </p:nvSpPr>
        <p:spPr>
          <a:xfrm>
            <a:off x="502920" y="3017520"/>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Mandatory controls</a:t>
            </a:r>
          </a:p>
        </p:txBody>
      </p:sp>
      <p:sp>
        <p:nvSpPr>
          <p:cNvPr id="15" name="option-1-row-1-background" descr="Container background; accompanying native text provides content."/>
          <p:cNvSpPr/>
          <p:nvPr/>
        </p:nvSpPr>
        <p:spPr>
          <a:xfrm>
            <a:off x="3154680"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ption-row-1-peer-1-body"/>
          <p:cNvSpPr txBox="1"/>
          <p:nvPr/>
        </p:nvSpPr>
        <p:spPr>
          <a:xfrm>
            <a:off x="3273552"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17" name="option-2-row-1-background" descr="Container background; accompanying native text provides content."/>
          <p:cNvSpPr/>
          <p:nvPr/>
        </p:nvSpPr>
        <p:spPr>
          <a:xfrm>
            <a:off x="6053328"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ption-row-1-peer-2-body"/>
          <p:cNvSpPr txBox="1"/>
          <p:nvPr/>
        </p:nvSpPr>
        <p:spPr>
          <a:xfrm>
            <a:off x="6172200"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19" name="option-3-row-1-background" descr="Container background; accompanying native text provides content."/>
          <p:cNvSpPr/>
          <p:nvPr/>
        </p:nvSpPr>
        <p:spPr>
          <a:xfrm>
            <a:off x="8951976" y="2907792"/>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ption-row-1-peer-3-body"/>
          <p:cNvSpPr txBox="1"/>
          <p:nvPr/>
        </p:nvSpPr>
        <p:spPr>
          <a:xfrm>
            <a:off x="9070848" y="3017520"/>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verify</a:t>
            </a:r>
          </a:p>
        </p:txBody>
      </p:sp>
      <p:sp>
        <p:nvSpPr>
          <p:cNvPr id="21" name="option-row-2-label"/>
          <p:cNvSpPr txBox="1"/>
          <p:nvPr/>
        </p:nvSpPr>
        <p:spPr>
          <a:xfrm>
            <a:off x="502920" y="3602736"/>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Transition + access</a:t>
            </a:r>
          </a:p>
        </p:txBody>
      </p:sp>
      <p:sp>
        <p:nvSpPr>
          <p:cNvPr id="22" name="option-1-row-2-background" descr="Container background; accompanying native text provides content."/>
          <p:cNvSpPr/>
          <p:nvPr/>
        </p:nvSpPr>
        <p:spPr>
          <a:xfrm>
            <a:off x="3154680"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tion-row-2-peer-1-body"/>
          <p:cNvSpPr txBox="1"/>
          <p:nvPr/>
        </p:nvSpPr>
        <p:spPr>
          <a:xfrm>
            <a:off x="3273552"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4" name="option-2-row-2-background" descr="Container background; accompanying native text provides content."/>
          <p:cNvSpPr/>
          <p:nvPr/>
        </p:nvSpPr>
        <p:spPr>
          <a:xfrm>
            <a:off x="6053328"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option-row-2-peer-2-body"/>
          <p:cNvSpPr txBox="1"/>
          <p:nvPr/>
        </p:nvSpPr>
        <p:spPr>
          <a:xfrm>
            <a:off x="6172200"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6" name="option-3-row-2-background" descr="Container background; accompanying native text provides content."/>
          <p:cNvSpPr/>
          <p:nvPr/>
        </p:nvSpPr>
        <p:spPr>
          <a:xfrm>
            <a:off x="8951976" y="3493008"/>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ption-row-2-peer-3-body"/>
          <p:cNvSpPr txBox="1"/>
          <p:nvPr/>
        </p:nvSpPr>
        <p:spPr>
          <a:xfrm>
            <a:off x="9070848" y="3602736"/>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28" name="option-row-3-label"/>
          <p:cNvSpPr txBox="1"/>
          <p:nvPr/>
        </p:nvSpPr>
        <p:spPr>
          <a:xfrm>
            <a:off x="502920" y="4187952"/>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Support + recovery</a:t>
            </a:r>
          </a:p>
        </p:txBody>
      </p:sp>
      <p:sp>
        <p:nvSpPr>
          <p:cNvPr id="29" name="option-1-row-3-background" descr="Container background; accompanying native text provides content."/>
          <p:cNvSpPr/>
          <p:nvPr/>
        </p:nvSpPr>
        <p:spPr>
          <a:xfrm>
            <a:off x="3154680"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option-row-3-peer-1-body"/>
          <p:cNvSpPr txBox="1"/>
          <p:nvPr/>
        </p:nvSpPr>
        <p:spPr>
          <a:xfrm>
            <a:off x="3273552"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1" name="option-2-row-3-background" descr="Container background; accompanying native text provides content."/>
          <p:cNvSpPr/>
          <p:nvPr/>
        </p:nvSpPr>
        <p:spPr>
          <a:xfrm>
            <a:off x="6053328"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ption-row-3-peer-2-body"/>
          <p:cNvSpPr txBox="1"/>
          <p:nvPr/>
        </p:nvSpPr>
        <p:spPr>
          <a:xfrm>
            <a:off x="6172200"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3" name="option-3-row-3-background" descr="Container background; accompanying native text provides content."/>
          <p:cNvSpPr/>
          <p:nvPr/>
        </p:nvSpPr>
        <p:spPr>
          <a:xfrm>
            <a:off x="8951976" y="4078224"/>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option-row-3-peer-3-body"/>
          <p:cNvSpPr txBox="1"/>
          <p:nvPr/>
        </p:nvSpPr>
        <p:spPr>
          <a:xfrm>
            <a:off x="9070848" y="4187952"/>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test</a:t>
            </a:r>
          </a:p>
        </p:txBody>
      </p:sp>
      <p:sp>
        <p:nvSpPr>
          <p:cNvPr id="35" name="option-row-4-label"/>
          <p:cNvSpPr txBox="1"/>
          <p:nvPr/>
        </p:nvSpPr>
        <p:spPr>
          <a:xfrm>
            <a:off x="502920" y="4773168"/>
            <a:ext cx="2514600" cy="384048"/>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Whole-life cost</a:t>
            </a:r>
          </a:p>
        </p:txBody>
      </p:sp>
      <p:sp>
        <p:nvSpPr>
          <p:cNvPr id="36" name="option-1-row-4-background" descr="Container background; accompanying native text provides content."/>
          <p:cNvSpPr/>
          <p:nvPr/>
        </p:nvSpPr>
        <p:spPr>
          <a:xfrm>
            <a:off x="3154680"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option-row-4-peer-1-body"/>
          <p:cNvSpPr txBox="1"/>
          <p:nvPr/>
        </p:nvSpPr>
        <p:spPr>
          <a:xfrm>
            <a:off x="3273552"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38" name="option-2-row-4-background" descr="Container background; accompanying native text provides content."/>
          <p:cNvSpPr/>
          <p:nvPr/>
        </p:nvSpPr>
        <p:spPr>
          <a:xfrm>
            <a:off x="6053328"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ption-row-4-peer-2-body"/>
          <p:cNvSpPr txBox="1"/>
          <p:nvPr/>
        </p:nvSpPr>
        <p:spPr>
          <a:xfrm>
            <a:off x="6172200"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0" name="option-3-row-4-background" descr="Container background; accompanying native text provides content."/>
          <p:cNvSpPr/>
          <p:nvPr/>
        </p:nvSpPr>
        <p:spPr>
          <a:xfrm>
            <a:off x="8951976" y="4663440"/>
            <a:ext cx="2734056" cy="521207"/>
          </a:xfrm>
          <a:prstGeom prst="roundRect">
            <a:avLst/>
          </a:prstGeom>
          <a:solidFill>
            <a:srgbClr val="D5E2D4"/>
          </a:solidFill>
          <a:ln>
            <a:solidFill>
              <a:srgbClr val="D5E2D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option-row-4-peer-3-body"/>
          <p:cNvSpPr txBox="1"/>
          <p:nvPr/>
        </p:nvSpPr>
        <p:spPr>
          <a:xfrm>
            <a:off x="9070848" y="4773168"/>
            <a:ext cx="2496312" cy="365760"/>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0" i="0">
                <a:solidFill>
                  <a:srgbClr val="183A31"/>
                </a:solidFill>
                <a:latin typeface="Liberation Sans"/>
              </a:rPr>
              <a:t>To price</a:t>
            </a:r>
          </a:p>
        </p:txBody>
      </p:sp>
      <p:sp>
        <p:nvSpPr>
          <p:cNvPr id="42" name="boundary-background" descr="Container background; accompanying native text provides content."/>
          <p:cNvSpPr/>
          <p:nvPr/>
        </p:nvSpPr>
        <p:spPr>
          <a:xfrm>
            <a:off x="502920" y="5678424"/>
            <a:ext cx="11183112" cy="548640"/>
          </a:xfrm>
          <a:prstGeom prst="roundRect">
            <a:avLst/>
          </a:prstGeom>
          <a:solidFill>
            <a:srgbClr val="E5B96A"/>
          </a:solidFill>
          <a:ln>
            <a:solidFill>
              <a:srgbClr val="E5B96A"/>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boundary-text"/>
          <p:cNvSpPr txBox="1"/>
          <p:nvPr/>
        </p:nvSpPr>
        <p:spPr>
          <a:xfrm>
            <a:off x="667512" y="5769864"/>
            <a:ext cx="10853928" cy="420623"/>
          </a:xfrm>
          <a:prstGeom prst="rect">
            <a:avLst/>
          </a:prstGeom>
          <a:noFill/>
        </p:spPr>
        <p:txBody>
          <a:bodyPr wrap="square" lIns="18288" rIns="18288" tIns="18288" bIns="18288" anchor="t">
            <a:noAutofit/>
          </a:bodyPr>
          <a:lstStyle/>
          <a:p>
            <a:pPr>
              <a:lnSpc>
                <a:spcPct val="108000"/>
              </a:lnSpc>
              <a:spcBef>
                <a:spcPts val="0"/>
              </a:spcBef>
              <a:spcAft>
                <a:spcPts val="500"/>
              </a:spcAft>
            </a:pPr>
            <a:r>
              <a:rPr sz="1900" b="1" i="0">
                <a:solidFill>
                  <a:srgbClr val="183A31"/>
                </a:solidFill>
                <a:latin typeface="Liberation Sans"/>
              </a:rPr>
              <a:t>Equivalent-scope appraisal needed. Exercise preference is NOT customer selection.</a:t>
            </a:r>
          </a:p>
        </p:txBody>
      </p:sp>
      <p:sp>
        <p:nvSpPr>
          <p:cNvPr id="44" name="return-decision-link" descr="Return to decision: slide 18">
            <a:hlinkClick action="ppaction://hlinksldjump" r:id="rId4"/>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45" name="return-options-link" descr="Return to options: slide 4">
            <a:hlinkClick action="ppaction://hlinksldjump" r:id="rId5"/>
          </p:cNvPr>
          <p:cNvSpPr txBox="1"/>
          <p:nvPr/>
        </p:nvSpPr>
        <p:spPr>
          <a:xfrm>
            <a:off x="502920" y="6364224"/>
            <a:ext cx="41148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options: slide 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2"/>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Operate the core without overstating assurance.</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23 / 24</a:t>
            </a:r>
          </a:p>
        </p:txBody>
      </p:sp>
      <p:cxnSp>
        <p:nvCxnSpPr>
          <p:cNvPr id="8" name="renewal-token-key-segment-1"/>
          <p:cNvCxnSpPr/>
          <p:nvPr/>
        </p:nvCxnSpPr>
        <p:spPr>
          <a:xfrm flipH="1">
            <a:off x="3913632" y="2468880"/>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renewal-vault-write-segment-1"/>
          <p:cNvCxnSpPr/>
          <p:nvPr/>
        </p:nvCxnSpPr>
        <p:spPr>
          <a:xfrm>
            <a:off x="7799831" y="2468880"/>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ops-tokens-background" descr="Container background; accompanying native text provides content."/>
          <p:cNvSpPr/>
          <p:nvPr/>
        </p:nvSpPr>
        <p:spPr>
          <a:xfrm>
            <a:off x="5029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ops-tokens-title"/>
          <p:cNvSpPr txBox="1"/>
          <p:nvPr/>
        </p:nvSpPr>
        <p:spPr>
          <a:xfrm>
            <a:off x="969264" y="1920240"/>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Blob | auth tokens</a:t>
            </a:r>
          </a:p>
        </p:txBody>
      </p:sp>
      <p:sp>
        <p:nvSpPr>
          <p:cNvPr id="12" name="ops-tokens-body"/>
          <p:cNvSpPr txBox="1"/>
          <p:nvPr/>
        </p:nvSpPr>
        <p:spPr>
          <a:xfrm>
            <a:off x="6126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private store</a:t>
            </a:r>
          </a:p>
          <a:p>
            <a:pPr>
              <a:lnSpc>
                <a:spcPct val="102000"/>
              </a:lnSpc>
              <a:spcBef>
                <a:spcPts val="0"/>
              </a:spcBef>
              <a:spcAft>
                <a:spcPts val="0"/>
              </a:spcAft>
            </a:pPr>
            <a:r>
              <a:rPr sz="1800" b="0" i="0">
                <a:solidFill>
                  <a:srgbClr val="183A31"/>
                </a:solidFill>
                <a:latin typeface="Liberation Sans"/>
              </a:rPr>
              <a:t>EasyAuth19 uses SAS.</a:t>
            </a:r>
          </a:p>
          <a:p>
            <a:pPr>
              <a:lnSpc>
                <a:spcPct val="102000"/>
              </a:lnSpc>
              <a:spcBef>
                <a:spcPts val="0"/>
              </a:spcBef>
              <a:spcAft>
                <a:spcPts val="0"/>
              </a:spcAft>
            </a:pPr>
            <a:r>
              <a:rPr sz="1800" b="0" i="0">
                <a:solidFill>
                  <a:srgbClr val="183A31"/>
                </a:solidFill>
                <a:latin typeface="Liberation Sans"/>
              </a:rPr>
              <a:t>Renewal gets delegation key.</a:t>
            </a:r>
          </a:p>
        </p:txBody>
      </p:sp>
      <p:sp>
        <p:nvSpPr>
          <p:cNvPr id="13" name="ops-renewal-background" descr="Container background; accompanying native text provides content."/>
          <p:cNvSpPr/>
          <p:nvPr/>
        </p:nvSpPr>
        <p:spPr>
          <a:xfrm>
            <a:off x="43891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ps-renewal-title"/>
          <p:cNvSpPr txBox="1"/>
          <p:nvPr/>
        </p:nvSpPr>
        <p:spPr>
          <a:xfrm>
            <a:off x="4855464" y="1920240"/>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Container Apps</a:t>
            </a:r>
          </a:p>
        </p:txBody>
      </p:sp>
      <p:sp>
        <p:nvSpPr>
          <p:cNvPr id="15" name="ops-renewal-body"/>
          <p:cNvSpPr txBox="1"/>
          <p:nvPr/>
        </p:nvSpPr>
        <p:spPr>
          <a:xfrm>
            <a:off x="44988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renewal job</a:t>
            </a:r>
          </a:p>
          <a:p>
            <a:pPr>
              <a:lnSpc>
                <a:spcPct val="102000"/>
              </a:lnSpc>
              <a:spcBef>
                <a:spcPts val="0"/>
              </a:spcBef>
              <a:spcAft>
                <a:spcPts val="0"/>
              </a:spcAft>
            </a:pPr>
            <a:r>
              <a:rPr sz="1800" b="0" i="0">
                <a:solidFill>
                  <a:srgbClr val="183A31"/>
                </a:solidFill>
                <a:latin typeface="Liberation Sans"/>
              </a:rPr>
              <a:t>03:00 UTC; daily five-day SAS.</a:t>
            </a:r>
          </a:p>
          <a:p>
            <a:pPr>
              <a:lnSpc>
                <a:spcPct val="102000"/>
              </a:lnSpc>
              <a:spcBef>
                <a:spcPts val="0"/>
              </a:spcBef>
              <a:spcAft>
                <a:spcPts val="0"/>
              </a:spcAft>
            </a:pPr>
            <a:r>
              <a:rPr sz="1800" b="0" i="0">
                <a:solidFill>
                  <a:srgbClr val="183A31"/>
                </a:solidFill>
                <a:latin typeface="Liberation Sans"/>
              </a:rPr>
              <a:t>Own maintenance identity.</a:t>
            </a:r>
          </a:p>
        </p:txBody>
      </p:sp>
      <p:sp>
        <p:nvSpPr>
          <p:cNvPr id="16" name="ops-vault-background" descr="Container background; accompanying native text provides content."/>
          <p:cNvSpPr/>
          <p:nvPr/>
        </p:nvSpPr>
        <p:spPr>
          <a:xfrm>
            <a:off x="8275320" y="1847088"/>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ps-vault-title"/>
          <p:cNvSpPr txBox="1"/>
          <p:nvPr/>
        </p:nvSpPr>
        <p:spPr>
          <a:xfrm>
            <a:off x="8741664" y="1920240"/>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Key Vault</a:t>
            </a:r>
          </a:p>
        </p:txBody>
      </p:sp>
      <p:sp>
        <p:nvSpPr>
          <p:cNvPr id="18" name="ops-vault-body"/>
          <p:cNvSpPr txBox="1"/>
          <p:nvPr/>
        </p:nvSpPr>
        <p:spPr>
          <a:xfrm>
            <a:off x="8385048" y="2267712"/>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one secret</a:t>
            </a:r>
          </a:p>
          <a:p>
            <a:pPr>
              <a:lnSpc>
                <a:spcPct val="102000"/>
              </a:lnSpc>
              <a:spcBef>
                <a:spcPts val="0"/>
              </a:spcBef>
              <a:spcAft>
                <a:spcPts val="0"/>
              </a:spcAft>
            </a:pPr>
            <a:r>
              <a:rPr sz="1800" b="0" i="0">
                <a:solidFill>
                  <a:srgbClr val="183A31"/>
                </a:solidFill>
                <a:latin typeface="Liberation Sans"/>
              </a:rPr>
              <a:t>Renewal writes; auth reads.</a:t>
            </a:r>
          </a:p>
          <a:p>
            <a:pPr>
              <a:lnSpc>
                <a:spcPct val="102000"/>
              </a:lnSpc>
              <a:spcBef>
                <a:spcPts val="0"/>
              </a:spcBef>
              <a:spcAft>
                <a:spcPts val="0"/>
              </a:spcAft>
            </a:pPr>
            <a:r>
              <a:rPr sz="1800" b="0" i="0">
                <a:solidFill>
                  <a:srgbClr val="183A31"/>
                </a:solidFill>
                <a:latin typeface="Liberation Sans"/>
              </a:rPr>
              <a:t>No browser token retrieval.</a:t>
            </a:r>
          </a:p>
        </p:txBody>
      </p:sp>
      <p:sp>
        <p:nvSpPr>
          <p:cNvPr id="19" name="ops-registry-background" descr="Container background; accompanying native text provides content."/>
          <p:cNvSpPr/>
          <p:nvPr/>
        </p:nvSpPr>
        <p:spPr>
          <a:xfrm>
            <a:off x="5029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ps-registry-title"/>
          <p:cNvSpPr txBox="1"/>
          <p:nvPr/>
        </p:nvSpPr>
        <p:spPr>
          <a:xfrm>
            <a:off x="969264" y="3529584"/>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Container Registry</a:t>
            </a:r>
          </a:p>
        </p:txBody>
      </p:sp>
      <p:sp>
        <p:nvSpPr>
          <p:cNvPr id="21" name="ops-registry-body"/>
          <p:cNvSpPr txBox="1"/>
          <p:nvPr/>
        </p:nvSpPr>
        <p:spPr>
          <a:xfrm>
            <a:off x="6126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MI image pull</a:t>
            </a:r>
          </a:p>
          <a:p>
            <a:pPr>
              <a:lnSpc>
                <a:spcPct val="102000"/>
              </a:lnSpc>
              <a:spcBef>
                <a:spcPts val="0"/>
              </a:spcBef>
              <a:spcAft>
                <a:spcPts val="0"/>
              </a:spcAft>
            </a:pPr>
            <a:r>
              <a:rPr sz="1800" b="0" i="0">
                <a:solidFill>
                  <a:srgbClr val="183A31"/>
                </a:solidFill>
                <a:latin typeface="Liberation Sans"/>
              </a:rPr>
              <a:t>Operator build + deploy.</a:t>
            </a:r>
          </a:p>
          <a:p>
            <a:pPr>
              <a:lnSpc>
                <a:spcPct val="102000"/>
              </a:lnSpc>
              <a:spcBef>
                <a:spcPts val="0"/>
              </a:spcBef>
              <a:spcAft>
                <a:spcPts val="0"/>
              </a:spcAft>
            </a:pPr>
            <a:r>
              <a:rPr sz="1800" b="0" i="0">
                <a:solidFill>
                  <a:srgbClr val="183A31"/>
                </a:solidFill>
                <a:latin typeface="Liberation Sans"/>
              </a:rPr>
              <a:t>CI: tests / scan / SBOM only.</a:t>
            </a:r>
          </a:p>
        </p:txBody>
      </p:sp>
      <p:sp>
        <p:nvSpPr>
          <p:cNvPr id="22" name="ops-logs-background" descr="Container background; accompanying native text provides content."/>
          <p:cNvSpPr/>
          <p:nvPr/>
        </p:nvSpPr>
        <p:spPr>
          <a:xfrm>
            <a:off x="43891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ops-logs-title"/>
          <p:cNvSpPr txBox="1"/>
          <p:nvPr/>
        </p:nvSpPr>
        <p:spPr>
          <a:xfrm>
            <a:off x="4855464" y="3529584"/>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Log Analytics</a:t>
            </a:r>
          </a:p>
        </p:txBody>
      </p:sp>
      <p:sp>
        <p:nvSpPr>
          <p:cNvPr id="24" name="ops-logs-body"/>
          <p:cNvSpPr txBox="1"/>
          <p:nvPr/>
        </p:nvSpPr>
        <p:spPr>
          <a:xfrm>
            <a:off x="44988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logs + audit</a:t>
            </a:r>
          </a:p>
          <a:p>
            <a:pPr>
              <a:lnSpc>
                <a:spcPct val="102000"/>
              </a:lnSpc>
              <a:spcBef>
                <a:spcPts val="0"/>
              </a:spcBef>
              <a:spcAft>
                <a:spcPts val="0"/>
              </a:spcAft>
            </a:pPr>
            <a:r>
              <a:rPr sz="1800" b="0" i="0">
                <a:solidFill>
                  <a:srgbClr val="183A31"/>
                </a:solidFill>
                <a:latin typeface="Liberation Sans"/>
              </a:rPr>
              <a:t>App Insights + SQL/API logs.</a:t>
            </a:r>
          </a:p>
          <a:p>
            <a:pPr>
              <a:lnSpc>
                <a:spcPct val="102000"/>
              </a:lnSpc>
              <a:spcBef>
                <a:spcPts val="0"/>
              </a:spcBef>
              <a:spcAft>
                <a:spcPts val="0"/>
              </a:spcAft>
            </a:pPr>
            <a:r>
              <a:rPr sz="1800" b="0" i="0">
                <a:solidFill>
                  <a:srgbClr val="183A31"/>
                </a:solidFill>
                <a:latin typeface="Liberation Sans"/>
              </a:rPr>
              <a:t>Full tracing not established.</a:t>
            </a:r>
          </a:p>
        </p:txBody>
      </p:sp>
      <p:sp>
        <p:nvSpPr>
          <p:cNvPr id="25" name="ops-alerts-background" descr="Container background; accompanying native text provides content."/>
          <p:cNvSpPr/>
          <p:nvPr/>
        </p:nvSpPr>
        <p:spPr>
          <a:xfrm>
            <a:off x="8275320" y="3456432"/>
            <a:ext cx="3410712" cy="141732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ops-alerts-title"/>
          <p:cNvSpPr txBox="1"/>
          <p:nvPr/>
        </p:nvSpPr>
        <p:spPr>
          <a:xfrm>
            <a:off x="8741664" y="3529584"/>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Monitor alerts</a:t>
            </a:r>
          </a:p>
        </p:txBody>
      </p:sp>
      <p:sp>
        <p:nvSpPr>
          <p:cNvPr id="27" name="ops-alerts-body"/>
          <p:cNvSpPr txBox="1"/>
          <p:nvPr/>
        </p:nvSpPr>
        <p:spPr>
          <a:xfrm>
            <a:off x="8385048" y="3877056"/>
            <a:ext cx="3191256" cy="94183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 email alerts</a:t>
            </a:r>
          </a:p>
          <a:p>
            <a:pPr>
              <a:lnSpc>
                <a:spcPct val="102000"/>
              </a:lnSpc>
              <a:spcBef>
                <a:spcPts val="0"/>
              </a:spcBef>
              <a:spcAft>
                <a:spcPts val="0"/>
              </a:spcAft>
            </a:pPr>
            <a:r>
              <a:rPr sz="1800" b="0" i="0">
                <a:solidFill>
                  <a:srgbClr val="183A31"/>
                </a:solidFill>
                <a:latin typeface="Liberation Sans"/>
              </a:rPr>
              <a:t>80% actual / 100% forecast.</a:t>
            </a:r>
          </a:p>
          <a:p>
            <a:pPr>
              <a:lnSpc>
                <a:spcPct val="102000"/>
              </a:lnSpc>
              <a:spcBef>
                <a:spcPts val="0"/>
              </a:spcBef>
              <a:spcAft>
                <a:spcPts val="0"/>
              </a:spcAft>
            </a:pPr>
            <a:r>
              <a:rPr sz="1800" b="0" i="0">
                <a:solidFill>
                  <a:srgbClr val="183A31"/>
                </a:solidFill>
                <a:latin typeface="Liberation Sans"/>
              </a:rPr>
              <a:t>Not a hard spending cap.</a:t>
            </a:r>
          </a:p>
        </p:txBody>
      </p:sp>
      <p:sp>
        <p:nvSpPr>
          <p:cNvPr id="28" name="ops-network"/>
          <p:cNvSpPr txBox="1"/>
          <p:nvPr/>
        </p:nvSpPr>
        <p:spPr>
          <a:xfrm>
            <a:off x="502920" y="4983480"/>
            <a:ext cx="11183112" cy="58521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SOURCE-CONFIGURED: VNet, subnets, NSGs, private endpoints, DNS, AMPLS.</a:t>
            </a:r>
          </a:p>
          <a:p>
            <a:pPr>
              <a:lnSpc>
                <a:spcPct val="102000"/>
              </a:lnSpc>
              <a:spcBef>
                <a:spcPts val="0"/>
              </a:spcBef>
              <a:spcAft>
                <a:spcPts val="0"/>
              </a:spcAft>
            </a:pPr>
            <a:r>
              <a:rPr sz="1800" b="0" i="0">
                <a:solidFill>
                  <a:srgbClr val="183A31"/>
                </a:solidFill>
                <a:latin typeface="Liberation Sans"/>
              </a:rPr>
              <a:t>Development also permits public access. PaaS services are NOT VNet-hosted.</a:t>
            </a:r>
          </a:p>
        </p:txBody>
      </p:sp>
      <p:sp>
        <p:nvSpPr>
          <p:cNvPr id="29" name="ops-support"/>
          <p:cNvSpPr txBox="1"/>
          <p:nvPr/>
        </p:nvSpPr>
        <p:spPr>
          <a:xfrm>
            <a:off x="502920" y="5623560"/>
            <a:ext cx="11183112"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CONFIGURED: API19 -&gt; Graph own-photo User.Read; browser -&gt; tile provider (list alternative).</a:t>
            </a:r>
          </a:p>
        </p:txBody>
      </p:sp>
      <p:sp>
        <p:nvSpPr>
          <p:cNvPr id="30" name="ops-failures-background" descr="Container background; accompanying native text provides content."/>
          <p:cNvSpPr/>
          <p:nvPr/>
        </p:nvSpPr>
        <p:spPr>
          <a:xfrm>
            <a:off x="502920" y="5952744"/>
            <a:ext cx="11183112" cy="411480"/>
          </a:xfrm>
          <a:prstGeom prst="roundRect">
            <a:avLst/>
          </a:prstGeom>
          <a:solidFill>
            <a:srgbClr val="E5B96A"/>
          </a:solidFill>
          <a:ln w="16510">
            <a:solidFill>
              <a:srgbClr val="173F35"/>
            </a:solidFill>
            <a:prstDash val="solid"/>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ops-failures"/>
          <p:cNvSpPr txBox="1"/>
          <p:nvPr/>
        </p:nvSpPr>
        <p:spPr>
          <a:xfrm>
            <a:off x="640080" y="6025896"/>
            <a:ext cx="10908792" cy="30175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Model fails: manual work. SQL fails: writes may block. Token renewal fails: act before expiry.</a:t>
            </a:r>
          </a:p>
        </p:txBody>
      </p:sp>
      <p:sp>
        <p:nvSpPr>
          <p:cNvPr id="32" name="return-decision-link" descr="Return to decision: slide 18">
            <a:hlinkClick action="ppaction://hlinksldjump" r:id="rId10"/>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pic>
        <p:nvPicPr>
          <p:cNvPr id="33" name="azure-icon-blob-ops-tokens" descr="Official Azure product icon; adjacent native label: Azure Blob | auth tokens."/>
          <p:cNvPicPr>
            <a:picLocks noChangeAspect="1"/>
          </p:cNvPicPr>
          <p:nvPr/>
        </p:nvPicPr>
        <p:blipFill>
          <a:blip r:embed="rId3"/>
          <a:stretch>
            <a:fillRect/>
          </a:stretch>
        </p:blipFill>
        <p:spPr>
          <a:xfrm>
            <a:off x="612648" y="1924812"/>
            <a:ext cx="265176" cy="265176"/>
          </a:xfrm>
          <a:prstGeom prst="rect">
            <a:avLst/>
          </a:prstGeom>
        </p:spPr>
      </p:pic>
      <p:pic>
        <p:nvPicPr>
          <p:cNvPr id="34" name="azure-icon-aca-ops-renewal" descr="Official Azure product icon; adjacent native label: Azure Container Apps."/>
          <p:cNvPicPr>
            <a:picLocks noChangeAspect="1"/>
          </p:cNvPicPr>
          <p:nvPr/>
        </p:nvPicPr>
        <p:blipFill>
          <a:blip r:embed="rId4"/>
          <a:stretch>
            <a:fillRect/>
          </a:stretch>
        </p:blipFill>
        <p:spPr>
          <a:xfrm>
            <a:off x="4498848" y="1924812"/>
            <a:ext cx="265176" cy="265176"/>
          </a:xfrm>
          <a:prstGeom prst="rect">
            <a:avLst/>
          </a:prstGeom>
        </p:spPr>
      </p:pic>
      <p:pic>
        <p:nvPicPr>
          <p:cNvPr id="35" name="azure-icon-vault-ops-vault" descr="Official Azure product icon; adjacent native label: Azure Key Vault."/>
          <p:cNvPicPr>
            <a:picLocks noChangeAspect="1"/>
          </p:cNvPicPr>
          <p:nvPr/>
        </p:nvPicPr>
        <p:blipFill>
          <a:blip r:embed="rId5"/>
          <a:stretch>
            <a:fillRect/>
          </a:stretch>
        </p:blipFill>
        <p:spPr>
          <a:xfrm>
            <a:off x="8385048" y="1924812"/>
            <a:ext cx="265176" cy="265176"/>
          </a:xfrm>
          <a:prstGeom prst="rect">
            <a:avLst/>
          </a:prstGeom>
        </p:spPr>
      </p:pic>
      <p:pic>
        <p:nvPicPr>
          <p:cNvPr id="36" name="azure-icon-registry-ops-registry" descr="Official Azure product icon; adjacent native label: Azure Container Registry."/>
          <p:cNvPicPr>
            <a:picLocks noChangeAspect="1"/>
          </p:cNvPicPr>
          <p:nvPr/>
        </p:nvPicPr>
        <p:blipFill>
          <a:blip r:embed="rId6"/>
          <a:stretch>
            <a:fillRect/>
          </a:stretch>
        </p:blipFill>
        <p:spPr>
          <a:xfrm>
            <a:off x="612648" y="3534156"/>
            <a:ext cx="265176" cy="265176"/>
          </a:xfrm>
          <a:prstGeom prst="rect">
            <a:avLst/>
          </a:prstGeom>
        </p:spPr>
      </p:pic>
      <p:pic>
        <p:nvPicPr>
          <p:cNvPr id="37" name="azure-icon-logs-ops-logs" descr="Official Azure product icon; adjacent native label: Azure Log Analytics."/>
          <p:cNvPicPr>
            <a:picLocks noChangeAspect="1"/>
          </p:cNvPicPr>
          <p:nvPr/>
        </p:nvPicPr>
        <p:blipFill>
          <a:blip r:embed="rId7"/>
          <a:stretch>
            <a:fillRect/>
          </a:stretch>
        </p:blipFill>
        <p:spPr>
          <a:xfrm>
            <a:off x="4498848" y="3534156"/>
            <a:ext cx="265176" cy="265176"/>
          </a:xfrm>
          <a:prstGeom prst="rect">
            <a:avLst/>
          </a:prstGeom>
        </p:spPr>
      </p:pic>
      <p:pic>
        <p:nvPicPr>
          <p:cNvPr id="38" name="azure-icon-monitor-ops-alerts" descr="Official Azure product icon; adjacent native label: Azure Monitor alerts."/>
          <p:cNvPicPr>
            <a:picLocks noChangeAspect="1"/>
          </p:cNvPicPr>
          <p:nvPr/>
        </p:nvPicPr>
        <p:blipFill>
          <a:blip r:embed="rId8"/>
          <a:stretch>
            <a:fillRect/>
          </a:stretch>
        </p:blipFill>
        <p:spPr>
          <a:xfrm>
            <a:off x="8385048" y="3534156"/>
            <a:ext cx="265176" cy="2651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2E7"/>
        </a:solidFill>
        <a:effectLst/>
      </p:bgPr>
    </p:bg>
    <p:spTree>
      <p:nvGrpSpPr>
        <p:cNvPr id="1" name=""/>
        <p:cNvGrpSpPr/>
        <p:nvPr/>
      </p:nvGrpSpPr>
      <p:grpSpPr/>
      <p:sp>
        <p:nvSpPr>
          <p:cNvPr id="2" name="deck-eyebrow"/>
          <p:cNvSpPr txBox="1"/>
          <p:nvPr/>
        </p:nvSpPr>
        <p:spPr>
          <a:xfrm>
            <a:off x="502920" y="228600"/>
            <a:ext cx="9875520"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ZAVA NORTH HOMES / ZAVA FORWARD / OPTIONAL REFERENCE</a:t>
            </a:r>
          </a:p>
        </p:txBody>
      </p:sp>
      <p:sp>
        <p:nvSpPr>
          <p:cNvPr id="3" name="brand-logo-backing"/>
          <p:cNvSpPr/>
          <p:nvPr/>
        </p:nvSpPr>
        <p:spPr>
          <a:xfrm>
            <a:off x="10881360" y="201168"/>
            <a:ext cx="804672" cy="292608"/>
          </a:xfrm>
          <a:prstGeom prst="roundRect">
            <a:avLst/>
          </a:prstGeom>
          <a:solidFill>
            <a:srgbClr val="FFFFFF"/>
          </a:solidFill>
          <a:ln>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 name="Zava branding logo — only branding" descr="image.png"/>
          <p:cNvPicPr>
            <a:picLocks noChangeAspect="1"/>
          </p:cNvPicPr>
          <p:nvPr/>
        </p:nvPicPr>
        <p:blipFill>
          <a:blip r:embed="rId2"/>
          <a:stretch>
            <a:fillRect/>
          </a:stretch>
        </p:blipFill>
        <p:spPr>
          <a:xfrm>
            <a:off x="10899648" y="210312"/>
            <a:ext cx="768096" cy="267919"/>
          </a:xfrm>
          <a:prstGeom prst="rect">
            <a:avLst/>
          </a:prstGeom>
        </p:spPr>
      </p:pic>
      <p:sp>
        <p:nvSpPr>
          <p:cNvPr id="5" name="slide-title"/>
          <p:cNvSpPr txBox="1"/>
          <p:nvPr/>
        </p:nvSpPr>
        <p:spPr>
          <a:xfrm>
            <a:off x="502920" y="722376"/>
            <a:ext cx="11183112" cy="896112"/>
          </a:xfrm>
          <a:prstGeom prst="rect">
            <a:avLst/>
          </a:prstGeom>
          <a:noFill/>
        </p:spPr>
        <p:txBody>
          <a:bodyPr wrap="square" lIns="18288" rIns="18288" tIns="18288" bIns="18288" anchor="t">
            <a:noAutofit/>
          </a:bodyPr>
          <a:lstStyle/>
          <a:p>
            <a:pPr>
              <a:lnSpc>
                <a:spcPct val="108000"/>
              </a:lnSpc>
              <a:spcBef>
                <a:spcPts val="0"/>
              </a:spcBef>
              <a:spcAft>
                <a:spcPts val="500"/>
              </a:spcAft>
            </a:pPr>
            <a:r>
              <a:rPr sz="3200" b="1" i="0">
                <a:solidFill>
                  <a:srgbClr val="183A31"/>
                </a:solidFill>
                <a:latin typeface="Liberation Sans"/>
              </a:rPr>
              <a:t>Deferred services are not the five-assistant runtime.</a:t>
            </a:r>
          </a:p>
        </p:txBody>
      </p:sp>
      <p:sp>
        <p:nvSpPr>
          <p:cNvPr id="6" name="source-footer"/>
          <p:cNvSpPr txBox="1"/>
          <p:nvPr/>
        </p:nvSpPr>
        <p:spPr>
          <a:xfrm>
            <a:off x="502920" y="6656832"/>
            <a:ext cx="10424160" cy="192024"/>
          </a:xfrm>
          <a:prstGeom prst="rect">
            <a:avLst/>
          </a:prstGeom>
          <a:noFill/>
        </p:spPr>
        <p:txBody>
          <a:bodyPr wrap="square" lIns="18288" rIns="18288" tIns="18288" bIns="18288" anchor="t">
            <a:noAutofit/>
          </a:bodyPr>
          <a:lstStyle/>
          <a:p>
            <a:pPr>
              <a:lnSpc>
                <a:spcPct val="108000"/>
              </a:lnSpc>
              <a:spcBef>
                <a:spcPts val="0"/>
              </a:spcBef>
              <a:spcAft>
                <a:spcPts val="500"/>
              </a:spcAft>
            </a:pPr>
            <a:r>
              <a:rPr sz="1000" b="0" i="0">
                <a:solidFill>
                  <a:srgbClr val="183A31"/>
                </a:solidFill>
                <a:latin typeface="Liberation Sans"/>
              </a:rPr>
              <a:t>14 OCT 2026 | S16 + retained sources/status in notes</a:t>
            </a:r>
          </a:p>
        </p:txBody>
      </p:sp>
      <p:sp>
        <p:nvSpPr>
          <p:cNvPr id="7" name="page-counter"/>
          <p:cNvSpPr txBox="1"/>
          <p:nvPr/>
        </p:nvSpPr>
        <p:spPr>
          <a:xfrm>
            <a:off x="10972800" y="6620256"/>
            <a:ext cx="713232" cy="228600"/>
          </a:xfrm>
          <a:prstGeom prst="rect">
            <a:avLst/>
          </a:prstGeom>
          <a:noFill/>
        </p:spPr>
        <p:txBody>
          <a:bodyPr wrap="square" lIns="18288" rIns="18288" tIns="18288" bIns="18288" anchor="t">
            <a:noAutofit/>
          </a:bodyPr>
          <a:lstStyle/>
          <a:p>
            <a:pPr>
              <a:lnSpc>
                <a:spcPct val="108000"/>
              </a:lnSpc>
              <a:spcBef>
                <a:spcPts val="0"/>
              </a:spcBef>
              <a:spcAft>
                <a:spcPts val="500"/>
              </a:spcAft>
            </a:pPr>
            <a:r>
              <a:rPr sz="1100" b="1" i="0">
                <a:solidFill>
                  <a:srgbClr val="183A31"/>
                </a:solidFill>
                <a:latin typeface="Liberation Sans"/>
              </a:rPr>
              <a:t>24 / 24</a:t>
            </a:r>
          </a:p>
        </p:txBody>
      </p:sp>
      <p:sp>
        <p:nvSpPr>
          <p:cNvPr id="8" name="deferred-frame-label"/>
          <p:cNvSpPr txBox="1"/>
          <p:nvPr/>
        </p:nvSpPr>
        <p:spPr>
          <a:xfrm>
            <a:off x="502920" y="1728216"/>
            <a:ext cx="11183112"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DEFERRED ADR 0001 | placeholder contracts, NOT the five-assistant runtime</a:t>
            </a:r>
          </a:p>
        </p:txBody>
      </p:sp>
      <p:cxnSp>
        <p:nvCxnSpPr>
          <p:cNvPr id="9" name="deferred-enqueue-segment-1"/>
          <p:cNvCxnSpPr/>
          <p:nvPr/>
        </p:nvCxnSpPr>
        <p:spPr>
          <a:xfrm>
            <a:off x="3913632" y="2706624"/>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0" name="deferred-keda-segment-1"/>
          <p:cNvCxnSpPr/>
          <p:nvPr/>
        </p:nvCxnSpPr>
        <p:spPr>
          <a:xfrm>
            <a:off x="7799831" y="2706624"/>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 name="deferred-import-queue-segment-1"/>
          <p:cNvCxnSpPr/>
          <p:nvPr/>
        </p:nvCxnSpPr>
        <p:spPr>
          <a:xfrm>
            <a:off x="6080760" y="3465576"/>
            <a:ext cx="0" cy="173736"/>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 name="deferred-snapshot-segment-1"/>
          <p:cNvCxnSpPr/>
          <p:nvPr/>
        </p:nvCxnSpPr>
        <p:spPr>
          <a:xfrm>
            <a:off x="3913632" y="4178808"/>
            <a:ext cx="475488"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3" name="deferred-quarantine-segment-1"/>
          <p:cNvCxnSpPr/>
          <p:nvPr/>
        </p:nvCxnSpPr>
        <p:spPr>
          <a:xfrm>
            <a:off x="7799831" y="4178808"/>
            <a:ext cx="475489" cy="0"/>
          </a:xfrm>
          <a:prstGeom prst="line">
            <a:avLst/>
          </a:prstGeom>
          <a:ln w="22860">
            <a:solidFill>
              <a:srgbClr val="173F35"/>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deferred-orchestrator-background" descr="Container background; accompanying native text provides content."/>
          <p:cNvSpPr/>
          <p:nvPr/>
        </p:nvSpPr>
        <p:spPr>
          <a:xfrm>
            <a:off x="5029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deferred-orchestrator-title"/>
          <p:cNvSpPr txBox="1"/>
          <p:nvPr/>
        </p:nvSpPr>
        <p:spPr>
          <a:xfrm>
            <a:off x="612648" y="2167128"/>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Orchestrator | DEFERRED</a:t>
            </a:r>
          </a:p>
        </p:txBody>
      </p:sp>
      <p:sp>
        <p:nvSpPr>
          <p:cNvPr id="16" name="deferred-orchestrator-body"/>
          <p:cNvSpPr txBox="1"/>
          <p:nvPr/>
        </p:nvSpPr>
        <p:spPr>
          <a:xfrm>
            <a:off x="6126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5-minute task placeholder.</a:t>
            </a:r>
          </a:p>
          <a:p>
            <a:pPr>
              <a:lnSpc>
                <a:spcPct val="102000"/>
              </a:lnSpc>
              <a:spcBef>
                <a:spcPts val="0"/>
              </a:spcBef>
              <a:spcAft>
                <a:spcPts val="0"/>
              </a:spcAft>
            </a:pPr>
            <a:r>
              <a:rPr sz="1800" b="0" i="0">
                <a:solidFill>
                  <a:srgbClr val="183A31"/>
                </a:solidFill>
                <a:latin typeface="Liberation Sans"/>
              </a:rPr>
              <a:t>Checkpoints -&gt; API19.</a:t>
            </a:r>
          </a:p>
          <a:p>
            <a:pPr>
              <a:lnSpc>
                <a:spcPct val="102000"/>
              </a:lnSpc>
              <a:spcBef>
                <a:spcPts val="0"/>
              </a:spcBef>
              <a:spcAft>
                <a:spcPts val="0"/>
              </a:spcAft>
            </a:pPr>
            <a:r>
              <a:rPr sz="1800" b="0" i="0">
                <a:solidFill>
                  <a:srgbClr val="183A31"/>
                </a:solidFill>
                <a:latin typeface="Liberation Sans"/>
              </a:rPr>
              <a:t>Not an AI supervisor.</a:t>
            </a:r>
          </a:p>
        </p:txBody>
      </p:sp>
      <p:sp>
        <p:nvSpPr>
          <p:cNvPr id="17" name="deferred-queues-background" descr="Container background; accompanying native text provides content."/>
          <p:cNvSpPr/>
          <p:nvPr/>
        </p:nvSpPr>
        <p:spPr>
          <a:xfrm>
            <a:off x="43891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deferred-queues-title"/>
          <p:cNvSpPr txBox="1"/>
          <p:nvPr/>
        </p:nvSpPr>
        <p:spPr>
          <a:xfrm>
            <a:off x="4855464" y="2167128"/>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Queue Storage</a:t>
            </a:r>
          </a:p>
        </p:txBody>
      </p:sp>
      <p:sp>
        <p:nvSpPr>
          <p:cNvPr id="19" name="deferred-queues-body"/>
          <p:cNvSpPr txBox="1"/>
          <p:nvPr/>
        </p:nvSpPr>
        <p:spPr>
          <a:xfrm>
            <a:off x="44988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DEFERRED | agent-tasks</a:t>
            </a:r>
          </a:p>
          <a:p>
            <a:pPr>
              <a:lnSpc>
                <a:spcPct val="102000"/>
              </a:lnSpc>
              <a:spcBef>
                <a:spcPts val="0"/>
              </a:spcBef>
              <a:spcAft>
                <a:spcPts val="0"/>
              </a:spcAft>
            </a:pPr>
            <a:r>
              <a:rPr sz="1800" b="0" i="0">
                <a:solidFill>
                  <a:srgbClr val="183A31"/>
                </a:solidFill>
                <a:latin typeface="Liberation Sans"/>
              </a:rPr>
              <a:t>import-jobs + poison queues.</a:t>
            </a:r>
          </a:p>
          <a:p>
            <a:pPr>
              <a:lnSpc>
                <a:spcPct val="102000"/>
              </a:lnSpc>
              <a:spcBef>
                <a:spcPts val="0"/>
              </a:spcBef>
              <a:spcAft>
                <a:spcPts val="0"/>
              </a:spcAft>
            </a:pPr>
            <a:r>
              <a:rPr sz="1800" b="0" i="0">
                <a:solidFill>
                  <a:srgbClr val="183A31"/>
                </a:solidFill>
                <a:latin typeface="Liberation Sans"/>
              </a:rPr>
              <a:t>KEDA tasks / import events.</a:t>
            </a:r>
          </a:p>
        </p:txBody>
      </p:sp>
      <p:sp>
        <p:nvSpPr>
          <p:cNvPr id="20" name="deferred-agents-background" descr="Container background; accompanying native text provides content."/>
          <p:cNvSpPr/>
          <p:nvPr/>
        </p:nvSpPr>
        <p:spPr>
          <a:xfrm>
            <a:off x="8275320" y="2093976"/>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deferred-agents-title"/>
          <p:cNvSpPr txBox="1"/>
          <p:nvPr/>
        </p:nvSpPr>
        <p:spPr>
          <a:xfrm>
            <a:off x="8385048" y="2167128"/>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Agent app | DEFERRED</a:t>
            </a:r>
          </a:p>
        </p:txBody>
      </p:sp>
      <p:sp>
        <p:nvSpPr>
          <p:cNvPr id="22" name="deferred-agents-body"/>
          <p:cNvSpPr txBox="1"/>
          <p:nvPr/>
        </p:nvSpPr>
        <p:spPr>
          <a:xfrm>
            <a:off x="8385048" y="2514600"/>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0" i="0">
                <a:solidFill>
                  <a:srgbClr val="183A31"/>
                </a:solidFill>
                <a:latin typeface="Liberation Sans"/>
              </a:rPr>
              <a:t>KEDA placeholder, not current AI.</a:t>
            </a:r>
          </a:p>
          <a:p>
            <a:pPr>
              <a:lnSpc>
                <a:spcPct val="102000"/>
              </a:lnSpc>
              <a:spcBef>
                <a:spcPts val="0"/>
              </a:spcBef>
              <a:spcAft>
                <a:spcPts val="0"/>
              </a:spcAft>
            </a:pPr>
            <a:r>
              <a:rPr sz="1600" b="0" i="0">
                <a:solidFill>
                  <a:srgbClr val="183A31"/>
                </a:solidFill>
                <a:latin typeface="Liberation Sans"/>
              </a:rPr>
              <a:t>Context/proposals -&gt; API19.</a:t>
            </a:r>
          </a:p>
          <a:p>
            <a:pPr>
              <a:lnSpc>
                <a:spcPct val="102000"/>
              </a:lnSpc>
              <a:spcBef>
                <a:spcPts val="0"/>
              </a:spcBef>
              <a:spcAft>
                <a:spcPts val="0"/>
              </a:spcAft>
            </a:pPr>
            <a:r>
              <a:rPr sz="1600" b="0" i="0">
                <a:solidFill>
                  <a:srgbClr val="183A31"/>
                </a:solidFill>
                <a:latin typeface="Liberation Sans"/>
              </a:rPr>
              <a:t>Models19; no data-store tools.</a:t>
            </a:r>
          </a:p>
        </p:txBody>
      </p:sp>
      <p:sp>
        <p:nvSpPr>
          <p:cNvPr id="23" name="deferred-m365-background" descr="Container background; accompanying native text provides content."/>
          <p:cNvSpPr/>
          <p:nvPr/>
        </p:nvSpPr>
        <p:spPr>
          <a:xfrm>
            <a:off x="5029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deferred-m365-title"/>
          <p:cNvSpPr txBox="1"/>
          <p:nvPr/>
        </p:nvSpPr>
        <p:spPr>
          <a:xfrm>
            <a:off x="612648" y="3712463"/>
            <a:ext cx="3191256"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M365 | CONDITIONAL</a:t>
            </a:r>
          </a:p>
        </p:txBody>
      </p:sp>
      <p:sp>
        <p:nvSpPr>
          <p:cNvPr id="25" name="deferred-m365-body"/>
          <p:cNvSpPr txBox="1"/>
          <p:nvPr/>
        </p:nvSpPr>
        <p:spPr>
          <a:xfrm>
            <a:off x="6126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SharePoint/Excel snapshot.</a:t>
            </a:r>
          </a:p>
          <a:p>
            <a:pPr>
              <a:lnSpc>
                <a:spcPct val="102000"/>
              </a:lnSpc>
              <a:spcBef>
                <a:spcPts val="0"/>
              </a:spcBef>
              <a:spcAft>
                <a:spcPts val="0"/>
              </a:spcAft>
            </a:pPr>
            <a:r>
              <a:rPr sz="1800" b="0" i="0">
                <a:solidFill>
                  <a:srgbClr val="183A31"/>
                </a:solidFill>
                <a:latin typeface="Liberation Sans"/>
              </a:rPr>
              <a:t>Sites.Selected + site grant.</a:t>
            </a:r>
          </a:p>
          <a:p>
            <a:pPr>
              <a:lnSpc>
                <a:spcPct val="102000"/>
              </a:lnSpc>
              <a:spcBef>
                <a:spcPts val="0"/>
              </a:spcBef>
              <a:spcAft>
                <a:spcPts val="0"/>
              </a:spcAft>
            </a:pPr>
            <a:r>
              <a:rPr sz="1800" b="0" i="0">
                <a:solidFill>
                  <a:srgbClr val="183A31"/>
                </a:solidFill>
                <a:latin typeface="Liberation Sans"/>
              </a:rPr>
              <a:t>One-way; not photo rights.</a:t>
            </a:r>
          </a:p>
        </p:txBody>
      </p:sp>
      <p:sp>
        <p:nvSpPr>
          <p:cNvPr id="26" name="deferred-import-background" descr="Container background; accompanying native text provides content."/>
          <p:cNvSpPr/>
          <p:nvPr/>
        </p:nvSpPr>
        <p:spPr>
          <a:xfrm>
            <a:off x="43891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deferred-import-title"/>
          <p:cNvSpPr txBox="1"/>
          <p:nvPr/>
        </p:nvSpPr>
        <p:spPr>
          <a:xfrm>
            <a:off x="4855464" y="3712463"/>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Container Apps</a:t>
            </a:r>
          </a:p>
        </p:txBody>
      </p:sp>
      <p:sp>
        <p:nvSpPr>
          <p:cNvPr id="28" name="deferred-import-body"/>
          <p:cNvSpPr txBox="1"/>
          <p:nvPr/>
        </p:nvSpPr>
        <p:spPr>
          <a:xfrm>
            <a:off x="44988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DEFERRED | import-jobs stub.</a:t>
            </a:r>
          </a:p>
          <a:p>
            <a:pPr>
              <a:lnSpc>
                <a:spcPct val="102000"/>
              </a:lnSpc>
              <a:spcBef>
                <a:spcPts val="0"/>
              </a:spcBef>
              <a:spcAft>
                <a:spcPts val="0"/>
              </a:spcAft>
            </a:pPr>
            <a:r>
              <a:rPr sz="1800" b="0" i="0">
                <a:solidFill>
                  <a:srgbClr val="183A31"/>
                </a:solidFill>
                <a:latin typeface="Liberation Sans"/>
              </a:rPr>
              <a:t>Limited SQL; Blob quarantine.</a:t>
            </a:r>
          </a:p>
          <a:p>
            <a:pPr>
              <a:lnSpc>
                <a:spcPct val="102000"/>
              </a:lnSpc>
              <a:spcBef>
                <a:spcPts val="0"/>
              </a:spcBef>
              <a:spcAft>
                <a:spcPts val="0"/>
              </a:spcAft>
            </a:pPr>
            <a:r>
              <a:rPr sz="1800" b="0" i="0">
                <a:solidFill>
                  <a:srgbClr val="183A31"/>
                </a:solidFill>
                <a:latin typeface="Liberation Sans"/>
              </a:rPr>
              <a:t>No workbook write-back.</a:t>
            </a:r>
          </a:p>
        </p:txBody>
      </p:sp>
      <p:sp>
        <p:nvSpPr>
          <p:cNvPr id="29" name="deferred-containers-background" descr="Container background; accompanying native text provides content."/>
          <p:cNvSpPr/>
          <p:nvPr/>
        </p:nvSpPr>
        <p:spPr>
          <a:xfrm>
            <a:off x="8275320" y="3639312"/>
            <a:ext cx="3410712" cy="1371600"/>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deferred-containers-title"/>
          <p:cNvSpPr txBox="1"/>
          <p:nvPr/>
        </p:nvSpPr>
        <p:spPr>
          <a:xfrm>
            <a:off x="8741664" y="3712463"/>
            <a:ext cx="2834640"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Blob | DEFERRED</a:t>
            </a:r>
          </a:p>
        </p:txBody>
      </p:sp>
      <p:sp>
        <p:nvSpPr>
          <p:cNvPr id="31" name="deferred-containers-body"/>
          <p:cNvSpPr txBox="1"/>
          <p:nvPr/>
        </p:nvSpPr>
        <p:spPr>
          <a:xfrm>
            <a:off x="8385048" y="4059936"/>
            <a:ext cx="3191256" cy="896112"/>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imports / quarantine</a:t>
            </a:r>
          </a:p>
          <a:p>
            <a:pPr>
              <a:lnSpc>
                <a:spcPct val="102000"/>
              </a:lnSpc>
              <a:spcBef>
                <a:spcPts val="0"/>
              </a:spcBef>
              <a:spcAft>
                <a:spcPts val="0"/>
              </a:spcAft>
            </a:pPr>
            <a:r>
              <a:rPr sz="1800" b="0" i="0">
                <a:solidFill>
                  <a:srgbClr val="183A31"/>
                </a:solidFill>
                <a:latin typeface="Liberation Sans"/>
              </a:rPr>
              <a:t>exports / audit-archive</a:t>
            </a:r>
          </a:p>
          <a:p>
            <a:pPr>
              <a:lnSpc>
                <a:spcPct val="102000"/>
              </a:lnSpc>
              <a:spcBef>
                <a:spcPts val="0"/>
              </a:spcBef>
              <a:spcAft>
                <a:spcPts val="0"/>
              </a:spcAft>
            </a:pPr>
            <a:r>
              <a:rPr sz="1800" b="0" i="0">
                <a:solidFill>
                  <a:srgbClr val="183A31"/>
                </a:solidFill>
                <a:latin typeface="Liberation Sans"/>
              </a:rPr>
              <a:t>Current API + SQL: see19.</a:t>
            </a:r>
          </a:p>
        </p:txBody>
      </p:sp>
      <p:sp>
        <p:nvSpPr>
          <p:cNvPr id="32" name="deferred-edge-background" descr="Container background; accompanying native text provides content."/>
          <p:cNvSpPr/>
          <p:nvPr/>
        </p:nvSpPr>
        <p:spPr>
          <a:xfrm>
            <a:off x="502920" y="5084064"/>
            <a:ext cx="5440680" cy="80467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deferred-edge-title"/>
          <p:cNvSpPr txBox="1"/>
          <p:nvPr/>
        </p:nvSpPr>
        <p:spPr>
          <a:xfrm>
            <a:off x="969264" y="5157216"/>
            <a:ext cx="4864608"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Azure Front Door Premium/WAF</a:t>
            </a:r>
          </a:p>
        </p:txBody>
      </p:sp>
      <p:sp>
        <p:nvSpPr>
          <p:cNvPr id="34" name="deferred-edge-body"/>
          <p:cNvSpPr txBox="1"/>
          <p:nvPr/>
        </p:nvSpPr>
        <p:spPr>
          <a:xfrm>
            <a:off x="612648" y="5504688"/>
            <a:ext cx="5221224"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NOT DEPLOYED | intended edge; ingress direct.</a:t>
            </a:r>
          </a:p>
        </p:txBody>
      </p:sp>
      <p:sp>
        <p:nvSpPr>
          <p:cNvPr id="35" name="deferred-anchor-background" descr="Container background; accompanying native text provides content."/>
          <p:cNvSpPr/>
          <p:nvPr/>
        </p:nvSpPr>
        <p:spPr>
          <a:xfrm>
            <a:off x="6245352" y="5084064"/>
            <a:ext cx="5440680" cy="804672"/>
          </a:xfrm>
          <a:prstGeom prst="roundRect">
            <a:avLst/>
          </a:prstGeom>
          <a:solidFill>
            <a:srgbClr val="D5E2D4"/>
          </a:solidFill>
          <a:ln w="16510">
            <a:solidFill>
              <a:srgbClr val="173F35"/>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deferred-anchor-title"/>
          <p:cNvSpPr txBox="1"/>
          <p:nvPr/>
        </p:nvSpPr>
        <p:spPr>
          <a:xfrm>
            <a:off x="6355080" y="5157216"/>
            <a:ext cx="5221224" cy="310896"/>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Audit digest | NOT IMPLEMENTED</a:t>
            </a:r>
          </a:p>
        </p:txBody>
      </p:sp>
      <p:sp>
        <p:nvSpPr>
          <p:cNvPr id="37" name="deferred-anchor-body"/>
          <p:cNvSpPr txBox="1"/>
          <p:nvPr/>
        </p:nvSpPr>
        <p:spPr>
          <a:xfrm>
            <a:off x="6355080" y="5504688"/>
            <a:ext cx="5221224" cy="329184"/>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0" i="0">
                <a:solidFill>
                  <a:srgbClr val="183A31"/>
                </a:solidFill>
                <a:latin typeface="Liberation Sans"/>
              </a:rPr>
              <a:t>Unlocked policy is not immutable anchoring.</a:t>
            </a:r>
          </a:p>
        </p:txBody>
      </p:sp>
      <p:sp>
        <p:nvSpPr>
          <p:cNvPr id="38" name="deferred-teams"/>
          <p:cNvSpPr txBox="1"/>
          <p:nvPr/>
        </p:nvSpPr>
        <p:spPr>
          <a:xfrm>
            <a:off x="502920" y="5980176"/>
            <a:ext cx="11183112" cy="320040"/>
          </a:xfrm>
          <a:prstGeom prst="rect">
            <a:avLst/>
          </a:prstGeom>
          <a:noFill/>
        </p:spPr>
        <p:txBody>
          <a:bodyPr wrap="square" lIns="18288" rIns="18288" tIns="18288" bIns="18288" anchor="t">
            <a:noAutofit/>
          </a:bodyPr>
          <a:lstStyle/>
          <a:p>
            <a:pPr>
              <a:lnSpc>
                <a:spcPct val="102000"/>
              </a:lnSpc>
              <a:spcBef>
                <a:spcPts val="0"/>
              </a:spcBef>
              <a:spcAft>
                <a:spcPts val="0"/>
              </a:spcAft>
            </a:pPr>
            <a:r>
              <a:rPr sz="1800" b="1" i="0">
                <a:solidFill>
                  <a:srgbClr val="183A31"/>
                </a:solidFill>
                <a:latin typeface="Liberation Sans"/>
              </a:rPr>
              <a:t>CONDITIONAL: ops23 -&gt; Teams Workflows. Never approval, consent or safety response.</a:t>
            </a:r>
          </a:p>
        </p:txBody>
      </p:sp>
      <p:sp>
        <p:nvSpPr>
          <p:cNvPr id="39" name="return-decision-link" descr="Return to decision: slide 18">
            <a:hlinkClick action="ppaction://hlinksldjump" r:id="rId8"/>
          </p:cNvPr>
          <p:cNvSpPr txBox="1"/>
          <p:nvPr/>
        </p:nvSpPr>
        <p:spPr>
          <a:xfrm>
            <a:off x="8275320" y="6364224"/>
            <a:ext cx="269748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Return to decision: slide 18</a:t>
            </a:r>
          </a:p>
        </p:txBody>
      </p:sp>
      <p:sp>
        <p:nvSpPr>
          <p:cNvPr id="40" name="actual-runtime-link" descr="Actual runtime: slide 19">
            <a:hlinkClick action="ppaction://hlinksldjump" r:id="rId9"/>
          </p:cNvPr>
          <p:cNvSpPr txBox="1"/>
          <p:nvPr/>
        </p:nvSpPr>
        <p:spPr>
          <a:xfrm>
            <a:off x="502920" y="6364224"/>
            <a:ext cx="3657600" cy="274320"/>
          </a:xfrm>
          <a:prstGeom prst="rect">
            <a:avLst/>
          </a:prstGeom>
          <a:noFill/>
        </p:spPr>
        <p:txBody>
          <a:bodyPr wrap="square" lIns="18288" rIns="18288" tIns="18288" bIns="18288" anchor="t">
            <a:noAutofit/>
          </a:bodyPr>
          <a:lstStyle/>
          <a:p>
            <a:pPr>
              <a:lnSpc>
                <a:spcPct val="102000"/>
              </a:lnSpc>
              <a:spcBef>
                <a:spcPts val="0"/>
              </a:spcBef>
              <a:spcAft>
                <a:spcPts val="0"/>
              </a:spcAft>
            </a:pPr>
            <a:r>
              <a:rPr sz="1600" b="1" i="0">
                <a:solidFill>
                  <a:srgbClr val="173F35"/>
                </a:solidFill>
                <a:latin typeface="Liberation Sans"/>
              </a:rPr>
              <a:t>Actual runtime: slide 19</a:t>
            </a:r>
          </a:p>
        </p:txBody>
      </p:sp>
      <p:pic>
        <p:nvPicPr>
          <p:cNvPr id="41" name="azure-icon-queue-deferred-queues" descr="Official Azure product icon; adjacent native label: Azure Queue Storage."/>
          <p:cNvPicPr>
            <a:picLocks noChangeAspect="1"/>
          </p:cNvPicPr>
          <p:nvPr/>
        </p:nvPicPr>
        <p:blipFill>
          <a:blip r:embed="rId3"/>
          <a:stretch>
            <a:fillRect/>
          </a:stretch>
        </p:blipFill>
        <p:spPr>
          <a:xfrm>
            <a:off x="4498848" y="2171700"/>
            <a:ext cx="265176" cy="265176"/>
          </a:xfrm>
          <a:prstGeom prst="rect">
            <a:avLst/>
          </a:prstGeom>
        </p:spPr>
      </p:pic>
      <p:pic>
        <p:nvPicPr>
          <p:cNvPr id="42" name="azure-icon-aca-deferred-import" descr="Official Azure product icon; adjacent native label: Azure Container Apps."/>
          <p:cNvPicPr>
            <a:picLocks noChangeAspect="1"/>
          </p:cNvPicPr>
          <p:nvPr/>
        </p:nvPicPr>
        <p:blipFill>
          <a:blip r:embed="rId4"/>
          <a:stretch>
            <a:fillRect/>
          </a:stretch>
        </p:blipFill>
        <p:spPr>
          <a:xfrm>
            <a:off x="4498848" y="3717035"/>
            <a:ext cx="265176" cy="265176"/>
          </a:xfrm>
          <a:prstGeom prst="rect">
            <a:avLst/>
          </a:prstGeom>
        </p:spPr>
      </p:pic>
      <p:pic>
        <p:nvPicPr>
          <p:cNvPr id="43" name="azure-icon-blob-deferred-containers" descr="Official Azure product icon; adjacent native label: Azure Blob | DEFERRED."/>
          <p:cNvPicPr>
            <a:picLocks noChangeAspect="1"/>
          </p:cNvPicPr>
          <p:nvPr/>
        </p:nvPicPr>
        <p:blipFill>
          <a:blip r:embed="rId5"/>
          <a:stretch>
            <a:fillRect/>
          </a:stretch>
        </p:blipFill>
        <p:spPr>
          <a:xfrm>
            <a:off x="8385048" y="3717035"/>
            <a:ext cx="265176" cy="265176"/>
          </a:xfrm>
          <a:prstGeom prst="rect">
            <a:avLst/>
          </a:prstGeom>
        </p:spPr>
      </p:pic>
      <p:pic>
        <p:nvPicPr>
          <p:cNvPr id="44" name="azure-icon-edge-deferred-edge" descr="Official Azure product icon; adjacent native label: Azure Front Door Premium/WAF."/>
          <p:cNvPicPr>
            <a:picLocks noChangeAspect="1"/>
          </p:cNvPicPr>
          <p:nvPr/>
        </p:nvPicPr>
        <p:blipFill>
          <a:blip r:embed="rId6"/>
          <a:stretch>
            <a:fillRect/>
          </a:stretch>
        </p:blipFill>
        <p:spPr>
          <a:xfrm>
            <a:off x="612648" y="5161788"/>
            <a:ext cx="265176" cy="2651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Forward — Visible work, explainable decisions</dc:title>
  <dc:subject>Bounded next-stage proposal; not production approval</dc:subject>
  <dc:creator>AMA project</dc:creator>
  <cp:keywords>Zava Forward, retrofit, council, draft, evidence</cp:keywords>
  <dc:description>generated using python-pptx</dc:description>
  <cp:lastModifiedBy>Steve Canny</cp:lastModifiedBy>
  <cp:revision>1</cp:revision>
  <dcterms:created xsi:type="dcterms:W3CDTF">2013-01-27T09:14:16Z</dcterms:created>
  <dcterms:modified xsi:type="dcterms:W3CDTF">2013-01-27T09:15:58Z</dcterms:modified>
  <cp:category>Executive proposal</cp:category>
</cp:coreProperties>
</file>