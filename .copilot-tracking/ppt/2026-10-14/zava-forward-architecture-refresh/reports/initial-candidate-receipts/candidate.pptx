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77" r:id="rId29"/>
    <p:sldId id="268" r:id="rId20"/>
    <p:sldId id="269" r:id="rId21"/>
    <p:sldId id="270" r:id="rId22"/>
    <p:sldId id="271" r:id="rId23"/>
    <p:sldId id="272" r:id="rId24"/>
    <p:sldId id="273" r:id="rId25"/>
    <p:sldId id="274" r:id="rId26"/>
    <p:sldId id="275" r:id="rId27"/>
    <p:sldId id="276" r:id="rId28"/>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13.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Message / evidence limit / planned script:</a:t>
            </a:r>
          </a:p>
          <a:p>
            <a:r>
              <a:t>SLIDE 01 - Back the evidence. Keep the resident promise.</a:t>
            </a:r>
          </a:p>
          <a:p>
            <a:r>
              <a:t>Topic sentinel: request/mission</a:t>
            </a:r>
          </a:p>
          <a:p>
            <a:r>
              <a:t>Message: endorse a bounded next evidence stage, not autonomous rollout.</a:t>
            </a:r>
          </a:p>
          <a:p>
            <a:r>
              <a:t>Status: strategist-recommended proposal; refreshed 14 October 2026.</a:t>
            </a:r>
          </a:p>
          <a:p/>
          <a:p>
            <a:r>
              <a:t>"The outcome is not more agent activity. It is a home handed over</a:t>
            </a:r>
          </a:p>
          <a:p>
            <a:r>
              <a:t>  safely, with the resident's decision respected and the evidence accepted.</a:t>
            </a:r>
          </a:p>
          <a:p>
            <a:r>
              <a:t>  Five bounded service paths now have real technical proof. I recommend</a:t>
            </a:r>
          </a:p>
          <a:p>
            <a:r>
              <a:t>  preparing the next acceptance-and-value proposal, with named owners and</a:t>
            </a:r>
          </a:p>
          <a:p>
            <a:r>
              <a:t>  stop tests. This is not a spending, deployment or production decision."</a:t>
            </a:r>
          </a:p>
          <a:p>
            <a:r>
              <a:t>* Transition: "The original request identifies five genuine pressure points."</a:t>
            </a:r>
          </a:p>
          <a:p/>
          <a:p>
            <a:r>
              <a:t>Sources — workspace-relative paths, section and evidence status; as read 14 October 2026:</a:t>
            </a:r>
          </a:p>
          <a:p>
            <a:r>
              <a:t>S01: docs/case_study_48_original.md, Business Challenge; Architecture Brief; Expected Outcomes. Status: Original 10 September request; 60,000-home case, five pressure points, not achieved benefits.</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S03: docs/reference/research/company/company-profile-research.md, Confirmed Company Information; Role and Decision Map; Priority Company Gaps; Evidence Limitations. Status: Owner-confirmed not-for-profit; modelled company/resident/finance attributes are not company facts or delegations.</a:t>
            </a:r>
          </a:p>
          <a:p>
            <a:r>
              <a:t>S09: infra/README.md, Five-assistant version: current handover. Status: Exact serving/source/model/SQL/restart receipt and authority-off state, 14 October; no fresh cloud inspection in this task.</a:t>
            </a:r>
          </a:p>
          <a:p>
            <a:r>
              <a:t>S10: .copilot-tracking/reviews/logs/2026-10-14/five-assistant-live-delivery-review.md, Completed Work; Validation; RV-001/RV-002; Outcome. Status: Technical Review Complete / Residual work, not blanket product conformance.</a:t>
            </a:r>
          </a:p>
          <a:p/>
          <a:p>
            <a:r>
              <a:t>Planned allocation: 35 seconds; not rehearsed.</a:t>
            </a:r>
          </a:p>
          <a:p/>
          <a:p>
            <a:r>
              <a:t>REFRESH BASELINE / UN SPOKEN REFERENCE: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p/>
          <a:p>
            <a:r>
              <a:t>RETAINED BASELINE VISIBLE COPY / TRACEABILITY, UNSPOKEN:</a:t>
            </a:r>
          </a:p>
          <a:p>
            <a:r>
              <a:t>Historical wording below is retained, not promoted to current fact or permission. Current oracle/status and refreshed visible copy govern. In particular, old 'gates OPEN' meant outstanding acceptance, not permission; Excel reporting is a conditional intended transition, not delivered integration.</a:t>
            </a:r>
          </a:p>
          <a:p>
            <a:r>
              <a:t>Back the evidence. Keep the resident promise.</a:t>
            </a:r>
          </a:p>
          <a:p>
            <a:r>
              <a:t>60,000 homes.</a:t>
            </a:r>
          </a:p>
          <a:p>
            <a:r>
              <a:t>Safe, resident-accepted</a:t>
            </a:r>
          </a:p>
          <a:p>
            <a:r>
              <a:t>handovers.</a:t>
            </a:r>
          </a:p>
          <a:p>
            <a:r>
              <a:t>Real service proof now.</a:t>
            </a:r>
          </a:p>
          <a:p>
            <a:r>
              <a:t>Human and value gates next.</a:t>
            </a:r>
          </a:p>
          <a:p>
            <a:r>
              <a:t>TODAY’S DECISION</a:t>
            </a:r>
          </a:p>
          <a:p>
            <a:r>
              <a:t>Endorse the next</a:t>
            </a:r>
          </a:p>
          <a:p>
            <a:r>
              <a:t>acceptance-and-value</a:t>
            </a:r>
          </a:p>
          <a:p>
            <a:r>
              <a:t>proposal.</a:t>
            </a:r>
          </a:p>
          <a:p>
            <a:r>
              <a:t>Proposal only — no new spending or production authority.</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Message / evidence limit / planned script:</a:t>
            </a:r>
          </a:p>
          <a:p>
            <a:r>
              <a:t>SLIDE 02 - Five pressure points. One accepted home.</a:t>
            </a:r>
          </a:p>
          <a:p>
            <a:r>
              <a:t>Topic sentinel: five asks</a:t>
            </a:r>
          </a:p>
          <a:p>
            <a:r>
              <a:t>Message: keep the five requested capabilities accountable to the same endpoint.</a:t>
            </a:r>
          </a:p>
          <a:p>
            <a:r>
              <a:t>Status: strategist-recommended proposal; refreshed 14 October 2026.</a:t>
            </a:r>
          </a:p>
          <a:p/>
          <a:p>
            <a:r>
              <a:t>"You asked for help with prioritisation, assessment, funding,</a:t>
            </a:r>
          </a:p>
          <a:p>
            <a:r>
              <a:t>  coordination and quality. That request remains the spine of the proposal.</a:t>
            </a:r>
          </a:p>
          <a:p>
            <a:r>
              <a:t>  Doubling delivery and reducing bills were ambitions in the original case,</a:t>
            </a:r>
          </a:p>
          <a:p>
            <a:r>
              <a:t>  not outcomes this exercise has established. A better draft does not</a:t>
            </a:r>
          </a:p>
          <a:p>
            <a:r>
              <a:t>  manufacture a survey, a crew, consent or cash."</a:t>
            </a:r>
          </a:p>
          <a:p>
            <a:r>
              <a:t>* Transition: "We challenged what each end-to-end request actually contains."</a:t>
            </a:r>
          </a:p>
          <a:p/>
          <a:p>
            <a:r>
              <a:t>Sources — workspace-relative paths, section and evidence status; as read 14 October 2026:</a:t>
            </a:r>
          </a:p>
          <a:p>
            <a:r>
              <a:t>S01: docs/case_study_48_original.md, Business Challenge; Architecture Brief; Expected Outcomes. Status: Original 10 September request; 60,000-home case, five pressure points, not achieved benefits.</a:t>
            </a:r>
          </a:p>
          <a:p>
            <a:r>
              <a:t>S02: docs/case_study_48_addendum.md, Business Challenge; Executive Assessment; Digital Foundation; Where Agents Fit; Recommended Executive Decision. Status: Maintained 14 October synthesis and proposed controls; bottleneck/outcomes not verified company findings.</a:t>
            </a:r>
          </a:p>
          <a:p/>
          <a:p>
            <a:r>
              <a:t>Planned allocation: 25 seconds; not rehearsed.</a:t>
            </a:r>
          </a:p>
          <a:p/>
          <a:p>
            <a:r>
              <a:t>REFRESH BASELINE / UN SPOKEN REFERENCE: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p/>
          <a:p>
            <a:r>
              <a:t>RETAINED BASELINE VISIBLE COPY / TRACEABILITY, UNSPOKEN:</a:t>
            </a:r>
          </a:p>
          <a:p>
            <a:r>
              <a:t>Historical wording below is retained, not promoted to current fact or permission. Current oracle/status and refreshed visible copy govern. In particular, old 'gates OPEN' meant outstanding acceptance, not permission; Excel reporting is a conditional intended transition, not delivered integration.</a:t>
            </a:r>
          </a:p>
          <a:p>
            <a:r>
              <a:t>Five pressure points. One accepted home.</a:t>
            </a:r>
          </a:p>
          <a:p>
            <a:r>
              <a:t>Choose</a:t>
            </a:r>
          </a:p>
          <a:p>
            <a:r>
              <a:t>homes</a:t>
            </a:r>
          </a:p>
          <a:p>
            <a:r>
              <a:t>Prioritisation</a:t>
            </a:r>
          </a:p>
          <a:p>
            <a:r>
              <a:t>Assess &amp;</a:t>
            </a:r>
          </a:p>
          <a:p>
            <a:r>
              <a:t>design</a:t>
            </a:r>
          </a:p>
          <a:p>
            <a:r>
              <a:t>Assessment</a:t>
            </a:r>
          </a:p>
          <a:p>
            <a:r>
              <a:t>Prepare</a:t>
            </a:r>
          </a:p>
          <a:p>
            <a:r>
              <a:t>funding</a:t>
            </a:r>
          </a:p>
          <a:p>
            <a:r>
              <a:t>Evidence</a:t>
            </a:r>
          </a:p>
          <a:p>
            <a:r>
              <a:t>Coordinate</a:t>
            </a:r>
          </a:p>
          <a:p>
            <a:r>
              <a:t>works</a:t>
            </a:r>
          </a:p>
          <a:p>
            <a:r>
              <a:t>Delivery</a:t>
            </a:r>
          </a:p>
          <a:p>
            <a:r>
              <a:t>Verify &amp;</a:t>
            </a:r>
          </a:p>
          <a:p>
            <a:r>
              <a:t>hand over</a:t>
            </a:r>
          </a:p>
          <a:p>
            <a:r>
              <a:t>Quality</a:t>
            </a:r>
          </a:p>
          <a:p>
            <a:r>
              <a:t>Safe + resident-accepted + evidence-complete</a:t>
            </a:r>
          </a:p>
          <a:p>
            <a:r>
              <a:t>Measure accepted outcomes, not messages or drafts.</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Message / evidence limit / planned script:</a:t>
            </a:r>
          </a:p>
          <a:p>
            <a:r>
              <a:t>SLIDE 03 - Each request needs rules, people and bounded AI.</a:t>
            </a:r>
          </a:p>
          <a:p>
            <a:r>
              <a:t>Topic sentinel: research reversal</a:t>
            </a:r>
          </a:p>
          <a:p>
            <a:r>
              <a:t>Message: the research changed task allocation, not the resident objective.</a:t>
            </a:r>
          </a:p>
          <a:p>
            <a:r>
              <a:t>Status: strategist-recommended proposal; refreshed 14 October 2026.</a:t>
            </a:r>
          </a:p>
          <a:p/>
          <a:p>
            <a:r>
              <a:t>"Eight sector-informed role-agent perspectives challenged the</a:t>
            </a:r>
          </a:p>
          <a:p>
            <a:r>
              <a:t>  request; they are research instruments, not the company's staff or</a:t>
            </a:r>
          </a:p>
          <a:p>
            <a:r>
              <a:t>  approvers. Each request combines deterministic controls, accountable</a:t>
            </a:r>
          </a:p>
          <a:p>
            <a:r>
              <a:t>  decisions and narrower text/evidence tasks. Richer inputs do not remove</a:t>
            </a:r>
          </a:p>
          <a:p>
            <a:r>
              <a:t>  those boundaries. The binding delivery constraint is still unknown:</a:t>
            </a:r>
          </a:p>
          <a:p>
            <a:r>
              <a:t>  capital, competent capacity, access or quality may dominate coordination."</a:t>
            </a:r>
          </a:p>
          <a:p>
            <a:r>
              <a:t>* Transition: "Three examples explain why that changes the build."</a:t>
            </a:r>
          </a:p>
          <a:p/>
          <a:p>
            <a:r>
              <a:t>Sources — workspace-relative paths, section and evidence status; as read 14 October 2026:</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S04: docs/reference/research/company/agent-request-challenge.md, Summary and capability sections; docs/reference/research/company/agent-what-if-study.md, method and revised verdicts, as carried in S02. Status: Sector-informed role-agent hypotheses, not employee interviews or resident testimony.</a:t>
            </a:r>
          </a:p>
          <a:p/>
          <a:p>
            <a:r>
              <a:t>Planned allocation: 35 seconds; not rehearsed.</a:t>
            </a:r>
          </a:p>
          <a:p/>
          <a:p>
            <a:r>
              <a:t>REFRESH BASELINE / UN SPOKEN REFERENCE: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p>
            <a:r>
              <a:t>Spoken transition: That tells us where AI may help, not which platform should win.</a:t>
            </a:r>
          </a:p>
          <a:p>
            <a:r>
              <a:t>Retained slide4 prerequisite: Rank homes = approved policy plus sourced facts. Original example and notes:</a:t>
            </a:r>
          </a:p>
          <a:p>
            <a:r>
              <a:t>SLIDE 04 — Fix the prerequisite before adding the assist.</a:t>
            </a:r>
          </a:p>
          <a:p>
            <a:r>
              <a:t>Topic sentinel: prerequisite examples</a:t>
            </a:r>
          </a:p>
          <a:p>
            <a:r>
              <a:t>Message: safe assistance depends on controlled inputs and separate decisions.</a:t>
            </a:r>
          </a:p>
          <a:p>
            <a:r>
              <a:t>Status: strategist-recommended proposal; refreshed 14 October 2026.</a:t>
            </a:r>
          </a:p>
          <a:p/>
          <a:p>
            <a:r>
              <a:t>"Ranking weights are policy, not a model's choice. A schedule</a:t>
            </a:r>
          </a:p>
          <a:p>
            <a:r>
              <a:t>  requires competent committed capacity and an informed resident decision.</a:t>
            </a:r>
          </a:p>
          <a:p>
            <a:r>
              <a:t>  A funding pack needs the right evidence, route and Finance review.</a:t>
            </a:r>
          </a:p>
          <a:p>
            <a:r>
              <a:t>  Application, award, claim and cash are different. These research hypotheses</a:t>
            </a:r>
          </a:p>
          <a:p>
            <a:r>
              <a:t>  explain the prerequisite controls; they are not measured company bottlenecks."</a:t>
            </a:r>
          </a:p>
          <a:p>
            <a:r>
              <a:t>* Transition: "The shared foundation makes those prerequisites visible."</a:t>
            </a:r>
          </a:p>
          <a:p/>
          <a:p>
            <a:r>
              <a:t>Sources — workspace-relative paths, section and evidence status; as read 14 October 2026:</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S04: docs/reference/research/company/agent-request-challenge.md, Summary and capability sections; docs/reference/research/company/agent-what-if-study.md, method and revised verdicts, as carried in S02. Status: Sector-informed role-agent hypotheses, not employee interviews or resident testimony.</a:t>
            </a:r>
          </a:p>
          <a:p/>
          <a:p>
            <a:r>
              <a:t>Planned allocation: 35 seconds; not rehearsed.</a:t>
            </a:r>
          </a:p>
          <a:p/>
          <a:p>
            <a:r>
              <a:t>RETAINED BASELINE VISIBLE COPY / TRACEABILITY, UNSPOKEN:</a:t>
            </a:r>
          </a:p>
          <a:p>
            <a:r>
              <a:t>Historical wording below is retained, not promoted to current fact or permission. Current oracle/status and refreshed visible copy govern. In particular, old 'gates OPEN' meant outstanding acceptance, not permission; Excel reporting is a conditional intended transition, not delivered integration.</a:t>
            </a:r>
          </a:p>
          <a:p>
            <a:r>
              <a:t>Each request needs rules, people and bounded AI.</a:t>
            </a:r>
          </a:p>
          <a:p>
            <a:r>
              <a:t>Rules</a:t>
            </a:r>
          </a:p>
          <a:p>
            <a:r>
              <a:t>Gates, clocks,</a:t>
            </a:r>
          </a:p>
          <a:p>
            <a:r>
              <a:t>eligibility, versions.</a:t>
            </a:r>
          </a:p>
          <a:p>
            <a:r>
              <a:t>People</a:t>
            </a:r>
          </a:p>
          <a:p>
            <a:r>
              <a:t>Policy, consent,</a:t>
            </a:r>
          </a:p>
          <a:p>
            <a:r>
              <a:t>professional and</a:t>
            </a:r>
          </a:p>
          <a:p>
            <a:r>
              <a:t>financial decisions.</a:t>
            </a:r>
          </a:p>
          <a:p>
            <a:r>
              <a:t>Bounded AI</a:t>
            </a:r>
          </a:p>
          <a:p>
            <a:r>
              <a:t>Reconcile, prepare,</a:t>
            </a:r>
          </a:p>
          <a:p>
            <a:r>
              <a:t>draft, flag.</a:t>
            </a:r>
          </a:p>
          <a:p>
            <a:r>
              <a:t>Eight role-agent research instruments — not employee interviews.</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Message / evidence limit / planned script:</a:t>
            </a:r>
          </a:p>
          <a:p>
            <a:r>
              <a:t>SLIDE 04 - Compare routes; keep the exercise choice provisional.</a:t>
            </a:r>
          </a:p>
          <a:p>
            <a:r>
              <a:t>Topic sentinel: prerequisite examples</a:t>
            </a:r>
          </a:p>
          <a:p>
            <a:r>
              <a:t>Message: safe assistance depends on controlled inputs and separate decisions.</a:t>
            </a:r>
          </a:p>
          <a:p>
            <a:r>
              <a:t>Status: strategist-recommended proposal; refreshed 14 October 2026.</a:t>
            </a:r>
          </a:p>
          <a:p/>
          <a:p>
            <a:r>
              <a:t>"Ranking weights are policy, not a model's choice. A schedule</a:t>
            </a:r>
          </a:p>
          <a:p>
            <a:r>
              <a:t>  requires competent committed capacity and an informed resident decision.</a:t>
            </a:r>
          </a:p>
          <a:p>
            <a:r>
              <a:t>  A funding pack needs the right evidence, route and Finance review.</a:t>
            </a:r>
          </a:p>
          <a:p>
            <a:r>
              <a:t>  Application, award, claim and cash are different. These research hypotheses</a:t>
            </a:r>
          </a:p>
          <a:p>
            <a:r>
              <a:t>  explain the prerequisite controls; they are not measured company bottlenecks."</a:t>
            </a:r>
          </a:p>
          <a:p>
            <a:r>
              <a:t>* Transition: "The shared foundation makes those prerequisites visible."</a:t>
            </a:r>
          </a:p>
          <a:p/>
          <a:p>
            <a:r>
              <a:t>Sources — workspace-relative paths, section and evidence status; as read 14 October 2026:</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S04: docs/reference/research/company/agent-request-challenge.md, Summary and capability sections; docs/reference/research/company/agent-what-if-study.md, method and revised verdicts, as carried in S02. Status: Sector-informed role-agent hypotheses, not employee interviews or resident testimony.</a:t>
            </a:r>
          </a:p>
          <a:p/>
          <a:p>
            <a:r>
              <a:t>Planned allocation: 40 seconds; not rehearsed.</a:t>
            </a:r>
          </a:p>
          <a:p/>
          <a:p>
            <a:r>
              <a:t>REFRESH BASELINE / UN SPOKEN REFERENCE: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p>
            <a:r>
              <a:t>Spoken transition: Whichever route wins, the people and accountable services stay.</a:t>
            </a:r>
          </a:p>
          <a:p/>
          <a:p>
            <a:r>
              <a:t>RETAINED BASELINE VISIBLE COPY / TRACEABILITY, UNSPOKEN:</a:t>
            </a:r>
          </a:p>
          <a:p>
            <a:r>
              <a:t>Historical wording below is retained, not promoted to current fact or permission. Current oracle/status and refreshed visible copy govern. In particular, old 'gates OPEN' meant outstanding acceptance, not permission; Excel reporting is a conditional intended transition, not delivered integration.</a:t>
            </a:r>
          </a:p>
          <a:p>
            <a:r>
              <a:t>Fix the prerequisite before adding the assist.</a:t>
            </a:r>
          </a:p>
          <a:p>
            <a:r>
              <a:t>Rank homes</a:t>
            </a:r>
          </a:p>
          <a:p>
            <a:r>
              <a:t>Approved policy</a:t>
            </a:r>
          </a:p>
          <a:p>
            <a:r>
              <a:t>+</a:t>
            </a:r>
          </a:p>
          <a:p>
            <a:r>
              <a:t>sourced facts.</a:t>
            </a:r>
          </a:p>
          <a:p>
            <a:r>
              <a:t>Offer a slot</a:t>
            </a:r>
          </a:p>
          <a:p>
            <a:r>
              <a:t>Committed capacity</a:t>
            </a:r>
          </a:p>
          <a:p>
            <a:r>
              <a:t>+</a:t>
            </a:r>
          </a:p>
          <a:p>
            <a:r>
              <a:t>resident choice.</a:t>
            </a:r>
          </a:p>
          <a:p>
            <a:r>
              <a:t>Draft funding</a:t>
            </a:r>
          </a:p>
          <a:p>
            <a:r>
              <a:t>Accepted evidence</a:t>
            </a:r>
          </a:p>
          <a:p>
            <a:r>
              <a:t>+</a:t>
            </a:r>
          </a:p>
          <a:p>
            <a:r>
              <a:t>separate ledger states.</a:t>
            </a:r>
          </a:p>
          <a:p>
            <a:r>
              <a:t>A slot is not consent. A form is not funding.</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Message / evidence limit / planned script:</a:t>
            </a:r>
          </a:p>
          <a:p>
            <a:r>
              <a:t>SLIDE 05 - Change the handoffs, not the whole company.</a:t>
            </a:r>
          </a:p>
          <a:p>
            <a:r>
              <a:t>Topic sentinel: shared foundation</a:t>
            </a:r>
          </a:p>
          <a:p>
            <a:r>
              <a:t>Message: modernise coordination around existing people and systems.</a:t>
            </a:r>
          </a:p>
          <a:p>
            <a:r>
              <a:t>Status: strategist-recommended proposal; refreshed 14 October 2026.</a:t>
            </a:r>
          </a:p>
          <a:p/>
          <a:p>
            <a:r>
              <a:t>"The proposal is a programme control and evidence layer, not</a:t>
            </a:r>
          </a:p>
          <a:p>
            <a:r>
              <a:t>  replacement of the housing organisation. Keep useful systems, teams and</a:t>
            </a:r>
          </a:p>
          <a:p>
            <a:r>
              <a:t>  suppliers. Introduce an owned case and a controlled transition from source</a:t>
            </a:r>
          </a:p>
          <a:p>
            <a:r>
              <a:t>  spreadsheets to API-fed reporting. Neither the integration nor the reduction</a:t>
            </a:r>
          </a:p>
          <a:p>
            <a:r>
              <a:t>  in duplicate effort is accepted simply because it appears in the design."</a:t>
            </a:r>
          </a:p>
          <a:p>
            <a:r>
              <a:t>* Transition: "A handoff becomes useful when its contract is explicit."</a:t>
            </a:r>
          </a:p>
          <a:p/>
          <a:p>
            <a:r>
              <a:t>Sources — workspace-relative paths, section and evidence status; as read 14 October 2026:</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S12: docs/adrs/0001-azure-architecture.md, Hybrid M365 and Excel transition; Options still to compare; provisional appraisal. Status: Proposed transition/full topology and historical illustration, not current deployment or scored customer platform choice.</a:t>
            </a:r>
          </a:p>
          <a:p/>
          <a:p>
            <a:r>
              <a:t>Planned allocation: 25 seconds; not rehearsed.</a:t>
            </a:r>
          </a:p>
          <a:p/>
          <a:p>
            <a:r>
              <a:t>REFRESH BASELINE / UN SPOKEN REFERENCE: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p>
            <a:r>
              <a:t>Retained slide10 context, source authority and proposed integration (not delivered):</a:t>
            </a:r>
          </a:p>
          <a:p>
            <a:r>
              <a:t>SLIDE 10 — One workbench beside the systems you keep.</a:t>
            </a:r>
          </a:p>
          <a:p>
            <a:r>
              <a:t>Topic sentinel: system context</a:t>
            </a:r>
          </a:p>
          <a:p>
            <a:r>
              <a:t>Message: retain source ownership while connecting case work.</a:t>
            </a:r>
          </a:p>
          <a:p>
            <a:r>
              <a:t>Status: strategist-recommended proposal; refreshed 14 October 2026.</a:t>
            </a:r>
          </a:p>
          <a:p/>
          <a:p>
            <a:r>
              <a:t>"The arrow is from source material into validated intake, not an</a:t>
            </a:r>
          </a:p>
          <a:p>
            <a:r>
              <a:t>  uncontrolled write-back loop. The case connects home, building and package</a:t>
            </a:r>
          </a:p>
          <a:p>
            <a:r>
              <a:t>  context with roles and evidence. Residents and suppliers need supported,</a:t>
            </a:r>
          </a:p>
          <a:p>
            <a:r>
              <a:t>  scoped exchange, not open access to the internal staff workbench.</a:t>
            </a:r>
          </a:p>
          <a:p>
            <a:r>
              <a:t>  Housing/repairs integrations, M365 document channels and import transition</a:t>
            </a:r>
          </a:p>
          <a:p>
            <a:r>
              <a:t>  remain proposals or unverified. An integration picture is not a deployed</a:t>
            </a:r>
          </a:p>
          <a:p>
            <a:r>
              <a:t>  connection receipt."</a:t>
            </a:r>
          </a:p>
          <a:p>
            <a:r>
              <a:t>* Transition: "The API is the authority boundary, not the model."</a:t>
            </a:r>
          </a:p>
          <a:p/>
          <a:p>
            <a:r>
              <a:t>Sources — workspace-relative paths, section and evidence status; as read 14 October 2026:</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S11: mvp/README.md, Honest limits; Five retrofit assistants; Operator authority; current delivery paragraphs; mvp/zavaforward_mvp/assistants.py, REGISTRY/RULES/capture/eligible/review. Status: Source and documented implementation; captured metadata/category citations, not unrestricted document reading, human source review or semantic entailment.</a:t>
            </a:r>
          </a:p>
          <a:p>
            <a:r>
              <a:t>S12: docs/adrs/0001-azure-architecture.md, Hybrid M365 and Excel transition; Options still to compare; provisional appraisal. Status: Proposed transition/full topology and historical illustration, not current deployment or scored customer platform choice.</a:t>
            </a:r>
          </a:p>
          <a:p/>
          <a:p>
            <a:r>
              <a:t>Planned allocation: 30 seconds; not rehearsed.</a:t>
            </a:r>
          </a:p>
          <a:p>
            <a:r>
              <a:t>ZAVA NORTH HOMES  /  ZAVA FORWARD  /  EXECUTIVE PROPOSAL</a:t>
            </a:r>
          </a:p>
          <a:p/>
          <a:p/>
          <a:p>
            <a:r>
              <a:t>One workbench beside the systems you keep.</a:t>
            </a:r>
          </a:p>
          <a:p>
            <a:r>
              <a:t>14 OCT 2026  •  S07 / S11 / S12  •  Sources + status in notes</a:t>
            </a:r>
          </a:p>
          <a:p>
            <a:r>
              <a:t>10 / 22</a:t>
            </a:r>
          </a:p>
          <a:p/>
          <a:p>
            <a:r>
              <a:t>Existing sources</a:t>
            </a:r>
          </a:p>
          <a:p>
            <a:r>
              <a:t>Housing / repairs</a:t>
            </a:r>
          </a:p>
          <a:p>
            <a:r>
              <a:t>Documents / spreadsheets</a:t>
            </a:r>
          </a:p>
          <a:p>
            <a:r>
              <a:t>Source owners retain authority.</a:t>
            </a:r>
          </a:p>
          <a:p/>
          <a:p>
            <a:r>
              <a:t>Shared case</a:t>
            </a:r>
          </a:p>
          <a:p>
            <a:r>
              <a:t>Validated intake</a:t>
            </a:r>
          </a:p>
          <a:p>
            <a:r>
              <a:t>Versions + owned work</a:t>
            </a:r>
          </a:p>
          <a:p>
            <a:r>
              <a:t>No uncontrolled write-back.</a:t>
            </a:r>
          </a:p>
          <a:p/>
          <a:p>
            <a:r>
              <a:t>People + channels</a:t>
            </a:r>
          </a:p>
          <a:p>
            <a:r>
              <a:t>Role queues</a:t>
            </a:r>
          </a:p>
          <a:p>
            <a:r>
              <a:t>Supported resident routes</a:t>
            </a:r>
          </a:p>
          <a:p>
            <a:r>
              <a:t>Scoped supplier exchange.</a:t>
            </a:r>
          </a:p>
          <a:p/>
          <a:p/>
          <a:p/>
          <a:p>
            <a:r>
              <a:t>Target context — links proposed, not all delivered. Excel reports.</a:t>
            </a:r>
          </a:p>
          <a:p/>
          <a:p>
            <a:r>
              <a:t>RETAINED BASELINE VISIBLE COPY / TRACEABILITY, UNSPOKEN:</a:t>
            </a:r>
          </a:p>
          <a:p>
            <a:r>
              <a:t>Historical wording below is retained, not promoted to current fact or permission. Current oracle/status and refreshed visible copy govern. In particular, old 'gates OPEN' meant outstanding acceptance, not permission; Excel reporting is a conditional intended transition, not delivered integration.</a:t>
            </a:r>
          </a:p>
          <a:p>
            <a:r>
              <a:t>Change the handoffs, not the whole company.</a:t>
            </a:r>
          </a:p>
          <a:p>
            <a:r>
              <a:t>KEEP</a:t>
            </a:r>
          </a:p>
          <a:p>
            <a:r>
              <a:t>Teams, suppliers,</a:t>
            </a:r>
          </a:p>
          <a:p>
            <a:r>
              <a:t>useful systems.</a:t>
            </a:r>
          </a:p>
          <a:p>
            <a:r>
              <a:t>ADD</a:t>
            </a:r>
          </a:p>
          <a:p>
            <a:r>
              <a:t>One case, owned transitions,</a:t>
            </a:r>
          </a:p>
          <a:p>
            <a:r>
              <a:t>evidence, bounded assistance.</a:t>
            </a:r>
          </a:p>
          <a:p>
            <a:r>
              <a:t>Excel becomes reporting after a controlled transition.</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Message / evidence limit / planned script:</a:t>
            </a:r>
          </a:p>
          <a:p>
            <a:r>
              <a:t>SLIDE 06 - Every handoff needs an owner and a next action.</a:t>
            </a:r>
          </a:p>
          <a:p>
            <a:r>
              <a:t>Topic sentinel: work contract</a:t>
            </a:r>
          </a:p>
          <a:p>
            <a:r>
              <a:t>Message: observable work starts with a work contract, not a dashboard.</a:t>
            </a:r>
          </a:p>
          <a:p>
            <a:r>
              <a:t>Status: strategist-recommended proposal; refreshed 14 October 2026.</a:t>
            </a:r>
          </a:p>
          <a:p/>
          <a:p>
            <a:r>
              <a:t>"The sender retains chase responsibility until the receiver</a:t>
            </a:r>
          </a:p>
          <a:p>
            <a:r>
              <a:t>  accepts. Record the next action, resident-update owner and relevant clocks.</a:t>
            </a:r>
          </a:p>
          <a:p>
            <a:r>
              <a:t>  Material evidence changes reopen dependent reviews, not unrelated sibling</a:t>
            </a:r>
          </a:p>
          <a:p>
            <a:r>
              <a:t>  decisions. Recording itself costs effort; include it in the value test.</a:t>
            </a:r>
          </a:p>
          <a:p>
            <a:r>
              <a:t>  Hazard intake remains independent of routine handoff waiting."</a:t>
            </a:r>
          </a:p>
          <a:p>
            <a:r>
              <a:t>* Transition: "Follow that contract through one home."</a:t>
            </a:r>
          </a:p>
          <a:p/>
          <a:p>
            <a:r>
              <a:t>Sources — workspace-relative paths, section and evidence status; as read 14 October 2026:</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S05: docs/reference/research/company/pilot-measurement-challenge.md, Owner Decision; Proposed Measurement Design; Freeze/Analysis; Guardrails. Status: Proposed comparisons and protected outcomes, not executed experiments.</a:t>
            </a:r>
          </a:p>
          <a:p>
            <a:r>
              <a:t>S06: docs/case_study_48_addendum.md, EXA-002/003/004/005/007/008/010/011/012/013/015; Numerical Targets and Attribution; Subsequent Application Exercise Builds. Status: Historical selected exercise assumptions; explicitly fictional costs/terms, not budgets, awards or current open authority.</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p>
            <a:r>
              <a:t>Planned allocation: 30 seconds; not rehearsed.</a:t>
            </a:r>
          </a:p>
          <a:p/>
          <a:p>
            <a:r>
              <a:t>REFRESH BASELINE / UN SPOKEN REFERENCE: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p/>
          <a:p>
            <a:r>
              <a:t>RETAINED BASELINE VISIBLE COPY / TRACEABILITY, UNSPOKEN:</a:t>
            </a:r>
          </a:p>
          <a:p>
            <a:r>
              <a:t>Historical wording below is retained, not promoted to current fact or permission. Current oracle/status and refreshed visible copy govern. In particular, old 'gates OPEN' meant outstanding acceptance, not permission; Excel reporting is a conditional intended transition, not delivered integration.</a:t>
            </a:r>
          </a:p>
          <a:p>
            <a:r>
              <a:t>Every handoff needs an owner and a next action.</a:t>
            </a:r>
          </a:p>
          <a:p>
            <a:r>
              <a:t>Owner + receiver</a:t>
            </a:r>
          </a:p>
          <a:p>
            <a:r>
              <a:t>Sender chases until accepted.</a:t>
            </a:r>
          </a:p>
          <a:p>
            <a:r>
              <a:t>State</a:t>
            </a:r>
          </a:p>
          <a:p>
            <a:r>
              <a:t>What is actually true now?</a:t>
            </a:r>
          </a:p>
          <a:p>
            <a:r>
              <a:t>Entry, exit, pause</a:t>
            </a:r>
          </a:p>
          <a:p>
            <a:r>
              <a:t>Explicit conditions and holds.</a:t>
            </a:r>
          </a:p>
          <a:p>
            <a:r>
              <a:t>Blocker + next action</a:t>
            </a:r>
          </a:p>
          <a:p>
            <a:r>
              <a:t>Named action and update owner.</a:t>
            </a:r>
          </a:p>
          <a:p>
            <a:r>
              <a:t>Evidence version</a:t>
            </a:r>
          </a:p>
          <a:p>
            <a:r>
              <a:t>Reopen dependent reviews.</a:t>
            </a:r>
          </a:p>
          <a:p>
            <a:r>
              <a:t>Decision + reason</a:t>
            </a:r>
          </a:p>
          <a:p>
            <a:r>
              <a:t>Authority, rationale, history.</a:t>
            </a:r>
          </a:p>
          <a:p>
            <a:r>
              <a:t>Sent ≠ accepted. Completed ≠ handed over.</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Message / evidence limit / planned script:</a:t>
            </a:r>
          </a:p>
          <a:p>
            <a:r>
              <a:t>SLIDE 07 - One home shows the journey we still need to prove.</a:t>
            </a:r>
          </a:p>
          <a:p>
            <a:r>
              <a:t>Topic sentinel: connected journey</a:t>
            </a:r>
          </a:p>
          <a:p>
            <a:r>
              <a:t>Message: the connected target is broader than the observed service proof.</a:t>
            </a:r>
          </a:p>
          <a:p>
            <a:r>
              <a:t>Status: strategist-recommended proposal; refreshed 14 October 2026.</a:t>
            </a:r>
          </a:p>
          <a:p/>
          <a:p>
            <a:r>
              <a:t>"Imagine one home with conflicting EPC sources. The dependent</a:t>
            </a:r>
          </a:p>
          <a:p>
            <a:r>
              <a:t>  decision waits for a named resolver. Competent assessment and design,</a:t>
            </a:r>
          </a:p>
          <a:p>
            <a:r>
              <a:t>  resident measure choice, funding and capacity precede work release.</a:t>
            </a:r>
          </a:p>
          <a:p>
            <a:r>
              <a:t>  Returned evidence may reveal a defect: an independent authority sends it</a:t>
            </a:r>
          </a:p>
          <a:p>
            <a:r>
              <a:t>  back, then accepts corrected work. Resident handover and financial closure</a:t>
            </a:r>
          </a:p>
          <a:p>
            <a:r>
              <a:t>  are separate. This is the required connected story, not proof those steps</a:t>
            </a:r>
          </a:p>
          <a:p>
            <a:r>
              <a:t>  have all run. The current technical receipt later proves proposal generation</a:t>
            </a:r>
          </a:p>
          <a:p>
            <a:r>
              <a:t>  and durability, not physical delivery or this whole workflow."</a:t>
            </a:r>
          </a:p>
          <a:p>
            <a:r>
              <a:t>* Transition: "The resident and crew make that journey possible."</a:t>
            </a:r>
          </a:p>
          <a:p/>
          <a:p>
            <a:r>
              <a:t>Sources — workspace-relative paths, section and evidence status; as read 14 October 2026:</a:t>
            </a:r>
          </a:p>
          <a:p>
            <a:r>
              <a:t>S06: docs/case_study_48_addendum.md, EXA-002/003/004/005/007/008/010/011/012/013/015; Numerical Targets and Attribution; Subsequent Application Exercise Builds. Status: Historical selected exercise assumptions; explicitly fictional costs/terms, not budgets, awards or current open authority.</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p>
            <a:r>
              <a:t>Planned allocation: 60 seconds; not rehearsed.</a:t>
            </a:r>
          </a:p>
          <a:p/>
          <a:p>
            <a:r>
              <a:t>REFRESH BASELINE / UN SPOKEN REFERENCE: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p/>
          <a:p>
            <a:r>
              <a:t>RETAINED BASELINE VISIBLE COPY / TRACEABILITY, UNSPOKEN:</a:t>
            </a:r>
          </a:p>
          <a:p>
            <a:r>
              <a:t>Historical wording below is retained, not promoted to current fact or permission. Current oracle/status and refreshed visible copy govern. In particular, old 'gates OPEN' meant outstanding acceptance, not permission; Excel reporting is a conditional intended transition, not delivered integration.</a:t>
            </a:r>
          </a:p>
          <a:p>
            <a:r>
              <a:t>One home shows the journey we still need to prove.</a:t>
            </a:r>
          </a:p>
          <a:p>
            <a:r>
              <a:t>1  Resolve</a:t>
            </a:r>
          </a:p>
          <a:p>
            <a:r>
              <a:t>Conflicting evidence.</a:t>
            </a:r>
          </a:p>
          <a:p>
            <a:r>
              <a:t>Named resolver.</a:t>
            </a:r>
          </a:p>
          <a:p>
            <a:r>
              <a:t>2  Agree</a:t>
            </a:r>
          </a:p>
          <a:p>
            <a:r>
              <a:t>Scope, resident choice,</a:t>
            </a:r>
          </a:p>
          <a:p>
            <a:r>
              <a:t>funding, capacity.</a:t>
            </a:r>
          </a:p>
          <a:p>
            <a:r>
              <a:t>3  Deliver</a:t>
            </a:r>
          </a:p>
          <a:p>
            <a:r>
              <a:t>Inspect work.</a:t>
            </a:r>
          </a:p>
          <a:p>
            <a:r>
              <a:t>Return defects.</a:t>
            </a:r>
          </a:p>
          <a:p>
            <a:r>
              <a:t>4  Accept</a:t>
            </a:r>
          </a:p>
          <a:p>
            <a:r>
              <a:t>Resident handover.</a:t>
            </a:r>
          </a:p>
          <a:p>
            <a:r>
              <a:t>Finance closes separately.</a:t>
            </a:r>
          </a:p>
          <a:p>
            <a:r>
              <a:t>Hold / return → named, competent human owner</a:t>
            </a:r>
          </a:p>
          <a:p>
            <a:r>
              <a:t>Illustrative exercise journey — not an executed end-to-end customer outcome.</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Message / evidence limit / planned script:</a:t>
            </a:r>
          </a:p>
          <a:p>
            <a:r>
              <a:t>SLIDE 08 - A resident is not a scheduling variable.</a:t>
            </a:r>
          </a:p>
          <a:p>
            <a:r>
              <a:t>Topic sentinel: dignity/capacity</a:t>
            </a:r>
          </a:p>
          <a:p>
            <a:r>
              <a:t>Message: choice, supported contact and real capacity precede release.</a:t>
            </a:r>
          </a:p>
          <a:p>
            <a:r>
              <a:t>Status: strategist-recommended proposal; refreshed 14 October 2026.</a:t>
            </a:r>
          </a:p>
          <a:p/>
          <a:p>
            <a:r>
              <a:t>"Let us understand what residents and staff need before calling</a:t>
            </a:r>
          </a:p>
          <a:p>
            <a:r>
              <a:t>  a journey usable. No compulsory portal. Disclosed adjustments are not a</a:t>
            </a:r>
          </a:p>
          <a:p>
            <a:r>
              <a:t>  licence to share diagnoses. Staff review communications and own exceptions;</a:t>
            </a:r>
          </a:p>
          <a:p>
            <a:r>
              <a:t>  the service does not automatically send, book or instruct. Missed access</a:t>
            </a:r>
          </a:p>
          <a:p>
            <a:r>
              <a:t>  calls for investigation, not inferred withdrawal or deprioritisation.</a:t>
            </a:r>
          </a:p>
          <a:p>
            <a:r>
              <a:t>  Direct human research and accessibility acceptance remain outstanding."</a:t>
            </a:r>
          </a:p>
          <a:p>
            <a:r>
              <a:t>* Transition: "Trust also needs an explanation another person can inspect."</a:t>
            </a:r>
          </a:p>
          <a:p/>
          <a:p>
            <a:r>
              <a:t>Sources — workspace-relative paths, section and evidence status; as read 14 October 2026:</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S06: docs/case_study_48_addendum.md, EXA-002/003/004/005/007/008/010/011/012/013/015; Numerical Targets and Attribution; Subsequent Application Exercise Builds. Status: Historical selected exercise assumptions; explicitly fictional costs/terms, not budgets, awards or current open authority.</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S10: .copilot-tracking/reviews/logs/2026-10-14/five-assistant-live-delivery-review.md, Completed Work; Validation; RV-001/RV-002; Outcome. Status: Technical Review Complete / Residual work, not blanket product conformance.</a:t>
            </a:r>
          </a:p>
          <a:p/>
          <a:p>
            <a:r>
              <a:t>Planned allocation: 40 seconds; not rehearsed.</a:t>
            </a:r>
          </a:p>
          <a:p/>
          <a:p>
            <a:r>
              <a:t>REFRESH BASELINE / UN SPOKEN REFERENCE: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p>
            <a:r>
              <a:t>Slot prerequisite: committed competent capacity plus resident measure-specific choice. A proposed slot is not consent.</a:t>
            </a:r>
          </a:p>
          <a:p/>
          <a:p>
            <a:r>
              <a:t>RETAINED BASELINE VISIBLE COPY / TRACEABILITY, UNSPOKEN:</a:t>
            </a:r>
          </a:p>
          <a:p>
            <a:r>
              <a:t>Historical wording below is retained, not promoted to current fact or permission. Current oracle/status and refreshed visible copy govern. In particular, old 'gates OPEN' meant outstanding acceptance, not permission; Excel reporting is a conditional intended transition, not delivered integration.</a:t>
            </a:r>
          </a:p>
          <a:p>
            <a:r>
              <a:t>A resident is not a scheduling variable.</a:t>
            </a:r>
          </a:p>
          <a:p>
            <a:r>
              <a:t>Resident</a:t>
            </a:r>
          </a:p>
          <a:p>
            <a:r>
              <a:t>Clear options.</a:t>
            </a:r>
          </a:p>
          <a:p>
            <a:r>
              <a:t>Safe phone, letter or assisted route.</a:t>
            </a:r>
          </a:p>
          <a:p>
            <a:r>
              <a:t>Measure-specific choice.</a:t>
            </a:r>
          </a:p>
          <a:p>
            <a:r>
              <a:t>Delivery</a:t>
            </a:r>
          </a:p>
          <a:p>
            <a:r>
              <a:t>Committed crew, competence,</a:t>
            </a:r>
          </a:p>
          <a:p>
            <a:r>
              <a:t>materials and named liaison.</a:t>
            </a:r>
          </a:p>
          <a:p>
            <a:r>
              <a:t>Preferences ≠ consent. Silence/no-access ≠ refusal.</a:t>
            </a:r>
          </a:p>
          <a:p>
            <a:r>
              <a:t>Human hazard route — never wait for AI.</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Message / evidence limit / planned script:</a:t>
            </a:r>
          </a:p>
          <a:p>
            <a:r>
              <a:t>SLIDE 09 - Show the decision trace, not just an AI explanation.</a:t>
            </a:r>
          </a:p>
          <a:p>
            <a:r>
              <a:t>Topic sentinel: decision trace</a:t>
            </a:r>
          </a:p>
          <a:p>
            <a:r>
              <a:t>Message: source, rule, reviewer and change history make a decision inspectable.</a:t>
            </a:r>
          </a:p>
          <a:p>
            <a:r>
              <a:t>Status: strategist-recommended proposal; refreshed 14 October 2026.</a:t>
            </a:r>
          </a:p>
          <a:p/>
          <a:p>
            <a:r>
              <a:t>"A generated explanation cannot substitute for source and approval</a:t>
            </a:r>
          </a:p>
          <a:p>
            <a:r>
              <a:t>  records. Retain the applicable versions, reason, reviewer and timestamp.</a:t>
            </a:r>
          </a:p>
          <a:p>
            <a:r>
              <a:t>  Changed sources invalidate dependent reviews. Legal and professional</a:t>
            </a:r>
          </a:p>
          <a:p>
            <a:r>
              <a:t>  interpretations need accountable review before rules change; the repository</a:t>
            </a:r>
          </a:p>
          <a:p>
            <a:r>
              <a:t>  is dated evidence, not a self-updating legal authority. Current assistant</a:t>
            </a:r>
          </a:p>
          <a:p>
            <a:r>
              <a:t>  citations bind captured categories/metadata, not proof every conclusion is</a:t>
            </a:r>
          </a:p>
          <a:p>
            <a:r>
              <a:t>  supported by a document passage."</a:t>
            </a:r>
          </a:p>
          <a:p>
            <a:r>
              <a:t>* Transition: "The workbench sits beside the systems that supply those facts."</a:t>
            </a:r>
          </a:p>
          <a:p/>
          <a:p>
            <a:r>
              <a:t>Sources — workspace-relative paths, section and evidence status; as read 14 October 2026:</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S11: mvp/README.md, Honest limits; Five retrofit assistants; Operator authority; current delivery paragraphs; mvp/zavaforward_mvp/assistants.py, REGISTRY/RULES/capture/eligible/review. Status: Source and documented implementation; captured metadata/category citations, not unrestricted document reading, human source review or semantic entailment.</a:t>
            </a:r>
          </a:p>
          <a:p/>
          <a:p>
            <a:r>
              <a:t>Planned allocation: 30 seconds; not rehearsed.</a:t>
            </a:r>
          </a:p>
          <a:p/>
          <a:p>
            <a:r>
              <a:t>REFRESH BASELINE / UN SPOKEN REFERENCE: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p>
            <a:r>
              <a:t>Spoken transition: Here is the small service core supporting that decision trace.</a:t>
            </a:r>
          </a:p>
          <a:p/>
          <a:p>
            <a:r>
              <a:t>RETAINED BASELINE VISIBLE COPY / TRACEABILITY, UNSPOKEN:</a:t>
            </a:r>
          </a:p>
          <a:p>
            <a:r>
              <a:t>Historical wording below is retained, not promoted to current fact or permission. Current oracle/status and refreshed visible copy govern. In particular, old 'gates OPEN' meant outstanding acceptance, not permission; Excel reporting is a conditional intended transition, not delivered integration.</a:t>
            </a:r>
          </a:p>
          <a:p>
            <a:r>
              <a:t>Show the decision trace, not just an AI explanation.</a:t>
            </a:r>
          </a:p>
          <a:p>
            <a:r>
              <a:t>Know</a:t>
            </a:r>
          </a:p>
          <a:p>
            <a:r>
              <a:t>Source + evidence</a:t>
            </a:r>
          </a:p>
          <a:p>
            <a:r>
              <a:t>version + unknowns.</a:t>
            </a:r>
          </a:p>
          <a:p>
            <a:r>
              <a:t>Decide</a:t>
            </a:r>
          </a:p>
          <a:p>
            <a:r>
              <a:t>Rule + result +</a:t>
            </a:r>
          </a:p>
          <a:p>
            <a:r>
              <a:t>reviewer + reason.</a:t>
            </a:r>
          </a:p>
          <a:p>
            <a:r>
              <a:t>Change</a:t>
            </a:r>
          </a:p>
          <a:p>
            <a:r>
              <a:t>Authority + dependent</a:t>
            </a:r>
          </a:p>
          <a:p>
            <a:r>
              <a:t>re-review + preserved</a:t>
            </a:r>
          </a:p>
          <a:p>
            <a:r>
              <a:t>history.</a:t>
            </a:r>
          </a:p>
          <a:p>
            <a:r>
              <a:t>New source ≠ approved new policy.</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Message / evidence limit / planned script:</a:t>
            </a:r>
          </a:p>
          <a:p>
            <a:r>
              <a:t>SLIDE 10 - One API supports the work. People retain authority.</a:t>
            </a:r>
          </a:p>
          <a:p>
            <a:r>
              <a:t>Topic sentinel: system context</a:t>
            </a:r>
          </a:p>
          <a:p>
            <a:r>
              <a:t>Message: retain source ownership while connecting case work.</a:t>
            </a:r>
          </a:p>
          <a:p>
            <a:r>
              <a:t>Status: strategist-recommended proposal; refreshed 14 October 2026.</a:t>
            </a:r>
          </a:p>
          <a:p/>
          <a:p>
            <a:r>
              <a:t>"The arrow is from source material into validated intake, not an</a:t>
            </a:r>
          </a:p>
          <a:p>
            <a:r>
              <a:t>  uncontrolled write-back loop. The case connects home, building and package</a:t>
            </a:r>
          </a:p>
          <a:p>
            <a:r>
              <a:t>  context with roles and evidence. Residents and suppliers need supported,</a:t>
            </a:r>
          </a:p>
          <a:p>
            <a:r>
              <a:t>  scoped exchange, not open access to the internal staff workbench.</a:t>
            </a:r>
          </a:p>
          <a:p>
            <a:r>
              <a:t>  Housing/repairs integrations, M365 document channels and import transition</a:t>
            </a:r>
          </a:p>
          <a:p>
            <a:r>
              <a:t>  remain proposals or unverified. An integration picture is not a deployed</a:t>
            </a:r>
          </a:p>
          <a:p>
            <a:r>
              <a:t>  connection receipt."</a:t>
            </a:r>
          </a:p>
          <a:p>
            <a:r>
              <a:t>* Transition: "The API is the authority boundary, not the model."</a:t>
            </a:r>
          </a:p>
          <a:p/>
          <a:p>
            <a:r>
              <a:t>Sources — workspace-relative paths, section and evidence status; as read 14 October 2026:</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S11: mvp/README.md, Honest limits; Five retrofit assistants; Operator authority; current delivery paragraphs; mvp/zavaforward_mvp/assistants.py, REGISTRY/RULES/capture/eligible/review. Status: Source and documented implementation; captured metadata/category citations, not unrestricted document reading, human source review or semantic entailment.</a:t>
            </a:r>
          </a:p>
          <a:p>
            <a:r>
              <a:t>S12: docs/adrs/0001-azure-architecture.md, Hybrid M365 and Excel transition; Options still to compare; provisional appraisal. Status: Proposed transition/full topology and historical illustration, not current deployment or scored customer platform choice.</a:t>
            </a:r>
          </a:p>
          <a:p/>
          <a:p>
            <a:r>
              <a:t>Planned allocation: 55 seconds; not rehearsed.</a:t>
            </a:r>
          </a:p>
          <a:p/>
          <a:p>
            <a:r>
              <a:t>REFRESH BASELINE / UN SPOKEN REFERENCE: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p>
            <a:r>
              <a:t>Spoken transition: The services explain where work lives; the next view explains who may change it.</a:t>
            </a:r>
          </a:p>
          <a:p/>
          <a:p>
            <a:r>
              <a:t>S16 ARCHITECTURE / TEXT EQUIVALENT:</a:t>
            </a:r>
          </a:p>
          <a:p>
            <a:r>
              <a:t>S16: docs/architecture/README.md, executive and technical Excalidraw/SVG/PNG views, docs/architecture/assets/README.md; 14 October 2026. Static source baseline 062434a1fedbf6a87d1374c767c2bf0a11491ab6, not a fresh inventory or acceptance. Source Excalidraw remains editing authority; this PPTX is a simplified native adaptation. Official icon provenance is retained in source; no new service icons are required here.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r>
              <a:t>Diagram reading order: identity/request -&gt; single API -&gt; stores/model -&gt; separate human authority. Connectors are editable; no composite architecture image. No native-viewer accessibility claim.</a:t>
            </a:r>
          </a:p>
          <a:p>
            <a:r>
              <a:t>Source flow 49eb2c57b645018054c3: people -&gt; workbench; native exec-staff-api-segment-1.</a:t>
            </a:r>
          </a:p>
          <a:p>
            <a:r>
              <a:t>Source flow e6eb29489d099f0f5f23: identity -&gt; workbench; native exec-entra-api-segment-1.</a:t>
            </a:r>
          </a:p>
          <a:p>
            <a:r>
              <a:t>Source flow 6d6081a84b6e7b457b07: workbench -&gt; model; native exec-api-model-segment-1.</a:t>
            </a:r>
          </a:p>
          <a:p>
            <a:r>
              <a:t>Source flow 5395764f763f83e55954: workbench -&gt; sql; native exec-api-sql-segment-1.</a:t>
            </a:r>
          </a:p>
          <a:p>
            <a:r>
              <a:t>Source flow 67c47731b51938d553d0: workbench -&gt; blob; native exec-api-blob-segment-1.</a:t>
            </a:r>
          </a:p>
          <a:p>
            <a:r>
              <a:t>Source flow 0c4aef2041d759667f4e: decision -&gt; workbench; native exec-people-api-segment-1.</a:t>
            </a:r>
          </a:p>
          <a:p>
            <a:r>
              <a:t>VISIBLE NATIVE DIAGRAM TEXT EQUIVALENT (unspoken):</a:t>
            </a:r>
          </a:p>
          <a:p>
            <a:r>
              <a:t>ZAVA NORTH HOMES / ZAVA FORWARD / EXECUTIVE PROPOSAL</a:t>
            </a:r>
          </a:p>
          <a:p>
            <a:r>
              <a:t>One API supports the work. People retain authority.</a:t>
            </a:r>
          </a:p>
          <a:p>
            <a:r>
              <a:t>14 OCT 2026 | S16 + retained sources/status in notes</a:t>
            </a:r>
          </a:p>
          <a:p>
            <a:r>
              <a:t>10 / 24</a:t>
            </a:r>
          </a:p>
          <a:p>
            <a:r>
              <a:t>Staff assist</a:t>
            </a:r>
          </a:p>
          <a:p>
            <a:r>
              <a:t>residents</a:t>
            </a:r>
          </a:p>
          <a:p>
            <a:r>
              <a:t>HUMAN | requests</a:t>
            </a:r>
          </a:p>
          <a:p>
            <a:r>
              <a:t>Phone/letter/help.</a:t>
            </a:r>
          </a:p>
          <a:p>
            <a:r>
              <a:t>No resident portal.</a:t>
            </a:r>
          </a:p>
          <a:p>
            <a:r>
              <a:t>People own</a:t>
            </a:r>
          </a:p>
          <a:p>
            <a:r>
              <a:t>approval</a:t>
            </a:r>
          </a:p>
          <a:p>
            <a:r>
              <a:t>HUMAN | approves</a:t>
            </a:r>
          </a:p>
          <a:p>
            <a:r>
              <a:t>Resident + Finance.</a:t>
            </a:r>
          </a:p>
          <a:p>
            <a:r>
              <a:t>Professionals; QA.</a:t>
            </a:r>
          </a:p>
          <a:p>
            <a:r>
              <a:t>Microsoft Entra ID | CONFIGURED</a:t>
            </a:r>
          </a:p>
          <a:p>
            <a:r>
              <a:t>Microsoft sign-in; role-limited access.</a:t>
            </a:r>
          </a:p>
          <a:p>
            <a:r>
              <a:t>Azure Container Apps | CORE</a:t>
            </a:r>
          </a:p>
          <a:p>
            <a:r>
              <a:t>One workbench + Python API.</a:t>
            </a:r>
          </a:p>
          <a:p>
            <a:r>
              <a:t>Workflow + five assistant modules.</a:t>
            </a:r>
          </a:p>
          <a:p>
            <a:r>
              <a:t>Azure OpenAI</a:t>
            </a:r>
          </a:p>
          <a:p>
            <a:r>
              <a:t>CONDITIONAL | draft only</a:t>
            </a:r>
          </a:p>
          <a:p>
            <a:r>
              <a:t>Scoped request; usage back.</a:t>
            </a:r>
          </a:p>
          <a:p>
            <a:r>
              <a:t>No DB/workflow credentials.</a:t>
            </a:r>
          </a:p>
          <a:p>
            <a:r>
              <a:t>Azure SQL</a:t>
            </a:r>
          </a:p>
          <a:p>
            <a:r>
              <a:t>CORE | records</a:t>
            </a:r>
          </a:p>
          <a:p>
            <a:r>
              <a:t>Proposals / audit</a:t>
            </a:r>
          </a:p>
          <a:p>
            <a:r>
              <a:t>Azure Blob</a:t>
            </a:r>
          </a:p>
          <a:p>
            <a:r>
              <a:t>CONFIGURED</a:t>
            </a:r>
          </a:p>
          <a:p>
            <a:r>
              <a:t>Files; SQL hashes</a:t>
            </a:r>
          </a:p>
          <a:p>
            <a:r>
              <a:t>SQL persistence:</a:t>
            </a:r>
          </a:p>
          <a:p>
            <a:r>
              <a:t>recorded technical evidence</a:t>
            </a:r>
          </a:p>
          <a:p>
            <a:r>
              <a:t>Five-assistant authority absent / proactive OFF / human-value acceptance outstanding.</a:t>
            </a:r>
          </a:p>
          <a:p>
            <a:r>
              <a:t>Runtime detail: slide 19</a:t>
            </a:r>
          </a:p>
          <a:p>
            <a:r>
              <a:t>Full source views: docs/architecture/zava-forward-executive-architecture.excalidraw / .svg / .png; docs/architecture/zava-forward-technical-architecture.excalidraw / .svg / .png. README and assets/README hold source/status/provenance.</a:t>
            </a:r>
          </a:p>
          <a:p/>
          <a:p>
            <a:r>
              <a:t>RETAINED BASELINE VISIBLE COPY / TRACEABILITY, UNSPOKEN:</a:t>
            </a:r>
          </a:p>
          <a:p>
            <a:r>
              <a:t>Historical wording below is retained, not promoted to current fact or permission. Current oracle/status and refreshed visible copy govern. In particular, old 'gates OPEN' meant outstanding acceptance, not permission; Excel reporting is a conditional intended transition, not delivered integration.</a:t>
            </a:r>
          </a:p>
          <a:p>
            <a:r>
              <a:t>One workbench beside the systems you keep.</a:t>
            </a:r>
          </a:p>
          <a:p>
            <a:r>
              <a:t>Existing sources</a:t>
            </a:r>
          </a:p>
          <a:p>
            <a:r>
              <a:t>Housing / repairs</a:t>
            </a:r>
          </a:p>
          <a:p>
            <a:r>
              <a:t>Documents / spreadsheets</a:t>
            </a:r>
          </a:p>
          <a:p>
            <a:r>
              <a:t>Source owners retain authority.</a:t>
            </a:r>
          </a:p>
          <a:p>
            <a:r>
              <a:t>Shared case</a:t>
            </a:r>
          </a:p>
          <a:p>
            <a:r>
              <a:t>Validated intake</a:t>
            </a:r>
          </a:p>
          <a:p>
            <a:r>
              <a:t>Versions + owned work</a:t>
            </a:r>
          </a:p>
          <a:p>
            <a:r>
              <a:t>No uncontrolled write-back.</a:t>
            </a:r>
          </a:p>
          <a:p>
            <a:r>
              <a:t>People + channels</a:t>
            </a:r>
          </a:p>
          <a:p>
            <a:r>
              <a:t>Role queues</a:t>
            </a:r>
          </a:p>
          <a:p>
            <a:r>
              <a:t>Supported resident routes</a:t>
            </a:r>
          </a:p>
          <a:p>
            <a:r>
              <a:t>Scoped supplier exchange.</a:t>
            </a:r>
          </a:p>
          <a:p>
            <a:r>
              <a:t>Target context — links proposed, not all delivered. Excel reports.</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Message / evidence limit / planned script:</a:t>
            </a:r>
          </a:p>
          <a:p>
            <a:r>
              <a:t>SLIDE 11 - Models propose. People and rules control change.</a:t>
            </a:r>
          </a:p>
          <a:p>
            <a:r>
              <a:t>Topic sentinel: control flow</a:t>
            </a:r>
          </a:p>
          <a:p>
            <a:r>
              <a:t>Message: the existing lean runtime preserves a separate human/domain write path.</a:t>
            </a:r>
          </a:p>
          <a:p>
            <a:r>
              <a:t>Status: strategist-recommended proposal; refreshed 14 October 2026.</a:t>
            </a:r>
          </a:p>
          <a:p/>
          <a:p>
            <a:r>
              <a:t>"The current exercise reuses the existing workbench, API, SQL</a:t>
            </a:r>
          </a:p>
          <a:p>
            <a:r>
              <a:t>  and model connection. Calls occur outside case/database locks. Typed</a:t>
            </a:r>
          </a:p>
          <a:p>
            <a:r>
              <a:t>  validation and source permissions surround the model; proposal review only</a:t>
            </a:r>
          </a:p>
          <a:p>
            <a:r>
              <a:t>  changes proposal/audit state. Human source verification must precede</a:t>
            </a:r>
          </a:p>
          <a:p>
            <a:r>
              <a:t>  acceptance, and proposal acceptance still is not work or financial approval.</a:t>
            </a:r>
          </a:p>
          <a:p>
            <a:r>
              <a:t>  The broader proposed queue/private-network/durable-worker estate is not</a:t>
            </a:r>
          </a:p>
          <a:p>
            <a:r>
              <a:t>  this deployment. Manual case work remains available when assistance fails,</a:t>
            </a:r>
          </a:p>
          <a:p>
            <a:r>
              <a:t>  expires or is disabled. Full identity, leakage, restore and role assurance</a:t>
            </a:r>
          </a:p>
          <a:p>
            <a:r>
              <a:t>  are separate evidence gates."</a:t>
            </a:r>
          </a:p>
          <a:p>
            <a:r>
              <a:t>* Transition: "Here is what we can actually substantiate today."</a:t>
            </a:r>
          </a:p>
          <a:p/>
          <a:p>
            <a:r>
              <a:t>Sources — workspace-relative paths, section and evidence status; as read 14 October 2026:</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S08: docs/adrs/0002-pilot-readiness-architecture.md, Five-Assistant Exercise Runtime; Fresh Ledger and Synthetic Coverage Learning; current delta. Status: Current lean proposal runtime, explicit reset, image/source/revision-linked service proof; proposed readiness estate separate.</a:t>
            </a:r>
          </a:p>
          <a:p>
            <a:r>
              <a:t>S10: .copilot-tracking/reviews/logs/2026-10-14/five-assistant-live-delivery-review.md, Completed Work; Validation; RV-001/RV-002; Outcome. Status: Technical Review Complete / Residual work, not blanket product conformance.</a:t>
            </a:r>
          </a:p>
          <a:p>
            <a:r>
              <a:t>S11: mvp/README.md, Honest limits; Five retrofit assistants; Operator authority; current delivery paragraphs; mvp/zavaforward_mvp/assistants.py, REGISTRY/RULES/capture/eligible/review. Status: Source and documented implementation; captured metadata/category citations, not unrestricted document reading, human source review or semantic entailment.</a:t>
            </a:r>
          </a:p>
          <a:p/>
          <a:p>
            <a:r>
              <a:t>Planned allocation: 40 seconds; not rehearsed.</a:t>
            </a:r>
          </a:p>
          <a:p/>
          <a:p>
            <a:r>
              <a:t>REFRESH BASELINE / UN SPOKEN REFERENCE: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p>
            <a:r>
              <a:t>Spoken transition: Now separate that design boundary from the evidence actually recorded.</a:t>
            </a:r>
          </a:p>
          <a:p>
            <a:r>
              <a:t>Accepting a proposal is a separate review request, not domain approval. Manual controlled work remains available; model calls do not span SQL locks.</a:t>
            </a:r>
          </a:p>
          <a:p/>
          <a:p>
            <a:r>
              <a:t>RETAINED BASELINE VISIBLE COPY / TRACEABILITY, UNSPOKEN:</a:t>
            </a:r>
          </a:p>
          <a:p>
            <a:r>
              <a:t>Historical wording below is retained, not promoted to current fact or permission. Current oracle/status and refreshed visible copy govern. In particular, old 'gates OPEN' meant outstanding acceptance, not permission; Excel reporting is a conditional intended transition, not delivered integration.</a:t>
            </a:r>
          </a:p>
          <a:p>
            <a:r>
              <a:t>Let models propose; keep decisions on the controlled path.</a:t>
            </a:r>
          </a:p>
          <a:p>
            <a:r>
              <a:t>PROPOSAL PATH  /  observed operator integration; staff acceptance open</a:t>
            </a:r>
          </a:p>
          <a:p>
            <a:r>
              <a:t>Request → API</a:t>
            </a:r>
          </a:p>
          <a:p>
            <a:r>
              <a:t>Permitted task.</a:t>
            </a:r>
          </a:p>
          <a:p>
            <a:r>
              <a:t>Snapshot → model</a:t>
            </a:r>
          </a:p>
          <a:p>
            <a:r>
              <a:t>Bounded proposal.</a:t>
            </a:r>
          </a:p>
          <a:p>
            <a:r>
              <a:t>Human review</a:t>
            </a:r>
          </a:p>
          <a:p>
            <a:r>
              <a:t>Verify sources first.</a:t>
            </a:r>
          </a:p>
          <a:p>
            <a:r>
              <a:t>SEPARATE CONTROLLED PATH  /  authority remains with people and rules</a:t>
            </a:r>
          </a:p>
          <a:p>
            <a:r>
              <a:t>Authorized action</a:t>
            </a:r>
          </a:p>
          <a:p>
            <a:r>
              <a:t>Effective authority.</a:t>
            </a:r>
          </a:p>
          <a:p>
            <a:r>
              <a:t>Deterministic gates</a:t>
            </a:r>
          </a:p>
          <a:p>
            <a:r>
              <a:t>Holds + evidence.</a:t>
            </a:r>
          </a:p>
          <a:p>
            <a:r>
              <a:t>SQL + audit</a:t>
            </a:r>
          </a:p>
          <a:p>
            <a:r>
              <a:t>Controlled write.</a:t>
            </a:r>
          </a:p>
          <a:p>
            <a:r>
              <a:t>Model cannot approve, send, book, pay or clear a hold.</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Message / evidence limit / planned script:</a:t>
            </a:r>
          </a:p>
          <a:p>
            <a:r>
              <a:t>SLIDE 12 - Five real proposal paths. No delegated decisions.</a:t>
            </a:r>
          </a:p>
          <a:p>
            <a:r>
              <a:t>Topic sentinel: task fit and technical proof</a:t>
            </a:r>
          </a:p>
          <a:p>
            <a:r>
              <a:t>Message: observed operator-service integration is real; human/value acceptance is open.</a:t>
            </a:r>
          </a:p>
          <a:p>
            <a:r>
              <a:t>Status: strategist-recommended proposal; refreshed 14 October 2026.</a:t>
            </a:r>
          </a:p>
          <a:p/>
          <a:p>
            <a:r>
              <a:t>* 0–15: "The hook is evidence assembly without changing the controlled</a:t>
            </a:r>
          </a:p>
          <a:p>
            <a:r>
              <a:t>    case. This is recorded operator-service proof, not a live staff demo."</a:t>
            </a:r>
          </a:p>
          <a:p>
            <a:r>
              <a:t>  * 15–40: point to the five-path receipt and registered names in S10/S11:</a:t>
            </a:r>
          </a:p>
          <a:p>
            <a:r>
              <a:t>    stock, assessment, funding, coordination and quality; all returned</a:t>
            </a:r>
          </a:p>
          <a:p>
            <a:r>
              <a:t>    distinct citation-validated ready proposals from Azure OpenAI standard /</a:t>
            </a:r>
          </a:p>
          <a:p>
            <a:r>
              <a:t>    gpt-4.1-mini-2025-04-14. Show only aggregate/public repository evidence.</a:t>
            </a:r>
          </a:p>
          <a:p>
            <a:r>
              <a:t>  * 40–70: show the receipt's independent SQL/content/restart result.</a:t>
            </a:r>
          </a:p>
          <a:p>
            <a:r>
              <a:t>    "Generation left the controlled domain unchanged; persisted proposal</a:t>
            </a:r>
          </a:p>
          <a:p>
            <a:r>
              <a:t>    contents and usage survived the actual revision restart. The old</a:t>
            </a:r>
          </a:p>
          <a:p>
            <a:r>
              <a:t>    recommendations and audit were deliberately reset before this new</a:t>
            </a:r>
          </a:p>
          <a:p>
            <a:r>
              <a:t>    baseline; this was not an unchanged-history migration."</a:t>
            </a:r>
          </a:p>
          <a:p>
            <a:r>
              <a:t>  * 70–95: "Ready means a valid, unreviewed proposal. It does not mean</a:t>
            </a:r>
          </a:p>
          <a:p>
            <a:r>
              <a:t>    correct, source-verified by a human, accepted or useful. This bypassed</a:t>
            </a:r>
          </a:p>
          <a:p>
            <a:r>
              <a:t>    neither the staff-session gate nor professional decisions: it was</a:t>
            </a:r>
          </a:p>
          <a:p>
            <a:r>
              <a:t>    operator service execution, not staff browser/API acceptance."</a:t>
            </a:r>
          </a:p>
          <a:p>
            <a:r>
              <a:t>  * 95–110: "Five calls prove integration, not savings or autonomy. QA ended;</a:t>
            </a:r>
          </a:p>
          <a:p>
            <a:r>
              <a:t>    normal authority is absent and scans are off. Next are human acceptance</a:t>
            </a:r>
          </a:p>
          <a:p>
            <a:r>
              <a:t>    and a fair value test."</a:t>
            </a:r>
          </a:p>
          <a:p>
            <a:r>
              <a:t>* Recovery: if the local evidence view fails, pivot within 15s:</a:t>
            </a:r>
          </a:p>
          <a:p>
            <a:r>
              <a:t>  "The evidence view is unavailable; this native summary reports the</a:t>
            </a:r>
          </a:p>
          <a:p>
            <a:r>
              <a:t>  recorded receipt, not a live run. The result is five proposal paths and</a:t>
            </a:r>
          </a:p>
          <a:p>
            <a:r>
              <a:t>  durable contents. Staff, semantic and value acceptance remain open."</a:t>
            </a:r>
          </a:p>
          <a:p>
            <a:r>
              <a:t>  Stay inside 110s by shortening the middle walkthrough. Do not retry</a:t>
            </a:r>
          </a:p>
          <a:p>
            <a:r>
              <a:t>  inference, sign in, enable scans, reset data, manufacture source-review</a:t>
            </a:r>
          </a:p>
          <a:p>
            <a:r>
              <a:t>  clicks or display private native receipt/output files.</a:t>
            </a:r>
          </a:p>
          <a:p>
            <a:r>
              <a:t>* Transition: "Now place those bounded capabilities in the whole process."</a:t>
            </a:r>
          </a:p>
          <a:p/>
          <a:p>
            <a:r>
              <a:t>Sources — workspace-relative paths, section and evidence status; as read 14 October 2026:</a:t>
            </a:r>
          </a:p>
          <a:p>
            <a:r>
              <a:t>S08: docs/adrs/0002-pilot-readiness-architecture.md, Five-Assistant Exercise Runtime; Fresh Ledger and Synthetic Coverage Learning; current delta. Status: Current lean proposal runtime, explicit reset, image/source/revision-linked service proof; proposed readiness estate separate.</a:t>
            </a:r>
          </a:p>
          <a:p>
            <a:r>
              <a:t>S09: infra/README.md, Five-assistant version: current handover. Status: Exact serving/source/model/SQL/restart receipt and authority-off state, 14 October; no fresh cloud inspection in this task.</a:t>
            </a:r>
          </a:p>
          <a:p>
            <a:r>
              <a:t>S10: .copilot-tracking/reviews/logs/2026-10-14/five-assistant-live-delivery-review.md, Completed Work; Validation; RV-001/RV-002; Outcome. Status: Technical Review Complete / Residual work, not blanket product conformance.</a:t>
            </a:r>
          </a:p>
          <a:p>
            <a:r>
              <a:t>S11: mvp/README.md, Honest limits; Five retrofit assistants; Operator authority; current delivery paragraphs; mvp/zavaforward_mvp/assistants.py, REGISTRY/RULES/capture/eligible/review. Status: Source and documented implementation; captured metadata/category citations, not unrestricted document reading, human source review or semantic entailment.</a:t>
            </a:r>
          </a:p>
          <a:p/>
          <a:p>
            <a:r>
              <a:t>Planned allocation: 110 seconds; not rehearsed.</a:t>
            </a:r>
          </a:p>
          <a:p/>
          <a:p>
            <a:r>
              <a:t>Exact current claim-status oracle:</a:t>
            </a:r>
          </a:p>
          <a:p>
            <a:r>
              <a:t>1. Historical documentation/source context was cabe05c; runtime source is</a:t>
            </a:r>
          </a:p>
          <a:p>
            <a:r>
              <a:t>   cd14b3b379026a87ebfa3e9058ac10c0df7888eb, not cabe05c.</a:t>
            </a:r>
          </a:p>
          <a:p>
            <a:r>
              <a:t>2. Image05 is assistants-20261013-05, manifest</a:t>
            </a:r>
          </a:p>
          <a:p>
            <a:r>
              <a:t>   sha256:e0254cb3a0599c21802f0b6515f975550cf00ddce4849d04fd3fa3d50683af20,</a:t>
            </a:r>
          </a:p>
          <a:p>
            <a:r>
              <a:t>   serving ca-forward-test-api--0000012. Short forms on screen; exact forms</a:t>
            </a:r>
          </a:p>
          <a:p>
            <a:r>
              <a:t>   in notes. Do not rename historical revisions.</a:t>
            </a:r>
          </a:p>
          <a:p>
            <a:r>
              <a:t>3. The owner explicitly reauthorized the synthetic database reset on</a:t>
            </a:r>
          </a:p>
          <a:p>
            <a:r>
              <a:t>   14 October after the earlier cancellation. Previous exercise</a:t>
            </a:r>
          </a:p>
          <a:p>
            <a:r>
              <a:t>   recommendations/audit were reset, not preserved by migration. Retain</a:t>
            </a:r>
          </a:p>
          <a:p>
            <a:r>
              <a:t>   generator/60,000-stock lineage; the new programme baseline is 980 cases,</a:t>
            </a:r>
          </a:p>
          <a:p>
            <a:r>
              <a:t>   38 booked visits and 11 actual privately bound tenant staff. Do not publish</a:t>
            </a:r>
          </a:p>
          <a:p>
            <a:r>
              <a:t>   their identities. Counts are exercise context, not real resident activity,</a:t>
            </a:r>
          </a:p>
          <a:p>
            <a:r>
              <a:t>   staff use or programme success.</a:t>
            </a:r>
          </a:p>
          <a:p>
            <a:r>
              <a:t>4. Five distinct registered operator service paths returned citation-validated</a:t>
            </a:r>
          </a:p>
          <a:p>
            <a:r>
              <a:t>   ready proposals through real Azure OpenAI deployment standard, model</a:t>
            </a:r>
          </a:p>
          <a:p>
            <a:r>
              <a:t>   gpt-4.1-mini-2025-04-14: five calls/attempts, 6884 total tokens, 15 ledger</a:t>
            </a:r>
          </a:p>
          <a:p>
            <a:r>
              <a:t>   events. These are not Decision 1 calls or five independent autonomous agents.</a:t>
            </a:r>
          </a:p>
          <a:p>
            <a:r>
              <a:t>5. Against that new baseline, independent controlled-domain hashes stayed</a:t>
            </a:r>
          </a:p>
          <a:p>
            <a:r>
              <a:t>   unchanged by proposal generation, and full assistant-table content,</a:t>
            </a:r>
          </a:p>
          <a:p>
            <a:r>
              <a:t>   outputs and usage survived an actual serving-revision restart. This is</a:t>
            </a:r>
          </a:p>
          <a:p>
            <a:r>
              <a:t>   stronger than row-count equality, weaker than disaster recovery/restore.</a:t>
            </a:r>
          </a:p>
          <a:p>
            <a:r>
              <a:t>6. Bounded operator QA ended. Normal serving assistant authority is absent;</a:t>
            </a:r>
          </a:p>
          <a:p>
            <a:r>
              <a:t>   proactive scans are off. A registered capability is not current standing</a:t>
            </a:r>
          </a:p>
          <a:p>
            <a:r>
              <a:t>   authority. Neither proactive enablement nor new calls are authorized here.</a:t>
            </a:r>
          </a:p>
          <a:p>
            <a:r>
              <a:t>7. Citation validity means permitted source/provenance binding, not semantic</a:t>
            </a:r>
          </a:p>
          <a:p>
            <a:r>
              <a:t>   correctness or competent source verification. None of the five has human</a:t>
            </a:r>
          </a:p>
          <a:p>
            <a:r>
              <a:t>   verification/acceptance recorded by that operator exercise.</a:t>
            </a:r>
          </a:p>
          <a:p>
            <a:r>
              <a:t>8. Real staff-browser/API, role/human/source/accessibility acceptance,</a:t>
            </a:r>
          </a:p>
          <a:p>
            <a:r>
              <a:t>   semantic calibration, paired task value and operational outcomes remain</a:t>
            </a:r>
          </a:p>
          <a:p>
            <a:r>
              <a:t>   open (RV-001/RV-002). PRD v0.14 remains a candidate. Do not mark AC-057</a:t>
            </a:r>
          </a:p>
          <a:p>
            <a:r>
              <a:t>   or full requirements/product/pilot/production acceptance passed.</a:t>
            </a:r>
          </a:p>
          <a:p>
            <a:r>
              <a:t>9. No observed doubled throughput, lower bills, secured £40m, programme</a:t>
            </a:r>
          </a:p>
          <a:p>
            <a:r>
              <a:t>   savings, cost per accepted home, currency-cost cap, production selection</a:t>
            </a:r>
          </a:p>
          <a:p>
            <a:r>
              <a:t>   or corporate investment approval follows. Token allowance is not a</a:t>
            </a:r>
          </a:p>
          <a:p>
            <a:r>
              <a:t>   currency guarantee; historical EXA-012 and the scoped #58 override are</a:t>
            </a:r>
          </a:p>
          <a:p>
            <a:r>
              <a:t>   not a new funding commitment.</a:t>
            </a:r>
          </a:p>
          <a:p>
            <a:r>
              <a:t>10. Source-level automated contract tests are evidence of tested boundaries,</a:t>
            </a:r>
          </a:p>
          <a:p>
            <a:r>
              <a:t>    not a live staff session or panel behaviour. No new score is inferred from</a:t>
            </a:r>
          </a:p>
          <a:p>
            <a:r>
              <a:t>    cabe05c's historical rubric update or from successful CI.</a:t>
            </a:r>
          </a:p>
          <a:p/>
          <a:p>
            <a:r>
              <a:t>REFRESH BASELINE / UN SPOKEN REFERENCE: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p>
            <a:r>
              <a:t>Spoken transition: Those five proposal paths serve these five human-owned stages.</a:t>
            </a:r>
          </a:p>
          <a:p>
            <a:r>
              <a:t>Synthetic context retained: 60,000 stock lineage; recreated 980 programme cases / 38 booked visits / 11 private staff bindings. Previous exercise audit/recommendations reset under explicit 14 October owner reauthorisation. No private details.</a:t>
            </a:r>
          </a:p>
          <a:p/>
          <a:p>
            <a:r>
              <a:t>RETAINED BASELINE VISIBLE COPY / TRACEABILITY, UNSPOKEN:</a:t>
            </a:r>
          </a:p>
          <a:p>
            <a:r>
              <a:t>Historical wording below is retained, not promoted to current fact or permission. Current oracle/status and refreshed visible copy govern. In particular, old 'gates OPEN' meant outstanding acceptance, not permission; Excel reporting is a conditional intended transition, not delivered integration.</a:t>
            </a:r>
          </a:p>
          <a:p>
            <a:r>
              <a:t>Five real proposal paths. No delegated decisions.</a:t>
            </a:r>
          </a:p>
          <a:p>
            <a:r>
              <a:t>OBSERVED</a:t>
            </a:r>
          </a:p>
          <a:p>
            <a:r>
              <a:t>5 distinct ready proposals</a:t>
            </a:r>
          </a:p>
          <a:p>
            <a:r>
              <a:t>5 real calls · 6,884 tokens</a:t>
            </a:r>
          </a:p>
          <a:p>
            <a:r>
              <a:t>15 ledger events</a:t>
            </a:r>
          </a:p>
          <a:p/>
          <a:p>
            <a:r>
              <a:t>Controlled state unchanged;</a:t>
            </a:r>
          </a:p>
          <a:p>
            <a:r>
              <a:t>proposal contents survived restart.</a:t>
            </a:r>
          </a:p>
          <a:p>
            <a:r>
              <a:t>STILL TO PROVE</a:t>
            </a:r>
          </a:p>
          <a:p>
            <a:r>
              <a:t>Staff browser/API + roles</a:t>
            </a:r>
          </a:p>
          <a:p>
            <a:r>
              <a:t>Human source verification</a:t>
            </a:r>
          </a:p>
          <a:p>
            <a:r>
              <a:t>Semantic correctness + value</a:t>
            </a:r>
          </a:p>
          <a:p/>
          <a:p>
            <a:r>
              <a:t>Current authority absent.</a:t>
            </a:r>
          </a:p>
          <a:p>
            <a:r>
              <a:t>Proactive OFF; gates OPEN.</a:t>
            </a:r>
          </a:p>
          <a:p>
            <a:r>
              <a:t>Recorded operator-service proof · 14 October · image05 / e0254cb3 · revision12</a:t>
            </a:r>
          </a:p>
          <a:p>
            <a:r>
              <a:t>Synthetic baseline: 980 cases / 38 visits / 11 private staff bindings. No identity details.</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Message / evidence limit / planned script:</a:t>
            </a:r>
          </a:p>
          <a:p>
            <a:r>
              <a:t>SLIDE 14 - See cash before optimism.</a:t>
            </a:r>
          </a:p>
          <a:p>
            <a:r>
              <a:t>Topic sentinel: fictional cash</a:t>
            </a:r>
          </a:p>
          <a:p>
            <a:r>
              <a:t>Message: an award or claim is not cash, and fictional economics are not a budget.</a:t>
            </a:r>
          </a:p>
          <a:p>
            <a:r>
              <a:t>Status: strategist-recommended proposal; refreshed 14 October 2026.</a:t>
            </a:r>
          </a:p>
          <a:p/>
          <a:p>
            <a:r>
              <a:t>"These are the selected home-cost fixtures, not a company budget,</a:t>
            </a:r>
          </a:p>
          <a:p>
            <a:r>
              <a:t>  grant allocation, liquidity position or approved scheme calculation.</a:t>
            </a:r>
          </a:p>
          <a:p>
            <a:r>
              <a:t>  Before receipt the gross base cash exposure remains twenty thousand.</a:t>
            </a:r>
          </a:p>
          <a:p>
            <a:r>
              <a:t>  Whole-life technology, integration, training, review, assurance, financing,</a:t>
            </a:r>
          </a:p>
          <a:p>
            <a:r>
              <a:t>  support and exit cost need their own appraisal. Five calls and token limits</a:t>
            </a:r>
          </a:p>
          <a:p>
            <a:r>
              <a:t>  do not establish a currency cap or cost per accepted home. The historical</a:t>
            </a:r>
          </a:p>
          <a:p>
            <a:r>
              <a:t>  exercise budget and scoped #58 override are not today's appropriation."</a:t>
            </a:r>
          </a:p>
          <a:p>
            <a:r>
              <a:t>* Transition: "Affordability also depends on making transition usable."</a:t>
            </a:r>
          </a:p>
          <a:p/>
          <a:p>
            <a:r>
              <a:t>Sources — workspace-relative paths, section and evidence status; as read 14 October 2026:</a:t>
            </a:r>
          </a:p>
          <a:p>
            <a:r>
              <a:t>S03: docs/reference/research/company/company-profile-research.md, Confirmed Company Information; Role and Decision Map; Priority Company Gaps; Evidence Limitations. Status: Owner-confirmed not-for-profit; modelled company/resident/finance attributes are not company facts or delegations.</a:t>
            </a:r>
          </a:p>
          <a:p>
            <a:r>
              <a:t>S06: docs/case_study_48_addendum.md, EXA-002/003/004/005/007/008/010/011/012/013/015; Numerical Targets and Attribution; Subsequent Application Exercise Builds. Status: Historical selected exercise assumptions; explicitly fictional costs/terms, not budgets, awards or current open authority.</a:t>
            </a:r>
          </a:p>
          <a:p>
            <a:r>
              <a:t>S09: infra/README.md, Five-assistant version: current handover. Status: Exact serving/source/model/SQL/restart receipt and authority-off state, 14 October; no fresh cloud inspection in this task.</a:t>
            </a:r>
          </a:p>
          <a:p/>
          <a:p>
            <a:r>
              <a:t>Planned allocation: 50 seconds; not rehearsed.</a:t>
            </a:r>
          </a:p>
          <a:p/>
          <a:p>
            <a:r>
              <a:t>REFRESH BASELINE / UN SPOKEN REFERENCE: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p>
            <a:r>
              <a:t>Retained prerequisite: accepted evidence plus separate application/award/claim/cash ledger states. A form is not funding. This is not technology price or budget.</a:t>
            </a:r>
          </a:p>
          <a:p/>
          <a:p>
            <a:r>
              <a:t>RETAINED BASELINE VISIBLE COPY / TRACEABILITY, UNSPOKEN:</a:t>
            </a:r>
          </a:p>
          <a:p>
            <a:r>
              <a:t>Historical wording below is retained, not promoted to current fact or permission. Current oracle/status and refreshed visible copy govern. In particular, old 'gates OPEN' meant outstanding acceptance, not permission; Excel reporting is a conditional intended transition, not delivered integration.</a:t>
            </a:r>
          </a:p>
          <a:p>
            <a:r>
              <a:t>See cash before optimism.</a:t>
            </a:r>
          </a:p>
          <a:p>
            <a:r>
              <a:t>FICTIONAL EXA-010/015  /  not a workbench price or award</a:t>
            </a:r>
          </a:p>
          <a:p>
            <a:r>
              <a:t>BEFORE GRANT RECEIPT</a:t>
            </a:r>
          </a:p>
          <a:p>
            <a:r>
              <a:t>£20,000 gross base cash</a:t>
            </a:r>
          </a:p>
          <a:p>
            <a:r>
              <a:t>IF RECEIVED</a:t>
            </a:r>
          </a:p>
          <a:p>
            <a:r>
              <a:t>£7,500 fictional grant</a:t>
            </a:r>
          </a:p>
          <a:p>
            <a:r>
              <a:t>→ £12,500 provider base.</a:t>
            </a:r>
          </a:p>
          <a:p>
            <a:r>
              <a:t>IF CONTINGENCY SPENT</a:t>
            </a:r>
          </a:p>
          <a:p>
            <a:r>
              <a:t>£22,000 gross exposure</a:t>
            </a:r>
          </a:p>
          <a:p>
            <a:r>
              <a:t>£14,500 provider exposure.</a:t>
            </a:r>
          </a:p>
          <a:p>
            <a:r>
              <a:t>Application ≠ award ≠ claim ≠ cash.</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Message / evidence limit / planned script:</a:t>
            </a:r>
          </a:p>
          <a:p>
            <a:r>
              <a:t>SLIDE 15 - Make the first change small enough to learn.</a:t>
            </a:r>
          </a:p>
          <a:p>
            <a:r>
              <a:t>Topic sentinel: supported change</a:t>
            </a:r>
          </a:p>
          <a:p>
            <a:r>
              <a:t>Message: supported staged adoption must avoid permanent dual entry.</a:t>
            </a:r>
          </a:p>
          <a:p>
            <a:r>
              <a:t>Status: strategist-recommended proposal; refreshed 14 October 2026.</a:t>
            </a:r>
          </a:p>
          <a:p/>
          <a:p>
            <a:r>
              <a:t>"Programme and workbook owners establish tasks and baseline.</a:t>
            </a:r>
          </a:p>
          <a:p>
            <a:r>
              <a:t>  Data owners reconcile and own quarantine. Team leads support role tasks;</a:t>
            </a:r>
          </a:p>
          <a:p>
            <a:r>
              <a:t>  these walkthroughs are proposed, not a rehearsal already completed.</a:t>
            </a:r>
          </a:p>
          <a:p>
            <a:r>
              <a:t>  Digital and work owners agree exit tests and rollback before changing the</a:t>
            </a:r>
          </a:p>
          <a:p>
            <a:r>
              <a:t>  write path. Excel can then report from the controlled API. Count training,</a:t>
            </a:r>
          </a:p>
          <a:p>
            <a:r>
              <a:t>  recording and transition burden, and test accessible/non-digital routes</a:t>
            </a:r>
          </a:p>
          <a:p>
            <a:r>
              <a:t>  with people rather than declaring a scan score to be acceptance."</a:t>
            </a:r>
          </a:p>
          <a:p>
            <a:r>
              <a:t>* Transition: "The benefit test must distinguish a better process from better AI."</a:t>
            </a:r>
          </a:p>
          <a:p/>
          <a:p>
            <a:r>
              <a:t>Sources — workspace-relative paths, section and evidence status; as read 14 October 2026:</a:t>
            </a:r>
          </a:p>
          <a:p>
            <a:r>
              <a:t>S06: docs/case_study_48_addendum.md, EXA-002/003/004/005/007/008/010/011/012/013/015; Numerical Targets and Attribution; Subsequent Application Exercise Builds. Status: Historical selected exercise assumptions; explicitly fictional costs/terms, not budgets, awards or current open authority.</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S10: .copilot-tracking/reviews/logs/2026-10-14/five-assistant-live-delivery-review.md, Completed Work; Validation; RV-001/RV-002; Outcome. Status: Technical Review Complete / Residual work, not blanket product conformance.</a:t>
            </a:r>
          </a:p>
          <a:p>
            <a:r>
              <a:t>S12: docs/adrs/0001-azure-architecture.md, Hybrid M365 and Excel transition; Options still to compare; provisional appraisal. Status: Proposed transition/full topology and historical illustration, not current deployment or scored customer platform choice.</a:t>
            </a:r>
          </a:p>
          <a:p/>
          <a:p>
            <a:r>
              <a:t>Planned allocation: 30 seconds; not rehearsed.</a:t>
            </a:r>
          </a:p>
          <a:p/>
          <a:p>
            <a:r>
              <a:t>REFRESH BASELINE / UN SPOKEN REFERENCE: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p/>
          <a:p>
            <a:r>
              <a:t>RETAINED BASELINE VISIBLE COPY / TRACEABILITY, UNSPOKEN:</a:t>
            </a:r>
          </a:p>
          <a:p>
            <a:r>
              <a:t>Historical wording below is retained, not promoted to current fact or permission. Current oracle/status and refreshed visible copy govern. In particular, old 'gates OPEN' meant outstanding acceptance, not permission; Excel reporting is a conditional intended transition, not delivered integration.</a:t>
            </a:r>
          </a:p>
          <a:p>
            <a:r>
              <a:t>Make the first change small enough to learn.</a:t>
            </a:r>
          </a:p>
          <a:p>
            <a:r>
              <a:t>Co-design</a:t>
            </a:r>
          </a:p>
          <a:p>
            <a:r>
              <a:t>tasks</a:t>
            </a:r>
          </a:p>
          <a:p>
            <a:r>
              <a:t>Programme +</a:t>
            </a:r>
          </a:p>
          <a:p>
            <a:r>
              <a:t>workbook owners.</a:t>
            </a:r>
          </a:p>
          <a:p>
            <a:r>
              <a:t>Shadow</a:t>
            </a:r>
          </a:p>
          <a:p>
            <a:r>
              <a:t>one-way import</a:t>
            </a:r>
          </a:p>
          <a:p>
            <a:r>
              <a:t>Data owners:</a:t>
            </a:r>
          </a:p>
          <a:p>
            <a:r>
              <a:t>reconcile + quarantine.</a:t>
            </a:r>
          </a:p>
          <a:p>
            <a:r>
              <a:t>Supported task</a:t>
            </a:r>
          </a:p>
          <a:p>
            <a:r>
              <a:t>walkthroughs</a:t>
            </a:r>
          </a:p>
          <a:p>
            <a:r>
              <a:t>Team leads:</a:t>
            </a:r>
          </a:p>
          <a:p>
            <a:r>
              <a:t>help + observe.</a:t>
            </a:r>
          </a:p>
          <a:p>
            <a:r>
              <a:t>Controlled switch</a:t>
            </a:r>
          </a:p>
          <a:p>
            <a:r>
              <a:t>and rollback</a:t>
            </a:r>
          </a:p>
          <a:p>
            <a:r>
              <a:t>Digital + work owners:</a:t>
            </a:r>
          </a:p>
          <a:p>
            <a:r>
              <a:t>exit tests first.</a:t>
            </a:r>
          </a:p>
          <a:p>
            <a:r>
              <a:t>Proposed owners. No permanent dual entry. No compulsory portal.</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Message / evidence limit / planned script:</a:t>
            </a:r>
          </a:p>
          <a:p>
            <a:r>
              <a:t>SLIDE 16 - Prove the programme. Test the AI separately.</a:t>
            </a:r>
          </a:p>
          <a:p>
            <a:r>
              <a:t>Topic sentinel: two comparisons</a:t>
            </a:r>
          </a:p>
          <a:p>
            <a:r>
              <a:t>Message: a fair counterfactual, not a dashboard, establishes incremental value.</a:t>
            </a:r>
          </a:p>
          <a:p>
            <a:r>
              <a:t>Status: strategist-recommended proposal; refreshed 14 October 2026.</a:t>
            </a:r>
          </a:p>
          <a:p/>
          <a:p>
            <a:r>
              <a:t>"Compare changes against an instrumented pre-period and concurrent</a:t>
            </a:r>
          </a:p>
          <a:p>
            <a:r>
              <a:t>  matched delivery, logging shared staff/suppliers and displacement. The</a:t>
            </a:r>
          </a:p>
          <a:p>
            <a:r>
              <a:t>  twelve-month reconstruction is context, not the counterfactual by itself.</a:t>
            </a:r>
          </a:p>
          <a:p>
            <a:r>
              <a:t>  At task level pair the same inputs and count gathering, preparation,</a:t>
            </a:r>
          </a:p>
          <a:p>
            <a:r>
              <a:t>  review, correction, re-review and shifted burden. Proposed 20% cycle-time</a:t>
            </a:r>
          </a:p>
          <a:p>
            <a:r>
              <a:t>  and 25% coordination-effort reductions remain hypotheses, not ratified or</a:t>
            </a:r>
          </a:p>
          <a:p>
            <a:r>
              <a:t>  measured benefits. Cycle time is assessment-to-ready-to-install; accepted</a:t>
            </a:r>
          </a:p>
          <a:p>
            <a:r>
              <a:t>  handover is separate. Freeze definitions/thresholds before measurement;</a:t>
            </a:r>
          </a:p>
          <a:p>
            <a:r>
              <a:t>  keep the simpler path if AI fails value or quality tests."</a:t>
            </a:r>
          </a:p>
          <a:p>
            <a:r>
              <a:t>* Transition: "That tells us what the next gate must ask for."</a:t>
            </a:r>
          </a:p>
          <a:p/>
          <a:p>
            <a:r>
              <a:t>Sources — workspace-relative paths, section and evidence status; as read 14 October 2026:</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S05: docs/reference/research/company/pilot-measurement-challenge.md, Owner Decision; Proposed Measurement Design; Freeze/Analysis; Guardrails. Status: Proposed comparisons and protected outcomes, not executed experiments.</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S10: .copilot-tracking/reviews/logs/2026-10-14/five-assistant-live-delivery-review.md, Completed Work; Validation; RV-001/RV-002; Outcome. Status: Technical Review Complete / Residual work, not blanket product conformance.</a:t>
            </a:r>
          </a:p>
          <a:p/>
          <a:p>
            <a:r>
              <a:t>Planned allocation: 50 seconds; not rehearsed.</a:t>
            </a:r>
          </a:p>
          <a:p/>
          <a:p>
            <a:r>
              <a:t>REFRESH BASELINE / UN SPOKEN REFERENCE: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p/>
          <a:p>
            <a:r>
              <a:t>RETAINED BASELINE VISIBLE COPY / TRACEABILITY, UNSPOKEN:</a:t>
            </a:r>
          </a:p>
          <a:p>
            <a:r>
              <a:t>Historical wording below is retained, not promoted to current fact or permission. Current oracle/status and refreshed visible copy govern. In particular, old 'gates OPEN' meant outstanding acceptance, not permission; Excel reporting is a conditional intended transition, not delivered integration.</a:t>
            </a:r>
          </a:p>
          <a:p>
            <a:r>
              <a:t>Prove the programme. Test the AI separately.</a:t>
            </a:r>
          </a:p>
          <a:p>
            <a:r>
              <a:t>Programme comparison</a:t>
            </a:r>
          </a:p>
          <a:p>
            <a:r>
              <a:t>Matched existing teams.</a:t>
            </a:r>
          </a:p>
          <a:p>
            <a:r>
              <a:t>Frozen cohort; same events.</a:t>
            </a:r>
          </a:p>
          <a:p>
            <a:r>
              <a:t>Accepted handovers +</a:t>
            </a:r>
          </a:p>
          <a:p>
            <a:r>
              <a:t>whole-chain cost.</a:t>
            </a:r>
          </a:p>
          <a:p>
            <a:r>
              <a:t>Paired task comparison</a:t>
            </a:r>
          </a:p>
          <a:p>
            <a:r>
              <a:t>Same inputs: manual/rules</a:t>
            </a:r>
          </a:p>
          <a:p>
            <a:r>
              <a:t>versus assistance.</a:t>
            </a:r>
          </a:p>
          <a:p>
            <a:r>
              <a:t>Quality, net human effort,</a:t>
            </a:r>
          </a:p>
          <a:p>
            <a:r>
              <a:t>latency and cost.</a:t>
            </a:r>
          </a:p>
          <a:p>
            <a:r>
              <a:t>Include unfinished/withdrawn homes. Protect safety, choice, quality, equity + cash.</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Message / evidence limit / planned script:</a:t>
            </a:r>
          </a:p>
          <a:p>
            <a:r>
              <a:t>SLIDE 17 - Earn the next gate; do not repeat the last proof.</a:t>
            </a:r>
          </a:p>
          <a:p>
            <a:r>
              <a:t>Topic sentinel: gates</a:t>
            </a:r>
          </a:p>
          <a:p>
            <a:r>
              <a:t>Message: proceed from delivered technical evidence to human and value evidence.</a:t>
            </a:r>
          </a:p>
          <a:p>
            <a:r>
              <a:t>Status: strategist-recommended proposal; refreshed 14 October 2026.</a:t>
            </a:r>
          </a:p>
          <a:p/>
          <a:p>
            <a:r>
              <a:t>"Historical v0.12 exercise approval does not approve the v0.14</a:t>
            </a:r>
          </a:p>
          <a:p>
            <a:r>
              <a:t>  candidate. Confirm requirements and actual delegations. RV-001 requires</a:t>
            </a:r>
          </a:p>
          <a:p>
            <a:r>
              <a:t>  representative staff with real sessions, roles, source verification and</a:t>
            </a:r>
          </a:p>
          <a:p>
            <a:r>
              <a:t>  accessible manual/failure paths. RV-002 requires semantic grading and paired</a:t>
            </a:r>
          </a:p>
          <a:p>
            <a:r>
              <a:t>  human-effort/quality/cost evidence. Expand restart proof to the necessary</a:t>
            </a:r>
          </a:p>
          <a:p>
            <a:r>
              <a:t>  recovery/restore evidence where appropriate. Return with explicit passed,</a:t>
            </a:r>
          </a:p>
          <a:p>
            <a:r>
              <a:t>  failed, blocked and not-run results; the owner then decides within a</a:t>
            </a:r>
          </a:p>
          <a:p>
            <a:r>
              <a:t>  separately scoped authority. Do not reopen delivered technical work merely</a:t>
            </a:r>
          </a:p>
          <a:p>
            <a:r>
              <a:t>  to simulate acceptance."</a:t>
            </a:r>
          </a:p>
          <a:p>
            <a:r>
              <a:t>* Transition: "Here is the decision I ask this council to make."</a:t>
            </a:r>
          </a:p>
          <a:p/>
          <a:p>
            <a:r>
              <a:t>Sources — workspace-relative paths, section and evidence status; as read 14 October 2026:</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S09: infra/README.md, Five-assistant version: current handover. Status: Exact serving/source/model/SQL/restart receipt and authority-off state, 14 October; no fresh cloud inspection in this task.</a:t>
            </a:r>
          </a:p>
          <a:p>
            <a:r>
              <a:t>S10: .copilot-tracking/reviews/logs/2026-10-14/five-assistant-live-delivery-review.md, Completed Work; Validation; RV-001/RV-002; Outcome. Status: Technical Review Complete / Residual work, not blanket product conformance.</a:t>
            </a:r>
          </a:p>
          <a:p>
            <a:r>
              <a:t>S11: mvp/README.md, Honest limits; Five retrofit assistants; Operator authority; current delivery paragraphs; mvp/zavaforward_mvp/assistants.py, REGISTRY/RULES/capture/eligible/review. Status: Source and documented implementation; captured metadata/category citations, not unrestricted document reading, human source review or semantic entailment.</a:t>
            </a:r>
          </a:p>
          <a:p/>
          <a:p>
            <a:r>
              <a:t>Planned allocation: 45 seconds; not rehearsed.</a:t>
            </a:r>
          </a:p>
          <a:p/>
          <a:p>
            <a:r>
              <a:t>REFRESH BASELINE / UN SPOKEN REFERENCE: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p>
            <a:r>
              <a:t>Spoken transition: The next decision is to prepare a scoped proposal, not enable a rollout.</a:t>
            </a:r>
          </a:p>
          <a:p/>
          <a:p>
            <a:r>
              <a:t>RETAINED BASELINE VISIBLE COPY / TRACEABILITY, UNSPOKEN:</a:t>
            </a:r>
          </a:p>
          <a:p>
            <a:r>
              <a:t>Historical wording below is retained, not promoted to current fact or permission. Current oracle/status and refreshed visible copy govern. In particular, old 'gates OPEN' meant outstanding acceptance, not permission; Excel reporting is a conditional intended transition, not delivered integration.</a:t>
            </a:r>
          </a:p>
          <a:p>
            <a:r>
              <a:t>Earn the next gate; do not repeat the last proof.</a:t>
            </a:r>
          </a:p>
          <a:p>
            <a:r>
              <a:t>1  Confirm</a:t>
            </a:r>
          </a:p>
          <a:p>
            <a:r>
              <a:t>Requirements,</a:t>
            </a:r>
          </a:p>
          <a:p>
            <a:r>
              <a:t>owners, authority.</a:t>
            </a:r>
          </a:p>
          <a:p>
            <a:r>
              <a:t>2  Accept</a:t>
            </a:r>
          </a:p>
          <a:p>
            <a:r>
              <a:t>Real staff/session,</a:t>
            </a:r>
          </a:p>
          <a:p>
            <a:r>
              <a:t>source review, roles,</a:t>
            </a:r>
          </a:p>
          <a:p>
            <a:r>
              <a:t>accessibility.</a:t>
            </a:r>
          </a:p>
          <a:p>
            <a:r>
              <a:t>3  Compare</a:t>
            </a:r>
          </a:p>
          <a:p>
            <a:r>
              <a:t>Semantics, net effort,</a:t>
            </a:r>
          </a:p>
          <a:p>
            <a:r>
              <a:t>cost, recovery.</a:t>
            </a:r>
          </a:p>
          <a:p>
            <a:r>
              <a:t>4  Decide</a:t>
            </a:r>
          </a:p>
          <a:p>
            <a:r>
              <a:t>Continue,</a:t>
            </a:r>
          </a:p>
          <a:p>
            <a:r>
              <a:t>simplify or stop.</a:t>
            </a:r>
          </a:p>
          <a:p>
            <a:r>
              <a:t>Recorded operator proof is an input — not production approval.</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Message / evidence limit / planned script:</a:t>
            </a:r>
          </a:p>
          <a:p>
            <a:r>
              <a:t>SLIDE 18 - Endorse the next acceptance-and-value proposal.</a:t>
            </a:r>
          </a:p>
          <a:p>
            <a:r>
              <a:t>Topic sentinel: decision</a:t>
            </a:r>
          </a:p>
          <a:p>
            <a:r>
              <a:t>Message: make a clear planning-only choice with named responsibilities.</a:t>
            </a:r>
          </a:p>
          <a:p>
            <a:r>
              <a:t>Status: strategist-recommended proposal; refreshed 14 October 2026.</a:t>
            </a:r>
          </a:p>
          <a:p/>
          <a:p>
            <a:r>
              <a:t>"The recommendation is yes to preparing the next bounded</a:t>
            </a:r>
          </a:p>
          <a:p>
            <a:r>
              <a:t>  acceptance-and-value proposal, not yes to autonomous rollout. Confirm</a:t>
            </a:r>
          </a:p>
          <a:p>
            <a:r>
              <a:t>  owners and delegations, require fair alternatives and whole-life costs,</a:t>
            </a:r>
          </a:p>
          <a:p>
            <a:r>
              <a:t>  and agree a return date rather than inventing one. If a critical control</a:t>
            </a:r>
          </a:p>
          <a:p>
            <a:r>
              <a:t>  fails or authority is absent, stop that activity. If AI adds no net value,</a:t>
            </a:r>
          </a:p>
          <a:p>
            <a:r>
              <a:t>  simplify it. We have real service evidence; now let assistance earn its</a:t>
            </a:r>
          </a:p>
          <a:p>
            <a:r>
              <a:t>  place in safe, resident-accepted handovers."</a:t>
            </a:r>
          </a:p>
          <a:p>
            <a:r>
              <a:t>* Transition: "Which gate would you most need resolved before supporting</a:t>
            </a:r>
          </a:p>
          <a:p>
            <a:r>
              <a:t>  the next proposal?" Then listen; use optional appendices only as needed.</a:t>
            </a:r>
          </a:p>
          <a:p/>
          <a:p>
            <a:r>
              <a:t>Sources — workspace-relative paths, section and evidence status; as read 14 October 2026:</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S03: docs/reference/research/company/company-profile-research.md, Confirmed Company Information; Role and Decision Map; Priority Company Gaps; Evidence Limitations. Status: Owner-confirmed not-for-profit; modelled company/resident/finance attributes are not company facts or delegations.</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S10: .copilot-tracking/reviews/logs/2026-10-14/five-assistant-live-delivery-review.md, Completed Work; Validation; RV-001/RV-002; Outcome. Status: Technical Review Complete / Residual work, not blanket product conformance.</a:t>
            </a:r>
          </a:p>
          <a:p/>
          <a:p>
            <a:r>
              <a:t>Planned allocation: 35 seconds; not rehearsed.</a:t>
            </a:r>
          </a:p>
          <a:p/>
          <a:p>
            <a:r>
              <a:t>REFRESH BASELINE / UN SPOKEN REFERENCE: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p>
            <a:r>
              <a:t>Critical safety/rights/authority failure stops affected work. No incremental AI value -&gt; simplify. Unresolved evidence -&gt; return with named owner and status. Roles are proposals, not approved corporate delegations; date is to agree, not invented.</a:t>
            </a:r>
          </a:p>
          <a:p/>
          <a:p>
            <a:r>
              <a:t>RETAINED BASELINE VISIBLE COPY / TRACEABILITY, UNSPOKEN:</a:t>
            </a:r>
          </a:p>
          <a:p>
            <a:r>
              <a:t>Historical wording below is retained, not promoted to current fact or permission. Current oracle/status and refreshed visible copy govern. In particular, old 'gates OPEN' meant outstanding acceptance, not permission; Excel reporting is a conditional intended transition, not delivered integration.</a:t>
            </a:r>
          </a:p>
          <a:p>
            <a:r>
              <a:t>Endorse the next evidence proposal.</a:t>
            </a:r>
          </a:p>
          <a:p>
            <a:r>
              <a:t>CEO / Assets</a:t>
            </a:r>
          </a:p>
          <a:p>
            <a:r>
              <a:t>Sponsor +</a:t>
            </a:r>
          </a:p>
          <a:p>
            <a:r>
              <a:t>accountable owners.</a:t>
            </a:r>
          </a:p>
          <a:p>
            <a:r>
              <a:t>CIO / Programme</a:t>
            </a:r>
          </a:p>
          <a:p>
            <a:r>
              <a:t>Human, permission</a:t>
            </a:r>
          </a:p>
          <a:p>
            <a:r>
              <a:t>and recovery evidence.</a:t>
            </a:r>
          </a:p>
          <a:p>
            <a:r>
              <a:t>CFO</a:t>
            </a:r>
          </a:p>
          <a:p>
            <a:r>
              <a:t>Whole-life affordability</a:t>
            </a:r>
          </a:p>
          <a:p>
            <a:r>
              <a:t>+ scoped authority review.</a:t>
            </a:r>
          </a:p>
          <a:p>
            <a:r>
              <a:t>Agree the return date and stop tests.</a:t>
            </a:r>
          </a:p>
          <a:p>
            <a:r>
              <a:t>No new procurement, spending, rollout or production authority.</a:t>
            </a:r>
          </a:p>
          <a:p>
            <a:r>
              <a:t>Whole-life affordability</a:t>
            </a:r>
          </a:p>
          <a:p>
            <a:r>
              <a:t>scoped authority review.</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Message / evidence limit / planned script:</a:t>
            </a:r>
          </a:p>
          <a:p>
            <a:r>
              <a:t>SLIDE 19 - One runtime. Proposals are not domain approvals.</a:t>
            </a:r>
          </a:p>
          <a:p>
            <a:r>
              <a:t>Topic sentinel: technical limits</a:t>
            </a:r>
          </a:p>
          <a:p>
            <a:r>
              <a:t>Message: disclose runtime limits and the evidence required for stronger claims.</a:t>
            </a:r>
          </a:p>
          <a:p>
            <a:r>
              <a:t>Status: strategist-recommended proposal; refreshed 14 October 2026.</a:t>
            </a:r>
          </a:p>
          <a:p/>
          <a:p>
            <a:r>
              <a:t>"Threats include source injection, cross-role leakage, stale</a:t>
            </a:r>
          </a:p>
          <a:p>
            <a:r>
              <a:t>  approvals and duplicate or lost transitions. Application controls—not a</a:t>
            </a:r>
          </a:p>
          <a:p>
            <a:r>
              <a:t>  prompt alone—constrain proposals. SQL controls claim/lease fences and finite</a:t>
            </a:r>
          </a:p>
          <a:p>
            <a:r>
              <a:t>  shared liabilities; timeouts do not mean zero usage and billing is not</a:t>
            </a:r>
          </a:p>
          <a:p>
            <a:r>
              <a:t>  exactly once. Local SQL/browser tests and deployed content-restart receipts</a:t>
            </a:r>
          </a:p>
          <a:p>
            <a:r>
              <a:t>  are different evidence. No measured Azure scale load, full restore,</a:t>
            </a:r>
          </a:p>
          <a:p>
            <a:r>
              <a:t>  production SLO or externally anchored whole-system audit is established.</a:t>
            </a:r>
          </a:p>
          <a:p>
            <a:r>
              <a:t>  Present runtime still shares in-memory domain mechanisms described in</a:t>
            </a:r>
          </a:p>
          <a:p>
            <a:r>
              <a:t>  the MVP limits; proposed queue workers/private topology remain distinct.</a:t>
            </a:r>
          </a:p>
          <a:p>
            <a:r>
              <a:t>  Decision 1 is a separate candidate-selection/screening design with historical</a:t>
            </a:r>
          </a:p>
          <a:p>
            <a:r>
              <a:t>  narrow evidence; it did not power the five new GPT proposal calls.</a:t>
            </a:r>
          </a:p>
          <a:p>
            <a:r>
              <a:t>  Held-out calibration, alternatives on quality/latency/cost and independent</a:t>
            </a:r>
          </a:p>
          <a:p>
            <a:r>
              <a:t>  human source labels remain required. Structured trigger predicates do not</a:t>
            </a:r>
          </a:p>
          <a:p>
            <a:r>
              <a:t>  establish autonomous reasoning; A7 is not claimed complete."</a:t>
            </a:r>
          </a:p>
          <a:p/>
          <a:p>
            <a:r>
              <a:t>Sources — workspace-relative paths, section and evidence status; as read 14 October 2026:</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S08: docs/adrs/0002-pilot-readiness-architecture.md, Five-Assistant Exercise Runtime; Fresh Ledger and Synthetic Coverage Learning; current delta. Status: Current lean proposal runtime, explicit reset, image/source/revision-linked service proof; proposed readiness estate separate.</a:t>
            </a:r>
          </a:p>
          <a:p>
            <a:r>
              <a:t>S11: mvp/README.md, Honest limits; Five retrofit assistants; Operator authority; current delivery paragraphs; mvp/zavaforward_mvp/assistants.py, REGISTRY/RULES/capture/eligible/review. Status: Source and documented implementation; captured metadata/category citations, not unrestricted document reading, human source review or semantic entailment.</a:t>
            </a:r>
          </a:p>
          <a:p>
            <a:r>
              <a:t>S12: docs/adrs/0001-azure-architecture.md, Hybrid M365 and Excel transition; Options still to compare; provisional appraisal. Status: Proposed transition/full topology and historical illustration, not current deployment or scored customer platform choice.</a:t>
            </a:r>
          </a:p>
          <a:p>
            <a:r>
              <a:t>S13: docs/ideas/typesafe-system-one-agent-fit.md, pinned #58 feasibility/parallel experiment, as carried in S02/S07. Status: Historical separate Decision 1 selection/generation evidence; not the provider for the five new service calls; no new evaluation results.</a:t>
            </a:r>
          </a:p>
          <a:p/>
          <a:p>
            <a:r>
              <a:t>Optional appendix, outside the planned 795-second main route.</a:t>
            </a:r>
          </a:p>
          <a:p/>
          <a:p>
            <a:r>
              <a:t>Exact current claim-status oracle:</a:t>
            </a:r>
          </a:p>
          <a:p>
            <a:r>
              <a:t>1. Historical documentation/source context was cabe05c; runtime source is</a:t>
            </a:r>
          </a:p>
          <a:p>
            <a:r>
              <a:t>   cd14b3b379026a87ebfa3e9058ac10c0df7888eb, not cabe05c.</a:t>
            </a:r>
          </a:p>
          <a:p>
            <a:r>
              <a:t>2. Image05 is assistants-20261013-05, manifest</a:t>
            </a:r>
          </a:p>
          <a:p>
            <a:r>
              <a:t>   sha256:e0254cb3a0599c21802f0b6515f975550cf00ddce4849d04fd3fa3d50683af20,</a:t>
            </a:r>
          </a:p>
          <a:p>
            <a:r>
              <a:t>   serving ca-forward-test-api--0000012. Short forms on screen; exact forms</a:t>
            </a:r>
          </a:p>
          <a:p>
            <a:r>
              <a:t>   in notes. Do not rename historical revisions.</a:t>
            </a:r>
          </a:p>
          <a:p>
            <a:r>
              <a:t>3. The owner explicitly reauthorized the synthetic database reset on</a:t>
            </a:r>
          </a:p>
          <a:p>
            <a:r>
              <a:t>   14 October after the earlier cancellation. Previous exercise</a:t>
            </a:r>
          </a:p>
          <a:p>
            <a:r>
              <a:t>   recommendations/audit were reset, not preserved by migration. Retain</a:t>
            </a:r>
          </a:p>
          <a:p>
            <a:r>
              <a:t>   generator/60,000-stock lineage; the new programme baseline is 980 cases,</a:t>
            </a:r>
          </a:p>
          <a:p>
            <a:r>
              <a:t>   38 booked visits and 11 actual privately bound tenant staff. Do not publish</a:t>
            </a:r>
          </a:p>
          <a:p>
            <a:r>
              <a:t>   their identities. Counts are exercise context, not real resident activity,</a:t>
            </a:r>
          </a:p>
          <a:p>
            <a:r>
              <a:t>   staff use or programme success.</a:t>
            </a:r>
          </a:p>
          <a:p>
            <a:r>
              <a:t>4. Five distinct registered operator service paths returned citation-validated</a:t>
            </a:r>
          </a:p>
          <a:p>
            <a:r>
              <a:t>   ready proposals through real Azure OpenAI deployment standard, model</a:t>
            </a:r>
          </a:p>
          <a:p>
            <a:r>
              <a:t>   gpt-4.1-mini-2025-04-14: five calls/attempts, 6884 total tokens, 15 ledger</a:t>
            </a:r>
          </a:p>
          <a:p>
            <a:r>
              <a:t>   events. These are not Decision 1 calls or five independent autonomous agents.</a:t>
            </a:r>
          </a:p>
          <a:p>
            <a:r>
              <a:t>5. Against that new baseline, independent controlled-domain hashes stayed</a:t>
            </a:r>
          </a:p>
          <a:p>
            <a:r>
              <a:t>   unchanged by proposal generation, and full assistant-table content,</a:t>
            </a:r>
          </a:p>
          <a:p>
            <a:r>
              <a:t>   outputs and usage survived an actual serving-revision restart. This is</a:t>
            </a:r>
          </a:p>
          <a:p>
            <a:r>
              <a:t>   stronger than row-count equality, weaker than disaster recovery/restore.</a:t>
            </a:r>
          </a:p>
          <a:p>
            <a:r>
              <a:t>6. Bounded operator QA ended. Normal serving assistant authority is absent;</a:t>
            </a:r>
          </a:p>
          <a:p>
            <a:r>
              <a:t>   proactive scans are off. A registered capability is not current standing</a:t>
            </a:r>
          </a:p>
          <a:p>
            <a:r>
              <a:t>   authority. Neither proactive enablement nor new calls are authorized here.</a:t>
            </a:r>
          </a:p>
          <a:p>
            <a:r>
              <a:t>7. Citation validity means permitted source/provenance binding, not semantic</a:t>
            </a:r>
          </a:p>
          <a:p>
            <a:r>
              <a:t>   correctness or competent source verification. None of the five has human</a:t>
            </a:r>
          </a:p>
          <a:p>
            <a:r>
              <a:t>   verification/acceptance recorded by that operator exercise.</a:t>
            </a:r>
          </a:p>
          <a:p>
            <a:r>
              <a:t>8. Real staff-browser/API, role/human/source/accessibility acceptance,</a:t>
            </a:r>
          </a:p>
          <a:p>
            <a:r>
              <a:t>   semantic calibration, paired task value and operational outcomes remain</a:t>
            </a:r>
          </a:p>
          <a:p>
            <a:r>
              <a:t>   open (RV-001/RV-002). PRD v0.14 remains a candidate. Do not mark AC-057</a:t>
            </a:r>
          </a:p>
          <a:p>
            <a:r>
              <a:t>   or full requirements/product/pilot/production acceptance passed.</a:t>
            </a:r>
          </a:p>
          <a:p>
            <a:r>
              <a:t>9. No observed doubled throughput, lower bills, secured £40m, programme</a:t>
            </a:r>
          </a:p>
          <a:p>
            <a:r>
              <a:t>   savings, cost per accepted home, currency-cost cap, production selection</a:t>
            </a:r>
          </a:p>
          <a:p>
            <a:r>
              <a:t>   or corporate investment approval follows. Token allowance is not a</a:t>
            </a:r>
          </a:p>
          <a:p>
            <a:r>
              <a:t>   currency guarantee; historical EXA-012 and the scoped #58 override are</a:t>
            </a:r>
          </a:p>
          <a:p>
            <a:r>
              <a:t>   not a new funding commitment.</a:t>
            </a:r>
          </a:p>
          <a:p>
            <a:r>
              <a:t>10. Source-level automated contract tests are evidence of tested boundaries,</a:t>
            </a:r>
          </a:p>
          <a:p>
            <a:r>
              <a:t>    not a live staff session or panel behaviour. No new score is inferred from</a:t>
            </a:r>
          </a:p>
          <a:p>
            <a:r>
              <a:t>    cabe05c's historical rubric update or from successful CI.</a:t>
            </a:r>
          </a:p>
          <a:p/>
          <a:p>
            <a:r>
              <a:t>REFRESH BASELINE / UN SPOKEN REFERENCE: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p>
            <a:r>
              <a:t>Spoken return: That is the current boundary; the decision remains which evidence gate to resolve next.</a:t>
            </a:r>
          </a:p>
          <a:p/>
          <a:p>
            <a:r>
              <a:t>S16 ARCHITECTURE / TEXT EQUIVALENT:</a:t>
            </a:r>
          </a:p>
          <a:p>
            <a:r>
              <a:t>S16: docs/architecture/README.md, executive and technical Excalidraw/SVG/PNG views, docs/architecture/assets/README.md; 14 October 2026. Static source baseline 062434a1fedbf6a87d1374c767c2bf0a11491ab6, not a fresh inventory or acceptance. Source Excalidraw remains editing authority; this PPTX is a simplified native adaptation. Official icon provenance is retained in source; no new service icons are required here.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r>
              <a:t>Diagram reading order: identity/request -&gt; single API -&gt; stores/model -&gt; separate human authority. Connectors are editable; no composite architecture image. No native-viewer accessibility claim.</a:t>
            </a:r>
          </a:p>
          <a:p>
            <a:r>
              <a:t>RETAINED TECHNICAL LIMITS FROM19:</a:t>
            </a:r>
          </a:p>
          <a:p>
            <a:r>
              <a:t>SLIDE 19 — Technical challenge: bounded does not mean fully assured.</a:t>
            </a:r>
          </a:p>
          <a:p>
            <a:r>
              <a:t>Topic sentinel: technical limits</a:t>
            </a:r>
          </a:p>
          <a:p>
            <a:r>
              <a:t>Message: disclose runtime limits and the evidence required for stronger claims.</a:t>
            </a:r>
          </a:p>
          <a:p>
            <a:r>
              <a:t>Status: strategist-recommended proposal; refreshed 14 October 2026.</a:t>
            </a:r>
          </a:p>
          <a:p/>
          <a:p>
            <a:r>
              <a:t>"Threats include source injection, cross-role leakage, stale</a:t>
            </a:r>
          </a:p>
          <a:p>
            <a:r>
              <a:t>  approvals and duplicate or lost transitions. Application controls—not a</a:t>
            </a:r>
          </a:p>
          <a:p>
            <a:r>
              <a:t>  prompt alone—constrain proposals. SQL controls claim/lease fences and finite</a:t>
            </a:r>
          </a:p>
          <a:p>
            <a:r>
              <a:t>  shared liabilities; timeouts do not mean zero usage and billing is not</a:t>
            </a:r>
          </a:p>
          <a:p>
            <a:r>
              <a:t>  exactly once. Local SQL/browser tests and deployed content-restart receipts</a:t>
            </a:r>
          </a:p>
          <a:p>
            <a:r>
              <a:t>  are different evidence. No measured Azure scale load, full restore,</a:t>
            </a:r>
          </a:p>
          <a:p>
            <a:r>
              <a:t>  production SLO or externally anchored whole-system audit is established.</a:t>
            </a:r>
          </a:p>
          <a:p>
            <a:r>
              <a:t>  Present runtime still shares in-memory domain mechanisms described in</a:t>
            </a:r>
          </a:p>
          <a:p>
            <a:r>
              <a:t>  the MVP limits; proposed queue workers/private topology remain distinct.</a:t>
            </a:r>
          </a:p>
          <a:p>
            <a:r>
              <a:t>  Decision 1 is a separate candidate-selection/screening design with historical</a:t>
            </a:r>
          </a:p>
          <a:p>
            <a:r>
              <a:t>  narrow evidence; it did not power the five new GPT proposal calls.</a:t>
            </a:r>
          </a:p>
          <a:p>
            <a:r>
              <a:t>  Held-out calibration, alternatives on quality/latency/cost and independent</a:t>
            </a:r>
          </a:p>
          <a:p>
            <a:r>
              <a:t>  human source labels remain required. Structured trigger predicates do not</a:t>
            </a:r>
          </a:p>
          <a:p>
            <a:r>
              <a:t>  establish autonomous reasoning; A7 is not claimed complete."</a:t>
            </a:r>
          </a:p>
          <a:p/>
          <a:p>
            <a:r>
              <a:t>Sources — workspace-relative paths, section and evidence status; as read 14 October 2026:</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S08: docs/adrs/0002-pilot-readiness-architecture.md, Five-Assistant Exercise Runtime; Fresh Ledger and Synthetic Coverage Learning; current delta. Status: Current lean proposal runtime, explicit reset, image/source/revision-linked service proof; proposed readiness estate separate.</a:t>
            </a:r>
          </a:p>
          <a:p>
            <a:r>
              <a:t>S11: mvp/README.md, Honest limits; Five retrofit assistants; Operator authority; current delivery paragraphs; mvp/zavaforward_mvp/assistants.py, REGISTRY/RULES/capture/eligible/review. Status: Source and documented implementation; captured metadata/category citations, not unrestricted document reading, human source review or semantic entailment.</a:t>
            </a:r>
          </a:p>
          <a:p>
            <a:r>
              <a:t>S12: docs/adrs/0001-azure-architecture.md, Hybrid M365 and Excel transition; Options still to compare; provisional appraisal. Status: Proposed transition/full topology and historical illustration, not current deployment or scored customer platform choice.</a:t>
            </a:r>
          </a:p>
          <a:p>
            <a:r>
              <a:t>S13: docs/ideas/typesafe-system-one-agent-fit.md, pinned #58 feasibility/parallel experiment, as carried in S02/S07. Status: Historical separate Decision 1 selection/generation evidence; not the provider for the five new service calls; no new evaluation results.</a:t>
            </a:r>
          </a:p>
          <a:p/>
          <a:p>
            <a:r>
              <a:t>Optional appendix, outside the planned 795-second main route.</a:t>
            </a:r>
          </a:p>
          <a:p/>
          <a:p>
            <a:r>
              <a:t>Exact current claim-status oracle:</a:t>
            </a:r>
          </a:p>
          <a:p>
            <a:r>
              <a:t>1. Historical documentation/source context was cabe05c; runtime source is</a:t>
            </a:r>
          </a:p>
          <a:p>
            <a:r>
              <a:t>   cd14b3b379026a87ebfa3e9058ac10c0df7888eb, not cabe05c.</a:t>
            </a:r>
          </a:p>
          <a:p>
            <a:r>
              <a:t>2. Image05 is assistants-20261013-05, manifest</a:t>
            </a:r>
          </a:p>
          <a:p>
            <a:r>
              <a:t>   sha256:e0254cb3a0599c21802f0b6515f975550cf00ddce4849d04fd3fa3d50683af20,</a:t>
            </a:r>
          </a:p>
          <a:p>
            <a:r>
              <a:t>   serving ca-forward-test-api--0000012. Short forms on screen; exact forms</a:t>
            </a:r>
          </a:p>
          <a:p>
            <a:r>
              <a:t>   in notes. Do not rename historical revisions.</a:t>
            </a:r>
          </a:p>
          <a:p>
            <a:r>
              <a:t>3. The owner explicitly reauthorized the synthetic database reset on</a:t>
            </a:r>
          </a:p>
          <a:p>
            <a:r>
              <a:t>   14 October after the earlier cancellation. Previous exercise</a:t>
            </a:r>
          </a:p>
          <a:p>
            <a:r>
              <a:t>   recommendations/audit were reset, not preserved by migration. Retain</a:t>
            </a:r>
          </a:p>
          <a:p>
            <a:r>
              <a:t>   generator/60,000-stock lineage; the new programme baseline is 980 cases,</a:t>
            </a:r>
          </a:p>
          <a:p>
            <a:r>
              <a:t>   38 booked visits and 11 actual privately bound tenant staff. Do not publish</a:t>
            </a:r>
          </a:p>
          <a:p>
            <a:r>
              <a:t>   their identities. Counts are exercise context, not real resident activity,</a:t>
            </a:r>
          </a:p>
          <a:p>
            <a:r>
              <a:t>   staff use or programme success.</a:t>
            </a:r>
          </a:p>
          <a:p>
            <a:r>
              <a:t>4. Five distinct registered operator service paths returned citation-validated</a:t>
            </a:r>
          </a:p>
          <a:p>
            <a:r>
              <a:t>   ready proposals through real Azure OpenAI deployment standard, model</a:t>
            </a:r>
          </a:p>
          <a:p>
            <a:r>
              <a:t>   gpt-4.1-mini-2025-04-14: five calls/attempts, 6884 total tokens, 15 ledger</a:t>
            </a:r>
          </a:p>
          <a:p>
            <a:r>
              <a:t>   events. These are not Decision 1 calls or five independent autonomous agents.</a:t>
            </a:r>
          </a:p>
          <a:p>
            <a:r>
              <a:t>5. Against that new baseline, independent controlled-domain hashes stayed</a:t>
            </a:r>
          </a:p>
          <a:p>
            <a:r>
              <a:t>   unchanged by proposal generation, and full assistant-table content,</a:t>
            </a:r>
          </a:p>
          <a:p>
            <a:r>
              <a:t>   outputs and usage survived an actual serving-revision restart. This is</a:t>
            </a:r>
          </a:p>
          <a:p>
            <a:r>
              <a:t>   stronger than row-count equality, weaker than disaster recovery/restore.</a:t>
            </a:r>
          </a:p>
          <a:p>
            <a:r>
              <a:t>6. Bounded operator QA ended. Normal serving assistant authority is absent;</a:t>
            </a:r>
          </a:p>
          <a:p>
            <a:r>
              <a:t>   proactive scans are off. A registered capability is not current standing</a:t>
            </a:r>
          </a:p>
          <a:p>
            <a:r>
              <a:t>   authority. Neither proactive enablement nor new calls are authorized here.</a:t>
            </a:r>
          </a:p>
          <a:p>
            <a:r>
              <a:t>7. Citation validity means permitted source/provenance binding, not semantic</a:t>
            </a:r>
          </a:p>
          <a:p>
            <a:r>
              <a:t>   correctness or competent source verification. None of the five has human</a:t>
            </a:r>
          </a:p>
          <a:p>
            <a:r>
              <a:t>   verification/acceptance recorded by that operator exercise.</a:t>
            </a:r>
          </a:p>
          <a:p>
            <a:r>
              <a:t>8. Real staff-browser/API, role/human/source/accessibility acceptance,</a:t>
            </a:r>
          </a:p>
          <a:p>
            <a:r>
              <a:t>   semantic calibration, paired task value and operational outcomes remain</a:t>
            </a:r>
          </a:p>
          <a:p>
            <a:r>
              <a:t>   open (RV-001/RV-002). PRD v0.14 remains a candidate. Do not mark AC-057</a:t>
            </a:r>
          </a:p>
          <a:p>
            <a:r>
              <a:t>   or full requirements/product/pilot/production acceptance passed.</a:t>
            </a:r>
          </a:p>
          <a:p>
            <a:r>
              <a:t>9. No observed doubled throughput, lower bills, secured £40m, programme</a:t>
            </a:r>
          </a:p>
          <a:p>
            <a:r>
              <a:t>   savings, cost per accepted home, currency-cost cap, production selection</a:t>
            </a:r>
          </a:p>
          <a:p>
            <a:r>
              <a:t>   or corporate investment approval follows. Token allowance is not a</a:t>
            </a:r>
          </a:p>
          <a:p>
            <a:r>
              <a:t>   currency guarantee; historical EXA-012 and the scoped #58 override are</a:t>
            </a:r>
          </a:p>
          <a:p>
            <a:r>
              <a:t>   not a new funding commitment.</a:t>
            </a:r>
          </a:p>
          <a:p>
            <a:r>
              <a:t>10. Source-level automated contract tests are evidence of tested boundaries,</a:t>
            </a:r>
          </a:p>
          <a:p>
            <a:r>
              <a:t>    not a live staff session or panel behaviour. No new score is inferred from</a:t>
            </a:r>
          </a:p>
          <a:p>
            <a:r>
              <a:t>    cabe05c's historical rubric update or from successful CI.</a:t>
            </a:r>
          </a:p>
          <a:p>
            <a:r>
              <a:t>ZAVA NORTH HOMES  /  ZAVA FORWARD  /  OPTIONAL REFERENCE</a:t>
            </a:r>
          </a:p>
          <a:p/>
          <a:p/>
          <a:p>
            <a:r>
              <a:t>Technical challenge: bounded does not mean fully assured.</a:t>
            </a:r>
          </a:p>
          <a:p>
            <a:r>
              <a:t>14 OCT 2026  •  S07 / S08 / S11 / S12 / S13  •  Sources + status in notes</a:t>
            </a:r>
          </a:p>
          <a:p>
            <a:r>
              <a:t>19 / 22</a:t>
            </a:r>
          </a:p>
          <a:p/>
          <a:p>
            <a:r>
              <a:t>State</a:t>
            </a:r>
          </a:p>
          <a:p>
            <a:r>
              <a:t>Versions, fenced attempts,</a:t>
            </a:r>
          </a:p>
          <a:p>
            <a:r>
              <a:t>reservations.</a:t>
            </a:r>
          </a:p>
          <a:p>
            <a:r>
              <a:t>Content restart observed.</a:t>
            </a:r>
          </a:p>
          <a:p/>
          <a:p>
            <a:r>
              <a:t>Trust</a:t>
            </a:r>
          </a:p>
          <a:p>
            <a:r>
              <a:t>Permitted sources,</a:t>
            </a:r>
          </a:p>
          <a:p>
            <a:r>
              <a:t>current role checks,</a:t>
            </a:r>
          </a:p>
          <a:p>
            <a:r>
              <a:t>independent review.</a:t>
            </a:r>
          </a:p>
          <a:p>
            <a:r>
              <a:t>Real-session assurance open.</a:t>
            </a:r>
          </a:p>
          <a:p/>
          <a:p>
            <a:r>
              <a:t>Operate</a:t>
            </a:r>
          </a:p>
          <a:p>
            <a:r>
              <a:t>Owned manual path.</a:t>
            </a:r>
          </a:p>
          <a:p>
            <a:r>
              <a:t>Performance, restore,</a:t>
            </a:r>
          </a:p>
          <a:p>
            <a:r>
              <a:t>quality and unit cost open.</a:t>
            </a:r>
          </a:p>
          <a:p/>
          <a:p>
            <a:r>
              <a:t>Decision 1 is separate from the five new GPT proposal calls.</a:t>
            </a:r>
          </a:p>
          <a:p>
            <a:r>
              <a:t>Threats: prompt injection, source leakage, stale/duplicate proposals. Allowed sources and current role/source/version checks are separate from semantic verification. Fenced attempts/reservations constrain duplicates; a timeout does not mean zero usage; billing is not exactly once. Historical Decision 1 evaluation/autonomy gaps remain separate.</a:t>
            </a:r>
          </a:p>
          <a:p>
            <a:r>
              <a:t>Source flow 676ff72690ed81e0823b: staff -&gt; entra; native runtime-sign-in-segment-1.</a:t>
            </a:r>
          </a:p>
          <a:p>
            <a:r>
              <a:t>Source flow 12b3abbdb6718ff774f7: staff -&gt; auth; native runtime-browser-body.</a:t>
            </a:r>
          </a:p>
          <a:p>
            <a:r>
              <a:t>Source flow 3a398502e2258877069e: entra -&gt; auth; native runtime-issuer-segment-1.</a:t>
            </a:r>
          </a:p>
          <a:p>
            <a:r>
              <a:t>Source flow 95a13aafa833607e8907: auth -&gt; api; native runtime-principal-segment-1.</a:t>
            </a:r>
          </a:p>
          <a:p>
            <a:r>
              <a:t>Source flow 3ceaae8bf6c64f995ab3: api -&gt; sql; native runtime-api-sql-segment-1.</a:t>
            </a:r>
          </a:p>
          <a:p>
            <a:r>
              <a:t>Source flow 36259cde5295635f2668: api -&gt; blob; native runtime-api-blob-segment-1.</a:t>
            </a:r>
          </a:p>
          <a:p>
            <a:r>
              <a:t>Source flow bde189caec5340903daf: api -&gt; model; native runtime-api-model-segment-1.</a:t>
            </a:r>
          </a:p>
          <a:p>
            <a:r>
              <a:t>VISIBLE NATIVE DIAGRAM TEXT EQUIVALENT (unspoken):</a:t>
            </a:r>
          </a:p>
          <a:p>
            <a:r>
              <a:t>ZAVA NORTH HOMES / ZAVA FORWARD / OPTIONAL REFERENCE</a:t>
            </a:r>
          </a:p>
          <a:p>
            <a:r>
              <a:t>One runtime. Proposals are not domain approvals.</a:t>
            </a:r>
          </a:p>
          <a:p>
            <a:r>
              <a:t>14 OCT 2026 | S16 + retained sources/status in notes</a:t>
            </a:r>
          </a:p>
          <a:p>
            <a:r>
              <a:t>19 / 24</a:t>
            </a:r>
          </a:p>
          <a:p>
            <a:r>
              <a:t>Staff browser | HUMAN</a:t>
            </a:r>
          </a:p>
          <a:p>
            <a:r>
              <a:t>Entra sign-in; HTTPS ingress.</a:t>
            </a:r>
          </a:p>
          <a:p>
            <a:r>
              <a:t>Public /; protected /app + APIs.</a:t>
            </a:r>
          </a:p>
          <a:p>
            <a:r>
              <a:t>Entra ID | CONFIGURED</a:t>
            </a:r>
          </a:p>
          <a:p>
            <a:r>
              <a:t>Issuer + app roles.</a:t>
            </a:r>
          </a:p>
          <a:p>
            <a:r>
              <a:t>Identity -&gt; EasyAuth.</a:t>
            </a:r>
          </a:p>
          <a:p>
            <a:r>
              <a:t>EasyAuth | CONFIGURED</a:t>
            </a:r>
          </a:p>
          <a:p>
            <a:r>
              <a:t>HTTPS -&gt; verified principal.</a:t>
            </a:r>
          </a:p>
          <a:p>
            <a:r>
              <a:t>443 -&gt; 8088; /healthz.</a:t>
            </a:r>
          </a:p>
          <a:p>
            <a:r>
              <a:t>OpenAI | CONDITIONAL</a:t>
            </a:r>
          </a:p>
          <a:p>
            <a:r>
              <a:t>OFF. Scoped draft + usage.</a:t>
            </a:r>
          </a:p>
          <a:p>
            <a:r>
              <a:t>No DB/workflow credentials.</a:t>
            </a:r>
          </a:p>
          <a:p>
            <a:r>
              <a:t>No Foundry Agent Service.</a:t>
            </a:r>
          </a:p>
          <a:p>
            <a:r>
              <a:t>One Python API | CORE</a:t>
            </a:r>
          </a:p>
          <a:p>
            <a:r>
              <a:t>SQL staff/role/case/field checks.</a:t>
            </a:r>
          </a:p>
          <a:p>
            <a:r>
              <a:t>Five assistant modules in one API.</a:t>
            </a:r>
          </a:p>
          <a:p>
            <a:r>
              <a:t>Capture/reserve; validate/store.</a:t>
            </a:r>
          </a:p>
          <a:p>
            <a:r>
              <a:t>Azure SQL | CORE</a:t>
            </a:r>
          </a:p>
          <a:p>
            <a:r>
              <a:t>Domain/proposal state + audit.</a:t>
            </a:r>
          </a:p>
          <a:p>
            <a:r>
              <a:t>Dedupe, reservations, fences.</a:t>
            </a:r>
          </a:p>
          <a:p>
            <a:r>
              <a:t>Inference outside locks.</a:t>
            </a:r>
          </a:p>
          <a:p>
            <a:r>
              <a:t>Human proposal review | SEPARATE REQUEST</a:t>
            </a:r>
          </a:p>
          <a:p>
            <a:r>
              <a:t>Verify sources. API rechecks permission, source/version/status.</a:t>
            </a:r>
          </a:p>
          <a:p>
            <a:r>
              <a:t>Accept proposal -&gt; proposal/audit only, NEVER domain approval.</a:t>
            </a:r>
          </a:p>
          <a:p>
            <a:r>
              <a:t>Blob | CONFIGURED</a:t>
            </a:r>
          </a:p>
          <a:p>
            <a:r>
              <a:t>API files; SQL refs + hashes.</a:t>
            </a:r>
          </a:p>
          <a:p>
            <a:r>
              <a:t>Assist: allowed metadata only.</a:t>
            </a:r>
          </a:p>
          <a:p>
            <a:r>
              <a:t>Five-assistant authority absent. Proactive OFF. Controlled approvals stay separate.</a:t>
            </a:r>
          </a:p>
          <a:p>
            <a:r>
              <a:t>Operations: slide 23</a:t>
            </a:r>
          </a:p>
          <a:p>
            <a:r>
              <a:t>Deferred topology: slide 24</a:t>
            </a:r>
          </a:p>
          <a:p>
            <a:r>
              <a:t>Return to decision: slide 18</a:t>
            </a:r>
          </a:p>
          <a:p>
            <a:r>
              <a:t>Full source views: docs/architecture/zava-forward-executive-architecture.excalidraw / .svg / .png; docs/architecture/zava-forward-technical-architecture.excalidraw / .svg / .png. README and assets/README hold source/status/provenance.</a:t>
            </a:r>
          </a:p>
          <a:p/>
          <a:p>
            <a:r>
              <a:t>RETAINED BASELINE VISIBLE COPY / TRACEABILITY, UNSPOKEN:</a:t>
            </a:r>
          </a:p>
          <a:p>
            <a:r>
              <a:t>Historical wording below is retained, not promoted to current fact or permission. Current oracle/status and refreshed visible copy govern. In particular, old 'gates OPEN' meant outstanding acceptance, not permission; Excel reporting is a conditional intended transition, not delivered integration.</a:t>
            </a:r>
          </a:p>
          <a:p>
            <a:r>
              <a:t>Technical challenge: bounded does not mean fully assured.</a:t>
            </a:r>
          </a:p>
          <a:p>
            <a:r>
              <a:t>State</a:t>
            </a:r>
          </a:p>
          <a:p>
            <a:r>
              <a:t>Versions, fenced attempts,</a:t>
            </a:r>
          </a:p>
          <a:p>
            <a:r>
              <a:t>reservations.</a:t>
            </a:r>
          </a:p>
          <a:p>
            <a:r>
              <a:t>Content restart observed.</a:t>
            </a:r>
          </a:p>
          <a:p>
            <a:r>
              <a:t>Trust</a:t>
            </a:r>
          </a:p>
          <a:p>
            <a:r>
              <a:t>Permitted sources,</a:t>
            </a:r>
          </a:p>
          <a:p>
            <a:r>
              <a:t>current role checks,</a:t>
            </a:r>
          </a:p>
          <a:p>
            <a:r>
              <a:t>independent review.</a:t>
            </a:r>
          </a:p>
          <a:p>
            <a:r>
              <a:t>Real-session assurance open.</a:t>
            </a:r>
          </a:p>
          <a:p>
            <a:r>
              <a:t>Operate</a:t>
            </a:r>
          </a:p>
          <a:p>
            <a:r>
              <a:t>Owned manual path.</a:t>
            </a:r>
          </a:p>
          <a:p>
            <a:r>
              <a:t>Performance, restore,</a:t>
            </a:r>
          </a:p>
          <a:p>
            <a:r>
              <a:t>quality and unit cost open.</a:t>
            </a:r>
          </a:p>
          <a:p>
            <a:r>
              <a:t>Decision 1 is separate from the five new GPT proposal calls.</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Message / evidence limit / planned script:</a:t>
            </a:r>
          </a:p>
          <a:p>
            <a:r>
              <a:t>SLIDE 20 - Council challenge: the objections we welcome.</a:t>
            </a:r>
          </a:p>
          <a:p>
            <a:r>
              <a:t>Topic sentinel: council challenge</a:t>
            </a:r>
          </a:p>
          <a:p>
            <a:r>
              <a:t>Message: defend the recommendation without hiding reversal conditions.</a:t>
            </a:r>
          </a:p>
          <a:p>
            <a:r>
              <a:t>Status: strategist-recommended proposal; refreshed 14 October 2026.</a:t>
            </a:r>
          </a:p>
          <a:p/>
          <a:p>
            <a:r>
              <a:t>"Restate the challenge before answering. Excel improvement is a</a:t>
            </a:r>
          </a:p>
          <a:p>
            <a:r>
              <a:t>  fair comparator, not a straw man. Power Apps/Dataverse would be greenfield;</a:t>
            </a:r>
          </a:p>
          <a:p>
            <a:r>
              <a:t>  company tenant/licensing/support fit is unverified. Azure is the exercise</a:t>
            </a:r>
          </a:p>
          <a:p>
            <a:r>
              <a:t>  choice, not proof of the best customer investment. Five proposals prove</a:t>
            </a:r>
          </a:p>
          <a:p>
            <a:r>
              <a:t>  integration, not five approved agents running a service. No new budget is</a:t>
            </a:r>
          </a:p>
          <a:p>
            <a:r>
              <a:t>  approved here; cost includes review and operational burden. Choose the</a:t>
            </a:r>
          </a:p>
          <a:p>
            <a:r>
              <a:t>  simpler path when assistance adds no net value. Unknown answers get an owner</a:t>
            </a:r>
          </a:p>
          <a:p>
            <a:r>
              <a:t>  and evidence route, not a confident guess."</a:t>
            </a:r>
          </a:p>
          <a:p/>
          <a:p>
            <a:r>
              <a:t>Sources — workspace-relative paths, section and evidence status; as read 14 October 2026:</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S03: docs/reference/research/company/company-profile-research.md, Confirmed Company Information; Role and Decision Map; Priority Company Gaps; Evidence Limitations. Status: Owner-confirmed not-for-profit; modelled company/resident/finance attributes are not company facts or delegations.</a:t>
            </a:r>
          </a:p>
          <a:p>
            <a:r>
              <a:t>S05: docs/reference/research/company/pilot-measurement-challenge.md, Owner Decision; Proposed Measurement Design; Freeze/Analysis; Guardrails. Status: Proposed comparisons and protected outcomes, not executed experiments.</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S09: infra/README.md, Five-assistant version: current handover. Status: Exact serving/source/model/SQL/restart receipt and authority-off state, 14 October; no fresh cloud inspection in this task.</a:t>
            </a:r>
          </a:p>
          <a:p>
            <a:r>
              <a:t>S10: .copilot-tracking/reviews/logs/2026-10-14/five-assistant-live-delivery-review.md, Completed Work; Validation; RV-001/RV-002; Outcome. Status: Technical Review Complete / Residual work, not blanket product conformance.</a:t>
            </a:r>
          </a:p>
          <a:p>
            <a:r>
              <a:t>S11: mvp/README.md, Honest limits; Five retrofit assistants; Operator authority; current delivery paragraphs; mvp/zavaforward_mvp/assistants.py, REGISTRY/RULES/capture/eligible/review. Status: Source and documented implementation; captured metadata/category citations, not unrestricted document reading, human source review or semantic entailment.</a:t>
            </a:r>
          </a:p>
          <a:p>
            <a:r>
              <a:t>S12: docs/adrs/0001-azure-architecture.md, Hybrid M365 and Excel transition; Options still to compare; provisional appraisal. Status: Proposed transition/full topology and historical illustration, not current deployment or scored customer platform choice.</a:t>
            </a:r>
          </a:p>
          <a:p/>
          <a:p>
            <a:r>
              <a:t>Optional appendix, outside the planned 795-second main route.</a:t>
            </a:r>
          </a:p>
          <a:p/>
          <a:p>
            <a:r>
              <a:t>REFRESH BASELINE / UN SPOKEN REFERENCE: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p>
            <a:r>
              <a:t>Spoken return: That is the current boundary; the decision remains which evidence gate to resolve next.</a:t>
            </a:r>
          </a:p>
          <a:p>
            <a:r>
              <a:t>Question routes: current runtime19; equivalent options22; operations23; deferred topology24. Listen/restate/answer/concede/assign unknown owner, then return18. No actual audience dialogue is claimed.</a:t>
            </a:r>
          </a:p>
          <a:p/>
          <a:p>
            <a:r>
              <a:t>RETAINED BASELINE VISIBLE COPY / TRACEABILITY, UNSPOKEN:</a:t>
            </a:r>
          </a:p>
          <a:p>
            <a:r>
              <a:t>Historical wording below is retained, not promoted to current fact or permission. Current oracle/status and refreshed visible copy govern. In particular, old 'gates OPEN' meant outstanding acceptance, not permission; Excel reporting is a conditional intended transition, not delivered integration.</a:t>
            </a:r>
          </a:p>
          <a:p>
            <a:r>
              <a:t>Council challenge: the objections we welcome.</a:t>
            </a:r>
          </a:p>
          <a:p>
            <a:r>
              <a:t>Why not improve Excel?</a:t>
            </a:r>
          </a:p>
          <a:p>
            <a:r>
              <a:t>Test equal scope and controls.</a:t>
            </a:r>
          </a:p>
          <a:p>
            <a:r>
              <a:t>Why not launch now?</a:t>
            </a:r>
          </a:p>
          <a:p>
            <a:r>
              <a:t>Human, semantic and value gates open.</a:t>
            </a:r>
          </a:p>
          <a:p>
            <a:r>
              <a:t>What budget?</a:t>
            </a:r>
          </a:p>
          <a:p>
            <a:r>
              <a:t>No new commitment; whole-life appraisal.</a:t>
            </a:r>
          </a:p>
          <a:p>
            <a:r>
              <a:t>What if AI fails?</a:t>
            </a:r>
          </a:p>
          <a:p>
            <a:r>
              <a:t>Manual workflow remains; simplify.</a:t>
            </a:r>
          </a:p>
          <a:p>
            <a:r>
              <a:t>Unknown answers get an owner and evidence route, not a confident guess.</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Message / evidence limit / planned script:</a:t>
            </a:r>
          </a:p>
          <a:p>
            <a:r>
              <a:t>SLIDE 21 - Read the evidence label before the claim.</a:t>
            </a:r>
          </a:p>
          <a:p>
            <a:r>
              <a:t>Topic sentinel: provenance</a:t>
            </a:r>
          </a:p>
          <a:p>
            <a:r>
              <a:t>Message: separate strong technical evidence from the open pitch and adoption gates.</a:t>
            </a:r>
          </a:p>
          <a:p>
            <a:r>
              <a:t>Status: strategist-recommended proposal; refreshed 14 October 2026.</a:t>
            </a:r>
          </a:p>
          <a:p/>
          <a:p>
            <a:r>
              <a:t>"Full source, section, date and status references accompany each</a:t>
            </a:r>
          </a:p>
          <a:p>
            <a:r>
              <a:t>  slide. PRD v0.14 awaits fresh review and amended owner acceptance. Current</a:t>
            </a:r>
          </a:p>
          <a:p>
            <a:r>
              <a:t>  source cabe05c is not the runtime source. The complete rubric informs this</a:t>
            </a:r>
          </a:p>
          <a:p>
            <a:r>
              <a:t>  handover, but slides and plan arithmetic do not prove live presence,</a:t>
            </a:r>
          </a:p>
          <a:p>
            <a:r>
              <a:t>  listening, under-two-minute delivery, Q&amp;A, autonomous reasoning, business</a:t>
            </a:r>
          </a:p>
          <a:p>
            <a:r>
              <a:t>  outcomes or Section D dissemination. No pitch or thought-leadership folder</a:t>
            </a:r>
          </a:p>
          <a:p>
            <a:r>
              <a:t>  was present in the inspected capstone tree. A single separate thought</a:t>
            </a:r>
          </a:p>
          <a:p>
            <a:r>
              <a:t>  leadership submission and masterclass attendance evidence remain owner</a:t>
            </a:r>
          </a:p>
          <a:p>
            <a:r>
              <a:t>  responsibilities; existing deck notes are not submission/dissemination proof."</a:t>
            </a:r>
          </a:p>
          <a:p/>
          <a:p>
            <a:r>
              <a:t>Sources — workspace-relative paths, section and evidence status; as read 14 October 2026:</a:t>
            </a:r>
          </a:p>
          <a:p>
            <a:r>
              <a:t>S01: docs/case_study_48_original.md, Business Challenge; Architecture Brief; Expected Outcomes. Status: Original 10 September request; 60,000-home case, five pressure points, not achieved benefits.</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S03: docs/reference/research/company/company-profile-research.md, Confirmed Company Information; Role and Decision Map; Priority Company Gaps; Evidence Limitations. Status: Owner-confirmed not-for-profit; modelled company/resident/finance attributes are not company facts or delegations.</a:t>
            </a:r>
          </a:p>
          <a:p>
            <a:r>
              <a:t>S04: docs/reference/research/company/agent-request-challenge.md, Summary and capability sections; docs/reference/research/company/agent-what-if-study.md, method and revised verdicts, as carried in S02. Status: Sector-informed role-agent hypotheses, not employee interviews or resident testimony.</a:t>
            </a:r>
          </a:p>
          <a:p>
            <a:r>
              <a:t>S05: docs/reference/research/company/pilot-measurement-challenge.md, Owner Decision; Proposed Measurement Design; Freeze/Analysis; Guardrails. Status: Proposed comparisons and protected outcomes, not executed experiments.</a:t>
            </a:r>
          </a:p>
          <a:p>
            <a:r>
              <a:t>S06: docs/case_study_48_addendum.md, EXA-002/003/004/005/007/008/010/011/012/013/015; Numerical Targets and Attribution; Subsequent Application Exercise Builds. Status: Historical selected exercise assumptions; explicitly fictional costs/terms, not budgets, awards or current open authority.</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S08: docs/adrs/0002-pilot-readiness-architecture.md, Five-Assistant Exercise Runtime; Fresh Ledger and Synthetic Coverage Learning; current delta. Status: Current lean proposal runtime, explicit reset, image/source/revision-linked service proof; proposed readiness estate separate.</a:t>
            </a:r>
          </a:p>
          <a:p>
            <a:r>
              <a:t>S09: infra/README.md, Five-assistant version: current handover. Status: Exact serving/source/model/SQL/restart receipt and authority-off state, 14 October; no fresh cloud inspection in this task.</a:t>
            </a:r>
          </a:p>
          <a:p>
            <a:r>
              <a:t>S10: .copilot-tracking/reviews/logs/2026-10-14/five-assistant-live-delivery-review.md, Completed Work; Validation; RV-001/RV-002; Outcome. Status: Technical Review Complete / Residual work, not blanket product conformance.</a:t>
            </a:r>
          </a:p>
          <a:p>
            <a:r>
              <a:t>S11: mvp/README.md, Honest limits; Five retrofit assistants; Operator authority; current delivery paragraphs; mvp/zavaforward_mvp/assistants.py, REGISTRY/RULES/capture/eligible/review. Status: Source and documented implementation; captured metadata/category citations, not unrestricted document reading, human source review or semantic entailment.</a:t>
            </a:r>
          </a:p>
          <a:p>
            <a:r>
              <a:t>S12: docs/adrs/0001-azure-architecture.md, Hybrid M365 and Excel transition; Options still to compare; provisional appraisal. Status: Proposed transition/full topology and historical illustration, not current deployment or scored customer platform choice.</a:t>
            </a:r>
          </a:p>
          <a:p>
            <a:r>
              <a:t>S13: docs/ideas/typesafe-system-one-agent-fit.md, pinned #58 feasibility/parallel experiment, as carried in S02/S07. Status: Historical separate Decision 1 selection/generation evidence; not the provider for the five new service calls; no new evaluation results.</a:t>
            </a:r>
          </a:p>
          <a:p>
            <a:r>
              <a:t>S14: docs/capstone/README.md; docs/reference/method/ama-capstone-assessment-guide.md; docs/reference/memory.md. Status: Publication/storage map, complete official guide, owner communication preferences; these are distinct from observed pitch/score evidence.</a:t>
            </a:r>
          </a:p>
          <a:p>
            <a:r>
              <a:t>S15: docs/capstone/deck/zava-forward-executive-draft.pptx; docs/capstone/deck/agents-in-retrofit-process.svg. Status: Existing 22-slide content/relationship-resolved notes and map semantic source, not proof of future operation.</a:t>
            </a:r>
          </a:p>
          <a:p/>
          <a:p>
            <a:r>
              <a:t>Optional appendix, outside the planned 795-second main route.</a:t>
            </a:r>
          </a:p>
          <a:p/>
          <a:p>
            <a:r>
              <a:t>Exact current claim-status oracle:</a:t>
            </a:r>
          </a:p>
          <a:p>
            <a:r>
              <a:t>1. Historical documentation/source context was cabe05c; runtime source is</a:t>
            </a:r>
          </a:p>
          <a:p>
            <a:r>
              <a:t>   cd14b3b379026a87ebfa3e9058ac10c0df7888eb, not cabe05c.</a:t>
            </a:r>
          </a:p>
          <a:p>
            <a:r>
              <a:t>2. Image05 is assistants-20261013-05, manifest</a:t>
            </a:r>
          </a:p>
          <a:p>
            <a:r>
              <a:t>   sha256:e0254cb3a0599c21802f0b6515f975550cf00ddce4849d04fd3fa3d50683af20,</a:t>
            </a:r>
          </a:p>
          <a:p>
            <a:r>
              <a:t>   serving ca-forward-test-api--0000012. Short forms on screen; exact forms</a:t>
            </a:r>
          </a:p>
          <a:p>
            <a:r>
              <a:t>   in notes. Do not rename historical revisions.</a:t>
            </a:r>
          </a:p>
          <a:p>
            <a:r>
              <a:t>3. The owner explicitly reauthorized the synthetic database reset on</a:t>
            </a:r>
          </a:p>
          <a:p>
            <a:r>
              <a:t>   14 October after the earlier cancellation. Previous exercise</a:t>
            </a:r>
          </a:p>
          <a:p>
            <a:r>
              <a:t>   recommendations/audit were reset, not preserved by migration. Retain</a:t>
            </a:r>
          </a:p>
          <a:p>
            <a:r>
              <a:t>   generator/60,000-stock lineage; the new programme baseline is 980 cases,</a:t>
            </a:r>
          </a:p>
          <a:p>
            <a:r>
              <a:t>   38 booked visits and 11 actual privately bound tenant staff. Do not publish</a:t>
            </a:r>
          </a:p>
          <a:p>
            <a:r>
              <a:t>   their identities. Counts are exercise context, not real resident activity,</a:t>
            </a:r>
          </a:p>
          <a:p>
            <a:r>
              <a:t>   staff use or programme success.</a:t>
            </a:r>
          </a:p>
          <a:p>
            <a:r>
              <a:t>4. Five distinct registered operator service paths returned citation-validated</a:t>
            </a:r>
          </a:p>
          <a:p>
            <a:r>
              <a:t>   ready proposals through real Azure OpenAI deployment standard, model</a:t>
            </a:r>
          </a:p>
          <a:p>
            <a:r>
              <a:t>   gpt-4.1-mini-2025-04-14: five calls/attempts, 6884 total tokens, 15 ledger</a:t>
            </a:r>
          </a:p>
          <a:p>
            <a:r>
              <a:t>   events. These are not Decision 1 calls or five independent autonomous agents.</a:t>
            </a:r>
          </a:p>
          <a:p>
            <a:r>
              <a:t>5. Against that new baseline, independent controlled-domain hashes stayed</a:t>
            </a:r>
          </a:p>
          <a:p>
            <a:r>
              <a:t>   unchanged by proposal generation, and full assistant-table content,</a:t>
            </a:r>
          </a:p>
          <a:p>
            <a:r>
              <a:t>   outputs and usage survived an actual serving-revision restart. This is</a:t>
            </a:r>
          </a:p>
          <a:p>
            <a:r>
              <a:t>   stronger than row-count equality, weaker than disaster recovery/restore.</a:t>
            </a:r>
          </a:p>
          <a:p>
            <a:r>
              <a:t>6. Bounded operator QA ended. Normal serving assistant authority is absent;</a:t>
            </a:r>
          </a:p>
          <a:p>
            <a:r>
              <a:t>   proactive scans are off. A registered capability is not current standing</a:t>
            </a:r>
          </a:p>
          <a:p>
            <a:r>
              <a:t>   authority. Neither proactive enablement nor new calls are authorized here.</a:t>
            </a:r>
          </a:p>
          <a:p>
            <a:r>
              <a:t>7. Citation validity means permitted source/provenance binding, not semantic</a:t>
            </a:r>
          </a:p>
          <a:p>
            <a:r>
              <a:t>   correctness or competent source verification. None of the five has human</a:t>
            </a:r>
          </a:p>
          <a:p>
            <a:r>
              <a:t>   verification/acceptance recorded by that operator exercise.</a:t>
            </a:r>
          </a:p>
          <a:p>
            <a:r>
              <a:t>8. Real staff-browser/API, role/human/source/accessibility acceptance,</a:t>
            </a:r>
          </a:p>
          <a:p>
            <a:r>
              <a:t>   semantic calibration, paired task value and operational outcomes remain</a:t>
            </a:r>
          </a:p>
          <a:p>
            <a:r>
              <a:t>   open (RV-001/RV-002). PRD v0.14 remains a candidate. Do not mark AC-057</a:t>
            </a:r>
          </a:p>
          <a:p>
            <a:r>
              <a:t>   or full requirements/product/pilot/production acceptance passed.</a:t>
            </a:r>
          </a:p>
          <a:p>
            <a:r>
              <a:t>9. No observed doubled throughput, lower bills, secured £40m, programme</a:t>
            </a:r>
          </a:p>
          <a:p>
            <a:r>
              <a:t>   savings, cost per accepted home, currency-cost cap, production selection</a:t>
            </a:r>
          </a:p>
          <a:p>
            <a:r>
              <a:t>   or corporate investment approval follows. Token allowance is not a</a:t>
            </a:r>
          </a:p>
          <a:p>
            <a:r>
              <a:t>   currency guarantee; historical EXA-012 and the scoped #58 override are</a:t>
            </a:r>
          </a:p>
          <a:p>
            <a:r>
              <a:t>   not a new funding commitment.</a:t>
            </a:r>
          </a:p>
          <a:p>
            <a:r>
              <a:t>10. Source-level automated contract tests are evidence of tested boundaries,</a:t>
            </a:r>
          </a:p>
          <a:p>
            <a:r>
              <a:t>    not a live staff session or panel behaviour. No new score is inferred from</a:t>
            </a:r>
          </a:p>
          <a:p>
            <a:r>
              <a:t>    cabe05c's historical rubric update or from successful CI.</a:t>
            </a:r>
          </a:p>
          <a:p/>
          <a:p>
            <a:r>
              <a:t>REFRESH BASELINE / UN SPOKEN REFERENCE: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p>
            <a:r>
              <a:t>Spoken return: That is the current boundary; the decision remains which evidence gate to resolve next.</a:t>
            </a:r>
          </a:p>
          <a:p>
            <a:r>
              <a:t>SOURCE BASELINE LEGEND:</a:t>
            </a:r>
          </a:p>
          <a:p>
            <a:r>
              <a:t>S16: docs/architecture/README.md, executive and technical Excalidraw/SVG/PNG views, docs/architecture/assets/README.md; 14 October 2026. Static source baseline 062434a1fedbf6a87d1374c767c2bf0a11491ab6, not a fresh inventory or acceptance. Source Excalidraw remains editing authority; this PPTX is a simplified native adaptation. Official icon provenance is retained in source; no new service icons are required here.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p>
            <a:r>
              <a:t>RETAINED BASELINE VISIBLE COPY / TRACEABILITY, UNSPOKEN:</a:t>
            </a:r>
          </a:p>
          <a:p>
            <a:r>
              <a:t>Historical wording below is retained, not promoted to current fact or permission. Current oracle/status and refreshed visible copy govern. In particular, old 'gates OPEN' meant outstanding acceptance, not permission; Excel reporting is a conditional intended transition, not delivered integration.</a:t>
            </a:r>
          </a:p>
          <a:p>
            <a:r>
              <a:t>Read the evidence label before the claim.</a:t>
            </a:r>
          </a:p>
          <a:p>
            <a:r>
              <a:t>Request + research</a:t>
            </a:r>
          </a:p>
          <a:p>
            <a:r>
              <a:t>Request ≠ result.</a:t>
            </a:r>
          </a:p>
          <a:p>
            <a:r>
              <a:t>Research instruments</a:t>
            </a:r>
          </a:p>
          <a:p>
            <a:r>
              <a:t>≠ residents.</a:t>
            </a:r>
          </a:p>
          <a:p>
            <a:r>
              <a:t>Exercise fixtures</a:t>
            </a:r>
          </a:p>
          <a:p>
            <a:r>
              <a:t>Fixtures ≠ company</a:t>
            </a:r>
          </a:p>
          <a:p>
            <a:r>
              <a:t>performance or budgets.</a:t>
            </a:r>
          </a:p>
          <a:p>
            <a:r>
              <a:t>Observed proof</a:t>
            </a:r>
          </a:p>
          <a:p>
            <a:r>
              <a:t>Operator proof ≠ human,</a:t>
            </a:r>
          </a:p>
          <a:p>
            <a:r>
              <a:t>semantic or value</a:t>
            </a:r>
          </a:p>
          <a:p>
            <a:r>
              <a:t>acceptance.</a:t>
            </a:r>
          </a:p>
          <a:p>
            <a:r>
              <a:t>As at 14 October. Legal currentness not refreshed.</a:t>
            </a:r>
          </a:p>
          <a:p>
            <a:r>
              <a:t>Live pitch, rehearsal and thought-leadership evidence still required.</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Message / evidence limit / planned script:</a:t>
            </a:r>
          </a:p>
          <a:p>
            <a:r>
              <a:t>SLIDE 22 - Compare equivalent routes before selecting a winner.</a:t>
            </a:r>
          </a:p>
          <a:p>
            <a:r>
              <a:t>Topic sentinel: options</a:t>
            </a:r>
          </a:p>
          <a:p>
            <a:r>
              <a:t>Message: production platform choice must earn customer value, not follow the capstone preference.</a:t>
            </a:r>
          </a:p>
          <a:p>
            <a:r>
              <a:t>Status: strategist-recommended proposal; refreshed 14 October 2026.</a:t>
            </a:r>
          </a:p>
          <a:p/>
          <a:p>
            <a:r>
              <a:t>"Compare workflow/evidence, permissions, migration, integration,</a:t>
            </a:r>
          </a:p>
          <a:p>
            <a:r>
              <a:t>  resident access, whole-life cost and readiness on the same journey and</a:t>
            </a:r>
          </a:p>
          <a:p>
            <a:r>
              <a:t>  controls. Include safety hold, withdrawal, missing evidence and failed</a:t>
            </a:r>
          </a:p>
          <a:p>
            <a:r>
              <a:t>  integration. Confirm tenant, workbook quality, skills, licences and</a:t>
            </a:r>
          </a:p>
          <a:p>
            <a:r>
              <a:t>  support; no Dataverse or Dynamics estate is available for assumed reuse.</a:t>
            </a:r>
          </a:p>
          <a:p>
            <a:r>
              <a:t>  The Azure-led hybrid is the provisional exercise direction. Historical</a:t>
            </a:r>
          </a:p>
          <a:p>
            <a:r>
              <a:t>  architect-proposed weights/scores are not customer-approved comparative</a:t>
            </a:r>
          </a:p>
          <a:p>
            <a:r>
              <a:t>  evidence. A safety/privacy/consent/approval failure is a gate, not a score</a:t>
            </a:r>
          </a:p>
          <a:p>
            <a:r>
              <a:t>  that another attractive feature can offset. Select the supportable option</a:t>
            </a:r>
          </a:p>
          <a:p>
            <a:r>
              <a:t>  that meets controls at justified whole-life cost, even if simpler."</a:t>
            </a:r>
          </a:p>
          <a:p/>
          <a:p>
            <a:r>
              <a:t>Sources — workspace-relative paths, section and evidence status; as read 14 October 2026:</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S03: docs/reference/research/company/company-profile-research.md, Confirmed Company Information; Role and Decision Map; Priority Company Gaps; Evidence Limitations. Status: Owner-confirmed not-for-profit; modelled company/resident/finance attributes are not company facts or delegations.</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S12: docs/adrs/0001-azure-architecture.md, Hybrid M365 and Excel transition; Options still to compare; provisional appraisal. Status: Proposed transition/full topology and historical illustration, not current deployment or scored customer platform choice.</a:t>
            </a:r>
          </a:p>
          <a:p/>
          <a:p>
            <a:r>
              <a:t>Optional appendix, outside the planned 795-second main route.</a:t>
            </a:r>
          </a:p>
          <a:p/>
          <a:p>
            <a:r>
              <a:t>REFRESH BASELINE / UN SPOKEN REFERENCE: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p>
            <a:r>
              <a:t>Spoken return: That is the current boundary; the decision remains which evidence gate to resolve next.</a:t>
            </a:r>
          </a:p>
          <a:p>
            <a:r>
              <a:t>Azure hybrid is the provisional bounded exercise preference, not a customer investment winner. No existing Dataverse/Dynamics reuse. Test the same journey, safety hold, withdrawn choice, missing evidence and integration failure; include all transition/access/support/recovery/whole-life costs.</a:t>
            </a:r>
          </a:p>
          <a:p/>
          <a:p>
            <a:r>
              <a:t>RETAINED BASELINE VISIBLE COPY / TRACEABILITY, UNSPOKEN:</a:t>
            </a:r>
          </a:p>
          <a:p>
            <a:r>
              <a:t>Historical wording below is retained, not promoted to current fact or permission. Current oracle/status and refreshed visible copy govern. In particular, old 'gates OPEN' meant outstanding acceptance, not permission; Excel reporting is a conditional intended transition, not delivered integration.</a:t>
            </a:r>
          </a:p>
          <a:p>
            <a:r>
              <a:t>Compare equivalent routes before selecting a winner.</a:t>
            </a:r>
          </a:p>
          <a:p>
            <a:r>
              <a:t>Improve current</a:t>
            </a:r>
          </a:p>
          <a:p>
            <a:r>
              <a:t>workflow</a:t>
            </a:r>
          </a:p>
          <a:p>
            <a:r>
              <a:t>Greenfield</a:t>
            </a:r>
          </a:p>
          <a:p>
            <a:r>
              <a:t>business platform</a:t>
            </a:r>
          </a:p>
          <a:p>
            <a:r>
              <a:t>Azure-led</a:t>
            </a:r>
          </a:p>
          <a:p>
            <a:r>
              <a:t>hybrid</a:t>
            </a:r>
          </a:p>
          <a:p>
            <a:r>
              <a:t>Mandatory controls</a:t>
            </a:r>
          </a:p>
          <a:p>
            <a:r>
              <a:t>To verify</a:t>
            </a:r>
          </a:p>
          <a:p>
            <a:r>
              <a:t>To verify</a:t>
            </a:r>
          </a:p>
          <a:p>
            <a:r>
              <a:t>To verify</a:t>
            </a:r>
          </a:p>
          <a:p>
            <a:r>
              <a:t>Transition + access</a:t>
            </a:r>
          </a:p>
          <a:p>
            <a:r>
              <a:t>To test</a:t>
            </a:r>
          </a:p>
          <a:p>
            <a:r>
              <a:t>To test</a:t>
            </a:r>
          </a:p>
          <a:p>
            <a:r>
              <a:t>To test</a:t>
            </a:r>
          </a:p>
          <a:p>
            <a:r>
              <a:t>Support + recovery</a:t>
            </a:r>
          </a:p>
          <a:p>
            <a:r>
              <a:t>To test</a:t>
            </a:r>
          </a:p>
          <a:p>
            <a:r>
              <a:t>To test</a:t>
            </a:r>
          </a:p>
          <a:p>
            <a:r>
              <a:t>To test</a:t>
            </a:r>
          </a:p>
          <a:p>
            <a:r>
              <a:t>Whole-life cost</a:t>
            </a:r>
          </a:p>
          <a:p>
            <a:r>
              <a:t>To price</a:t>
            </a:r>
          </a:p>
          <a:p>
            <a:r>
              <a:t>To price</a:t>
            </a:r>
          </a:p>
          <a:p>
            <a:r>
              <a:t>To price</a:t>
            </a:r>
          </a:p>
          <a:p>
            <a:r>
              <a:t>Equivalent-scope evidence still needed — no winner scored.</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Five assists. One controlled journey.</a:t>
            </a:r>
          </a:p>
          <a:p>
            <a:r>
              <a:t>Topic sentinel: map</a:t>
            </a:r>
          </a:p>
          <a:p>
            <a:r>
              <a:t>Message: capabilities prepare evidence; workflow and people retain progression and decisions.</a:t>
            </a:r>
          </a:p>
          <a:p>
            <a:r>
              <a:t>Status: strategist-recommended proposal; refreshed 14 October 2026.</a:t>
            </a:r>
          </a:p>
          <a:p/>
          <a:p>
            <a:r>
              <a:t>"Each column serves a process stage, not an autonomous manager.</a:t>
            </a:r>
          </a:p>
          <a:p>
            <a:r>
              <a:t>  A person may request help under effective authority. A future authorized</a:t>
            </a:r>
          </a:p>
          <a:p>
            <a:r>
              <a:t>  event or scheduled check could create an owned review item after rules</a:t>
            </a:r>
          </a:p>
          <a:p>
            <a:r>
              <a:t>  determine eligibility; scans are currently off. Data owners/Assets,</a:t>
            </a:r>
          </a:p>
          <a:p>
            <a:r>
              <a:t>  competent technical roles, Finance, the resident/Programme/contract</a:t>
            </a:r>
          </a:p>
          <a:p>
            <a:r>
              <a:t>  authority and independent QA retain their respective decisions.</a:t>
            </a:r>
          </a:p>
          <a:p>
            <a:r>
              <a:t>  Funding spans planning through claims and cash. Hazards go directly to</a:t>
            </a:r>
          </a:p>
          <a:p>
            <a:r>
              <a:t>  the human service; neither an empty model result nor a queue delays intake.</a:t>
            </a:r>
          </a:p>
          <a:p>
            <a:r>
              <a:t>  Failure, stale evidence and expired authority preserve controlled state and</a:t>
            </a:r>
          </a:p>
          <a:p>
            <a:r>
              <a:t>  an owned manual path. Fewer gaps and less rework are value hypotheses."</a:t>
            </a:r>
          </a:p>
          <a:p>
            <a:r>
              <a:t>* Transition: "The financial boundary is as important as the technical one."</a:t>
            </a:r>
          </a:p>
          <a:p/>
          <a:p>
            <a:r>
              <a:t>Sources — workspace-relative paths, section and evidence status; as read 14 October 2026:</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S09: infra/README.md, Five-assistant version: current handover. Status: Exact serving/source/model/SQL/restart receipt and authority-off state, 14 October; no fresh cloud inspection in this task.</a:t>
            </a:r>
          </a:p>
          <a:p>
            <a:r>
              <a:t>S11: mvp/README.md, Honest limits; Five retrofit assistants; Operator authority; current delivery paragraphs; mvp/zavaforward_mvp/assistants.py, REGISTRY/RULES/capture/eligible/review. Status: Source and documented implementation; captured metadata/category citations, not unrestricted document reading, human source review or semantic entailment.</a:t>
            </a:r>
          </a:p>
          <a:p>
            <a:r>
              <a:t>S15: docs/capstone/deck/zava-forward-executive-draft.pptx; docs/capstone/deck/agents-in-retrofit-process.svg. Status: Existing 22-slide content/relationship-resolved notes and map semantic source, not proof of future operation.</a:t>
            </a:r>
          </a:p>
          <a:p/>
          <a:p>
            <a:r>
              <a:t>Planned allocation: 60 seconds; not rehearsed.</a:t>
            </a:r>
          </a:p>
          <a:p/>
          <a:p>
            <a:r>
              <a:t>FULL MAP TEXT EQUIVALENT — five capabilities, owners, requests and OFF triggers:</a:t>
            </a:r>
          </a:p>
          <a:p/>
          <a:p/>
          <a:p>
            <a:r>
              <a:t>Required result: a full-width, readable, editable PowerPoint process map.</a:t>
            </a:r>
          </a:p>
          <a:p>
            <a:r>
              <a:t>Existing SVG/PNG remain references only. No diagram image, cropped fragments,</a:t>
            </a:r>
          </a:p>
          <a:p>
            <a:r>
              <a:t>single flattened vector, giant paragraph or hidden text layer substitutes for</a:t>
            </a:r>
          </a:p>
          <a:p>
            <a:r>
              <a:t>native elements.</a:t>
            </a:r>
          </a:p>
          <a:p/>
          <a:p>
            <a:r>
              <a:t>Use the canonical widescreen aspect ratio; inspect actual cx/cy rather than</a:t>
            </a:r>
          </a:p>
          <a:p>
            <a:r>
              <a:t>trusting the existing misleading `type="screen4x3"` attribute. It is about</a:t>
            </a:r>
          </a:p>
          <a:p>
            <a:r>
              <a:t>13.333 × 7.5 inches. Values below describe a 13.333 × 7.5 canvas; scale x</a:t>
            </a:r>
          </a:p>
          <a:p>
            <a:r>
              <a:t>coordinates proportionally if preserving the exact existing EMUs. Do not</a:t>
            </a:r>
          </a:p>
          <a:p>
            <a:r>
              <a:t>change the whole deck's aspect ratio accidentally.</a:t>
            </a:r>
          </a:p>
          <a:p/>
          <a:p>
            <a:r>
              <a:t>* Content x = 0.45–12.883. Five columns of width approximately 2.375 with</a:t>
            </a:r>
          </a:p>
          <a:p>
            <a:r>
              <a:t>  0.14 gutters; x positions approximately 0.450, 2.965, 5.479, 7.994, 10.508.</a:t>
            </a:r>
          </a:p>
          <a:p>
            <a:r>
              <a:t>* Title y=0.40, height=0.48, ≥28pt. Short status/subtitle y=0.99,</a:t>
            </a:r>
          </a:p>
          <a:p>
            <a:r>
              <a:t>  height=0.30. Keep logo/footer clear.</a:t>
            </a:r>
          </a:p>
          <a:p>
            <a:r>
              <a:t>* Stage boxes y=1.42, height=0.45, 17–18pt. Short native arrow connectors</a:t>
            </a:r>
          </a:p>
          <a:p>
            <a:r>
              <a:t>  occupy gutters, do not run through owners or imply autonomous release.</a:t>
            </a:r>
          </a:p>
          <a:p>
            <a:r>
              <a:t>* Owner text y=1.98, height=0.72, 16pt, max three compact lines.</a:t>
            </a:r>
          </a:p>
          <a:p>
            <a:r>
              <a:t>* Capability card background y=2.80, height=3.04. Every capability title</a:t>
            </a:r>
          </a:p>
          <a:p>
            <a:r>
              <a:t>  textbox y=2.90, height=0.78, 17pt bold, same insets; reserve this full</a:t>
            </a:r>
          </a:p>
          <a:p>
            <a:r>
              <a:t>  region for all five whether title wraps to one, two or three lines.</a:t>
            </a:r>
          </a:p>
          <a:p>
            <a:r>
              <a:t>* On-request label y=3.77, height=0.27, 16pt; body y=4.10,</a:t>
            </a:r>
          </a:p>
          <a:p>
            <a:r>
              <a:t>  height=0.65, 16pt. Proactive label y=4.83, height=0.27, 16pt;</a:t>
            </a:r>
          </a:p>
          <a:p>
            <a:r>
              <a:t>  body y=5.16, height=0.60, 16pt. Shorten to the copy below if wrapping</a:t>
            </a:r>
          </a:p>
          <a:p>
            <a:r>
              <a:t>  fails; do not shrink, clip or vertically centre. Label itself can say</a:t>
            </a:r>
          </a:p>
          <a:p>
            <a:r>
              <a:t>  "Review trigger • OFF" if needed to fit the column.</a:t>
            </a:r>
          </a:p>
          <a:p>
            <a:r>
              <a:t>* Full-width core band y=6.00, height=0.44, 16pt:</a:t>
            </a:r>
          </a:p>
          <a:p>
            <a:r>
              <a:t>  "Workflow core: rights • versions • gates • human approvals • audit •</a:t>
            </a:r>
          </a:p>
          <a:p>
            <a:r>
              <a:t>  retries • manual recovery". This is deterministic infrastructure, not a</a:t>
            </a:r>
          </a:p>
          <a:p>
            <a:r>
              <a:t>  sixth supervisor agent.</a:t>
            </a:r>
          </a:p>
          <a:p>
            <a:r>
              <a:t>* Boundary lines y=6.53, height≈0.52, 16pt over two short full-width lines:</a:t>
            </a:r>
          </a:p>
          <a:p>
            <a:r>
              <a:t>  "Checks OFF now; future eligibility → named human queue. Funding:</a:t>
            </a:r>
          </a:p>
          <a:p>
            <a:r>
              <a:t>  application ≠ award ≠ claim ≠ cash."</a:t>
            </a:r>
          </a:p>
          <a:p>
            <a:r>
              <a:t>  "Hazard → human service now, never wait for AI. Value remains a hypothesis."</a:t>
            </a:r>
          </a:p>
          <a:p>
            <a:r>
              <a:t>  Source/footer below without collision.</a:t>
            </a:r>
          </a:p>
          <a:p/>
          <a:p>
            <a:r>
              <a:t>| Peer element | Choose homes | Assess &amp; design | Prepare funding | Coordinate works | Verify &amp; hand over |</a:t>
            </a:r>
          </a:p>
          <a:p>
            <a:r>
              <a:t>| --- | --- | --- | --- | --- | --- |</a:t>
            </a:r>
          </a:p>
          <a:p>
            <a:r>
              <a:t>| Capability title | Stock Prioritisation | Assessment Preparation | Grant &amp; Funding Evidence | Works &amp; Resident Coordination | Quality Evidence Review |</a:t>
            </a:r>
          </a:p>
          <a:p>
            <a:r>
              <a:t>| Human owner | Assets: policy; data owners: verify | Assessor + coordinator: independent sign-off | Finance: validate, approve, submit | Resident: choice; Programme: release | Independent quality authority: accept |</a:t>
            </a:r>
          </a:p>
          <a:p>
            <a:r>
              <a:t>| On request body | Explain facts; query conflicts | Prepare sourced survey/design pack | Draft source-linked evidence pack | Draft update; suggest crew slots | Assemble evidence; raise gaps |</a:t>
            </a:r>
          </a:p>
          <a:p>
            <a:r>
              <a:t>| Proactive body, OFF now | Missing/conflicting stock facts | Missing/changed survey or design | Missing inputs or changed terms | Unaccepted handoff; overdue update | Missing/conflicting quality evidence |</a:t>
            </a:r>
          </a:p>
          <a:p/>
          <a:p>
            <a:r>
              <a:t>The on-slide short labels retain all five capabilities; notes list canonical</a:t>
            </a:r>
          </a:p>
          <a:p>
            <a:r>
              <a:t>IDs from S11 and detail source categories/permissions, registered purposes</a:t>
            </a:r>
          </a:p>
          <a:p>
            <a:r>
              <a:t>and synthetic predicates. The diagram expresses the process/design contract;</a:t>
            </a:r>
          </a:p>
          <a:p>
            <a:r>
              <a:t>it does not claim actual broader document analysis or professional assessment</a:t>
            </a:r>
          </a:p>
          <a:p>
            <a:r>
              <a:t>delivery. In particular current sources include permitted metadata/hashes,</a:t>
            </a:r>
          </a:p>
          <a:p>
            <a:r>
              <a:t>not arbitrary document/photo content. Scheduled/event initiation is proposed</a:t>
            </a:r>
          </a:p>
          <a:p>
            <a:r>
              <a:t>or implemented-but-disabled contract behaviour, not observed paid scanning.</a:t>
            </a:r>
          </a:p>
          <a:p>
            <a:r>
              <a:t>Funding's lane spans planning through later claims/cash and is not a gate</a:t>
            </a:r>
          </a:p>
          <a:p>
            <a:r>
              <a:t>that automatically approves work. Programme release also requires current</a:t>
            </a:r>
          </a:p>
          <a:p>
            <a:r>
              <a:t>technical evidence, resident measure choice, funding/budget and committed</a:t>
            </a:r>
          </a:p>
          <a:p>
            <a:r>
              <a:t>competent capacity; contract authority alone instructs suppliers.</a:t>
            </a:r>
          </a:p>
          <a:p/>
          <a:p/>
          <a:p/>
          <a:p>
            <a:r>
              <a:t>Canonical capability identifiers, permitted source categories, registry purposes and synthetic predicates:</a:t>
            </a:r>
          </a:p>
          <a:p>
            <a:r>
              <a:t>REGISTRY = {</a:t>
            </a:r>
          </a:p>
          <a:p>
            <a:r>
              <a:t>    "stock-prioritisation": dict(roles=("Retrofit Coordinator", "Programme Manager"), categories=("home", "survey", "ranking"),</a:t>
            </a:r>
          </a:p>
          <a:p>
            <a:r>
              <a:t>                               purpose="Explain stock facts and prepare a data-owner query"),</a:t>
            </a:r>
          </a:p>
          <a:p>
            <a:r>
              <a:t>    "assessment-preparation": dict(roles=("Retrofit Coordinator", "Programme Manager"), categories=("home", "survey", "measures", "technical", "documents"),</a:t>
            </a:r>
          </a:p>
          <a:p>
            <a:r>
              <a:t>                                  purpose="Prepare a survey/design evidence checklist"),</a:t>
            </a:r>
          </a:p>
          <a:p>
            <a:r>
              <a:t>    "funding-evidence": dict(roles=("Grants and Evidence Officer", "Programme Manager"),</a:t>
            </a:r>
          </a:p>
          <a:p>
            <a:r>
              <a:t>                            categories=("home", "measures", "funding", "finance", "grants", "documents"),</a:t>
            </a:r>
          </a:p>
          <a:p>
            <a:r>
              <a:t>                            purpose="Prepare application/claim evidence gaps"),</a:t>
            </a:r>
          </a:p>
          <a:p>
            <a:r>
              <a:t>    "works-resident-coordination": dict(roles=("Retrofit Coordinator", "Resident Liaison Officer", "Programme Manager"),</a:t>
            </a:r>
          </a:p>
          <a:p>
            <a:r>
              <a:t>                                       categories=("home", "measures", "preferences", "appointments", "handoff", "capacity", "requests"),</a:t>
            </a:r>
          </a:p>
          <a:p>
            <a:r>
              <a:t>                                       purpose="Draft an update or committed-capacity option"),</a:t>
            </a:r>
          </a:p>
          <a:p>
            <a:r>
              <a:t>    "quality-evidence": dict(roles=("Quality Inspector", "Programme Manager"),</a:t>
            </a:r>
          </a:p>
          <a:p>
            <a:r>
              <a:t>                            categories=("home", "measures", "quality", "checklists", "documents"),</a:t>
            </a:r>
          </a:p>
          <a:p>
            <a:r>
              <a:t>                            purpose="Assemble per-measure quality evidence discrepancies"),</a:t>
            </a:r>
          </a:p>
          <a:p>
            <a:r>
              <a:t>}</a:t>
            </a:r>
          </a:p>
          <a:p>
            <a:r>
              <a:t>RULES = {</a:t>
            </a:r>
          </a:p>
          <a:p>
            <a:r>
              <a:t>    "stock-prioritisation": "Missing/unknown home.epc, home.type or home.built; supplied survey.epc/type/built conflicts with home.",</a:t>
            </a:r>
          </a:p>
          <a:p>
            <a:r>
              <a:t>    "assessment-preparation": "Missing Survey/Design metadata/content hash or technical.design_version; relevant permitted source signature changes.",</a:t>
            </a:r>
          </a:p>
          <a:p>
            <a:r>
              <a:t>    "funding-evidence": "Missing measures, funding.route/reference, grants or budget amount; incomplete supplied invoice ref/lines/milestone inputs; claim-phase grant lacks sourced history or hashed Funding evidence metadata; relevant permitted terms/evidence signature changes.",</a:t>
            </a:r>
          </a:p>
          <a:p>
            <a:r>
              <a:t>    "works-resident-coordination": "handoff.state=Offered; past appointment.date with missing/Booked/Planned/No access/Missed outcome; past open service_request.next_update.",</a:t>
            </a:r>
          </a:p>
          <a:p>
            <a:r>
              <a:t>    "quality-evidence": "Missing measures; not exactly one quality record per measure; missing/conflicting checklist item evidence or checklist version mismatch; relevant permitted signature changes.",</a:t>
            </a:r>
          </a:p>
          <a:p>
            <a:r>
              <a:t>}</a:t>
            </a:r>
          </a:p>
          <a:p/>
          <a:p/>
          <a:p>
            <a:r>
              <a:t>Proposal review is separate from domain approval. Programme release additionally requires current technical evidence, resident measure choice, funding/budget and committed competent capacity. Only contract authority instructs suppliers. Failed, stale or expired assistance leaves controlled state unchanged, with an owned manual path. Actual sources include permitted metadata and hashes, not arbitrary document/photo analysis. OFF triggers are not paid scans. The workflow core is deterministic infrastructure, never a sixth supervisor agent.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Message / evidence limit / planned script:</a:t>
            </a:r>
          </a:p>
          <a:p>
            <a:r>
              <a:t>SLIDE 23 - Operate the core without overstating assurance.</a:t>
            </a:r>
          </a:p>
          <a:p>
            <a:r>
              <a:t>Message: Operate the core without overstating assurance.</a:t>
            </a:r>
          </a:p>
          <a:p>
            <a:r>
              <a:t>Optional appendix; no scheduled main-route time.</a:t>
            </a:r>
          </a:p>
          <a:p/>
          <a:p/>
          <a:p>
            <a:r>
              <a:t>REFRESH BASELINE / UN SPOKEN REFERENCE: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p>
            <a:r>
              <a:t>Spoken return: That is the current boundary; the decision remains which evidence gate to resolve next.</a:t>
            </a:r>
          </a:p>
          <a:p/>
          <a:p>
            <a:r>
              <a:t>S16 ARCHITECTURE / TEXT EQUIVALENT:</a:t>
            </a:r>
          </a:p>
          <a:p>
            <a:r>
              <a:t>S16: docs/architecture/README.md, executive and technical Excalidraw/SVG/PNG views, docs/architecture/assets/README.md; 14 October 2026. Static source baseline 062434a1fedbf6a87d1374c767c2bf0a11491ab6, not a fresh inventory or acceptance. Source Excalidraw remains editing authority; this PPTX is a simplified native adaptation. Official icon provenance is retained in source; no new service icons are required here.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r>
              <a:t>Diagram reading order: identity/request -&gt; single API -&gt; stores/model -&gt; separate human authority. Connectors are editable; no composite architecture image. No native-viewer accessibility claim.</a:t>
            </a:r>
          </a:p>
          <a:p>
            <a:r>
              <a:t>RETAINED OPERATIONS REFERENCE:</a:t>
            </a:r>
          </a:p>
          <a:p>
            <a:r>
              <a:t>SLIDE 19 — Technical challenge: bounded does not mean fully assured.</a:t>
            </a:r>
          </a:p>
          <a:p>
            <a:r>
              <a:t>Topic sentinel: technical limits</a:t>
            </a:r>
          </a:p>
          <a:p>
            <a:r>
              <a:t>Message: disclose runtime limits and the evidence required for stronger claims.</a:t>
            </a:r>
          </a:p>
          <a:p>
            <a:r>
              <a:t>Status: strategist-recommended proposal; refreshed 14 October 2026.</a:t>
            </a:r>
          </a:p>
          <a:p/>
          <a:p>
            <a:r>
              <a:t>"Threats include source injection, cross-role leakage, stale</a:t>
            </a:r>
          </a:p>
          <a:p>
            <a:r>
              <a:t>  approvals and duplicate or lost transitions. Application controls—not a</a:t>
            </a:r>
          </a:p>
          <a:p>
            <a:r>
              <a:t>  prompt alone—constrain proposals. SQL controls claim/lease fences and finite</a:t>
            </a:r>
          </a:p>
          <a:p>
            <a:r>
              <a:t>  shared liabilities; timeouts do not mean zero usage and billing is not</a:t>
            </a:r>
          </a:p>
          <a:p>
            <a:r>
              <a:t>  exactly once. Local SQL/browser tests and deployed content-restart receipts</a:t>
            </a:r>
          </a:p>
          <a:p>
            <a:r>
              <a:t>  are different evidence. No measured Azure scale load, full restore,</a:t>
            </a:r>
          </a:p>
          <a:p>
            <a:r>
              <a:t>  production SLO or externally anchored whole-system audit is established.</a:t>
            </a:r>
          </a:p>
          <a:p>
            <a:r>
              <a:t>  Present runtime still shares in-memory domain mechanisms described in</a:t>
            </a:r>
          </a:p>
          <a:p>
            <a:r>
              <a:t>  the MVP limits; proposed queue workers/private topology remain distinct.</a:t>
            </a:r>
          </a:p>
          <a:p>
            <a:r>
              <a:t>  Decision 1 is a separate candidate-selection/screening design with historical</a:t>
            </a:r>
          </a:p>
          <a:p>
            <a:r>
              <a:t>  narrow evidence; it did not power the five new GPT proposal calls.</a:t>
            </a:r>
          </a:p>
          <a:p>
            <a:r>
              <a:t>  Held-out calibration, alternatives on quality/latency/cost and independent</a:t>
            </a:r>
          </a:p>
          <a:p>
            <a:r>
              <a:t>  human source labels remain required. Structured trigger predicates do not</a:t>
            </a:r>
          </a:p>
          <a:p>
            <a:r>
              <a:t>  establish autonomous reasoning; A7 is not claimed complete."</a:t>
            </a:r>
          </a:p>
          <a:p/>
          <a:p>
            <a:r>
              <a:t>Sources — workspace-relative paths, section and evidence status; as read 14 October 2026:</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S08: docs/adrs/0002-pilot-readiness-architecture.md, Five-Assistant Exercise Runtime; Fresh Ledger and Synthetic Coverage Learning; current delta. Status: Current lean proposal runtime, explicit reset, image/source/revision-linked service proof; proposed readiness estate separate.</a:t>
            </a:r>
          </a:p>
          <a:p>
            <a:r>
              <a:t>S11: mvp/README.md, Honest limits; Five retrofit assistants; Operator authority; current delivery paragraphs; mvp/zavaforward_mvp/assistants.py, REGISTRY/RULES/capture/eligible/review. Status: Source and documented implementation; captured metadata/category citations, not unrestricted document reading, human source review or semantic entailment.</a:t>
            </a:r>
          </a:p>
          <a:p>
            <a:r>
              <a:t>S12: docs/adrs/0001-azure-architecture.md, Hybrid M365 and Excel transition; Options still to compare; provisional appraisal. Status: Proposed transition/full topology and historical illustration, not current deployment or scored customer platform choice.</a:t>
            </a:r>
          </a:p>
          <a:p>
            <a:r>
              <a:t>S13: docs/ideas/typesafe-system-one-agent-fit.md, pinned #58 feasibility/parallel experiment, as carried in S02/S07. Status: Historical separate Decision 1 selection/generation evidence; not the provider for the five new service calls; no new evaluation results.</a:t>
            </a:r>
          </a:p>
          <a:p/>
          <a:p>
            <a:r>
              <a:t>Optional appendix, outside the planned 795-second main route.</a:t>
            </a:r>
          </a:p>
          <a:p/>
          <a:p>
            <a:r>
              <a:t>Exact current claim-status oracle:</a:t>
            </a:r>
          </a:p>
          <a:p>
            <a:r>
              <a:t>1. Historical documentation/source context was cabe05c; runtime source is</a:t>
            </a:r>
          </a:p>
          <a:p>
            <a:r>
              <a:t>   cd14b3b379026a87ebfa3e9058ac10c0df7888eb, not cabe05c.</a:t>
            </a:r>
          </a:p>
          <a:p>
            <a:r>
              <a:t>2. Image05 is assistants-20261013-05, manifest</a:t>
            </a:r>
          </a:p>
          <a:p>
            <a:r>
              <a:t>   sha256:e0254cb3a0599c21802f0b6515f975550cf00ddce4849d04fd3fa3d50683af20,</a:t>
            </a:r>
          </a:p>
          <a:p>
            <a:r>
              <a:t>   serving ca-forward-test-api--0000012. Short forms on screen; exact forms</a:t>
            </a:r>
          </a:p>
          <a:p>
            <a:r>
              <a:t>   in notes. Do not rename historical revisions.</a:t>
            </a:r>
          </a:p>
          <a:p>
            <a:r>
              <a:t>3. The owner explicitly reauthorized the synthetic database reset on</a:t>
            </a:r>
          </a:p>
          <a:p>
            <a:r>
              <a:t>   14 October after the earlier cancellation. Previous exercise</a:t>
            </a:r>
          </a:p>
          <a:p>
            <a:r>
              <a:t>   recommendations/audit were reset, not preserved by migration. Retain</a:t>
            </a:r>
          </a:p>
          <a:p>
            <a:r>
              <a:t>   generator/60,000-stock lineage; the new programme baseline is 980 cases,</a:t>
            </a:r>
          </a:p>
          <a:p>
            <a:r>
              <a:t>   38 booked visits and 11 actual privately bound tenant staff. Do not publish</a:t>
            </a:r>
          </a:p>
          <a:p>
            <a:r>
              <a:t>   their identities. Counts are exercise context, not real resident activity,</a:t>
            </a:r>
          </a:p>
          <a:p>
            <a:r>
              <a:t>   staff use or programme success.</a:t>
            </a:r>
          </a:p>
          <a:p>
            <a:r>
              <a:t>4. Five distinct registered operator service paths returned citation-validated</a:t>
            </a:r>
          </a:p>
          <a:p>
            <a:r>
              <a:t>   ready proposals through real Azure OpenAI deployment standard, model</a:t>
            </a:r>
          </a:p>
          <a:p>
            <a:r>
              <a:t>   gpt-4.1-mini-2025-04-14: five calls/attempts, 6884 total tokens, 15 ledger</a:t>
            </a:r>
          </a:p>
          <a:p>
            <a:r>
              <a:t>   events. These are not Decision 1 calls or five independent autonomous agents.</a:t>
            </a:r>
          </a:p>
          <a:p>
            <a:r>
              <a:t>5. Against that new baseline, independent controlled-domain hashes stayed</a:t>
            </a:r>
          </a:p>
          <a:p>
            <a:r>
              <a:t>   unchanged by proposal generation, and full assistant-table content,</a:t>
            </a:r>
          </a:p>
          <a:p>
            <a:r>
              <a:t>   outputs and usage survived an actual serving-revision restart. This is</a:t>
            </a:r>
          </a:p>
          <a:p>
            <a:r>
              <a:t>   stronger than row-count equality, weaker than disaster recovery/restore.</a:t>
            </a:r>
          </a:p>
          <a:p>
            <a:r>
              <a:t>6. Bounded operator QA ended. Normal serving assistant authority is absent;</a:t>
            </a:r>
          </a:p>
          <a:p>
            <a:r>
              <a:t>   proactive scans are off. A registered capability is not current standing</a:t>
            </a:r>
          </a:p>
          <a:p>
            <a:r>
              <a:t>   authority. Neither proactive enablement nor new calls are authorized here.</a:t>
            </a:r>
          </a:p>
          <a:p>
            <a:r>
              <a:t>7. Citation validity means permitted source/provenance binding, not semantic</a:t>
            </a:r>
          </a:p>
          <a:p>
            <a:r>
              <a:t>   correctness or competent source verification. None of the five has human</a:t>
            </a:r>
          </a:p>
          <a:p>
            <a:r>
              <a:t>   verification/acceptance recorded by that operator exercise.</a:t>
            </a:r>
          </a:p>
          <a:p>
            <a:r>
              <a:t>8. Real staff-browser/API, role/human/source/accessibility acceptance,</a:t>
            </a:r>
          </a:p>
          <a:p>
            <a:r>
              <a:t>   semantic calibration, paired task value and operational outcomes remain</a:t>
            </a:r>
          </a:p>
          <a:p>
            <a:r>
              <a:t>   open (RV-001/RV-002). PRD v0.14 remains a candidate. Do not mark AC-057</a:t>
            </a:r>
          </a:p>
          <a:p>
            <a:r>
              <a:t>   or full requirements/product/pilot/production acceptance passed.</a:t>
            </a:r>
          </a:p>
          <a:p>
            <a:r>
              <a:t>9. No observed doubled throughput, lower bills, secured £40m, programme</a:t>
            </a:r>
          </a:p>
          <a:p>
            <a:r>
              <a:t>   savings, cost per accepted home, currency-cost cap, production selection</a:t>
            </a:r>
          </a:p>
          <a:p>
            <a:r>
              <a:t>   or corporate investment approval follows. Token allowance is not a</a:t>
            </a:r>
          </a:p>
          <a:p>
            <a:r>
              <a:t>   currency guarantee; historical EXA-012 and the scoped #58 override are</a:t>
            </a:r>
          </a:p>
          <a:p>
            <a:r>
              <a:t>   not a new funding commitment.</a:t>
            </a:r>
          </a:p>
          <a:p>
            <a:r>
              <a:t>10. Source-level automated contract tests are evidence of tested boundaries,</a:t>
            </a:r>
          </a:p>
          <a:p>
            <a:r>
              <a:t>    not a live staff session or panel behaviour. No new score is inferred from</a:t>
            </a:r>
          </a:p>
          <a:p>
            <a:r>
              <a:t>    cabe05c's historical rubric update or from successful CI.</a:t>
            </a:r>
          </a:p>
          <a:p>
            <a:r>
              <a:t>Model failure leaves manual work; SQL failure may block writes. Token renewal failure needs action before expiry. Safety intake has an independent named human repairs/hazard-service route, never AI/Teams dependent. SLO/load/unit cost, real sessions and full restore acceptance remain unmeasured. One deployable shares failure/scaling boundaries, a lean trade-off, not decoupled-microservice proof.</a:t>
            </a:r>
          </a:p>
          <a:p>
            <a:r>
              <a:t>Source flow a93858ce6826d7e2ab9f: vault -&gt; auth; native ops-vault-body.</a:t>
            </a:r>
          </a:p>
          <a:p>
            <a:r>
              <a:t>Source flow 7609eb7a35e5338d6d83: api -&gt; graph; native ops-support.</a:t>
            </a:r>
          </a:p>
          <a:p>
            <a:r>
              <a:t>Source flow 2eae8e0ea7b026ef35e9: staff -&gt; maps; native ops-support.</a:t>
            </a:r>
          </a:p>
          <a:p>
            <a:r>
              <a:t>Source flow 34dab47235c72c168f38: renewal -&gt; tokens; native renewal-token-key-segment-1.</a:t>
            </a:r>
          </a:p>
          <a:p>
            <a:r>
              <a:t>Source flow dc4c3ddd7f1f218075b5: renewal -&gt; vault; native renewal-vault-write-segment-1.</a:t>
            </a:r>
          </a:p>
          <a:p>
            <a:r>
              <a:t>Source flow b5a9d2f3ab17b9a4ab43: auth -&gt; tokens; native ops-tokens-body.</a:t>
            </a:r>
          </a:p>
          <a:p>
            <a:r>
              <a:t>Source flow 0115c864403bfdf58b00: api -&gt; registry; native ops-registry-body.</a:t>
            </a:r>
          </a:p>
          <a:p>
            <a:r>
              <a:t>Source flow f2dc7f9116778dce9629: insights -&gt; logs; native ops-logs-body.</a:t>
            </a:r>
          </a:p>
          <a:p>
            <a:r>
              <a:t>Source flow cb3b6a244b00514fb4de: sql -&gt; logs; native ops-logs-body.</a:t>
            </a:r>
          </a:p>
          <a:p>
            <a:r>
              <a:t>Source flow 0448430d9d92f5c980be: model -&gt; alerts; native ops-alerts-body.</a:t>
            </a:r>
          </a:p>
          <a:p>
            <a:r>
              <a:t>VISIBLE NATIVE DIAGRAM TEXT EQUIVALENT (unspoken):</a:t>
            </a:r>
          </a:p>
          <a:p>
            <a:r>
              <a:t>ZAVA NORTH HOMES / ZAVA FORWARD / OPTIONAL REFERENCE</a:t>
            </a:r>
          </a:p>
          <a:p>
            <a:r>
              <a:t>Operate the core without overstating assurance.</a:t>
            </a:r>
          </a:p>
          <a:p>
            <a:r>
              <a:t>14 OCT 2026 | S16 + retained sources/status in notes</a:t>
            </a:r>
          </a:p>
          <a:p>
            <a:r>
              <a:t>23 / 24</a:t>
            </a:r>
          </a:p>
          <a:p>
            <a:r>
              <a:t>Separate auth-token Blob</a:t>
            </a:r>
          </a:p>
          <a:p>
            <a:r>
              <a:t>CONFIGURED | private store</a:t>
            </a:r>
          </a:p>
          <a:p>
            <a:r>
              <a:t>EasyAuth19 uses SAS.</a:t>
            </a:r>
          </a:p>
          <a:p>
            <a:r>
              <a:t>Renewal gets delegation key.</a:t>
            </a:r>
          </a:p>
          <a:p>
            <a:r>
              <a:t>Container Apps renewal job</a:t>
            </a:r>
          </a:p>
          <a:p>
            <a:r>
              <a:t>CONFIGURED | 03:00 UTC</a:t>
            </a:r>
          </a:p>
          <a:p>
            <a:r>
              <a:t>Daily five-day SAS.</a:t>
            </a:r>
          </a:p>
          <a:p>
            <a:r>
              <a:t>Own maintenance identity.</a:t>
            </a:r>
          </a:p>
          <a:p>
            <a:r>
              <a:t>Azure Key Vault</a:t>
            </a:r>
          </a:p>
          <a:p>
            <a:r>
              <a:t>CONFIGURED | one secret</a:t>
            </a:r>
          </a:p>
          <a:p>
            <a:r>
              <a:t>Renewal writes; auth reads.</a:t>
            </a:r>
          </a:p>
          <a:p>
            <a:r>
              <a:t>No browser token retrieval.</a:t>
            </a:r>
          </a:p>
          <a:p>
            <a:r>
              <a:t>Managed identities + ACR</a:t>
            </a:r>
          </a:p>
          <a:p>
            <a:r>
              <a:t>CONFIGURED | image pull</a:t>
            </a:r>
          </a:p>
          <a:p>
            <a:r>
              <a:t>Operator build + deploy.</a:t>
            </a:r>
          </a:p>
          <a:p>
            <a:r>
              <a:t>CI: tests / scan / SBOM only.</a:t>
            </a:r>
          </a:p>
          <a:p>
            <a:r>
              <a:t>Log Analytics + App Insights</a:t>
            </a:r>
          </a:p>
          <a:p>
            <a:r>
              <a:t>CONFIGURED | logs + audit</a:t>
            </a:r>
          </a:p>
          <a:p>
            <a:r>
              <a:t>Insights/SQL/API19 -&gt; logs.</a:t>
            </a:r>
          </a:p>
          <a:p>
            <a:r>
              <a:t>Full tracing not established.</a:t>
            </a:r>
          </a:p>
          <a:p>
            <a:r>
              <a:t>Model/API/SQL alerts</a:t>
            </a:r>
          </a:p>
          <a:p>
            <a:r>
              <a:t>CONFIGURED | email alerts</a:t>
            </a:r>
          </a:p>
          <a:p>
            <a:r>
              <a:t>80% actual / 100% forecast.</a:t>
            </a:r>
          </a:p>
          <a:p>
            <a:r>
              <a:t>Not a hard spending cap.</a:t>
            </a:r>
          </a:p>
          <a:p>
            <a:r>
              <a:t>SOURCE-CONFIGURED: VNet, subnets, NSGs, private endpoints, DNS, AMPLS.</a:t>
            </a:r>
          </a:p>
          <a:p>
            <a:r>
              <a:t>Development also permits public access. PaaS services are NOT VNet-hosted.</a:t>
            </a:r>
          </a:p>
          <a:p>
            <a:r>
              <a:t>CONFIGURED: API19 -&gt; Graph own-photo User.Read; browser -&gt; tile provider (list alternative).</a:t>
            </a:r>
          </a:p>
          <a:p>
            <a:r>
              <a:t>Model fails: manual work. SQL fails: writes may block. Token renewal fails: act before expiry.</a:t>
            </a:r>
          </a:p>
          <a:p>
            <a:r>
              <a:t>Return to decision: slide 18</a:t>
            </a:r>
          </a:p>
          <a:p>
            <a:r>
              <a:t>Full source views: docs/architecture/zava-forward-executive-architecture.excalidraw / .svg / .png; docs/architecture/zava-forward-technical-architecture.excalidraw / .svg / .png. README and assets/README hold source/status/provenance.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Message / evidence limit / planned script:</a:t>
            </a:r>
          </a:p>
          <a:p>
            <a:r>
              <a:t>SLIDE 24 - Deferred services are not the five-assistant runtime.</a:t>
            </a:r>
          </a:p>
          <a:p>
            <a:r>
              <a:t>Message: Deferred services are not the five-assistant runtime.</a:t>
            </a:r>
          </a:p>
          <a:p>
            <a:r>
              <a:t>Optional appendix; no scheduled main-route time.</a:t>
            </a:r>
          </a:p>
          <a:p/>
          <a:p/>
          <a:p>
            <a:r>
              <a:t>REFRESH BASELINE / UN SPOKEN REFERENCE: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p>
            <a:r>
              <a:t>Spoken return: That is the current boundary; the decision remains which evidence gate to resolve next.</a:t>
            </a:r>
          </a:p>
          <a:p/>
          <a:p>
            <a:r>
              <a:t>S16 ARCHITECTURE / TEXT EQUIVALENT:</a:t>
            </a:r>
          </a:p>
          <a:p>
            <a:r>
              <a:t>S16: docs/architecture/README.md, executive and technical Excalidraw/SVG/PNG views, docs/architecture/assets/README.md; 14 October 2026. Static source baseline 062434a1fedbf6a87d1374c767c2bf0a11491ab6, not a fresh inventory or acceptance. Source Excalidraw remains editing authority; this PPTX is a simplified native adaptation. Official icon provenance is retained in source; no new service icons are required here.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r>
              <a:t>Diagram reading order: identity/request -&gt; single API -&gt; stores/model -&gt; separate human authority. Connectors are editable; no composite architecture image. No native-viewer accessibility claim.</a:t>
            </a:r>
          </a:p>
          <a:p>
            <a:r>
              <a:t>SharePoint EVIDENCE_STORE topology parameter is not an implemented adapter. Agent KEDA 0-5, import event scale 0-2 and five-minute orchestrator are placeholder definitions, not current working code. Proposed workers have no SQL/Blob/Key Vault credential; API owns checkpoints/context/proposal contracts. Token maintenance is distinct from these workers. Additional evidence containers are defined; audit-archive policy is unlocked, complete immutable digest anchoring unimplemented.</a:t>
            </a:r>
          </a:p>
          <a:p>
            <a:r>
              <a:t>Source flow 477d90fbcf1aa01e03ec: orchestrator -&gt; queues; native deferred-enqueue-segment-1.</a:t>
            </a:r>
          </a:p>
          <a:p>
            <a:r>
              <a:t>Source flow fd0a0dedeb1522230ee0: queues -&gt; agents; native deferred-keda-segment-1.</a:t>
            </a:r>
          </a:p>
          <a:p>
            <a:r>
              <a:t>Source flow a67a2167aaacf3253bde: queues -&gt; import; native deferred-import-queue-segment-1.</a:t>
            </a:r>
          </a:p>
          <a:p>
            <a:r>
              <a:t>Source flow 2f1a9894e847a80b4dce: import -&gt; other-containers; native deferred-quarantine-segment-1.</a:t>
            </a:r>
          </a:p>
          <a:p>
            <a:r>
              <a:t>Source flow beb89f6cd68c373ae69d: agents -&gt; api; native deferred-agents-body.</a:t>
            </a:r>
          </a:p>
          <a:p>
            <a:r>
              <a:t>Source flow d3ee97bb09a723d14c7c: orchestrator -&gt; api; native deferred-orchestrator-body.</a:t>
            </a:r>
          </a:p>
          <a:p>
            <a:r>
              <a:t>Source flow 16ad35bd0bdf7e22f9a9: agents -&gt; model; native deferred-agents-body.</a:t>
            </a:r>
          </a:p>
          <a:p>
            <a:r>
              <a:t>Source flow 2a121655841b6b3abef0: m365 -&gt; import; native deferred-snapshot-segment-1.</a:t>
            </a:r>
          </a:p>
          <a:p>
            <a:r>
              <a:t>Source flow f9ff73c6ea523e3532b1: import -&gt; sql; native deferred-import-body.</a:t>
            </a:r>
          </a:p>
          <a:p>
            <a:r>
              <a:t>Source flow fc64c30353ef27ae6319: alerts -&gt; m365; native deferred-teams.</a:t>
            </a:r>
          </a:p>
          <a:p>
            <a:r>
              <a:t>VISIBLE NATIVE DIAGRAM TEXT EQUIVALENT (unspoken):</a:t>
            </a:r>
          </a:p>
          <a:p>
            <a:r>
              <a:t>ZAVA NORTH HOMES / ZAVA FORWARD / OPTIONAL REFERENCE</a:t>
            </a:r>
          </a:p>
          <a:p>
            <a:r>
              <a:t>Deferred services are not the five-assistant runtime.</a:t>
            </a:r>
          </a:p>
          <a:p>
            <a:r>
              <a:t>14 OCT 2026 | S16 + retained sources/status in notes</a:t>
            </a:r>
          </a:p>
          <a:p>
            <a:r>
              <a:t>24 / 24</a:t>
            </a:r>
          </a:p>
          <a:p>
            <a:r>
              <a:t>DEFERRED ADR 0001 | placeholder contracts, NOT the five-assistant runtime</a:t>
            </a:r>
          </a:p>
          <a:p>
            <a:r>
              <a:t>Orchestrator | DEFERRED</a:t>
            </a:r>
          </a:p>
          <a:p>
            <a:r>
              <a:t>5-minute task placeholder.</a:t>
            </a:r>
          </a:p>
          <a:p>
            <a:r>
              <a:t>Checkpoints -&gt; API19.</a:t>
            </a:r>
          </a:p>
          <a:p>
            <a:r>
              <a:t>Not an AI supervisor.</a:t>
            </a:r>
          </a:p>
          <a:p>
            <a:r>
              <a:t>Queues | DEFERRED</a:t>
            </a:r>
          </a:p>
          <a:p>
            <a:r>
              <a:t>agent-tasks / import-jobs</a:t>
            </a:r>
          </a:p>
          <a:p>
            <a:r>
              <a:t>+ matching poison queues.</a:t>
            </a:r>
          </a:p>
          <a:p>
            <a:r>
              <a:t>KEDA tasks / import events.</a:t>
            </a:r>
          </a:p>
          <a:p>
            <a:r>
              <a:t>Agent app | DEFERRED</a:t>
            </a:r>
          </a:p>
          <a:p>
            <a:r>
              <a:t>KEDA placeholder, not current AI.</a:t>
            </a:r>
          </a:p>
          <a:p>
            <a:r>
              <a:t>Context/proposals -&gt; API19.</a:t>
            </a:r>
          </a:p>
          <a:p>
            <a:r>
              <a:t>Models19; no data-store tools.</a:t>
            </a:r>
          </a:p>
          <a:p>
            <a:r>
              <a:t>M365 | CONDITIONAL</a:t>
            </a:r>
          </a:p>
          <a:p>
            <a:r>
              <a:t>SharePoint/Excel snapshot.</a:t>
            </a:r>
          </a:p>
          <a:p>
            <a:r>
              <a:t>Sites.Selected + site grant.</a:t>
            </a:r>
          </a:p>
          <a:p>
            <a:r>
              <a:t>One-way; not photo rights.</a:t>
            </a:r>
          </a:p>
          <a:p>
            <a:r>
              <a:t>Import job | DEFERRED</a:t>
            </a:r>
          </a:p>
          <a:p>
            <a:r>
              <a:t>import-jobs placeholder.</a:t>
            </a:r>
          </a:p>
          <a:p>
            <a:r>
              <a:t>Limited SQL; Blob quarantine.</a:t>
            </a:r>
          </a:p>
          <a:p>
            <a:r>
              <a:t>No workbook write-back.</a:t>
            </a:r>
          </a:p>
          <a:p>
            <a:r>
              <a:t>Containers | DEFERRED</a:t>
            </a:r>
          </a:p>
          <a:p>
            <a:r>
              <a:t>imports / quarantine</a:t>
            </a:r>
          </a:p>
          <a:p>
            <a:r>
              <a:t>exports / audit-archive</a:t>
            </a:r>
          </a:p>
          <a:p>
            <a:r>
              <a:t>Current API + SQL: see19.</a:t>
            </a:r>
          </a:p>
          <a:p>
            <a:r>
              <a:t>Front Door Premium/WAF | NOT DEPLOYED</a:t>
            </a:r>
          </a:p>
          <a:p>
            <a:r>
              <a:t>Intended edge only; current ingress direct.</a:t>
            </a:r>
          </a:p>
          <a:p>
            <a:r>
              <a:t>Audit digest | NOT IMPLEMENTED</a:t>
            </a:r>
          </a:p>
          <a:p>
            <a:r>
              <a:t>Unlocked policy is not immutable anchoring.</a:t>
            </a:r>
          </a:p>
          <a:p>
            <a:r>
              <a:t>CONDITIONAL: ops23 -&gt; Teams Workflows. Never approval, consent or safety response.</a:t>
            </a:r>
          </a:p>
          <a:p>
            <a:r>
              <a:t>Return to decision: slide 18</a:t>
            </a:r>
          </a:p>
          <a:p>
            <a:r>
              <a:t>Actual runtime: slide 19</a:t>
            </a:r>
          </a:p>
          <a:p>
            <a:r>
              <a:t>Full source views: docs/architecture/zava-forward-executive-architecture.excalidraw / .svg / .png; docs/architecture/zava-forward-technical-architecture.excalidraw / .svg / .png. README and assets/README hold source/status/provenance.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slide" Target="slide2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slide" Target="slide1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hyperlink" Target="https://github.com/jmservera/ama/blob/f94f53a56c36d38ec36f7f662595912084571380/infra/README.md#five-assistant-version-current-handover"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2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slide" Target="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slide" Target="slide23.xml"/><Relationship Id="rId5" Type="http://schemas.openxmlformats.org/officeDocument/2006/relationships/slide" Target="slide24.xml"/><Relationship Id="rId6" Type="http://schemas.openxmlformats.org/officeDocument/2006/relationships/slide" Target="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slide" Target="slide18.xml"/><Relationship Id="rId5" Type="http://schemas.openxmlformats.org/officeDocument/2006/relationships/slide" Target="slide2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hyperlink" Target="https://github.com/jmservera/ama/blob/f94f53a56c36d38ec36f7f662595912084571380/docs/architecture/README.md" TargetMode="External"/><Relationship Id="rId5" Type="http://schemas.openxmlformats.org/officeDocument/2006/relationships/slide" Target="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slide" Target="slide18.xml"/><Relationship Id="rId5" Type="http://schemas.openxmlformats.org/officeDocument/2006/relationships/slide" Target="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 Id="rId4" Type="http://schemas.openxmlformats.org/officeDocument/2006/relationships/slide" Target="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 Id="rId4" Type="http://schemas.openxmlformats.org/officeDocument/2006/relationships/slide" Target="slide18.xml"/><Relationship Id="rId5" Type="http://schemas.openxmlformats.org/officeDocument/2006/relationships/slide" Target="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F35"/>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F7F2E7"/>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F7F2E7"/>
                </a:solidFill>
                <a:latin typeface="Liberation Sans"/>
              </a:rPr>
              <a:t>Back the evidence. Keep the resident promise.</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F7F2E7"/>
                </a:solidFill>
                <a:latin typeface="Liberation Sans"/>
              </a:rPr>
              <a:t>14 OCT 2026  •  S01 / S02 / S03 / S09 / S10  •  Sources + status in notes</a:t>
            </a:r>
          </a:p>
        </p:txBody>
      </p:sp>
      <p:sp>
        <p:nvSpPr>
          <p:cNvPr id="7" name="page-counter"/>
          <p:cNvSpPr txBox="1"/>
          <p:nvPr/>
        </p:nvSpPr>
        <p:spPr>
          <a:xfrm>
            <a:off x="10972800" y="6620256"/>
            <a:ext cx="713232"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F7F2E7"/>
                </a:solidFill>
                <a:latin typeface="Liberation Sans"/>
              </a:rPr>
              <a:t>01 / 24</a:t>
            </a:r>
          </a:p>
        </p:txBody>
      </p:sp>
      <p:sp>
        <p:nvSpPr>
          <p:cNvPr id="8" name="resident-scale"/>
          <p:cNvSpPr txBox="1"/>
          <p:nvPr/>
        </p:nvSpPr>
        <p:spPr>
          <a:xfrm>
            <a:off x="502920" y="1938528"/>
            <a:ext cx="6583680" cy="667512"/>
          </a:xfrm>
          <a:prstGeom prst="rect">
            <a:avLst/>
          </a:prstGeom>
          <a:noFill/>
        </p:spPr>
        <p:txBody>
          <a:bodyPr wrap="square" lIns="18288" rIns="18288" tIns="18288" bIns="18288" anchor="t">
            <a:noAutofit/>
          </a:bodyPr>
          <a:lstStyle/>
          <a:p>
            <a:pPr>
              <a:lnSpc>
                <a:spcPct val="108000"/>
              </a:lnSpc>
              <a:spcBef>
                <a:spcPts val="0"/>
              </a:spcBef>
              <a:spcAft>
                <a:spcPts val="500"/>
              </a:spcAft>
            </a:pPr>
            <a:r>
              <a:rPr sz="3800" b="1" i="0">
                <a:solidFill>
                  <a:srgbClr val="F7F2E7"/>
                </a:solidFill>
                <a:latin typeface="Liberation Sans"/>
              </a:rPr>
              <a:t>60,000 homes.</a:t>
            </a:r>
          </a:p>
        </p:txBody>
      </p:sp>
      <p:sp>
        <p:nvSpPr>
          <p:cNvPr id="9" name="resident-outcome"/>
          <p:cNvSpPr txBox="1"/>
          <p:nvPr/>
        </p:nvSpPr>
        <p:spPr>
          <a:xfrm>
            <a:off x="502920" y="2734056"/>
            <a:ext cx="6400800" cy="1280160"/>
          </a:xfrm>
          <a:prstGeom prst="rect">
            <a:avLst/>
          </a:prstGeom>
          <a:noFill/>
        </p:spPr>
        <p:txBody>
          <a:bodyPr wrap="square" lIns="18288" rIns="18288" tIns="18288" bIns="18288" anchor="t">
            <a:noAutofit/>
          </a:bodyPr>
          <a:lstStyle/>
          <a:p>
            <a:pPr>
              <a:lnSpc>
                <a:spcPct val="108000"/>
              </a:lnSpc>
              <a:spcBef>
                <a:spcPts val="0"/>
              </a:spcBef>
              <a:spcAft>
                <a:spcPts val="500"/>
              </a:spcAft>
            </a:pPr>
            <a:r>
              <a:rPr sz="3400" b="0" i="0">
                <a:solidFill>
                  <a:srgbClr val="F7F2E7"/>
                </a:solidFill>
                <a:latin typeface="Liberation Sans"/>
              </a:rPr>
              <a:t>Safe, resident-accepted</a:t>
            </a:r>
          </a:p>
          <a:p>
            <a:pPr>
              <a:lnSpc>
                <a:spcPct val="108000"/>
              </a:lnSpc>
              <a:spcBef>
                <a:spcPts val="0"/>
              </a:spcBef>
              <a:spcAft>
                <a:spcPts val="500"/>
              </a:spcAft>
            </a:pPr>
            <a:r>
              <a:rPr sz="3400" b="0" i="0">
                <a:solidFill>
                  <a:srgbClr val="F7F2E7"/>
                </a:solidFill>
                <a:latin typeface="Liberation Sans"/>
              </a:rPr>
              <a:t>handovers.</a:t>
            </a:r>
          </a:p>
        </p:txBody>
      </p:sp>
      <p:sp>
        <p:nvSpPr>
          <p:cNvPr id="10" name="opening-evidence"/>
          <p:cNvSpPr txBox="1"/>
          <p:nvPr/>
        </p:nvSpPr>
        <p:spPr>
          <a:xfrm>
            <a:off x="502920" y="4681728"/>
            <a:ext cx="6492240" cy="914400"/>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0" i="0">
                <a:solidFill>
                  <a:srgbClr val="F7F2E7"/>
                </a:solidFill>
                <a:latin typeface="Liberation Sans"/>
              </a:rPr>
              <a:t>Real service proof now.</a:t>
            </a:r>
          </a:p>
          <a:p>
            <a:pPr>
              <a:lnSpc>
                <a:spcPct val="108000"/>
              </a:lnSpc>
              <a:spcBef>
                <a:spcPts val="0"/>
              </a:spcBef>
              <a:spcAft>
                <a:spcPts val="500"/>
              </a:spcAft>
            </a:pPr>
            <a:r>
              <a:rPr sz="2400" b="0" i="0">
                <a:solidFill>
                  <a:srgbClr val="F7F2E7"/>
                </a:solidFill>
                <a:latin typeface="Liberation Sans"/>
              </a:rPr>
              <a:t>Human and value gates next.</a:t>
            </a:r>
          </a:p>
        </p:txBody>
      </p:sp>
      <p:sp>
        <p:nvSpPr>
          <p:cNvPr id="11" name="decision-background" descr="Container background; accompanying native text provides content."/>
          <p:cNvSpPr/>
          <p:nvPr/>
        </p:nvSpPr>
        <p:spPr>
          <a:xfrm>
            <a:off x="7589520" y="1938528"/>
            <a:ext cx="4096512" cy="3557016"/>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decision-title"/>
          <p:cNvSpPr txBox="1"/>
          <p:nvPr/>
        </p:nvSpPr>
        <p:spPr>
          <a:xfrm>
            <a:off x="7818120" y="2185416"/>
            <a:ext cx="3639312" cy="640080"/>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1" i="0">
                <a:solidFill>
                  <a:srgbClr val="183A31"/>
                </a:solidFill>
                <a:latin typeface="Liberation Sans"/>
              </a:rPr>
              <a:t>TODAY’S DECISION</a:t>
            </a:r>
          </a:p>
        </p:txBody>
      </p:sp>
      <p:sp>
        <p:nvSpPr>
          <p:cNvPr id="13" name="decision-body"/>
          <p:cNvSpPr txBox="1"/>
          <p:nvPr/>
        </p:nvSpPr>
        <p:spPr>
          <a:xfrm>
            <a:off x="7818120" y="3035808"/>
            <a:ext cx="3639312" cy="1645920"/>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Endorse preparation</a:t>
            </a:r>
          </a:p>
          <a:p>
            <a:pPr>
              <a:lnSpc>
                <a:spcPct val="108000"/>
              </a:lnSpc>
              <a:spcBef>
                <a:spcPts val="0"/>
              </a:spcBef>
              <a:spcAft>
                <a:spcPts val="500"/>
              </a:spcAft>
            </a:pPr>
            <a:r>
              <a:rPr sz="2400" b="1" i="0">
                <a:solidFill>
                  <a:srgbClr val="183A31"/>
                </a:solidFill>
                <a:latin typeface="Liberation Sans"/>
              </a:rPr>
              <a:t>of the next acceptance-</a:t>
            </a:r>
          </a:p>
          <a:p>
            <a:pPr>
              <a:lnSpc>
                <a:spcPct val="108000"/>
              </a:lnSpc>
              <a:spcBef>
                <a:spcPts val="0"/>
              </a:spcBef>
              <a:spcAft>
                <a:spcPts val="500"/>
              </a:spcAft>
            </a:pPr>
            <a:r>
              <a:rPr sz="2400" b="1" i="0">
                <a:solidFill>
                  <a:srgbClr val="183A31"/>
                </a:solidFill>
                <a:latin typeface="Liberation Sans"/>
              </a:rPr>
              <a:t>and-value proposal.</a:t>
            </a:r>
          </a:p>
        </p:txBody>
      </p:sp>
      <p:sp>
        <p:nvSpPr>
          <p:cNvPr id="14" name="boundary-background" descr="Container background; accompanying native text provides content."/>
          <p:cNvSpPr/>
          <p:nvPr/>
        </p:nvSpPr>
        <p:spPr>
          <a:xfrm>
            <a:off x="502920" y="5669280"/>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boundary-text"/>
          <p:cNvSpPr txBox="1"/>
          <p:nvPr/>
        </p:nvSpPr>
        <p:spPr>
          <a:xfrm>
            <a:off x="667512" y="5760720"/>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1" i="0">
                <a:solidFill>
                  <a:srgbClr val="183A31"/>
                </a:solidFill>
                <a:latin typeface="Liberation Sans"/>
              </a:rPr>
              <a:t>Planning only - no new spending, rollout or production authority.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Five pressure points. One accepted home.</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S01 / S02  •  Sources + status in notes</a:t>
            </a:r>
          </a:p>
        </p:txBody>
      </p:sp>
      <p:sp>
        <p:nvSpPr>
          <p:cNvPr id="7" name="page-counter"/>
          <p:cNvSpPr txBox="1"/>
          <p:nvPr/>
        </p:nvSpPr>
        <p:spPr>
          <a:xfrm>
            <a:off x="10972800" y="6620256"/>
            <a:ext cx="713232"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02 / 24</a:t>
            </a:r>
          </a:p>
        </p:txBody>
      </p:sp>
      <p:sp>
        <p:nvSpPr>
          <p:cNvPr id="8" name="peer-1-background" descr="Container background; accompanying native text provides content."/>
          <p:cNvSpPr/>
          <p:nvPr/>
        </p:nvSpPr>
        <p:spPr>
          <a:xfrm>
            <a:off x="502920" y="1847088"/>
            <a:ext cx="2075688" cy="256032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er-1-title"/>
          <p:cNvSpPr txBox="1"/>
          <p:nvPr/>
        </p:nvSpPr>
        <p:spPr>
          <a:xfrm>
            <a:off x="667512" y="2029968"/>
            <a:ext cx="1746504" cy="960120"/>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1" i="0">
                <a:solidFill>
                  <a:srgbClr val="183A31"/>
                </a:solidFill>
                <a:latin typeface="Liberation Sans"/>
              </a:rPr>
              <a:t>Choose</a:t>
            </a:r>
          </a:p>
          <a:p>
            <a:pPr>
              <a:lnSpc>
                <a:spcPct val="108000"/>
              </a:lnSpc>
              <a:spcBef>
                <a:spcPts val="0"/>
              </a:spcBef>
              <a:spcAft>
                <a:spcPts val="500"/>
              </a:spcAft>
            </a:pPr>
            <a:r>
              <a:rPr sz="2300" b="1" i="0">
                <a:solidFill>
                  <a:srgbClr val="183A31"/>
                </a:solidFill>
                <a:latin typeface="Liberation Sans"/>
              </a:rPr>
              <a:t>homes</a:t>
            </a:r>
          </a:p>
        </p:txBody>
      </p:sp>
      <p:sp>
        <p:nvSpPr>
          <p:cNvPr id="10" name="peer-1-body"/>
          <p:cNvSpPr txBox="1"/>
          <p:nvPr/>
        </p:nvSpPr>
        <p:spPr>
          <a:xfrm>
            <a:off x="667512" y="3145536"/>
            <a:ext cx="1746504" cy="1078991"/>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0" i="0">
                <a:solidFill>
                  <a:srgbClr val="183A31"/>
                </a:solidFill>
                <a:latin typeface="Liberation Sans"/>
              </a:rPr>
              <a:t>Prioritisation</a:t>
            </a:r>
          </a:p>
        </p:txBody>
      </p:sp>
      <p:sp>
        <p:nvSpPr>
          <p:cNvPr id="11" name="peer-2-background" descr="Container background; accompanying native text provides content."/>
          <p:cNvSpPr/>
          <p:nvPr/>
        </p:nvSpPr>
        <p:spPr>
          <a:xfrm>
            <a:off x="2779776" y="1847088"/>
            <a:ext cx="2075688" cy="256032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eer-2-title"/>
          <p:cNvSpPr txBox="1"/>
          <p:nvPr/>
        </p:nvSpPr>
        <p:spPr>
          <a:xfrm>
            <a:off x="2944368" y="2029968"/>
            <a:ext cx="1746504" cy="960120"/>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1" i="0">
                <a:solidFill>
                  <a:srgbClr val="183A31"/>
                </a:solidFill>
                <a:latin typeface="Liberation Sans"/>
              </a:rPr>
              <a:t>Assess &amp;</a:t>
            </a:r>
          </a:p>
          <a:p>
            <a:pPr>
              <a:lnSpc>
                <a:spcPct val="108000"/>
              </a:lnSpc>
              <a:spcBef>
                <a:spcPts val="0"/>
              </a:spcBef>
              <a:spcAft>
                <a:spcPts val="500"/>
              </a:spcAft>
            </a:pPr>
            <a:r>
              <a:rPr sz="2300" b="1" i="0">
                <a:solidFill>
                  <a:srgbClr val="183A31"/>
                </a:solidFill>
                <a:latin typeface="Liberation Sans"/>
              </a:rPr>
              <a:t>design</a:t>
            </a:r>
          </a:p>
        </p:txBody>
      </p:sp>
      <p:sp>
        <p:nvSpPr>
          <p:cNvPr id="13" name="peer-2-body"/>
          <p:cNvSpPr txBox="1"/>
          <p:nvPr/>
        </p:nvSpPr>
        <p:spPr>
          <a:xfrm>
            <a:off x="2944368" y="3145536"/>
            <a:ext cx="1746504" cy="1078991"/>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0" i="0">
                <a:solidFill>
                  <a:srgbClr val="183A31"/>
                </a:solidFill>
                <a:latin typeface="Liberation Sans"/>
              </a:rPr>
              <a:t>Assessment</a:t>
            </a:r>
          </a:p>
        </p:txBody>
      </p:sp>
      <p:sp>
        <p:nvSpPr>
          <p:cNvPr id="14" name="peer-3-background" descr="Container background; accompanying native text provides content."/>
          <p:cNvSpPr/>
          <p:nvPr/>
        </p:nvSpPr>
        <p:spPr>
          <a:xfrm>
            <a:off x="5056632" y="1847088"/>
            <a:ext cx="2075688" cy="256032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peer-3-title"/>
          <p:cNvSpPr txBox="1"/>
          <p:nvPr/>
        </p:nvSpPr>
        <p:spPr>
          <a:xfrm>
            <a:off x="5221224" y="2029968"/>
            <a:ext cx="1746504" cy="960120"/>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1" i="0">
                <a:solidFill>
                  <a:srgbClr val="183A31"/>
                </a:solidFill>
                <a:latin typeface="Liberation Sans"/>
              </a:rPr>
              <a:t>Prepare</a:t>
            </a:r>
          </a:p>
          <a:p>
            <a:pPr>
              <a:lnSpc>
                <a:spcPct val="108000"/>
              </a:lnSpc>
              <a:spcBef>
                <a:spcPts val="0"/>
              </a:spcBef>
              <a:spcAft>
                <a:spcPts val="500"/>
              </a:spcAft>
            </a:pPr>
            <a:r>
              <a:rPr sz="2300" b="1" i="0">
                <a:solidFill>
                  <a:srgbClr val="183A31"/>
                </a:solidFill>
                <a:latin typeface="Liberation Sans"/>
              </a:rPr>
              <a:t>funding</a:t>
            </a:r>
          </a:p>
        </p:txBody>
      </p:sp>
      <p:sp>
        <p:nvSpPr>
          <p:cNvPr id="16" name="peer-3-body"/>
          <p:cNvSpPr txBox="1"/>
          <p:nvPr/>
        </p:nvSpPr>
        <p:spPr>
          <a:xfrm>
            <a:off x="5221224" y="3145536"/>
            <a:ext cx="1746504" cy="1078991"/>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0" i="0">
                <a:solidFill>
                  <a:srgbClr val="183A31"/>
                </a:solidFill>
                <a:latin typeface="Liberation Sans"/>
              </a:rPr>
              <a:t>Evidence</a:t>
            </a:r>
          </a:p>
        </p:txBody>
      </p:sp>
      <p:sp>
        <p:nvSpPr>
          <p:cNvPr id="17" name="peer-4-background" descr="Container background; accompanying native text provides content."/>
          <p:cNvSpPr/>
          <p:nvPr/>
        </p:nvSpPr>
        <p:spPr>
          <a:xfrm>
            <a:off x="7333488" y="1847088"/>
            <a:ext cx="2075688" cy="256032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peer-4-title"/>
          <p:cNvSpPr txBox="1"/>
          <p:nvPr/>
        </p:nvSpPr>
        <p:spPr>
          <a:xfrm>
            <a:off x="7498080" y="2029968"/>
            <a:ext cx="1746504" cy="960120"/>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1" i="0">
                <a:solidFill>
                  <a:srgbClr val="183A31"/>
                </a:solidFill>
                <a:latin typeface="Liberation Sans"/>
              </a:rPr>
              <a:t>Coordinate</a:t>
            </a:r>
          </a:p>
          <a:p>
            <a:pPr>
              <a:lnSpc>
                <a:spcPct val="108000"/>
              </a:lnSpc>
              <a:spcBef>
                <a:spcPts val="0"/>
              </a:spcBef>
              <a:spcAft>
                <a:spcPts val="500"/>
              </a:spcAft>
            </a:pPr>
            <a:r>
              <a:rPr sz="2300" b="1" i="0">
                <a:solidFill>
                  <a:srgbClr val="183A31"/>
                </a:solidFill>
                <a:latin typeface="Liberation Sans"/>
              </a:rPr>
              <a:t>works</a:t>
            </a:r>
          </a:p>
        </p:txBody>
      </p:sp>
      <p:sp>
        <p:nvSpPr>
          <p:cNvPr id="19" name="peer-4-body"/>
          <p:cNvSpPr txBox="1"/>
          <p:nvPr/>
        </p:nvSpPr>
        <p:spPr>
          <a:xfrm>
            <a:off x="7498080" y="3145536"/>
            <a:ext cx="1746504" cy="1078991"/>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0" i="0">
                <a:solidFill>
                  <a:srgbClr val="183A31"/>
                </a:solidFill>
                <a:latin typeface="Liberation Sans"/>
              </a:rPr>
              <a:t>Delivery</a:t>
            </a:r>
          </a:p>
        </p:txBody>
      </p:sp>
      <p:sp>
        <p:nvSpPr>
          <p:cNvPr id="20" name="peer-5-background" descr="Container background; accompanying native text provides content."/>
          <p:cNvSpPr/>
          <p:nvPr/>
        </p:nvSpPr>
        <p:spPr>
          <a:xfrm>
            <a:off x="9610344" y="1847088"/>
            <a:ext cx="2075688" cy="256032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peer-5-title"/>
          <p:cNvSpPr txBox="1"/>
          <p:nvPr/>
        </p:nvSpPr>
        <p:spPr>
          <a:xfrm>
            <a:off x="9774936" y="2029968"/>
            <a:ext cx="1746504" cy="960120"/>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1" i="0">
                <a:solidFill>
                  <a:srgbClr val="183A31"/>
                </a:solidFill>
                <a:latin typeface="Liberation Sans"/>
              </a:rPr>
              <a:t>Verify &amp;</a:t>
            </a:r>
          </a:p>
          <a:p>
            <a:pPr>
              <a:lnSpc>
                <a:spcPct val="108000"/>
              </a:lnSpc>
              <a:spcBef>
                <a:spcPts val="0"/>
              </a:spcBef>
              <a:spcAft>
                <a:spcPts val="500"/>
              </a:spcAft>
            </a:pPr>
            <a:r>
              <a:rPr sz="2300" b="1" i="0">
                <a:solidFill>
                  <a:srgbClr val="183A31"/>
                </a:solidFill>
                <a:latin typeface="Liberation Sans"/>
              </a:rPr>
              <a:t>hand over</a:t>
            </a:r>
          </a:p>
        </p:txBody>
      </p:sp>
      <p:sp>
        <p:nvSpPr>
          <p:cNvPr id="22" name="peer-5-body"/>
          <p:cNvSpPr txBox="1"/>
          <p:nvPr/>
        </p:nvSpPr>
        <p:spPr>
          <a:xfrm>
            <a:off x="9774936" y="3145536"/>
            <a:ext cx="1746504" cy="1078991"/>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0" i="0">
                <a:solidFill>
                  <a:srgbClr val="183A31"/>
                </a:solidFill>
                <a:latin typeface="Liberation Sans"/>
              </a:rPr>
              <a:t>Quality</a:t>
            </a:r>
          </a:p>
        </p:txBody>
      </p:sp>
      <p:sp>
        <p:nvSpPr>
          <p:cNvPr id="23" name="outcome"/>
          <p:cNvSpPr txBox="1"/>
          <p:nvPr/>
        </p:nvSpPr>
        <p:spPr>
          <a:xfrm>
            <a:off x="685800" y="4764024"/>
            <a:ext cx="10789920" cy="594360"/>
          </a:xfrm>
          <a:prstGeom prst="rect">
            <a:avLst/>
          </a:prstGeom>
          <a:noFill/>
        </p:spPr>
        <p:txBody>
          <a:bodyPr wrap="square" lIns="18288" rIns="18288" tIns="18288" bIns="18288" anchor="t">
            <a:noAutofit/>
          </a:bodyPr>
          <a:lstStyle/>
          <a:p>
            <a:pPr>
              <a:lnSpc>
                <a:spcPct val="108000"/>
              </a:lnSpc>
              <a:spcBef>
                <a:spcPts val="0"/>
              </a:spcBef>
              <a:spcAft>
                <a:spcPts val="500"/>
              </a:spcAft>
            </a:pPr>
            <a:r>
              <a:rPr sz="2900" b="1" i="0">
                <a:solidFill>
                  <a:srgbClr val="183A31"/>
                </a:solidFill>
                <a:latin typeface="Liberation Sans"/>
              </a:rPr>
              <a:t>Safe + resident-accepted + evidence-complete</a:t>
            </a:r>
          </a:p>
        </p:txBody>
      </p:sp>
      <p:sp>
        <p:nvSpPr>
          <p:cNvPr id="24" name="boundary-background" descr="Container background; accompanying native text provides content."/>
          <p:cNvSpPr/>
          <p:nvPr/>
        </p:nvSpPr>
        <p:spPr>
          <a:xfrm>
            <a:off x="502920" y="5669280"/>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boundary-text"/>
          <p:cNvSpPr txBox="1"/>
          <p:nvPr/>
        </p:nvSpPr>
        <p:spPr>
          <a:xfrm>
            <a:off x="667512" y="5760720"/>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2000" b="1" i="0">
                <a:solidFill>
                  <a:srgbClr val="183A31"/>
                </a:solidFill>
                <a:latin typeface="Liberation Sans"/>
              </a:rPr>
              <a:t>Measure accepted outcomes, not messages or drafts.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Each request needs rules, people and bounded AI.</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S02 / S04  •  Sources + status in notes</a:t>
            </a:r>
          </a:p>
        </p:txBody>
      </p:sp>
      <p:sp>
        <p:nvSpPr>
          <p:cNvPr id="7" name="page-counter"/>
          <p:cNvSpPr txBox="1"/>
          <p:nvPr/>
        </p:nvSpPr>
        <p:spPr>
          <a:xfrm>
            <a:off x="10972800" y="6620256"/>
            <a:ext cx="713232"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03 / 24</a:t>
            </a:r>
          </a:p>
        </p:txBody>
      </p:sp>
      <p:sp>
        <p:nvSpPr>
          <p:cNvPr id="8" name="peer-1-background" descr="Container background; accompanying native text provides content."/>
          <p:cNvSpPr/>
          <p:nvPr/>
        </p:nvSpPr>
        <p:spPr>
          <a:xfrm>
            <a:off x="50292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er-1-title"/>
          <p:cNvSpPr txBox="1"/>
          <p:nvPr/>
        </p:nvSpPr>
        <p:spPr>
          <a:xfrm>
            <a:off x="66751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Rules</a:t>
            </a:r>
          </a:p>
        </p:txBody>
      </p:sp>
      <p:sp>
        <p:nvSpPr>
          <p:cNvPr id="10" name="peer-1-body"/>
          <p:cNvSpPr txBox="1"/>
          <p:nvPr/>
        </p:nvSpPr>
        <p:spPr>
          <a:xfrm>
            <a:off x="66751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Gates, clocks,</a:t>
            </a:r>
          </a:p>
          <a:p>
            <a:pPr>
              <a:lnSpc>
                <a:spcPct val="108000"/>
              </a:lnSpc>
              <a:spcBef>
                <a:spcPts val="0"/>
              </a:spcBef>
              <a:spcAft>
                <a:spcPts val="500"/>
              </a:spcAft>
            </a:pPr>
            <a:r>
              <a:rPr sz="2200" b="0" i="0">
                <a:solidFill>
                  <a:srgbClr val="183A31"/>
                </a:solidFill>
                <a:latin typeface="Liberation Sans"/>
              </a:rPr>
              <a:t>eligibility, versions.</a:t>
            </a:r>
          </a:p>
        </p:txBody>
      </p:sp>
      <p:sp>
        <p:nvSpPr>
          <p:cNvPr id="11" name="peer-2-background" descr="Container background; accompanying native text provides content."/>
          <p:cNvSpPr/>
          <p:nvPr/>
        </p:nvSpPr>
        <p:spPr>
          <a:xfrm>
            <a:off x="429768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eer-2-title"/>
          <p:cNvSpPr txBox="1"/>
          <p:nvPr/>
        </p:nvSpPr>
        <p:spPr>
          <a:xfrm>
            <a:off x="446227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People</a:t>
            </a:r>
          </a:p>
        </p:txBody>
      </p:sp>
      <p:sp>
        <p:nvSpPr>
          <p:cNvPr id="13" name="peer-2-body"/>
          <p:cNvSpPr txBox="1"/>
          <p:nvPr/>
        </p:nvSpPr>
        <p:spPr>
          <a:xfrm>
            <a:off x="446227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Policy, consent,</a:t>
            </a:r>
          </a:p>
          <a:p>
            <a:pPr>
              <a:lnSpc>
                <a:spcPct val="108000"/>
              </a:lnSpc>
              <a:spcBef>
                <a:spcPts val="0"/>
              </a:spcBef>
              <a:spcAft>
                <a:spcPts val="500"/>
              </a:spcAft>
            </a:pPr>
            <a:r>
              <a:rPr sz="2200" b="0" i="0">
                <a:solidFill>
                  <a:srgbClr val="183A31"/>
                </a:solidFill>
                <a:latin typeface="Liberation Sans"/>
              </a:rPr>
              <a:t>professional and</a:t>
            </a:r>
          </a:p>
          <a:p>
            <a:pPr>
              <a:lnSpc>
                <a:spcPct val="108000"/>
              </a:lnSpc>
              <a:spcBef>
                <a:spcPts val="0"/>
              </a:spcBef>
              <a:spcAft>
                <a:spcPts val="500"/>
              </a:spcAft>
            </a:pPr>
            <a:r>
              <a:rPr sz="2200" b="0" i="0">
                <a:solidFill>
                  <a:srgbClr val="183A31"/>
                </a:solidFill>
                <a:latin typeface="Liberation Sans"/>
              </a:rPr>
              <a:t>financial decisions.</a:t>
            </a:r>
          </a:p>
        </p:txBody>
      </p:sp>
      <p:sp>
        <p:nvSpPr>
          <p:cNvPr id="14" name="peer-3-background" descr="Container background; accompanying native text provides content."/>
          <p:cNvSpPr/>
          <p:nvPr/>
        </p:nvSpPr>
        <p:spPr>
          <a:xfrm>
            <a:off x="809244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peer-3-title"/>
          <p:cNvSpPr txBox="1"/>
          <p:nvPr/>
        </p:nvSpPr>
        <p:spPr>
          <a:xfrm>
            <a:off x="825703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Bounded AI</a:t>
            </a:r>
          </a:p>
        </p:txBody>
      </p:sp>
      <p:sp>
        <p:nvSpPr>
          <p:cNvPr id="16" name="peer-3-body"/>
          <p:cNvSpPr txBox="1"/>
          <p:nvPr/>
        </p:nvSpPr>
        <p:spPr>
          <a:xfrm>
            <a:off x="825703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Reconcile, prepare,</a:t>
            </a:r>
          </a:p>
          <a:p>
            <a:pPr>
              <a:lnSpc>
                <a:spcPct val="108000"/>
              </a:lnSpc>
              <a:spcBef>
                <a:spcPts val="0"/>
              </a:spcBef>
              <a:spcAft>
                <a:spcPts val="500"/>
              </a:spcAft>
            </a:pPr>
            <a:r>
              <a:rPr sz="2200" b="0" i="0">
                <a:solidFill>
                  <a:srgbClr val="183A31"/>
                </a:solidFill>
                <a:latin typeface="Liberation Sans"/>
              </a:rPr>
              <a:t>draft, flag.</a:t>
            </a:r>
          </a:p>
        </p:txBody>
      </p:sp>
      <p:sp>
        <p:nvSpPr>
          <p:cNvPr id="17" name="boundary-background" descr="Container background; accompanying native text provides content."/>
          <p:cNvSpPr/>
          <p:nvPr/>
        </p:nvSpPr>
        <p:spPr>
          <a:xfrm>
            <a:off x="502920" y="5669280"/>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boundary-text"/>
          <p:cNvSpPr txBox="1"/>
          <p:nvPr/>
        </p:nvSpPr>
        <p:spPr>
          <a:xfrm>
            <a:off x="667512" y="5760720"/>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1" i="0">
                <a:solidFill>
                  <a:srgbClr val="183A31"/>
                </a:solidFill>
                <a:latin typeface="Liberation Sans"/>
              </a:rPr>
              <a:t>Eight role-agent research instruments — not employee interviews.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Compare routes; keep the exercise choice provisional.</a:t>
            </a:r>
          </a:p>
        </p:txBody>
      </p:sp>
      <p:sp>
        <p:nvSpPr>
          <p:cNvPr id="6" name="source-footer"/>
          <p:cNvSpPr txBox="1"/>
          <p:nvPr/>
        </p:nvSpPr>
        <p:spPr>
          <a:xfrm>
            <a:off x="502920" y="6656832"/>
            <a:ext cx="10424160" cy="192024"/>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S16 + retained sources/status in notes</a:t>
            </a:r>
          </a:p>
        </p:txBody>
      </p:sp>
      <p:sp>
        <p:nvSpPr>
          <p:cNvPr id="7" name="page-counter"/>
          <p:cNvSpPr txBox="1"/>
          <p:nvPr/>
        </p:nvSpPr>
        <p:spPr>
          <a:xfrm>
            <a:off x="10972800" y="6620256"/>
            <a:ext cx="713232"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04 / 24</a:t>
            </a:r>
          </a:p>
        </p:txBody>
      </p:sp>
      <p:sp>
        <p:nvSpPr>
          <p:cNvPr id="8" name="peer-1-background" descr="Container background; accompanying native text provides content."/>
          <p:cNvSpPr/>
          <p:nvPr/>
        </p:nvSpPr>
        <p:spPr>
          <a:xfrm>
            <a:off x="502920" y="1847088"/>
            <a:ext cx="3593592" cy="3401568"/>
          </a:xfrm>
          <a:prstGeom prst="roundRect">
            <a:avLst/>
          </a:prstGeom>
          <a:solidFill>
            <a:srgbClr val="D5E2D4"/>
          </a:solidFill>
          <a:ln w="16510">
            <a:solidFill>
              <a:srgbClr val="173F35"/>
            </a:solidFill>
            <a:prstDash val="solid"/>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er-1-title"/>
          <p:cNvSpPr txBox="1"/>
          <p:nvPr/>
        </p:nvSpPr>
        <p:spPr>
          <a:xfrm>
            <a:off x="667512" y="2029968"/>
            <a:ext cx="3264408" cy="859536"/>
          </a:xfrm>
          <a:prstGeom prst="rect">
            <a:avLst/>
          </a:prstGeom>
          <a:noFill/>
        </p:spPr>
        <p:txBody>
          <a:bodyPr wrap="square" lIns="18288" rIns="18288" tIns="18288" bIns="18288" anchor="t">
            <a:noAutofit/>
          </a:bodyPr>
          <a:lstStyle/>
          <a:p>
            <a:pPr>
              <a:lnSpc>
                <a:spcPct val="102000"/>
              </a:lnSpc>
              <a:spcBef>
                <a:spcPts val="0"/>
              </a:spcBef>
              <a:spcAft>
                <a:spcPts val="0"/>
              </a:spcAft>
            </a:pPr>
            <a:r>
              <a:rPr sz="2400" b="1" i="0">
                <a:solidFill>
                  <a:srgbClr val="183A31"/>
                </a:solidFill>
                <a:latin typeface="Liberation Sans"/>
              </a:rPr>
              <a:t>Improve workflow</a:t>
            </a:r>
          </a:p>
        </p:txBody>
      </p:sp>
      <p:sp>
        <p:nvSpPr>
          <p:cNvPr id="10" name="peer-1-body"/>
          <p:cNvSpPr txBox="1"/>
          <p:nvPr/>
        </p:nvSpPr>
        <p:spPr>
          <a:xfrm>
            <a:off x="667512" y="3044952"/>
            <a:ext cx="3264408" cy="2020824"/>
          </a:xfrm>
          <a:prstGeom prst="rect">
            <a:avLst/>
          </a:prstGeom>
          <a:noFill/>
        </p:spPr>
        <p:txBody>
          <a:bodyPr wrap="square" lIns="18288" rIns="18288" tIns="18288" bIns="18288" anchor="t">
            <a:noAutofit/>
          </a:bodyPr>
          <a:lstStyle/>
          <a:p>
            <a:pPr>
              <a:lnSpc>
                <a:spcPct val="102000"/>
              </a:lnSpc>
              <a:spcBef>
                <a:spcPts val="0"/>
              </a:spcBef>
              <a:spcAft>
                <a:spcPts val="0"/>
              </a:spcAft>
            </a:pPr>
            <a:r>
              <a:rPr sz="2200" b="0" i="0">
                <a:solidFill>
                  <a:srgbClr val="183A31"/>
                </a:solidFill>
                <a:latin typeface="Liberation Sans"/>
              </a:rPr>
              <a:t>Least platform change.</a:t>
            </a:r>
          </a:p>
          <a:p>
            <a:pPr>
              <a:lnSpc>
                <a:spcPct val="102000"/>
              </a:lnSpc>
              <a:spcBef>
                <a:spcPts val="0"/>
              </a:spcBef>
              <a:spcAft>
                <a:spcPts val="0"/>
              </a:spcAft>
            </a:pPr>
            <a:r>
              <a:rPr sz="2200" b="0" i="0">
                <a:solidFill>
                  <a:srgbClr val="183A31"/>
                </a:solidFill>
                <a:latin typeface="Liberation Sans"/>
              </a:rPr>
              <a:t>Controls still to test.</a:t>
            </a:r>
          </a:p>
        </p:txBody>
      </p:sp>
      <p:sp>
        <p:nvSpPr>
          <p:cNvPr id="11" name="peer-2-background" descr="Container background; accompanying native text provides content."/>
          <p:cNvSpPr/>
          <p:nvPr/>
        </p:nvSpPr>
        <p:spPr>
          <a:xfrm>
            <a:off x="4297680" y="1847088"/>
            <a:ext cx="3593592" cy="3401568"/>
          </a:xfrm>
          <a:prstGeom prst="roundRect">
            <a:avLst/>
          </a:prstGeom>
          <a:solidFill>
            <a:srgbClr val="D5E2D4"/>
          </a:solidFill>
          <a:ln w="16510">
            <a:solidFill>
              <a:srgbClr val="173F35"/>
            </a:solidFill>
            <a:prstDash val="solid"/>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eer-2-title"/>
          <p:cNvSpPr txBox="1"/>
          <p:nvPr/>
        </p:nvSpPr>
        <p:spPr>
          <a:xfrm>
            <a:off x="4462272" y="2029968"/>
            <a:ext cx="3264408" cy="859536"/>
          </a:xfrm>
          <a:prstGeom prst="rect">
            <a:avLst/>
          </a:prstGeom>
          <a:noFill/>
        </p:spPr>
        <p:txBody>
          <a:bodyPr wrap="square" lIns="18288" rIns="18288" tIns="18288" bIns="18288" anchor="t">
            <a:noAutofit/>
          </a:bodyPr>
          <a:lstStyle/>
          <a:p>
            <a:pPr>
              <a:lnSpc>
                <a:spcPct val="102000"/>
              </a:lnSpc>
              <a:spcBef>
                <a:spcPts val="0"/>
              </a:spcBef>
              <a:spcAft>
                <a:spcPts val="0"/>
              </a:spcAft>
            </a:pPr>
            <a:r>
              <a:rPr sz="2400" b="1" i="0">
                <a:solidFill>
                  <a:srgbClr val="183A31"/>
                </a:solidFill>
                <a:latin typeface="Liberation Sans"/>
              </a:rPr>
              <a:t>Greenfield business platform</a:t>
            </a:r>
          </a:p>
        </p:txBody>
      </p:sp>
      <p:sp>
        <p:nvSpPr>
          <p:cNvPr id="13" name="peer-2-body"/>
          <p:cNvSpPr txBox="1"/>
          <p:nvPr/>
        </p:nvSpPr>
        <p:spPr>
          <a:xfrm>
            <a:off x="4462272" y="3044952"/>
            <a:ext cx="3264408" cy="2020824"/>
          </a:xfrm>
          <a:prstGeom prst="rect">
            <a:avLst/>
          </a:prstGeom>
          <a:noFill/>
        </p:spPr>
        <p:txBody>
          <a:bodyPr wrap="square" lIns="18288" rIns="18288" tIns="18288" bIns="18288" anchor="t">
            <a:noAutofit/>
          </a:bodyPr>
          <a:lstStyle/>
          <a:p>
            <a:pPr>
              <a:lnSpc>
                <a:spcPct val="102000"/>
              </a:lnSpc>
              <a:spcBef>
                <a:spcPts val="0"/>
              </a:spcBef>
              <a:spcAft>
                <a:spcPts val="0"/>
              </a:spcAft>
            </a:pPr>
            <a:r>
              <a:rPr sz="2200" b="0" i="0">
                <a:solidFill>
                  <a:srgbClr val="183A31"/>
                </a:solidFill>
                <a:latin typeface="Liberation Sans"/>
              </a:rPr>
              <a:t>Managed tools.</a:t>
            </a:r>
          </a:p>
          <a:p>
            <a:pPr>
              <a:lnSpc>
                <a:spcPct val="102000"/>
              </a:lnSpc>
              <a:spcBef>
                <a:spcPts val="0"/>
              </a:spcBef>
              <a:spcAft>
                <a:spcPts val="0"/>
              </a:spcAft>
            </a:pPr>
            <a:r>
              <a:rPr sz="2200" b="0" i="0">
                <a:solidFill>
                  <a:srgbClr val="183A31"/>
                </a:solidFill>
                <a:latin typeface="Liberation Sans"/>
              </a:rPr>
              <a:t>New adoption, licensing</a:t>
            </a:r>
          </a:p>
          <a:p>
            <a:pPr>
              <a:lnSpc>
                <a:spcPct val="102000"/>
              </a:lnSpc>
              <a:spcBef>
                <a:spcPts val="0"/>
              </a:spcBef>
              <a:spcAft>
                <a:spcPts val="0"/>
              </a:spcAft>
            </a:pPr>
            <a:r>
              <a:rPr sz="2200" b="0" i="0">
                <a:solidFill>
                  <a:srgbClr val="183A31"/>
                </a:solidFill>
                <a:latin typeface="Liberation Sans"/>
              </a:rPr>
              <a:t>and support.</a:t>
            </a:r>
          </a:p>
        </p:txBody>
      </p:sp>
      <p:sp>
        <p:nvSpPr>
          <p:cNvPr id="14" name="peer-3-background" descr="Container background; accompanying native text provides content."/>
          <p:cNvSpPr/>
          <p:nvPr/>
        </p:nvSpPr>
        <p:spPr>
          <a:xfrm>
            <a:off x="8092440" y="1847088"/>
            <a:ext cx="3593592" cy="3401568"/>
          </a:xfrm>
          <a:prstGeom prst="roundRect">
            <a:avLst/>
          </a:prstGeom>
          <a:solidFill>
            <a:srgbClr val="D5E2D4"/>
          </a:solidFill>
          <a:ln w="16510">
            <a:solidFill>
              <a:srgbClr val="173F35"/>
            </a:solidFill>
            <a:prstDash val="solid"/>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peer-3-title"/>
          <p:cNvSpPr txBox="1"/>
          <p:nvPr/>
        </p:nvSpPr>
        <p:spPr>
          <a:xfrm>
            <a:off x="8257032" y="2029968"/>
            <a:ext cx="3264408" cy="859536"/>
          </a:xfrm>
          <a:prstGeom prst="rect">
            <a:avLst/>
          </a:prstGeom>
          <a:noFill/>
        </p:spPr>
        <p:txBody>
          <a:bodyPr wrap="square" lIns="18288" rIns="18288" tIns="18288" bIns="18288" anchor="t">
            <a:noAutofit/>
          </a:bodyPr>
          <a:lstStyle/>
          <a:p>
            <a:pPr>
              <a:lnSpc>
                <a:spcPct val="102000"/>
              </a:lnSpc>
              <a:spcBef>
                <a:spcPts val="0"/>
              </a:spcBef>
              <a:spcAft>
                <a:spcPts val="0"/>
              </a:spcAft>
            </a:pPr>
            <a:r>
              <a:rPr sz="2400" b="1" i="0">
                <a:solidFill>
                  <a:srgbClr val="183A31"/>
                </a:solidFill>
                <a:latin typeface="Liberation Sans"/>
              </a:rPr>
              <a:t>Azure-led hybrid</a:t>
            </a:r>
          </a:p>
        </p:txBody>
      </p:sp>
      <p:sp>
        <p:nvSpPr>
          <p:cNvPr id="16" name="peer-3-body"/>
          <p:cNvSpPr txBox="1"/>
          <p:nvPr/>
        </p:nvSpPr>
        <p:spPr>
          <a:xfrm>
            <a:off x="8257032" y="3044952"/>
            <a:ext cx="3264408" cy="2020824"/>
          </a:xfrm>
          <a:prstGeom prst="rect">
            <a:avLst/>
          </a:prstGeom>
          <a:noFill/>
        </p:spPr>
        <p:txBody>
          <a:bodyPr wrap="square" lIns="18288" rIns="18288" tIns="18288" bIns="18288" anchor="t">
            <a:noAutofit/>
          </a:bodyPr>
          <a:lstStyle/>
          <a:p>
            <a:pPr>
              <a:lnSpc>
                <a:spcPct val="102000"/>
              </a:lnSpc>
              <a:spcBef>
                <a:spcPts val="0"/>
              </a:spcBef>
              <a:spcAft>
                <a:spcPts val="0"/>
              </a:spcAft>
            </a:pPr>
            <a:r>
              <a:rPr sz="2200" b="0" i="0">
                <a:solidFill>
                  <a:srgbClr val="183A31"/>
                </a:solidFill>
                <a:latin typeface="Liberation Sans"/>
              </a:rPr>
              <a:t>Explicit contracts.</a:t>
            </a:r>
          </a:p>
          <a:p>
            <a:pPr>
              <a:lnSpc>
                <a:spcPct val="102000"/>
              </a:lnSpc>
              <a:spcBef>
                <a:spcPts val="0"/>
              </a:spcBef>
              <a:spcAft>
                <a:spcPts val="0"/>
              </a:spcAft>
            </a:pPr>
            <a:r>
              <a:rPr sz="2200" b="0" i="0">
                <a:solidFill>
                  <a:srgbClr val="183A31"/>
                </a:solidFill>
                <a:latin typeface="Liberation Sans"/>
              </a:rPr>
              <a:t>Bespoke engineering</a:t>
            </a:r>
          </a:p>
          <a:p>
            <a:pPr>
              <a:lnSpc>
                <a:spcPct val="102000"/>
              </a:lnSpc>
              <a:spcBef>
                <a:spcPts val="0"/>
              </a:spcBef>
              <a:spcAft>
                <a:spcPts val="0"/>
              </a:spcAft>
            </a:pPr>
            <a:r>
              <a:rPr sz="2200" b="0" i="0">
                <a:solidFill>
                  <a:srgbClr val="183A31"/>
                </a:solidFill>
                <a:latin typeface="Liberation Sans"/>
              </a:rPr>
              <a:t>and operations.</a:t>
            </a:r>
          </a:p>
        </p:txBody>
      </p:sp>
      <p:sp>
        <p:nvSpPr>
          <p:cNvPr id="17" name="options-provisional-background" descr="Container background; accompanying native text provides content."/>
          <p:cNvSpPr/>
          <p:nvPr/>
        </p:nvSpPr>
        <p:spPr>
          <a:xfrm>
            <a:off x="502920" y="5486400"/>
            <a:ext cx="11183112" cy="731520"/>
          </a:xfrm>
          <a:prstGeom prst="roundRect">
            <a:avLst/>
          </a:prstGeom>
          <a:solidFill>
            <a:srgbClr val="E5B96A"/>
          </a:solidFill>
          <a:ln w="16510">
            <a:solidFill>
              <a:srgbClr val="173F35"/>
            </a:solidFill>
            <a:prstDash val="solid"/>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options-provisional"/>
          <p:cNvSpPr txBox="1"/>
          <p:nvPr/>
        </p:nvSpPr>
        <p:spPr>
          <a:xfrm>
            <a:off x="640080" y="5559552"/>
            <a:ext cx="10908792" cy="658368"/>
          </a:xfrm>
          <a:prstGeom prst="rect">
            <a:avLst/>
          </a:prstGeom>
          <a:noFill/>
        </p:spPr>
        <p:txBody>
          <a:bodyPr wrap="square" lIns="18288" rIns="18288" tIns="18288" bIns="18288" anchor="t">
            <a:noAutofit/>
          </a:bodyPr>
          <a:lstStyle/>
          <a:p>
            <a:pPr>
              <a:lnSpc>
                <a:spcPct val="102000"/>
              </a:lnSpc>
              <a:spcBef>
                <a:spcPts val="0"/>
              </a:spcBef>
              <a:spcAft>
                <a:spcPts val="0"/>
              </a:spcAft>
            </a:pPr>
            <a:r>
              <a:rPr sz="2000" b="1" i="0">
                <a:solidFill>
                  <a:srgbClr val="183A31"/>
                </a:solidFill>
                <a:latin typeface="Liberation Sans"/>
              </a:rPr>
              <a:t>Recommend hybrid for the bounded exercise only.</a:t>
            </a:r>
          </a:p>
          <a:p>
            <a:pPr>
              <a:lnSpc>
                <a:spcPct val="102000"/>
              </a:lnSpc>
              <a:spcBef>
                <a:spcPts val="0"/>
              </a:spcBef>
              <a:spcAft>
                <a:spcPts val="0"/>
              </a:spcAft>
            </a:pPr>
            <a:r>
              <a:rPr sz="2000" b="1" i="0">
                <a:solidFill>
                  <a:srgbClr val="183A31"/>
                </a:solidFill>
                <a:latin typeface="Liberation Sans"/>
              </a:rPr>
              <a:t>Provisional baseline, NOT a customer investment winner.</a:t>
            </a:r>
          </a:p>
        </p:txBody>
      </p:sp>
      <p:sp>
        <p:nvSpPr>
          <p:cNvPr id="19" name="options-link" descr="Equal-control appraisal: slide 22">
            <a:hlinkClick action="ppaction://hlinksldjump" r:id="rId4"/>
          </p:cNvPr>
          <p:cNvSpPr txBox="1"/>
          <p:nvPr/>
        </p:nvSpPr>
        <p:spPr>
          <a:xfrm>
            <a:off x="502920" y="6309360"/>
            <a:ext cx="5486400" cy="274320"/>
          </a:xfrm>
          <a:prstGeom prst="rect">
            <a:avLst/>
          </a:prstGeom>
          <a:noFill/>
        </p:spPr>
        <p:txBody>
          <a:bodyPr wrap="square" lIns="18288" rIns="18288" tIns="18288" bIns="18288" anchor="t">
            <a:noAutofit/>
          </a:bodyPr>
          <a:lstStyle/>
          <a:p>
            <a:pPr>
              <a:lnSpc>
                <a:spcPct val="102000"/>
              </a:lnSpc>
              <a:spcBef>
                <a:spcPts val="0"/>
              </a:spcBef>
              <a:spcAft>
                <a:spcPts val="0"/>
              </a:spcAft>
            </a:pPr>
            <a:r>
              <a:rPr sz="1600" b="1" i="0">
                <a:solidFill>
                  <a:srgbClr val="173F35"/>
                </a:solidFill>
                <a:latin typeface="Liberation Sans"/>
              </a:rPr>
              <a:t>Equal-control appraisal: slide 22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73F35"/>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F7F2E7"/>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F7F2E7"/>
                </a:solidFill>
                <a:latin typeface="Liberation Sans"/>
              </a:rPr>
              <a:t>Change the handoffs, not the whole company.</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F7F2E7"/>
                </a:solidFill>
                <a:latin typeface="Liberation Sans"/>
              </a:rPr>
              <a:t>14 OCT 2026  •  S02 / S07 / S12  •  Sources + status in notes</a:t>
            </a:r>
          </a:p>
        </p:txBody>
      </p:sp>
      <p:sp>
        <p:nvSpPr>
          <p:cNvPr id="7" name="page-counter"/>
          <p:cNvSpPr txBox="1"/>
          <p:nvPr/>
        </p:nvSpPr>
        <p:spPr>
          <a:xfrm>
            <a:off x="10972800" y="6620256"/>
            <a:ext cx="713232"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F7F2E7"/>
                </a:solidFill>
                <a:latin typeface="Liberation Sans"/>
              </a:rPr>
              <a:t>05 / 24</a:t>
            </a:r>
          </a:p>
        </p:txBody>
      </p:sp>
      <p:sp>
        <p:nvSpPr>
          <p:cNvPr id="8" name="peer-1-background" descr="Container background; accompanying native text provides content."/>
          <p:cNvSpPr/>
          <p:nvPr/>
        </p:nvSpPr>
        <p:spPr>
          <a:xfrm>
            <a:off x="502920" y="1847088"/>
            <a:ext cx="5490972" cy="3401568"/>
          </a:xfrm>
          <a:prstGeom prst="roundRect">
            <a:avLst/>
          </a:prstGeom>
          <a:solidFill>
            <a:srgbClr val="F7F2E7"/>
          </a:solidFill>
          <a:ln>
            <a:solidFill>
              <a:srgbClr val="F7F2E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er-1-title"/>
          <p:cNvSpPr txBox="1"/>
          <p:nvPr/>
        </p:nvSpPr>
        <p:spPr>
          <a:xfrm>
            <a:off x="667512" y="2029968"/>
            <a:ext cx="516178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800" b="1" i="0">
                <a:solidFill>
                  <a:srgbClr val="183A31"/>
                </a:solidFill>
                <a:latin typeface="Liberation Sans"/>
              </a:rPr>
              <a:t>KEEP</a:t>
            </a:r>
          </a:p>
        </p:txBody>
      </p:sp>
      <p:sp>
        <p:nvSpPr>
          <p:cNvPr id="10" name="peer-1-body"/>
          <p:cNvSpPr txBox="1"/>
          <p:nvPr/>
        </p:nvSpPr>
        <p:spPr>
          <a:xfrm>
            <a:off x="667512" y="3044952"/>
            <a:ext cx="516178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700" b="0" i="0">
                <a:solidFill>
                  <a:srgbClr val="183A31"/>
                </a:solidFill>
                <a:latin typeface="Liberation Sans"/>
              </a:rPr>
              <a:t>Teams, suppliers,</a:t>
            </a:r>
          </a:p>
          <a:p>
            <a:pPr>
              <a:lnSpc>
                <a:spcPct val="108000"/>
              </a:lnSpc>
              <a:spcBef>
                <a:spcPts val="0"/>
              </a:spcBef>
              <a:spcAft>
                <a:spcPts val="500"/>
              </a:spcAft>
            </a:pPr>
            <a:r>
              <a:rPr sz="2700" b="0" i="0">
                <a:solidFill>
                  <a:srgbClr val="183A31"/>
                </a:solidFill>
                <a:latin typeface="Liberation Sans"/>
              </a:rPr>
              <a:t>useful systems.</a:t>
            </a:r>
          </a:p>
        </p:txBody>
      </p:sp>
      <p:sp>
        <p:nvSpPr>
          <p:cNvPr id="11" name="peer-2-background" descr="Container background; accompanying native text provides content."/>
          <p:cNvSpPr/>
          <p:nvPr/>
        </p:nvSpPr>
        <p:spPr>
          <a:xfrm>
            <a:off x="6195059" y="1847088"/>
            <a:ext cx="5490972" cy="3401568"/>
          </a:xfrm>
          <a:prstGeom prst="roundRect">
            <a:avLst/>
          </a:prstGeom>
          <a:solidFill>
            <a:srgbClr val="F7F2E7"/>
          </a:solidFill>
          <a:ln>
            <a:solidFill>
              <a:srgbClr val="F7F2E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eer-2-title"/>
          <p:cNvSpPr txBox="1"/>
          <p:nvPr/>
        </p:nvSpPr>
        <p:spPr>
          <a:xfrm>
            <a:off x="6359651" y="2029968"/>
            <a:ext cx="516178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800" b="1" i="0">
                <a:solidFill>
                  <a:srgbClr val="183A31"/>
                </a:solidFill>
                <a:latin typeface="Liberation Sans"/>
              </a:rPr>
              <a:t>ADD</a:t>
            </a:r>
          </a:p>
        </p:txBody>
      </p:sp>
      <p:sp>
        <p:nvSpPr>
          <p:cNvPr id="13" name="peer-2-body"/>
          <p:cNvSpPr txBox="1"/>
          <p:nvPr/>
        </p:nvSpPr>
        <p:spPr>
          <a:xfrm>
            <a:off x="6359651" y="3044952"/>
            <a:ext cx="516178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700" b="0" i="0">
                <a:solidFill>
                  <a:srgbClr val="183A31"/>
                </a:solidFill>
                <a:latin typeface="Liberation Sans"/>
              </a:rPr>
              <a:t>One case, owned transitions,</a:t>
            </a:r>
          </a:p>
          <a:p>
            <a:pPr>
              <a:lnSpc>
                <a:spcPct val="108000"/>
              </a:lnSpc>
              <a:spcBef>
                <a:spcPts val="0"/>
              </a:spcBef>
              <a:spcAft>
                <a:spcPts val="500"/>
              </a:spcAft>
            </a:pPr>
            <a:r>
              <a:rPr sz="2700" b="0" i="0">
                <a:solidFill>
                  <a:srgbClr val="183A31"/>
                </a:solidFill>
                <a:latin typeface="Liberation Sans"/>
              </a:rPr>
              <a:t>evidence, bounded assistance.</a:t>
            </a:r>
          </a:p>
        </p:txBody>
      </p:sp>
      <p:sp>
        <p:nvSpPr>
          <p:cNvPr id="14" name="boundary-background" descr="Container background; accompanying native text provides content."/>
          <p:cNvSpPr/>
          <p:nvPr/>
        </p:nvSpPr>
        <p:spPr>
          <a:xfrm>
            <a:off x="502920" y="5669280"/>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boundary-text"/>
          <p:cNvSpPr txBox="1"/>
          <p:nvPr/>
        </p:nvSpPr>
        <p:spPr>
          <a:xfrm>
            <a:off x="667512" y="5760720"/>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1" i="0">
                <a:solidFill>
                  <a:srgbClr val="183A31"/>
                </a:solidFill>
                <a:latin typeface="Liberation Sans"/>
              </a:rPr>
              <a:t>Excel could become reporting after a controlled transition.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Every handoff needs an owner and a next action.</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S02 / S05 / S06 / S07  •  Sources + status in notes</a:t>
            </a:r>
          </a:p>
        </p:txBody>
      </p:sp>
      <p:sp>
        <p:nvSpPr>
          <p:cNvPr id="7" name="page-counter"/>
          <p:cNvSpPr txBox="1"/>
          <p:nvPr/>
        </p:nvSpPr>
        <p:spPr>
          <a:xfrm>
            <a:off x="10972800" y="6620256"/>
            <a:ext cx="713232"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06 / 24</a:t>
            </a:r>
          </a:p>
        </p:txBody>
      </p:sp>
      <p:sp>
        <p:nvSpPr>
          <p:cNvPr id="8" name="row-1-peer-1-background" descr="Container background; accompanying native text provides content."/>
          <p:cNvSpPr/>
          <p:nvPr/>
        </p:nvSpPr>
        <p:spPr>
          <a:xfrm>
            <a:off x="502920" y="1837943"/>
            <a:ext cx="3593592" cy="1627632"/>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ow-1-peer-1-title"/>
          <p:cNvSpPr txBox="1"/>
          <p:nvPr/>
        </p:nvSpPr>
        <p:spPr>
          <a:xfrm>
            <a:off x="667512" y="2020824"/>
            <a:ext cx="3264408" cy="50292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1" i="0">
                <a:solidFill>
                  <a:srgbClr val="183A31"/>
                </a:solidFill>
                <a:latin typeface="Liberation Sans"/>
              </a:rPr>
              <a:t>Owner + receiver</a:t>
            </a:r>
          </a:p>
        </p:txBody>
      </p:sp>
      <p:sp>
        <p:nvSpPr>
          <p:cNvPr id="10" name="row-1-peer-1-body"/>
          <p:cNvSpPr txBox="1"/>
          <p:nvPr/>
        </p:nvSpPr>
        <p:spPr>
          <a:xfrm>
            <a:off x="667512" y="2679191"/>
            <a:ext cx="3264408" cy="603504"/>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Sender chases until accepted.</a:t>
            </a:r>
          </a:p>
        </p:txBody>
      </p:sp>
      <p:sp>
        <p:nvSpPr>
          <p:cNvPr id="11" name="row-1-peer-2-background" descr="Container background; accompanying native text provides content."/>
          <p:cNvSpPr/>
          <p:nvPr/>
        </p:nvSpPr>
        <p:spPr>
          <a:xfrm>
            <a:off x="4297680" y="1837943"/>
            <a:ext cx="3593592" cy="1627632"/>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ow-1-peer-2-title"/>
          <p:cNvSpPr txBox="1"/>
          <p:nvPr/>
        </p:nvSpPr>
        <p:spPr>
          <a:xfrm>
            <a:off x="4462272" y="2020824"/>
            <a:ext cx="3264408" cy="50292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1" i="0">
                <a:solidFill>
                  <a:srgbClr val="183A31"/>
                </a:solidFill>
                <a:latin typeface="Liberation Sans"/>
              </a:rPr>
              <a:t>State</a:t>
            </a:r>
          </a:p>
        </p:txBody>
      </p:sp>
      <p:sp>
        <p:nvSpPr>
          <p:cNvPr id="13" name="row-1-peer-2-body"/>
          <p:cNvSpPr txBox="1"/>
          <p:nvPr/>
        </p:nvSpPr>
        <p:spPr>
          <a:xfrm>
            <a:off x="4462272" y="2679191"/>
            <a:ext cx="3264408" cy="603504"/>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What is actually true now?</a:t>
            </a:r>
          </a:p>
        </p:txBody>
      </p:sp>
      <p:sp>
        <p:nvSpPr>
          <p:cNvPr id="14" name="row-1-peer-3-background" descr="Container background; accompanying native text provides content."/>
          <p:cNvSpPr/>
          <p:nvPr/>
        </p:nvSpPr>
        <p:spPr>
          <a:xfrm>
            <a:off x="8092440" y="1837943"/>
            <a:ext cx="3593592" cy="1627632"/>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ow-1-peer-3-title"/>
          <p:cNvSpPr txBox="1"/>
          <p:nvPr/>
        </p:nvSpPr>
        <p:spPr>
          <a:xfrm>
            <a:off x="8257032" y="2020824"/>
            <a:ext cx="3264408" cy="50292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1" i="0">
                <a:solidFill>
                  <a:srgbClr val="183A31"/>
                </a:solidFill>
                <a:latin typeface="Liberation Sans"/>
              </a:rPr>
              <a:t>Entry, exit, pause</a:t>
            </a:r>
          </a:p>
        </p:txBody>
      </p:sp>
      <p:sp>
        <p:nvSpPr>
          <p:cNvPr id="16" name="row-1-peer-3-body"/>
          <p:cNvSpPr txBox="1"/>
          <p:nvPr/>
        </p:nvSpPr>
        <p:spPr>
          <a:xfrm>
            <a:off x="8257032" y="2679191"/>
            <a:ext cx="3264408" cy="603504"/>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Explicit conditions and holds.</a:t>
            </a:r>
          </a:p>
        </p:txBody>
      </p:sp>
      <p:sp>
        <p:nvSpPr>
          <p:cNvPr id="17" name="row-2-peer-1-background" descr="Container background; accompanying native text provides content."/>
          <p:cNvSpPr/>
          <p:nvPr/>
        </p:nvSpPr>
        <p:spPr>
          <a:xfrm>
            <a:off x="502920" y="3639311"/>
            <a:ext cx="3593592" cy="1627632"/>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ow-2-peer-1-title"/>
          <p:cNvSpPr txBox="1"/>
          <p:nvPr/>
        </p:nvSpPr>
        <p:spPr>
          <a:xfrm>
            <a:off x="667512" y="3822191"/>
            <a:ext cx="3264408" cy="50292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1" i="0">
                <a:solidFill>
                  <a:srgbClr val="183A31"/>
                </a:solidFill>
                <a:latin typeface="Liberation Sans"/>
              </a:rPr>
              <a:t>Blocker + next action</a:t>
            </a:r>
          </a:p>
        </p:txBody>
      </p:sp>
      <p:sp>
        <p:nvSpPr>
          <p:cNvPr id="19" name="row-2-peer-1-body"/>
          <p:cNvSpPr txBox="1"/>
          <p:nvPr/>
        </p:nvSpPr>
        <p:spPr>
          <a:xfrm>
            <a:off x="667512" y="4480559"/>
            <a:ext cx="3264408" cy="667512"/>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Named action and update owner.</a:t>
            </a:r>
          </a:p>
        </p:txBody>
      </p:sp>
      <p:sp>
        <p:nvSpPr>
          <p:cNvPr id="20" name="row-2-peer-2-background" descr="Container background; accompanying native text provides content."/>
          <p:cNvSpPr/>
          <p:nvPr/>
        </p:nvSpPr>
        <p:spPr>
          <a:xfrm>
            <a:off x="4297680" y="3639311"/>
            <a:ext cx="3593592" cy="1627632"/>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ow-2-peer-2-title"/>
          <p:cNvSpPr txBox="1"/>
          <p:nvPr/>
        </p:nvSpPr>
        <p:spPr>
          <a:xfrm>
            <a:off x="4462272" y="3822191"/>
            <a:ext cx="3264408" cy="50292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1" i="0">
                <a:solidFill>
                  <a:srgbClr val="183A31"/>
                </a:solidFill>
                <a:latin typeface="Liberation Sans"/>
              </a:rPr>
              <a:t>Evidence version</a:t>
            </a:r>
          </a:p>
        </p:txBody>
      </p:sp>
      <p:sp>
        <p:nvSpPr>
          <p:cNvPr id="22" name="row-2-peer-2-body"/>
          <p:cNvSpPr txBox="1"/>
          <p:nvPr/>
        </p:nvSpPr>
        <p:spPr>
          <a:xfrm>
            <a:off x="4462272" y="4480559"/>
            <a:ext cx="3264408" cy="667512"/>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Reopen dependent reviews.</a:t>
            </a:r>
          </a:p>
        </p:txBody>
      </p:sp>
      <p:sp>
        <p:nvSpPr>
          <p:cNvPr id="23" name="row-2-peer-3-background" descr="Container background; accompanying native text provides content."/>
          <p:cNvSpPr/>
          <p:nvPr/>
        </p:nvSpPr>
        <p:spPr>
          <a:xfrm>
            <a:off x="8092440" y="3639311"/>
            <a:ext cx="3593592" cy="1627632"/>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ow-2-peer-3-title"/>
          <p:cNvSpPr txBox="1"/>
          <p:nvPr/>
        </p:nvSpPr>
        <p:spPr>
          <a:xfrm>
            <a:off x="8257032" y="3822191"/>
            <a:ext cx="3264408" cy="50292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1" i="0">
                <a:solidFill>
                  <a:srgbClr val="183A31"/>
                </a:solidFill>
                <a:latin typeface="Liberation Sans"/>
              </a:rPr>
              <a:t>Decision + reason</a:t>
            </a:r>
          </a:p>
        </p:txBody>
      </p:sp>
      <p:sp>
        <p:nvSpPr>
          <p:cNvPr id="25" name="row-2-peer-3-body"/>
          <p:cNvSpPr txBox="1"/>
          <p:nvPr/>
        </p:nvSpPr>
        <p:spPr>
          <a:xfrm>
            <a:off x="8257032" y="4480559"/>
            <a:ext cx="3264408" cy="667512"/>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Authority, rationale, history.</a:t>
            </a:r>
          </a:p>
        </p:txBody>
      </p:sp>
      <p:sp>
        <p:nvSpPr>
          <p:cNvPr id="26" name="boundary-background" descr="Container background; accompanying native text provides content."/>
          <p:cNvSpPr/>
          <p:nvPr/>
        </p:nvSpPr>
        <p:spPr>
          <a:xfrm>
            <a:off x="502920" y="5669280"/>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boundary-text"/>
          <p:cNvSpPr txBox="1"/>
          <p:nvPr/>
        </p:nvSpPr>
        <p:spPr>
          <a:xfrm>
            <a:off x="667512" y="5760720"/>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2000" b="1" i="0">
                <a:solidFill>
                  <a:srgbClr val="183A31"/>
                </a:solidFill>
                <a:latin typeface="Liberation Sans"/>
              </a:rPr>
              <a:t>Sent ≠ accepted. Completed ≠ handed over.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One home shows the journey we still need to prove.</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S06 / S07  •  Sources + status in notes</a:t>
            </a:r>
          </a:p>
        </p:txBody>
      </p:sp>
      <p:sp>
        <p:nvSpPr>
          <p:cNvPr id="7" name="page-counter"/>
          <p:cNvSpPr txBox="1"/>
          <p:nvPr/>
        </p:nvSpPr>
        <p:spPr>
          <a:xfrm>
            <a:off x="10972800" y="6620256"/>
            <a:ext cx="713232"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07 / 24</a:t>
            </a:r>
          </a:p>
        </p:txBody>
      </p:sp>
      <p:sp>
        <p:nvSpPr>
          <p:cNvPr id="8" name="peer-1-background" descr="Container background; accompanying native text provides content."/>
          <p:cNvSpPr/>
          <p:nvPr/>
        </p:nvSpPr>
        <p:spPr>
          <a:xfrm>
            <a:off x="502920" y="1847088"/>
            <a:ext cx="2644902" cy="301752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er-1-title"/>
          <p:cNvSpPr txBox="1"/>
          <p:nvPr/>
        </p:nvSpPr>
        <p:spPr>
          <a:xfrm>
            <a:off x="667512" y="2029968"/>
            <a:ext cx="2315718" cy="576072"/>
          </a:xfrm>
          <a:prstGeom prst="rect">
            <a:avLst/>
          </a:prstGeom>
          <a:noFill/>
        </p:spPr>
        <p:txBody>
          <a:bodyPr wrap="square" lIns="18288" rIns="18288" tIns="18288" bIns="18288" anchor="t">
            <a:noAutofit/>
          </a:bodyPr>
          <a:lstStyle/>
          <a:p>
            <a:pPr>
              <a:lnSpc>
                <a:spcPct val="108000"/>
              </a:lnSpc>
              <a:spcBef>
                <a:spcPts val="0"/>
              </a:spcBef>
              <a:spcAft>
                <a:spcPts val="500"/>
              </a:spcAft>
            </a:pPr>
            <a:r>
              <a:rPr sz="2500" b="1" i="0">
                <a:solidFill>
                  <a:srgbClr val="183A31"/>
                </a:solidFill>
                <a:latin typeface="Liberation Sans"/>
              </a:rPr>
              <a:t>1  Resolve</a:t>
            </a:r>
          </a:p>
        </p:txBody>
      </p:sp>
      <p:sp>
        <p:nvSpPr>
          <p:cNvPr id="10" name="peer-1-body"/>
          <p:cNvSpPr txBox="1"/>
          <p:nvPr/>
        </p:nvSpPr>
        <p:spPr>
          <a:xfrm>
            <a:off x="667512" y="2761488"/>
            <a:ext cx="2315718" cy="192024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Conflicting evidence.</a:t>
            </a:r>
          </a:p>
          <a:p>
            <a:pPr>
              <a:lnSpc>
                <a:spcPct val="108000"/>
              </a:lnSpc>
              <a:spcBef>
                <a:spcPts val="0"/>
              </a:spcBef>
              <a:spcAft>
                <a:spcPts val="500"/>
              </a:spcAft>
            </a:pPr>
            <a:r>
              <a:rPr sz="2200" b="0" i="0">
                <a:solidFill>
                  <a:srgbClr val="183A31"/>
                </a:solidFill>
                <a:latin typeface="Liberation Sans"/>
              </a:rPr>
              <a:t>Named resolver.</a:t>
            </a:r>
          </a:p>
        </p:txBody>
      </p:sp>
      <p:sp>
        <p:nvSpPr>
          <p:cNvPr id="11" name="peer-2-background" descr="Container background; accompanying native text provides content."/>
          <p:cNvSpPr/>
          <p:nvPr/>
        </p:nvSpPr>
        <p:spPr>
          <a:xfrm>
            <a:off x="3348990" y="1847088"/>
            <a:ext cx="2644902" cy="301752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eer-2-title"/>
          <p:cNvSpPr txBox="1"/>
          <p:nvPr/>
        </p:nvSpPr>
        <p:spPr>
          <a:xfrm>
            <a:off x="3513582" y="2029968"/>
            <a:ext cx="2315718" cy="576072"/>
          </a:xfrm>
          <a:prstGeom prst="rect">
            <a:avLst/>
          </a:prstGeom>
          <a:noFill/>
        </p:spPr>
        <p:txBody>
          <a:bodyPr wrap="square" lIns="18288" rIns="18288" tIns="18288" bIns="18288" anchor="t">
            <a:noAutofit/>
          </a:bodyPr>
          <a:lstStyle/>
          <a:p>
            <a:pPr>
              <a:lnSpc>
                <a:spcPct val="108000"/>
              </a:lnSpc>
              <a:spcBef>
                <a:spcPts val="0"/>
              </a:spcBef>
              <a:spcAft>
                <a:spcPts val="500"/>
              </a:spcAft>
            </a:pPr>
            <a:r>
              <a:rPr sz="2500" b="1" i="0">
                <a:solidFill>
                  <a:srgbClr val="183A31"/>
                </a:solidFill>
                <a:latin typeface="Liberation Sans"/>
              </a:rPr>
              <a:t>2  Agree</a:t>
            </a:r>
          </a:p>
        </p:txBody>
      </p:sp>
      <p:sp>
        <p:nvSpPr>
          <p:cNvPr id="13" name="peer-2-body"/>
          <p:cNvSpPr txBox="1"/>
          <p:nvPr/>
        </p:nvSpPr>
        <p:spPr>
          <a:xfrm>
            <a:off x="3513582" y="2761488"/>
            <a:ext cx="2315718" cy="192024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Scope, resident choice,</a:t>
            </a:r>
          </a:p>
          <a:p>
            <a:pPr>
              <a:lnSpc>
                <a:spcPct val="108000"/>
              </a:lnSpc>
              <a:spcBef>
                <a:spcPts val="0"/>
              </a:spcBef>
              <a:spcAft>
                <a:spcPts val="500"/>
              </a:spcAft>
            </a:pPr>
            <a:r>
              <a:rPr sz="2200" b="0" i="0">
                <a:solidFill>
                  <a:srgbClr val="183A31"/>
                </a:solidFill>
                <a:latin typeface="Liberation Sans"/>
              </a:rPr>
              <a:t>funding, capacity.</a:t>
            </a:r>
          </a:p>
        </p:txBody>
      </p:sp>
      <p:sp>
        <p:nvSpPr>
          <p:cNvPr id="14" name="peer-3-background" descr="Container background; accompanying native text provides content."/>
          <p:cNvSpPr/>
          <p:nvPr/>
        </p:nvSpPr>
        <p:spPr>
          <a:xfrm>
            <a:off x="6195060" y="1847088"/>
            <a:ext cx="2644902" cy="301752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peer-3-title"/>
          <p:cNvSpPr txBox="1"/>
          <p:nvPr/>
        </p:nvSpPr>
        <p:spPr>
          <a:xfrm>
            <a:off x="6359652" y="2029968"/>
            <a:ext cx="2315718" cy="576072"/>
          </a:xfrm>
          <a:prstGeom prst="rect">
            <a:avLst/>
          </a:prstGeom>
          <a:noFill/>
        </p:spPr>
        <p:txBody>
          <a:bodyPr wrap="square" lIns="18288" rIns="18288" tIns="18288" bIns="18288" anchor="t">
            <a:noAutofit/>
          </a:bodyPr>
          <a:lstStyle/>
          <a:p>
            <a:pPr>
              <a:lnSpc>
                <a:spcPct val="108000"/>
              </a:lnSpc>
              <a:spcBef>
                <a:spcPts val="0"/>
              </a:spcBef>
              <a:spcAft>
                <a:spcPts val="500"/>
              </a:spcAft>
            </a:pPr>
            <a:r>
              <a:rPr sz="2500" b="1" i="0">
                <a:solidFill>
                  <a:srgbClr val="183A31"/>
                </a:solidFill>
                <a:latin typeface="Liberation Sans"/>
              </a:rPr>
              <a:t>3  Deliver</a:t>
            </a:r>
          </a:p>
        </p:txBody>
      </p:sp>
      <p:sp>
        <p:nvSpPr>
          <p:cNvPr id="16" name="peer-3-body"/>
          <p:cNvSpPr txBox="1"/>
          <p:nvPr/>
        </p:nvSpPr>
        <p:spPr>
          <a:xfrm>
            <a:off x="6359652" y="2761488"/>
            <a:ext cx="2315718" cy="192024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Inspect work.</a:t>
            </a:r>
          </a:p>
          <a:p>
            <a:pPr>
              <a:lnSpc>
                <a:spcPct val="108000"/>
              </a:lnSpc>
              <a:spcBef>
                <a:spcPts val="0"/>
              </a:spcBef>
              <a:spcAft>
                <a:spcPts val="500"/>
              </a:spcAft>
            </a:pPr>
            <a:r>
              <a:rPr sz="2200" b="0" i="0">
                <a:solidFill>
                  <a:srgbClr val="183A31"/>
                </a:solidFill>
                <a:latin typeface="Liberation Sans"/>
              </a:rPr>
              <a:t>Return defects.</a:t>
            </a:r>
          </a:p>
        </p:txBody>
      </p:sp>
      <p:sp>
        <p:nvSpPr>
          <p:cNvPr id="17" name="peer-4-background" descr="Container background; accompanying native text provides content."/>
          <p:cNvSpPr/>
          <p:nvPr/>
        </p:nvSpPr>
        <p:spPr>
          <a:xfrm>
            <a:off x="9041130" y="1847088"/>
            <a:ext cx="2644902" cy="301752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peer-4-title"/>
          <p:cNvSpPr txBox="1"/>
          <p:nvPr/>
        </p:nvSpPr>
        <p:spPr>
          <a:xfrm>
            <a:off x="9205722" y="2029968"/>
            <a:ext cx="2315718" cy="576072"/>
          </a:xfrm>
          <a:prstGeom prst="rect">
            <a:avLst/>
          </a:prstGeom>
          <a:noFill/>
        </p:spPr>
        <p:txBody>
          <a:bodyPr wrap="square" lIns="18288" rIns="18288" tIns="18288" bIns="18288" anchor="t">
            <a:noAutofit/>
          </a:bodyPr>
          <a:lstStyle/>
          <a:p>
            <a:pPr>
              <a:lnSpc>
                <a:spcPct val="108000"/>
              </a:lnSpc>
              <a:spcBef>
                <a:spcPts val="0"/>
              </a:spcBef>
              <a:spcAft>
                <a:spcPts val="500"/>
              </a:spcAft>
            </a:pPr>
            <a:r>
              <a:rPr sz="2500" b="1" i="0">
                <a:solidFill>
                  <a:srgbClr val="183A31"/>
                </a:solidFill>
                <a:latin typeface="Liberation Sans"/>
              </a:rPr>
              <a:t>4  Accept</a:t>
            </a:r>
          </a:p>
        </p:txBody>
      </p:sp>
      <p:sp>
        <p:nvSpPr>
          <p:cNvPr id="19" name="peer-4-body"/>
          <p:cNvSpPr txBox="1"/>
          <p:nvPr/>
        </p:nvSpPr>
        <p:spPr>
          <a:xfrm>
            <a:off x="9205722" y="2761488"/>
            <a:ext cx="2315718" cy="192024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Resident handover.</a:t>
            </a:r>
          </a:p>
          <a:p>
            <a:pPr>
              <a:lnSpc>
                <a:spcPct val="108000"/>
              </a:lnSpc>
              <a:spcBef>
                <a:spcPts val="0"/>
              </a:spcBef>
              <a:spcAft>
                <a:spcPts val="500"/>
              </a:spcAft>
            </a:pPr>
            <a:r>
              <a:rPr sz="2200" b="0" i="0">
                <a:solidFill>
                  <a:srgbClr val="183A31"/>
                </a:solidFill>
                <a:latin typeface="Liberation Sans"/>
              </a:rPr>
              <a:t>Finance closes separately.</a:t>
            </a:r>
          </a:p>
        </p:txBody>
      </p:sp>
      <p:cxnSp>
        <p:nvCxnSpPr>
          <p:cNvPr id="20" name="journey-arrow-1"/>
          <p:cNvCxnSpPr/>
          <p:nvPr/>
        </p:nvCxnSpPr>
        <p:spPr>
          <a:xfrm>
            <a:off x="3166110" y="2834640"/>
            <a:ext cx="164592" cy="0"/>
          </a:xfrm>
          <a:prstGeom prst="line">
            <a:avLst/>
          </a:prstGeom>
          <a:ln w="22860">
            <a:solidFill>
              <a:srgbClr val="446056"/>
            </a:solidFill>
            <a:tailEnd type="triangle"/>
          </a:ln>
        </p:spPr>
        <p:style>
          <a:lnRef idx="2">
            <a:schemeClr val="accent1"/>
          </a:lnRef>
          <a:fillRef idx="0">
            <a:schemeClr val="accent1"/>
          </a:fillRef>
          <a:effectRef idx="1">
            <a:schemeClr val="accent1"/>
          </a:effectRef>
          <a:fontRef idx="minor">
            <a:schemeClr val="tx1"/>
          </a:fontRef>
        </p:style>
      </p:cxnSp>
      <p:cxnSp>
        <p:nvCxnSpPr>
          <p:cNvPr id="21" name="journey-arrow-2"/>
          <p:cNvCxnSpPr/>
          <p:nvPr/>
        </p:nvCxnSpPr>
        <p:spPr>
          <a:xfrm>
            <a:off x="6012179" y="2834640"/>
            <a:ext cx="164593" cy="0"/>
          </a:xfrm>
          <a:prstGeom prst="line">
            <a:avLst/>
          </a:prstGeom>
          <a:ln w="22860">
            <a:solidFill>
              <a:srgbClr val="446056"/>
            </a:solidFill>
            <a:tailEnd type="triangle"/>
          </a:ln>
        </p:spPr>
        <p:style>
          <a:lnRef idx="2">
            <a:schemeClr val="accent1"/>
          </a:lnRef>
          <a:fillRef idx="0">
            <a:schemeClr val="accent1"/>
          </a:fillRef>
          <a:effectRef idx="1">
            <a:schemeClr val="accent1"/>
          </a:effectRef>
          <a:fontRef idx="minor">
            <a:schemeClr val="tx1"/>
          </a:fontRef>
        </p:style>
      </p:cxnSp>
      <p:cxnSp>
        <p:nvCxnSpPr>
          <p:cNvPr id="22" name="journey-arrow-3"/>
          <p:cNvCxnSpPr/>
          <p:nvPr/>
        </p:nvCxnSpPr>
        <p:spPr>
          <a:xfrm>
            <a:off x="8858250" y="2834640"/>
            <a:ext cx="164592" cy="0"/>
          </a:xfrm>
          <a:prstGeom prst="line">
            <a:avLst/>
          </a:prstGeom>
          <a:ln w="22860">
            <a:solidFill>
              <a:srgbClr val="446056"/>
            </a:solidFill>
            <a:tailEnd type="triangle"/>
          </a:ln>
        </p:spPr>
        <p:style>
          <a:lnRef idx="2">
            <a:schemeClr val="accent1"/>
          </a:lnRef>
          <a:fillRef idx="0">
            <a:schemeClr val="accent1"/>
          </a:fillRef>
          <a:effectRef idx="1">
            <a:schemeClr val="accent1"/>
          </a:effectRef>
          <a:fontRef idx="minor">
            <a:schemeClr val="tx1"/>
          </a:fontRef>
        </p:style>
      </p:cxnSp>
      <p:sp>
        <p:nvSpPr>
          <p:cNvPr id="23" name="journey-hold-return-background" descr="Container background; accompanying native text provides content."/>
          <p:cNvSpPr/>
          <p:nvPr/>
        </p:nvSpPr>
        <p:spPr>
          <a:xfrm>
            <a:off x="502920" y="5038344"/>
            <a:ext cx="11183112" cy="393192"/>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journey-hold-return"/>
          <p:cNvSpPr txBox="1"/>
          <p:nvPr/>
        </p:nvSpPr>
        <p:spPr>
          <a:xfrm>
            <a:off x="667512" y="5102352"/>
            <a:ext cx="10853928" cy="338328"/>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1" i="0">
                <a:solidFill>
                  <a:srgbClr val="183A31"/>
                </a:solidFill>
                <a:latin typeface="Liberation Sans"/>
              </a:rPr>
              <a:t>Hold / return → named, competent human owner</a:t>
            </a:r>
          </a:p>
        </p:txBody>
      </p:sp>
      <p:sp>
        <p:nvSpPr>
          <p:cNvPr id="25" name="boundary-background" descr="Container background; accompanying native text provides content."/>
          <p:cNvSpPr/>
          <p:nvPr/>
        </p:nvSpPr>
        <p:spPr>
          <a:xfrm>
            <a:off x="502920" y="5577840"/>
            <a:ext cx="11183112" cy="64008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boundary-text"/>
          <p:cNvSpPr txBox="1"/>
          <p:nvPr/>
        </p:nvSpPr>
        <p:spPr>
          <a:xfrm>
            <a:off x="667512" y="5669279"/>
            <a:ext cx="10853928" cy="512063"/>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1" i="0">
                <a:solidFill>
                  <a:srgbClr val="183A31"/>
                </a:solidFill>
                <a:latin typeface="Liberation Sans"/>
              </a:rPr>
              <a:t>Illustrative exercise journey — not an executed end-to-end customer outcome.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A resident is not a scheduling variable.</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S02 / S06 / S07 / S10  •  Sources + status in notes</a:t>
            </a:r>
          </a:p>
        </p:txBody>
      </p:sp>
      <p:sp>
        <p:nvSpPr>
          <p:cNvPr id="7" name="page-counter"/>
          <p:cNvSpPr txBox="1"/>
          <p:nvPr/>
        </p:nvSpPr>
        <p:spPr>
          <a:xfrm>
            <a:off x="10972800" y="6620256"/>
            <a:ext cx="713232"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08 / 24</a:t>
            </a:r>
          </a:p>
        </p:txBody>
      </p:sp>
      <p:sp>
        <p:nvSpPr>
          <p:cNvPr id="8" name="peer-1-background" descr="Container background; accompanying native text provides content."/>
          <p:cNvSpPr/>
          <p:nvPr/>
        </p:nvSpPr>
        <p:spPr>
          <a:xfrm>
            <a:off x="502920" y="1847088"/>
            <a:ext cx="549097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er-1-title"/>
          <p:cNvSpPr txBox="1"/>
          <p:nvPr/>
        </p:nvSpPr>
        <p:spPr>
          <a:xfrm>
            <a:off x="667512" y="2029968"/>
            <a:ext cx="516178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Resident</a:t>
            </a:r>
          </a:p>
        </p:txBody>
      </p:sp>
      <p:sp>
        <p:nvSpPr>
          <p:cNvPr id="10" name="peer-1-body"/>
          <p:cNvSpPr txBox="1"/>
          <p:nvPr/>
        </p:nvSpPr>
        <p:spPr>
          <a:xfrm>
            <a:off x="667512" y="3044952"/>
            <a:ext cx="516178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0" i="0">
                <a:solidFill>
                  <a:srgbClr val="183A31"/>
                </a:solidFill>
                <a:latin typeface="Liberation Sans"/>
              </a:rPr>
              <a:t>Clear options.</a:t>
            </a:r>
          </a:p>
          <a:p>
            <a:pPr>
              <a:lnSpc>
                <a:spcPct val="108000"/>
              </a:lnSpc>
              <a:spcBef>
                <a:spcPts val="0"/>
              </a:spcBef>
              <a:spcAft>
                <a:spcPts val="500"/>
              </a:spcAft>
            </a:pPr>
            <a:r>
              <a:rPr sz="2400" b="0" i="0">
                <a:solidFill>
                  <a:srgbClr val="183A31"/>
                </a:solidFill>
                <a:latin typeface="Liberation Sans"/>
              </a:rPr>
              <a:t>Safe phone, letter or assisted route.</a:t>
            </a:r>
          </a:p>
          <a:p>
            <a:pPr>
              <a:lnSpc>
                <a:spcPct val="108000"/>
              </a:lnSpc>
              <a:spcBef>
                <a:spcPts val="0"/>
              </a:spcBef>
              <a:spcAft>
                <a:spcPts val="500"/>
              </a:spcAft>
            </a:pPr>
            <a:r>
              <a:rPr sz="2400" b="0" i="0">
                <a:solidFill>
                  <a:srgbClr val="183A31"/>
                </a:solidFill>
                <a:latin typeface="Liberation Sans"/>
              </a:rPr>
              <a:t>Measure-specific choice.</a:t>
            </a:r>
          </a:p>
        </p:txBody>
      </p:sp>
      <p:sp>
        <p:nvSpPr>
          <p:cNvPr id="11" name="peer-2-background" descr="Container background; accompanying native text provides content."/>
          <p:cNvSpPr/>
          <p:nvPr/>
        </p:nvSpPr>
        <p:spPr>
          <a:xfrm>
            <a:off x="6195059" y="1847088"/>
            <a:ext cx="549097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eer-2-title"/>
          <p:cNvSpPr txBox="1"/>
          <p:nvPr/>
        </p:nvSpPr>
        <p:spPr>
          <a:xfrm>
            <a:off x="6359651" y="2029968"/>
            <a:ext cx="516178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Delivery</a:t>
            </a:r>
          </a:p>
        </p:txBody>
      </p:sp>
      <p:sp>
        <p:nvSpPr>
          <p:cNvPr id="13" name="peer-2-body"/>
          <p:cNvSpPr txBox="1"/>
          <p:nvPr/>
        </p:nvSpPr>
        <p:spPr>
          <a:xfrm>
            <a:off x="6359651" y="3044952"/>
            <a:ext cx="516178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0" i="0">
                <a:solidFill>
                  <a:srgbClr val="183A31"/>
                </a:solidFill>
                <a:latin typeface="Liberation Sans"/>
              </a:rPr>
              <a:t>Committed crew, competence,</a:t>
            </a:r>
          </a:p>
          <a:p>
            <a:pPr>
              <a:lnSpc>
                <a:spcPct val="108000"/>
              </a:lnSpc>
              <a:spcBef>
                <a:spcPts val="0"/>
              </a:spcBef>
              <a:spcAft>
                <a:spcPts val="500"/>
              </a:spcAft>
            </a:pPr>
            <a:r>
              <a:rPr sz="2400" b="0" i="0">
                <a:solidFill>
                  <a:srgbClr val="183A31"/>
                </a:solidFill>
                <a:latin typeface="Liberation Sans"/>
              </a:rPr>
              <a:t>materials and named liaison.</a:t>
            </a:r>
          </a:p>
        </p:txBody>
      </p:sp>
      <p:sp>
        <p:nvSpPr>
          <p:cNvPr id="14" name="boundary-background" descr="Container background; accompanying native text provides content."/>
          <p:cNvSpPr/>
          <p:nvPr/>
        </p:nvSpPr>
        <p:spPr>
          <a:xfrm>
            <a:off x="502920" y="5431536"/>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boundary-text"/>
          <p:cNvSpPr txBox="1"/>
          <p:nvPr/>
        </p:nvSpPr>
        <p:spPr>
          <a:xfrm>
            <a:off x="667512" y="5522976"/>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1" i="0">
                <a:solidFill>
                  <a:srgbClr val="183A31"/>
                </a:solidFill>
                <a:latin typeface="Liberation Sans"/>
              </a:rPr>
              <a:t>A proposed slot is not consent. Silence/no-access is not refusal.</a:t>
            </a:r>
          </a:p>
        </p:txBody>
      </p:sp>
      <p:sp>
        <p:nvSpPr>
          <p:cNvPr id="16" name="human-hazard-route"/>
          <p:cNvSpPr txBox="1"/>
          <p:nvPr/>
        </p:nvSpPr>
        <p:spPr>
          <a:xfrm>
            <a:off x="640080" y="6099048"/>
            <a:ext cx="10881360" cy="356616"/>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1" i="0">
                <a:solidFill>
                  <a:srgbClr val="183A31"/>
                </a:solidFill>
                <a:latin typeface="Liberation Sans"/>
              </a:rPr>
              <a:t>Human hazard route — never wait for AI.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Show the decision trace, not just an AI explanation.</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S02 / S07 / S11  •  Sources + status in notes</a:t>
            </a:r>
          </a:p>
        </p:txBody>
      </p:sp>
      <p:sp>
        <p:nvSpPr>
          <p:cNvPr id="7" name="page-counter"/>
          <p:cNvSpPr txBox="1"/>
          <p:nvPr/>
        </p:nvSpPr>
        <p:spPr>
          <a:xfrm>
            <a:off x="10972800" y="6620256"/>
            <a:ext cx="713232"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09 / 24</a:t>
            </a:r>
          </a:p>
        </p:txBody>
      </p:sp>
      <p:sp>
        <p:nvSpPr>
          <p:cNvPr id="8" name="peer-1-background" descr="Container background; accompanying native text provides content."/>
          <p:cNvSpPr/>
          <p:nvPr/>
        </p:nvSpPr>
        <p:spPr>
          <a:xfrm>
            <a:off x="50292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er-1-title"/>
          <p:cNvSpPr txBox="1"/>
          <p:nvPr/>
        </p:nvSpPr>
        <p:spPr>
          <a:xfrm>
            <a:off x="66751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Know</a:t>
            </a:r>
          </a:p>
        </p:txBody>
      </p:sp>
      <p:sp>
        <p:nvSpPr>
          <p:cNvPr id="10" name="peer-1-body"/>
          <p:cNvSpPr txBox="1"/>
          <p:nvPr/>
        </p:nvSpPr>
        <p:spPr>
          <a:xfrm>
            <a:off x="66751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0" i="0">
                <a:solidFill>
                  <a:srgbClr val="183A31"/>
                </a:solidFill>
                <a:latin typeface="Liberation Sans"/>
              </a:rPr>
              <a:t>Source + evidence</a:t>
            </a:r>
          </a:p>
          <a:p>
            <a:pPr>
              <a:lnSpc>
                <a:spcPct val="108000"/>
              </a:lnSpc>
              <a:spcBef>
                <a:spcPts val="0"/>
              </a:spcBef>
              <a:spcAft>
                <a:spcPts val="500"/>
              </a:spcAft>
            </a:pPr>
            <a:r>
              <a:rPr sz="2400" b="0" i="0">
                <a:solidFill>
                  <a:srgbClr val="183A31"/>
                </a:solidFill>
                <a:latin typeface="Liberation Sans"/>
              </a:rPr>
              <a:t>version + unknowns.</a:t>
            </a:r>
          </a:p>
        </p:txBody>
      </p:sp>
      <p:sp>
        <p:nvSpPr>
          <p:cNvPr id="11" name="peer-2-background" descr="Container background; accompanying native text provides content."/>
          <p:cNvSpPr/>
          <p:nvPr/>
        </p:nvSpPr>
        <p:spPr>
          <a:xfrm>
            <a:off x="429768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eer-2-title"/>
          <p:cNvSpPr txBox="1"/>
          <p:nvPr/>
        </p:nvSpPr>
        <p:spPr>
          <a:xfrm>
            <a:off x="446227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Decide</a:t>
            </a:r>
          </a:p>
        </p:txBody>
      </p:sp>
      <p:sp>
        <p:nvSpPr>
          <p:cNvPr id="13" name="peer-2-body"/>
          <p:cNvSpPr txBox="1"/>
          <p:nvPr/>
        </p:nvSpPr>
        <p:spPr>
          <a:xfrm>
            <a:off x="446227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0" i="0">
                <a:solidFill>
                  <a:srgbClr val="183A31"/>
                </a:solidFill>
                <a:latin typeface="Liberation Sans"/>
              </a:rPr>
              <a:t>Rule + result +</a:t>
            </a:r>
          </a:p>
          <a:p>
            <a:pPr>
              <a:lnSpc>
                <a:spcPct val="108000"/>
              </a:lnSpc>
              <a:spcBef>
                <a:spcPts val="0"/>
              </a:spcBef>
              <a:spcAft>
                <a:spcPts val="500"/>
              </a:spcAft>
            </a:pPr>
            <a:r>
              <a:rPr sz="2400" b="0" i="0">
                <a:solidFill>
                  <a:srgbClr val="183A31"/>
                </a:solidFill>
                <a:latin typeface="Liberation Sans"/>
              </a:rPr>
              <a:t>reviewer + reason.</a:t>
            </a:r>
          </a:p>
        </p:txBody>
      </p:sp>
      <p:sp>
        <p:nvSpPr>
          <p:cNvPr id="14" name="peer-3-background" descr="Container background; accompanying native text provides content."/>
          <p:cNvSpPr/>
          <p:nvPr/>
        </p:nvSpPr>
        <p:spPr>
          <a:xfrm>
            <a:off x="809244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peer-3-title"/>
          <p:cNvSpPr txBox="1"/>
          <p:nvPr/>
        </p:nvSpPr>
        <p:spPr>
          <a:xfrm>
            <a:off x="825703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Change</a:t>
            </a:r>
          </a:p>
        </p:txBody>
      </p:sp>
      <p:sp>
        <p:nvSpPr>
          <p:cNvPr id="16" name="peer-3-body"/>
          <p:cNvSpPr txBox="1"/>
          <p:nvPr/>
        </p:nvSpPr>
        <p:spPr>
          <a:xfrm>
            <a:off x="825703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0" i="0">
                <a:solidFill>
                  <a:srgbClr val="183A31"/>
                </a:solidFill>
                <a:latin typeface="Liberation Sans"/>
              </a:rPr>
              <a:t>Authority + dependent</a:t>
            </a:r>
          </a:p>
          <a:p>
            <a:pPr>
              <a:lnSpc>
                <a:spcPct val="108000"/>
              </a:lnSpc>
              <a:spcBef>
                <a:spcPts val="0"/>
              </a:spcBef>
              <a:spcAft>
                <a:spcPts val="500"/>
              </a:spcAft>
            </a:pPr>
            <a:r>
              <a:rPr sz="2400" b="0" i="0">
                <a:solidFill>
                  <a:srgbClr val="183A31"/>
                </a:solidFill>
                <a:latin typeface="Liberation Sans"/>
              </a:rPr>
              <a:t>re-review + preserved</a:t>
            </a:r>
          </a:p>
          <a:p>
            <a:pPr>
              <a:lnSpc>
                <a:spcPct val="108000"/>
              </a:lnSpc>
              <a:spcBef>
                <a:spcPts val="0"/>
              </a:spcBef>
              <a:spcAft>
                <a:spcPts val="500"/>
              </a:spcAft>
            </a:pPr>
            <a:r>
              <a:rPr sz="2400" b="0" i="0">
                <a:solidFill>
                  <a:srgbClr val="183A31"/>
                </a:solidFill>
                <a:latin typeface="Liberation Sans"/>
              </a:rPr>
              <a:t>history.</a:t>
            </a:r>
          </a:p>
        </p:txBody>
      </p:sp>
      <p:sp>
        <p:nvSpPr>
          <p:cNvPr id="17" name="boundary-background" descr="Container background; accompanying native text provides content."/>
          <p:cNvSpPr/>
          <p:nvPr/>
        </p:nvSpPr>
        <p:spPr>
          <a:xfrm>
            <a:off x="502920" y="5669280"/>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boundary-text"/>
          <p:cNvSpPr txBox="1"/>
          <p:nvPr/>
        </p:nvSpPr>
        <p:spPr>
          <a:xfrm>
            <a:off x="667512" y="5760720"/>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2000" b="1" i="0">
                <a:solidFill>
                  <a:srgbClr val="183A31"/>
                </a:solidFill>
                <a:latin typeface="Liberation Sans"/>
              </a:rPr>
              <a:t>New source ≠ approved new policy.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One API supports the work. People retain authority.</a:t>
            </a:r>
          </a:p>
        </p:txBody>
      </p:sp>
      <p:sp>
        <p:nvSpPr>
          <p:cNvPr id="6" name="source-footer"/>
          <p:cNvSpPr txBox="1"/>
          <p:nvPr/>
        </p:nvSpPr>
        <p:spPr>
          <a:xfrm>
            <a:off x="502920" y="6656832"/>
            <a:ext cx="10424160" cy="192024"/>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S16 + retained sources/status in notes</a:t>
            </a:r>
          </a:p>
        </p:txBody>
      </p:sp>
      <p:sp>
        <p:nvSpPr>
          <p:cNvPr id="7" name="page-counter"/>
          <p:cNvSpPr txBox="1"/>
          <p:nvPr/>
        </p:nvSpPr>
        <p:spPr>
          <a:xfrm>
            <a:off x="10972800" y="6620256"/>
            <a:ext cx="713232"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10 / 24</a:t>
            </a:r>
          </a:p>
        </p:txBody>
      </p:sp>
      <p:cxnSp>
        <p:nvCxnSpPr>
          <p:cNvPr id="8" name="exec-staff-api-segment-1"/>
          <p:cNvCxnSpPr/>
          <p:nvPr/>
        </p:nvCxnSpPr>
        <p:spPr>
          <a:xfrm>
            <a:off x="2880360" y="2907792"/>
            <a:ext cx="320040" cy="0"/>
          </a:xfrm>
          <a:prstGeom prst="line">
            <a:avLst/>
          </a:prstGeom>
          <a:ln w="22860">
            <a:solidFill>
              <a:srgbClr val="173F35"/>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9" name="exec-people-api-segment-1"/>
          <p:cNvCxnSpPr/>
          <p:nvPr/>
        </p:nvCxnSpPr>
        <p:spPr>
          <a:xfrm>
            <a:off x="2880360" y="4251960"/>
            <a:ext cx="320040" cy="0"/>
          </a:xfrm>
          <a:prstGeom prst="line">
            <a:avLst/>
          </a:prstGeom>
          <a:ln w="22860">
            <a:solidFill>
              <a:srgbClr val="173F35"/>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10" name="exec-entra-api-segment-1"/>
          <p:cNvCxnSpPr/>
          <p:nvPr/>
        </p:nvCxnSpPr>
        <p:spPr>
          <a:xfrm>
            <a:off x="5486400" y="2532888"/>
            <a:ext cx="0" cy="256032"/>
          </a:xfrm>
          <a:prstGeom prst="line">
            <a:avLst/>
          </a:prstGeom>
          <a:ln w="22860">
            <a:solidFill>
              <a:srgbClr val="173F35"/>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1" name="exec-api-model-segment-1"/>
          <p:cNvCxnSpPr/>
          <p:nvPr/>
        </p:nvCxnSpPr>
        <p:spPr>
          <a:xfrm>
            <a:off x="7772400" y="3566160"/>
            <a:ext cx="502920" cy="0"/>
          </a:xfrm>
          <a:prstGeom prst="line">
            <a:avLst/>
          </a:prstGeom>
          <a:ln w="22860">
            <a:solidFill>
              <a:srgbClr val="173F35"/>
            </a:solidFill>
            <a:prstDash val="dash"/>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2" name="exec-api-sql-segment-1"/>
          <p:cNvCxnSpPr/>
          <p:nvPr/>
        </p:nvCxnSpPr>
        <p:spPr>
          <a:xfrm>
            <a:off x="4297680" y="4434840"/>
            <a:ext cx="0" cy="365760"/>
          </a:xfrm>
          <a:prstGeom prst="line">
            <a:avLst/>
          </a:prstGeom>
          <a:ln w="22860">
            <a:solidFill>
              <a:srgbClr val="173F35"/>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13" name="exec-api-blob-segment-1"/>
          <p:cNvCxnSpPr/>
          <p:nvPr/>
        </p:nvCxnSpPr>
        <p:spPr>
          <a:xfrm>
            <a:off x="6675120" y="4434840"/>
            <a:ext cx="0" cy="365760"/>
          </a:xfrm>
          <a:prstGeom prst="line">
            <a:avLst/>
          </a:prstGeom>
          <a:ln w="22860">
            <a:solidFill>
              <a:srgbClr val="173F35"/>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4" name="exec-staff-background" descr="Container background; accompanying native text provides content."/>
          <p:cNvSpPr/>
          <p:nvPr/>
        </p:nvSpPr>
        <p:spPr>
          <a:xfrm>
            <a:off x="502920" y="1847088"/>
            <a:ext cx="2377440" cy="1828800"/>
          </a:xfrm>
          <a:prstGeom prst="roundRect">
            <a:avLst/>
          </a:prstGeom>
          <a:solidFill>
            <a:srgbClr val="F7F2E7"/>
          </a:solidFill>
          <a:ln w="16510">
            <a:solidFill>
              <a:srgbClr val="173F35"/>
            </a:solidFill>
            <a:prstDash val="solid"/>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exec-staff-title"/>
          <p:cNvSpPr txBox="1"/>
          <p:nvPr/>
        </p:nvSpPr>
        <p:spPr>
          <a:xfrm>
            <a:off x="612648" y="1920240"/>
            <a:ext cx="2157984" cy="594360"/>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Staff assist</a:t>
            </a:r>
          </a:p>
          <a:p>
            <a:pPr>
              <a:lnSpc>
                <a:spcPct val="102000"/>
              </a:lnSpc>
              <a:spcBef>
                <a:spcPts val="0"/>
              </a:spcBef>
              <a:spcAft>
                <a:spcPts val="0"/>
              </a:spcAft>
            </a:pPr>
            <a:r>
              <a:rPr sz="1800" b="1" i="0">
                <a:solidFill>
                  <a:srgbClr val="183A31"/>
                </a:solidFill>
                <a:latin typeface="Liberation Sans"/>
              </a:rPr>
              <a:t>residents</a:t>
            </a:r>
          </a:p>
        </p:txBody>
      </p:sp>
      <p:sp>
        <p:nvSpPr>
          <p:cNvPr id="16" name="exec-staff-body"/>
          <p:cNvSpPr txBox="1"/>
          <p:nvPr/>
        </p:nvSpPr>
        <p:spPr>
          <a:xfrm>
            <a:off x="612648" y="2624328"/>
            <a:ext cx="2157984" cy="996695"/>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0" i="0">
                <a:solidFill>
                  <a:srgbClr val="183A31"/>
                </a:solidFill>
                <a:latin typeface="Liberation Sans"/>
              </a:rPr>
              <a:t>HUMAN | requests</a:t>
            </a:r>
          </a:p>
          <a:p>
            <a:pPr>
              <a:lnSpc>
                <a:spcPct val="102000"/>
              </a:lnSpc>
              <a:spcBef>
                <a:spcPts val="0"/>
              </a:spcBef>
              <a:spcAft>
                <a:spcPts val="0"/>
              </a:spcAft>
            </a:pPr>
            <a:r>
              <a:rPr sz="1800" b="0" i="0">
                <a:solidFill>
                  <a:srgbClr val="183A31"/>
                </a:solidFill>
                <a:latin typeface="Liberation Sans"/>
              </a:rPr>
              <a:t>Phone/letter/help.</a:t>
            </a:r>
          </a:p>
          <a:p>
            <a:pPr>
              <a:lnSpc>
                <a:spcPct val="102000"/>
              </a:lnSpc>
              <a:spcBef>
                <a:spcPts val="0"/>
              </a:spcBef>
              <a:spcAft>
                <a:spcPts val="0"/>
              </a:spcAft>
            </a:pPr>
            <a:r>
              <a:rPr sz="1800" b="0" i="0">
                <a:solidFill>
                  <a:srgbClr val="183A31"/>
                </a:solidFill>
                <a:latin typeface="Liberation Sans"/>
              </a:rPr>
              <a:t>No resident portal.</a:t>
            </a:r>
          </a:p>
        </p:txBody>
      </p:sp>
      <p:sp>
        <p:nvSpPr>
          <p:cNvPr id="17" name="exec-people-background" descr="Container background; accompanying native text provides content."/>
          <p:cNvSpPr/>
          <p:nvPr/>
        </p:nvSpPr>
        <p:spPr>
          <a:xfrm>
            <a:off x="502920" y="3895344"/>
            <a:ext cx="2377440" cy="1828800"/>
          </a:xfrm>
          <a:prstGeom prst="roundRect">
            <a:avLst/>
          </a:prstGeom>
          <a:solidFill>
            <a:srgbClr val="F7F2E7"/>
          </a:solidFill>
          <a:ln w="16510">
            <a:solidFill>
              <a:srgbClr val="173F35"/>
            </a:solidFill>
            <a:prstDash val="solid"/>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exec-people-title"/>
          <p:cNvSpPr txBox="1"/>
          <p:nvPr/>
        </p:nvSpPr>
        <p:spPr>
          <a:xfrm>
            <a:off x="612648" y="3968496"/>
            <a:ext cx="2157984" cy="594360"/>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People own</a:t>
            </a:r>
          </a:p>
          <a:p>
            <a:pPr>
              <a:lnSpc>
                <a:spcPct val="102000"/>
              </a:lnSpc>
              <a:spcBef>
                <a:spcPts val="0"/>
              </a:spcBef>
              <a:spcAft>
                <a:spcPts val="0"/>
              </a:spcAft>
            </a:pPr>
            <a:r>
              <a:rPr sz="1800" b="1" i="0">
                <a:solidFill>
                  <a:srgbClr val="183A31"/>
                </a:solidFill>
                <a:latin typeface="Liberation Sans"/>
              </a:rPr>
              <a:t>approval</a:t>
            </a:r>
          </a:p>
        </p:txBody>
      </p:sp>
      <p:sp>
        <p:nvSpPr>
          <p:cNvPr id="19" name="exec-people-body"/>
          <p:cNvSpPr txBox="1"/>
          <p:nvPr/>
        </p:nvSpPr>
        <p:spPr>
          <a:xfrm>
            <a:off x="612648" y="4672583"/>
            <a:ext cx="2157984" cy="996695"/>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0" i="0">
                <a:solidFill>
                  <a:srgbClr val="183A31"/>
                </a:solidFill>
                <a:latin typeface="Liberation Sans"/>
              </a:rPr>
              <a:t>HUMAN | approves</a:t>
            </a:r>
          </a:p>
          <a:p>
            <a:pPr>
              <a:lnSpc>
                <a:spcPct val="102000"/>
              </a:lnSpc>
              <a:spcBef>
                <a:spcPts val="0"/>
              </a:spcBef>
              <a:spcAft>
                <a:spcPts val="0"/>
              </a:spcAft>
            </a:pPr>
            <a:r>
              <a:rPr sz="1800" b="0" i="0">
                <a:solidFill>
                  <a:srgbClr val="183A31"/>
                </a:solidFill>
                <a:latin typeface="Liberation Sans"/>
              </a:rPr>
              <a:t>Resident + Finance.</a:t>
            </a:r>
          </a:p>
          <a:p>
            <a:pPr>
              <a:lnSpc>
                <a:spcPct val="102000"/>
              </a:lnSpc>
              <a:spcBef>
                <a:spcPts val="0"/>
              </a:spcBef>
              <a:spcAft>
                <a:spcPts val="0"/>
              </a:spcAft>
            </a:pPr>
            <a:r>
              <a:rPr sz="1800" b="0" i="0">
                <a:solidFill>
                  <a:srgbClr val="183A31"/>
                </a:solidFill>
                <a:latin typeface="Liberation Sans"/>
              </a:rPr>
              <a:t>Professionals; QA.</a:t>
            </a:r>
          </a:p>
        </p:txBody>
      </p:sp>
      <p:sp>
        <p:nvSpPr>
          <p:cNvPr id="20" name="exec-entra-background" descr="Container background; accompanying native text provides content."/>
          <p:cNvSpPr/>
          <p:nvPr/>
        </p:nvSpPr>
        <p:spPr>
          <a:xfrm>
            <a:off x="3200400" y="1847088"/>
            <a:ext cx="4572000" cy="685800"/>
          </a:xfrm>
          <a:prstGeom prst="roundRect">
            <a:avLst/>
          </a:prstGeom>
          <a:solidFill>
            <a:srgbClr val="D5E2D4"/>
          </a:solidFill>
          <a:ln w="16510">
            <a:solidFill>
              <a:srgbClr val="173F35"/>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exec-entra-title"/>
          <p:cNvSpPr txBox="1"/>
          <p:nvPr/>
        </p:nvSpPr>
        <p:spPr>
          <a:xfrm>
            <a:off x="3310128" y="1901952"/>
            <a:ext cx="4352544"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Microsoft Entra ID | CONFIGURED</a:t>
            </a:r>
          </a:p>
        </p:txBody>
      </p:sp>
      <p:sp>
        <p:nvSpPr>
          <p:cNvPr id="22" name="exec-entra-body"/>
          <p:cNvSpPr txBox="1"/>
          <p:nvPr/>
        </p:nvSpPr>
        <p:spPr>
          <a:xfrm>
            <a:off x="3310128" y="2221992"/>
            <a:ext cx="4352544"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0" i="0">
                <a:solidFill>
                  <a:srgbClr val="183A31"/>
                </a:solidFill>
                <a:latin typeface="Liberation Sans"/>
              </a:rPr>
              <a:t>Microsoft sign-in; role-limited access.</a:t>
            </a:r>
          </a:p>
        </p:txBody>
      </p:sp>
      <p:sp>
        <p:nvSpPr>
          <p:cNvPr id="23" name="exec-api-background" descr="Container background; accompanying native text provides content."/>
          <p:cNvSpPr/>
          <p:nvPr/>
        </p:nvSpPr>
        <p:spPr>
          <a:xfrm>
            <a:off x="3200400" y="2788920"/>
            <a:ext cx="4572000" cy="1645920"/>
          </a:xfrm>
          <a:prstGeom prst="roundRect">
            <a:avLst/>
          </a:prstGeom>
          <a:solidFill>
            <a:srgbClr val="D5E2D4"/>
          </a:solidFill>
          <a:ln w="16510">
            <a:solidFill>
              <a:srgbClr val="173F35"/>
            </a:solidFill>
            <a:prstDash val="solid"/>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exec-api-title"/>
          <p:cNvSpPr txBox="1"/>
          <p:nvPr/>
        </p:nvSpPr>
        <p:spPr>
          <a:xfrm>
            <a:off x="3310128" y="2862072"/>
            <a:ext cx="4352544" cy="457200"/>
          </a:xfrm>
          <a:prstGeom prst="rect">
            <a:avLst/>
          </a:prstGeom>
          <a:noFill/>
        </p:spPr>
        <p:txBody>
          <a:bodyPr wrap="square" lIns="18288" rIns="18288" tIns="18288" bIns="18288" anchor="t">
            <a:noAutofit/>
          </a:bodyPr>
          <a:lstStyle/>
          <a:p>
            <a:pPr>
              <a:lnSpc>
                <a:spcPct val="102000"/>
              </a:lnSpc>
              <a:spcBef>
                <a:spcPts val="0"/>
              </a:spcBef>
              <a:spcAft>
                <a:spcPts val="0"/>
              </a:spcAft>
            </a:pPr>
            <a:r>
              <a:rPr sz="2200" b="1" i="0">
                <a:solidFill>
                  <a:srgbClr val="183A31"/>
                </a:solidFill>
                <a:latin typeface="Liberation Sans"/>
              </a:rPr>
              <a:t>Azure Container Apps | CORE</a:t>
            </a:r>
          </a:p>
        </p:txBody>
      </p:sp>
      <p:sp>
        <p:nvSpPr>
          <p:cNvPr id="25" name="exec-api-body"/>
          <p:cNvSpPr txBox="1"/>
          <p:nvPr/>
        </p:nvSpPr>
        <p:spPr>
          <a:xfrm>
            <a:off x="3310128" y="3383279"/>
            <a:ext cx="4352544" cy="996695"/>
          </a:xfrm>
          <a:prstGeom prst="rect">
            <a:avLst/>
          </a:prstGeom>
          <a:noFill/>
        </p:spPr>
        <p:txBody>
          <a:bodyPr wrap="square" lIns="18288" rIns="18288" tIns="18288" bIns="18288" anchor="t">
            <a:noAutofit/>
          </a:bodyPr>
          <a:lstStyle/>
          <a:p>
            <a:pPr>
              <a:lnSpc>
                <a:spcPct val="102000"/>
              </a:lnSpc>
              <a:spcBef>
                <a:spcPts val="0"/>
              </a:spcBef>
              <a:spcAft>
                <a:spcPts val="0"/>
              </a:spcAft>
            </a:pPr>
            <a:r>
              <a:rPr sz="2000" b="0" i="0">
                <a:solidFill>
                  <a:srgbClr val="183A31"/>
                </a:solidFill>
                <a:latin typeface="Liberation Sans"/>
              </a:rPr>
              <a:t>One workbench + Python API.</a:t>
            </a:r>
          </a:p>
          <a:p>
            <a:pPr>
              <a:lnSpc>
                <a:spcPct val="102000"/>
              </a:lnSpc>
              <a:spcBef>
                <a:spcPts val="0"/>
              </a:spcBef>
              <a:spcAft>
                <a:spcPts val="0"/>
              </a:spcAft>
            </a:pPr>
            <a:r>
              <a:rPr sz="2000" b="0" i="0">
                <a:solidFill>
                  <a:srgbClr val="183A31"/>
                </a:solidFill>
                <a:latin typeface="Liberation Sans"/>
              </a:rPr>
              <a:t>Workflow + five assistant modules.</a:t>
            </a:r>
          </a:p>
        </p:txBody>
      </p:sp>
      <p:sp>
        <p:nvSpPr>
          <p:cNvPr id="26" name="exec-model-background" descr="Container background; accompanying native text provides content."/>
          <p:cNvSpPr/>
          <p:nvPr/>
        </p:nvSpPr>
        <p:spPr>
          <a:xfrm>
            <a:off x="8275320" y="2788920"/>
            <a:ext cx="3410712" cy="1645920"/>
          </a:xfrm>
          <a:prstGeom prst="roundRect">
            <a:avLst/>
          </a:prstGeom>
          <a:solidFill>
            <a:srgbClr val="D5E2D4"/>
          </a:solidFill>
          <a:ln w="16510">
            <a:solidFill>
              <a:srgbClr val="173F35"/>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exec-model-title"/>
          <p:cNvSpPr txBox="1"/>
          <p:nvPr/>
        </p:nvSpPr>
        <p:spPr>
          <a:xfrm>
            <a:off x="8385048" y="2862072"/>
            <a:ext cx="3191256" cy="457200"/>
          </a:xfrm>
          <a:prstGeom prst="rect">
            <a:avLst/>
          </a:prstGeom>
          <a:noFill/>
        </p:spPr>
        <p:txBody>
          <a:bodyPr wrap="square" lIns="18288" rIns="18288" tIns="18288" bIns="18288" anchor="t">
            <a:noAutofit/>
          </a:bodyPr>
          <a:lstStyle/>
          <a:p>
            <a:pPr>
              <a:lnSpc>
                <a:spcPct val="102000"/>
              </a:lnSpc>
              <a:spcBef>
                <a:spcPts val="0"/>
              </a:spcBef>
              <a:spcAft>
                <a:spcPts val="0"/>
              </a:spcAft>
            </a:pPr>
            <a:r>
              <a:rPr sz="2200" b="1" i="0">
                <a:solidFill>
                  <a:srgbClr val="183A31"/>
                </a:solidFill>
                <a:latin typeface="Liberation Sans"/>
              </a:rPr>
              <a:t>Azure OpenAI</a:t>
            </a:r>
          </a:p>
        </p:txBody>
      </p:sp>
      <p:sp>
        <p:nvSpPr>
          <p:cNvPr id="28" name="exec-model-body"/>
          <p:cNvSpPr txBox="1"/>
          <p:nvPr/>
        </p:nvSpPr>
        <p:spPr>
          <a:xfrm>
            <a:off x="8385048" y="3383279"/>
            <a:ext cx="3191256" cy="996695"/>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0" i="0">
                <a:solidFill>
                  <a:srgbClr val="183A31"/>
                </a:solidFill>
                <a:latin typeface="Liberation Sans"/>
              </a:rPr>
              <a:t>CONDITIONAL | draft only</a:t>
            </a:r>
          </a:p>
          <a:p>
            <a:pPr>
              <a:lnSpc>
                <a:spcPct val="102000"/>
              </a:lnSpc>
              <a:spcBef>
                <a:spcPts val="0"/>
              </a:spcBef>
              <a:spcAft>
                <a:spcPts val="0"/>
              </a:spcAft>
            </a:pPr>
            <a:r>
              <a:rPr sz="1800" b="0" i="0">
                <a:solidFill>
                  <a:srgbClr val="183A31"/>
                </a:solidFill>
                <a:latin typeface="Liberation Sans"/>
              </a:rPr>
              <a:t>Scoped request; usage back.</a:t>
            </a:r>
          </a:p>
          <a:p>
            <a:pPr>
              <a:lnSpc>
                <a:spcPct val="102000"/>
              </a:lnSpc>
              <a:spcBef>
                <a:spcPts val="0"/>
              </a:spcBef>
              <a:spcAft>
                <a:spcPts val="0"/>
              </a:spcAft>
            </a:pPr>
            <a:r>
              <a:rPr sz="1800" b="0" i="0">
                <a:solidFill>
                  <a:srgbClr val="183A31"/>
                </a:solidFill>
                <a:latin typeface="Liberation Sans"/>
              </a:rPr>
              <a:t>No DB/workflow credentials.</a:t>
            </a:r>
          </a:p>
        </p:txBody>
      </p:sp>
      <p:sp>
        <p:nvSpPr>
          <p:cNvPr id="29" name="exec-sql-background" descr="Container background; accompanying native text provides content."/>
          <p:cNvSpPr/>
          <p:nvPr/>
        </p:nvSpPr>
        <p:spPr>
          <a:xfrm>
            <a:off x="3200400" y="4754880"/>
            <a:ext cx="2194560" cy="1069848"/>
          </a:xfrm>
          <a:prstGeom prst="roundRect">
            <a:avLst/>
          </a:prstGeom>
          <a:solidFill>
            <a:srgbClr val="D5E2D4"/>
          </a:solidFill>
          <a:ln w="16510">
            <a:solidFill>
              <a:srgbClr val="173F35"/>
            </a:solidFill>
            <a:prstDash val="solid"/>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exec-sql-title"/>
          <p:cNvSpPr txBox="1"/>
          <p:nvPr/>
        </p:nvSpPr>
        <p:spPr>
          <a:xfrm>
            <a:off x="3310128" y="4828032"/>
            <a:ext cx="1975104"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Azure SQL</a:t>
            </a:r>
          </a:p>
        </p:txBody>
      </p:sp>
      <p:sp>
        <p:nvSpPr>
          <p:cNvPr id="31" name="exec-sql-body"/>
          <p:cNvSpPr txBox="1"/>
          <p:nvPr/>
        </p:nvSpPr>
        <p:spPr>
          <a:xfrm>
            <a:off x="3310128" y="5175504"/>
            <a:ext cx="1975104" cy="621792"/>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0" i="0">
                <a:solidFill>
                  <a:srgbClr val="183A31"/>
                </a:solidFill>
                <a:latin typeface="Liberation Sans"/>
              </a:rPr>
              <a:t>CORE | records</a:t>
            </a:r>
          </a:p>
          <a:p>
            <a:pPr>
              <a:lnSpc>
                <a:spcPct val="102000"/>
              </a:lnSpc>
              <a:spcBef>
                <a:spcPts val="0"/>
              </a:spcBef>
              <a:spcAft>
                <a:spcPts val="0"/>
              </a:spcAft>
            </a:pPr>
            <a:r>
              <a:rPr sz="1800" b="0" i="0">
                <a:solidFill>
                  <a:srgbClr val="183A31"/>
                </a:solidFill>
                <a:latin typeface="Liberation Sans"/>
              </a:rPr>
              <a:t>Proposals / audit</a:t>
            </a:r>
          </a:p>
        </p:txBody>
      </p:sp>
      <p:sp>
        <p:nvSpPr>
          <p:cNvPr id="32" name="exec-blob-background" descr="Container background; accompanying native text provides content."/>
          <p:cNvSpPr/>
          <p:nvPr/>
        </p:nvSpPr>
        <p:spPr>
          <a:xfrm>
            <a:off x="5577840" y="4754880"/>
            <a:ext cx="2194560" cy="1069848"/>
          </a:xfrm>
          <a:prstGeom prst="roundRect">
            <a:avLst/>
          </a:prstGeom>
          <a:solidFill>
            <a:srgbClr val="D5E2D4"/>
          </a:solidFill>
          <a:ln w="16510">
            <a:solidFill>
              <a:srgbClr val="173F35"/>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exec-blob-title"/>
          <p:cNvSpPr txBox="1"/>
          <p:nvPr/>
        </p:nvSpPr>
        <p:spPr>
          <a:xfrm>
            <a:off x="5687568" y="4828032"/>
            <a:ext cx="1975104"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Azure Blob</a:t>
            </a:r>
          </a:p>
        </p:txBody>
      </p:sp>
      <p:sp>
        <p:nvSpPr>
          <p:cNvPr id="34" name="exec-blob-body"/>
          <p:cNvSpPr txBox="1"/>
          <p:nvPr/>
        </p:nvSpPr>
        <p:spPr>
          <a:xfrm>
            <a:off x="5687568" y="5175504"/>
            <a:ext cx="1975104" cy="621792"/>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0" i="0">
                <a:solidFill>
                  <a:srgbClr val="183A31"/>
                </a:solidFill>
                <a:latin typeface="Liberation Sans"/>
              </a:rPr>
              <a:t>CONFIGURED</a:t>
            </a:r>
          </a:p>
          <a:p>
            <a:pPr>
              <a:lnSpc>
                <a:spcPct val="102000"/>
              </a:lnSpc>
              <a:spcBef>
                <a:spcPts val="0"/>
              </a:spcBef>
              <a:spcAft>
                <a:spcPts val="0"/>
              </a:spcAft>
            </a:pPr>
            <a:r>
              <a:rPr sz="1800" b="0" i="0">
                <a:solidFill>
                  <a:srgbClr val="183A31"/>
                </a:solidFill>
                <a:latin typeface="Liberation Sans"/>
              </a:rPr>
              <a:t>Files; SQL hashes</a:t>
            </a:r>
          </a:p>
        </p:txBody>
      </p:sp>
      <p:sp>
        <p:nvSpPr>
          <p:cNvPr id="35" name="exec-sql-evidence"/>
          <p:cNvSpPr txBox="1"/>
          <p:nvPr/>
        </p:nvSpPr>
        <p:spPr>
          <a:xfrm>
            <a:off x="8275320" y="4864608"/>
            <a:ext cx="3410712" cy="731520"/>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SQL persistence:</a:t>
            </a:r>
          </a:p>
          <a:p>
            <a:pPr>
              <a:lnSpc>
                <a:spcPct val="102000"/>
              </a:lnSpc>
              <a:spcBef>
                <a:spcPts val="0"/>
              </a:spcBef>
              <a:spcAft>
                <a:spcPts val="0"/>
              </a:spcAft>
            </a:pPr>
            <a:r>
              <a:rPr sz="1800" b="1" i="0">
                <a:solidFill>
                  <a:srgbClr val="183A31"/>
                </a:solidFill>
                <a:latin typeface="Liberation Sans"/>
              </a:rPr>
              <a:t>recorded technical evidence</a:t>
            </a:r>
          </a:p>
        </p:txBody>
      </p:sp>
      <p:sp>
        <p:nvSpPr>
          <p:cNvPr id="36" name="exec-boundary-background" descr="Container background; accompanying native text provides content."/>
          <p:cNvSpPr/>
          <p:nvPr/>
        </p:nvSpPr>
        <p:spPr>
          <a:xfrm>
            <a:off x="502920" y="5870448"/>
            <a:ext cx="11183112" cy="502920"/>
          </a:xfrm>
          <a:prstGeom prst="roundRect">
            <a:avLst/>
          </a:prstGeom>
          <a:solidFill>
            <a:srgbClr val="E5B96A"/>
          </a:solidFill>
          <a:ln w="16510">
            <a:solidFill>
              <a:srgbClr val="173F35"/>
            </a:solidFill>
            <a:prstDash val="solid"/>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exec-boundary"/>
          <p:cNvSpPr txBox="1"/>
          <p:nvPr/>
        </p:nvSpPr>
        <p:spPr>
          <a:xfrm>
            <a:off x="640080" y="5943600"/>
            <a:ext cx="10908792" cy="393192"/>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Five-assistant authority absent / proactive OFF / human-value acceptance outstanding.</a:t>
            </a:r>
          </a:p>
        </p:txBody>
      </p:sp>
      <p:sp>
        <p:nvSpPr>
          <p:cNvPr id="38" name="runtime-link" descr="Runtime detail: slide 19">
            <a:hlinkClick action="ppaction://hlinksldjump" r:id="rId4"/>
          </p:cNvPr>
          <p:cNvSpPr txBox="1"/>
          <p:nvPr/>
        </p:nvSpPr>
        <p:spPr>
          <a:xfrm>
            <a:off x="8275320" y="2011680"/>
            <a:ext cx="3410712" cy="274320"/>
          </a:xfrm>
          <a:prstGeom prst="rect">
            <a:avLst/>
          </a:prstGeom>
          <a:noFill/>
        </p:spPr>
        <p:txBody>
          <a:bodyPr wrap="square" lIns="18288" rIns="18288" tIns="18288" bIns="18288" anchor="t">
            <a:noAutofit/>
          </a:bodyPr>
          <a:lstStyle/>
          <a:p>
            <a:pPr>
              <a:lnSpc>
                <a:spcPct val="102000"/>
              </a:lnSpc>
              <a:spcBef>
                <a:spcPts val="0"/>
              </a:spcBef>
              <a:spcAft>
                <a:spcPts val="0"/>
              </a:spcAft>
            </a:pPr>
            <a:r>
              <a:rPr sz="1600" b="1" i="0">
                <a:solidFill>
                  <a:srgbClr val="173F35"/>
                </a:solidFill>
                <a:latin typeface="Liberation Sans"/>
              </a:rPr>
              <a:t>Runtime detail: slide 19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Models propose. People and rules control change.</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S07 / S08 / S10 / S11  •  Sources + status in notes</a:t>
            </a:r>
          </a:p>
        </p:txBody>
      </p:sp>
      <p:sp>
        <p:nvSpPr>
          <p:cNvPr id="7" name="page-counter"/>
          <p:cNvSpPr txBox="1"/>
          <p:nvPr/>
        </p:nvSpPr>
        <p:spPr>
          <a:xfrm>
            <a:off x="10972800" y="6620256"/>
            <a:ext cx="713232"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11 / 24</a:t>
            </a:r>
          </a:p>
        </p:txBody>
      </p:sp>
      <p:sp>
        <p:nvSpPr>
          <p:cNvPr id="8" name="proposal-lane-label"/>
          <p:cNvSpPr txBox="1"/>
          <p:nvPr/>
        </p:nvSpPr>
        <p:spPr>
          <a:xfrm>
            <a:off x="502920" y="1764792"/>
            <a:ext cx="11155680" cy="320040"/>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1" i="0">
                <a:solidFill>
                  <a:srgbClr val="183A31"/>
                </a:solidFill>
                <a:latin typeface="Liberation Sans"/>
              </a:rPr>
              <a:t>PROPOSAL PATH / recorded operator integration; staff acceptance outstanding</a:t>
            </a:r>
          </a:p>
        </p:txBody>
      </p:sp>
      <p:sp>
        <p:nvSpPr>
          <p:cNvPr id="9" name="proposal-peer-1-background" descr="Container background; accompanying native text provides content."/>
          <p:cNvSpPr/>
          <p:nvPr/>
        </p:nvSpPr>
        <p:spPr>
          <a:xfrm>
            <a:off x="502920" y="2221992"/>
            <a:ext cx="3593592" cy="160020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proposal-peer-1-title"/>
          <p:cNvSpPr txBox="1"/>
          <p:nvPr/>
        </p:nvSpPr>
        <p:spPr>
          <a:xfrm>
            <a:off x="667512" y="2404872"/>
            <a:ext cx="3264408" cy="438912"/>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1" i="0">
                <a:solidFill>
                  <a:srgbClr val="183A31"/>
                </a:solidFill>
                <a:latin typeface="Liberation Sans"/>
              </a:rPr>
              <a:t>Request → API</a:t>
            </a:r>
          </a:p>
        </p:txBody>
      </p:sp>
      <p:sp>
        <p:nvSpPr>
          <p:cNvPr id="11" name="proposal-peer-1-body"/>
          <p:cNvSpPr txBox="1"/>
          <p:nvPr/>
        </p:nvSpPr>
        <p:spPr>
          <a:xfrm>
            <a:off x="667512" y="2999232"/>
            <a:ext cx="3264408" cy="640080"/>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0" i="0">
                <a:solidFill>
                  <a:srgbClr val="183A31"/>
                </a:solidFill>
                <a:latin typeface="Liberation Sans"/>
              </a:rPr>
              <a:t>Permitted task.</a:t>
            </a:r>
          </a:p>
        </p:txBody>
      </p:sp>
      <p:sp>
        <p:nvSpPr>
          <p:cNvPr id="12" name="proposal-peer-2-background" descr="Container background; accompanying native text provides content."/>
          <p:cNvSpPr/>
          <p:nvPr/>
        </p:nvSpPr>
        <p:spPr>
          <a:xfrm>
            <a:off x="4297680" y="2221992"/>
            <a:ext cx="3593592" cy="160020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proposal-peer-2-title"/>
          <p:cNvSpPr txBox="1"/>
          <p:nvPr/>
        </p:nvSpPr>
        <p:spPr>
          <a:xfrm>
            <a:off x="4462272" y="2404872"/>
            <a:ext cx="3264408" cy="438912"/>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1" i="0">
                <a:solidFill>
                  <a:srgbClr val="183A31"/>
                </a:solidFill>
                <a:latin typeface="Liberation Sans"/>
              </a:rPr>
              <a:t>Snapshot → model</a:t>
            </a:r>
          </a:p>
        </p:txBody>
      </p:sp>
      <p:sp>
        <p:nvSpPr>
          <p:cNvPr id="14" name="proposal-peer-2-body"/>
          <p:cNvSpPr txBox="1"/>
          <p:nvPr/>
        </p:nvSpPr>
        <p:spPr>
          <a:xfrm>
            <a:off x="4462272" y="2999232"/>
            <a:ext cx="3264408" cy="640080"/>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0" i="0">
                <a:solidFill>
                  <a:srgbClr val="183A31"/>
                </a:solidFill>
                <a:latin typeface="Liberation Sans"/>
              </a:rPr>
              <a:t>Bounded proposal.</a:t>
            </a:r>
          </a:p>
        </p:txBody>
      </p:sp>
      <p:sp>
        <p:nvSpPr>
          <p:cNvPr id="15" name="proposal-peer-3-background" descr="Container background; accompanying native text provides content."/>
          <p:cNvSpPr/>
          <p:nvPr/>
        </p:nvSpPr>
        <p:spPr>
          <a:xfrm>
            <a:off x="8092440" y="2221992"/>
            <a:ext cx="3593592" cy="160020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proposal-peer-3-title"/>
          <p:cNvSpPr txBox="1"/>
          <p:nvPr/>
        </p:nvSpPr>
        <p:spPr>
          <a:xfrm>
            <a:off x="8257032" y="2404872"/>
            <a:ext cx="3264408" cy="438912"/>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1" i="0">
                <a:solidFill>
                  <a:srgbClr val="183A31"/>
                </a:solidFill>
                <a:latin typeface="Liberation Sans"/>
              </a:rPr>
              <a:t>Human review</a:t>
            </a:r>
          </a:p>
        </p:txBody>
      </p:sp>
      <p:sp>
        <p:nvSpPr>
          <p:cNvPr id="17" name="proposal-peer-3-body"/>
          <p:cNvSpPr txBox="1"/>
          <p:nvPr/>
        </p:nvSpPr>
        <p:spPr>
          <a:xfrm>
            <a:off x="8257032" y="2999232"/>
            <a:ext cx="3264408" cy="640080"/>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0" i="0">
                <a:solidFill>
                  <a:srgbClr val="183A31"/>
                </a:solidFill>
                <a:latin typeface="Liberation Sans"/>
              </a:rPr>
              <a:t>Verify sources first.</a:t>
            </a:r>
          </a:p>
        </p:txBody>
      </p:sp>
      <p:sp>
        <p:nvSpPr>
          <p:cNvPr id="18" name="domain-lane-label"/>
          <p:cNvSpPr txBox="1"/>
          <p:nvPr/>
        </p:nvSpPr>
        <p:spPr>
          <a:xfrm>
            <a:off x="502920" y="4069080"/>
            <a:ext cx="11155680" cy="320040"/>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1" i="0">
                <a:solidFill>
                  <a:srgbClr val="183A31"/>
                </a:solidFill>
                <a:latin typeface="Liberation Sans"/>
              </a:rPr>
              <a:t>SEPARATE CONTROLLED PATH / authority stays with people and rules</a:t>
            </a:r>
          </a:p>
        </p:txBody>
      </p:sp>
      <p:sp>
        <p:nvSpPr>
          <p:cNvPr id="19" name="domain-peer-1-background" descr="Container background; accompanying native text provides content."/>
          <p:cNvSpPr/>
          <p:nvPr/>
        </p:nvSpPr>
        <p:spPr>
          <a:xfrm>
            <a:off x="502920" y="4517136"/>
            <a:ext cx="3593592" cy="123444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domain-peer-1-title"/>
          <p:cNvSpPr txBox="1"/>
          <p:nvPr/>
        </p:nvSpPr>
        <p:spPr>
          <a:xfrm>
            <a:off x="667512" y="4700016"/>
            <a:ext cx="3264408" cy="393192"/>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1" i="0">
                <a:solidFill>
                  <a:srgbClr val="183A31"/>
                </a:solidFill>
                <a:latin typeface="Liberation Sans"/>
              </a:rPr>
              <a:t>Authorized action</a:t>
            </a:r>
          </a:p>
        </p:txBody>
      </p:sp>
      <p:sp>
        <p:nvSpPr>
          <p:cNvPr id="21" name="domain-peer-1-body"/>
          <p:cNvSpPr txBox="1"/>
          <p:nvPr/>
        </p:nvSpPr>
        <p:spPr>
          <a:xfrm>
            <a:off x="667512" y="5184648"/>
            <a:ext cx="3264408" cy="384048"/>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0" i="0">
                <a:solidFill>
                  <a:srgbClr val="183A31"/>
                </a:solidFill>
                <a:latin typeface="Liberation Sans"/>
              </a:rPr>
              <a:t>Effective authority.</a:t>
            </a:r>
          </a:p>
        </p:txBody>
      </p:sp>
      <p:sp>
        <p:nvSpPr>
          <p:cNvPr id="22" name="domain-peer-2-background" descr="Container background; accompanying native text provides content."/>
          <p:cNvSpPr/>
          <p:nvPr/>
        </p:nvSpPr>
        <p:spPr>
          <a:xfrm>
            <a:off x="4297680" y="4517136"/>
            <a:ext cx="3593592" cy="123444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domain-peer-2-title"/>
          <p:cNvSpPr txBox="1"/>
          <p:nvPr/>
        </p:nvSpPr>
        <p:spPr>
          <a:xfrm>
            <a:off x="4462272" y="4700016"/>
            <a:ext cx="3264408" cy="393192"/>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1" i="0">
                <a:solidFill>
                  <a:srgbClr val="183A31"/>
                </a:solidFill>
                <a:latin typeface="Liberation Sans"/>
              </a:rPr>
              <a:t>Deterministic gates</a:t>
            </a:r>
          </a:p>
        </p:txBody>
      </p:sp>
      <p:sp>
        <p:nvSpPr>
          <p:cNvPr id="24" name="domain-peer-2-body"/>
          <p:cNvSpPr txBox="1"/>
          <p:nvPr/>
        </p:nvSpPr>
        <p:spPr>
          <a:xfrm>
            <a:off x="4462272" y="5184648"/>
            <a:ext cx="3264408" cy="384048"/>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0" i="0">
                <a:solidFill>
                  <a:srgbClr val="183A31"/>
                </a:solidFill>
                <a:latin typeface="Liberation Sans"/>
              </a:rPr>
              <a:t>Holds + evidence.</a:t>
            </a:r>
          </a:p>
        </p:txBody>
      </p:sp>
      <p:sp>
        <p:nvSpPr>
          <p:cNvPr id="25" name="domain-peer-3-background" descr="Container background; accompanying native text provides content."/>
          <p:cNvSpPr/>
          <p:nvPr/>
        </p:nvSpPr>
        <p:spPr>
          <a:xfrm>
            <a:off x="8092440" y="4517136"/>
            <a:ext cx="3593592" cy="123444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domain-peer-3-title"/>
          <p:cNvSpPr txBox="1"/>
          <p:nvPr/>
        </p:nvSpPr>
        <p:spPr>
          <a:xfrm>
            <a:off x="8257032" y="4700016"/>
            <a:ext cx="3264408" cy="393192"/>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1" i="0">
                <a:solidFill>
                  <a:srgbClr val="183A31"/>
                </a:solidFill>
                <a:latin typeface="Liberation Sans"/>
              </a:rPr>
              <a:t>SQL + audit</a:t>
            </a:r>
          </a:p>
        </p:txBody>
      </p:sp>
      <p:sp>
        <p:nvSpPr>
          <p:cNvPr id="27" name="domain-peer-3-body"/>
          <p:cNvSpPr txBox="1"/>
          <p:nvPr/>
        </p:nvSpPr>
        <p:spPr>
          <a:xfrm>
            <a:off x="8257032" y="5184648"/>
            <a:ext cx="3264408" cy="384048"/>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0" i="0">
                <a:solidFill>
                  <a:srgbClr val="183A31"/>
                </a:solidFill>
                <a:latin typeface="Liberation Sans"/>
              </a:rPr>
              <a:t>Controlled write.</a:t>
            </a:r>
          </a:p>
        </p:txBody>
      </p:sp>
      <p:sp>
        <p:nvSpPr>
          <p:cNvPr id="28" name="boundary-background" descr="Container background; accompanying native text provides content."/>
          <p:cNvSpPr/>
          <p:nvPr/>
        </p:nvSpPr>
        <p:spPr>
          <a:xfrm>
            <a:off x="502920" y="5870448"/>
            <a:ext cx="11183112" cy="438912"/>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boundary-text"/>
          <p:cNvSpPr txBox="1"/>
          <p:nvPr/>
        </p:nvSpPr>
        <p:spPr>
          <a:xfrm>
            <a:off x="667512" y="5961888"/>
            <a:ext cx="10853928" cy="374904"/>
          </a:xfrm>
          <a:prstGeom prst="rect">
            <a:avLst/>
          </a:prstGeom>
          <a:noFill/>
        </p:spPr>
        <p:txBody>
          <a:bodyPr wrap="square" lIns="18288" rIns="18288" tIns="18288" bIns="18288" anchor="t">
            <a:noAutofit/>
          </a:bodyPr>
          <a:lstStyle/>
          <a:p>
            <a:pPr>
              <a:lnSpc>
                <a:spcPct val="108000"/>
              </a:lnSpc>
              <a:spcBef>
                <a:spcPts val="0"/>
              </a:spcBef>
              <a:spcAft>
                <a:spcPts val="500"/>
              </a:spcAft>
            </a:pPr>
            <a:r>
              <a:rPr sz="2000" b="1" i="0">
                <a:solidFill>
                  <a:srgbClr val="183A31"/>
                </a:solidFill>
                <a:latin typeface="Liberation Sans"/>
              </a:rPr>
              <a:t>Model cannot approve, send, book, pay or clear a hold.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Five real proposal paths. No delegated decisions.</a:t>
            </a:r>
          </a:p>
        </p:txBody>
      </p:sp>
      <p:sp>
        <p:nvSpPr>
          <p:cNvPr id="6" name="source-footer"/>
          <p:cNvSpPr txBox="1"/>
          <p:nvPr/>
        </p:nvSpPr>
        <p:spPr>
          <a:xfrm>
            <a:off x="502920" y="6656832"/>
            <a:ext cx="10424160" cy="192024"/>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S16 + retained sources/status in notes</a:t>
            </a:r>
          </a:p>
        </p:txBody>
      </p:sp>
      <p:sp>
        <p:nvSpPr>
          <p:cNvPr id="7" name="page-counter"/>
          <p:cNvSpPr txBox="1"/>
          <p:nvPr/>
        </p:nvSpPr>
        <p:spPr>
          <a:xfrm>
            <a:off x="10972800" y="6620256"/>
            <a:ext cx="713232"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12 / 24</a:t>
            </a:r>
          </a:p>
        </p:txBody>
      </p:sp>
      <p:sp>
        <p:nvSpPr>
          <p:cNvPr id="8" name="proof-implication"/>
          <p:cNvSpPr txBox="1"/>
          <p:nvPr/>
        </p:nvSpPr>
        <p:spPr>
          <a:xfrm>
            <a:off x="502920" y="1783080"/>
            <a:ext cx="11183112" cy="365760"/>
          </a:xfrm>
          <a:prstGeom prst="rect">
            <a:avLst/>
          </a:prstGeom>
          <a:noFill/>
        </p:spPr>
        <p:txBody>
          <a:bodyPr wrap="square" lIns="18288" rIns="18288" tIns="18288" bIns="18288" anchor="t">
            <a:noAutofit/>
          </a:bodyPr>
          <a:lstStyle/>
          <a:p>
            <a:pPr>
              <a:lnSpc>
                <a:spcPct val="102000"/>
              </a:lnSpc>
              <a:spcBef>
                <a:spcPts val="0"/>
              </a:spcBef>
              <a:spcAft>
                <a:spcPts val="0"/>
              </a:spcAft>
            </a:pPr>
            <a:r>
              <a:rPr sz="2200" b="1" i="0">
                <a:solidFill>
                  <a:srgbClr val="183A31"/>
                </a:solidFill>
                <a:latin typeface="Liberation Sans"/>
              </a:rPr>
              <a:t>Integration and durability observed; usefulness not established.</a:t>
            </a:r>
          </a:p>
        </p:txBody>
      </p:sp>
      <p:sp>
        <p:nvSpPr>
          <p:cNvPr id="9" name="peer-1-background" descr="Container background; accompanying native text provides content."/>
          <p:cNvSpPr/>
          <p:nvPr/>
        </p:nvSpPr>
        <p:spPr>
          <a:xfrm>
            <a:off x="502920" y="2313432"/>
            <a:ext cx="5490972" cy="3081528"/>
          </a:xfrm>
          <a:prstGeom prst="roundRect">
            <a:avLst/>
          </a:prstGeom>
          <a:solidFill>
            <a:srgbClr val="D5E2D4"/>
          </a:solidFill>
          <a:ln w="16510">
            <a:solidFill>
              <a:srgbClr val="173F35"/>
            </a:solidFill>
            <a:prstDash val="solid"/>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peer-1-title"/>
          <p:cNvSpPr txBox="1"/>
          <p:nvPr/>
        </p:nvSpPr>
        <p:spPr>
          <a:xfrm>
            <a:off x="667512" y="2496312"/>
            <a:ext cx="5161788" cy="640080"/>
          </a:xfrm>
          <a:prstGeom prst="rect">
            <a:avLst/>
          </a:prstGeom>
          <a:noFill/>
        </p:spPr>
        <p:txBody>
          <a:bodyPr wrap="square" lIns="18288" rIns="18288" tIns="18288" bIns="18288" anchor="t">
            <a:noAutofit/>
          </a:bodyPr>
          <a:lstStyle/>
          <a:p>
            <a:pPr>
              <a:lnSpc>
                <a:spcPct val="102000"/>
              </a:lnSpc>
              <a:spcBef>
                <a:spcPts val="0"/>
              </a:spcBef>
              <a:spcAft>
                <a:spcPts val="0"/>
              </a:spcAft>
            </a:pPr>
            <a:r>
              <a:rPr sz="2000" b="1" i="0">
                <a:solidFill>
                  <a:srgbClr val="183A31"/>
                </a:solidFill>
                <a:latin typeface="Liberation Sans"/>
              </a:rPr>
              <a:t>RECORDED TECHNICAL</a:t>
            </a:r>
          </a:p>
          <a:p>
            <a:pPr>
              <a:lnSpc>
                <a:spcPct val="102000"/>
              </a:lnSpc>
              <a:spcBef>
                <a:spcPts val="0"/>
              </a:spcBef>
              <a:spcAft>
                <a:spcPts val="0"/>
              </a:spcAft>
            </a:pPr>
            <a:r>
              <a:rPr sz="2000" b="1" i="0">
                <a:solidFill>
                  <a:srgbClr val="183A31"/>
                </a:solidFill>
                <a:latin typeface="Liberation Sans"/>
              </a:rPr>
              <a:t>EVIDENCE</a:t>
            </a:r>
          </a:p>
        </p:txBody>
      </p:sp>
      <p:sp>
        <p:nvSpPr>
          <p:cNvPr id="11" name="peer-1-body"/>
          <p:cNvSpPr txBox="1"/>
          <p:nvPr/>
        </p:nvSpPr>
        <p:spPr>
          <a:xfrm>
            <a:off x="667512" y="3291839"/>
            <a:ext cx="5161788" cy="1920240"/>
          </a:xfrm>
          <a:prstGeom prst="rect">
            <a:avLst/>
          </a:prstGeom>
          <a:noFill/>
        </p:spPr>
        <p:txBody>
          <a:bodyPr wrap="square" lIns="18288" rIns="18288" tIns="18288" bIns="18288" anchor="t">
            <a:noAutofit/>
          </a:bodyPr>
          <a:lstStyle/>
          <a:p>
            <a:pPr>
              <a:lnSpc>
                <a:spcPct val="102000"/>
              </a:lnSpc>
              <a:spcBef>
                <a:spcPts val="0"/>
              </a:spcBef>
              <a:spcAft>
                <a:spcPts val="0"/>
              </a:spcAft>
            </a:pPr>
            <a:r>
              <a:rPr sz="2000" b="0" i="0">
                <a:solidFill>
                  <a:srgbClr val="183A31"/>
                </a:solidFill>
                <a:latin typeface="Liberation Sans"/>
              </a:rPr>
              <a:t>5 distinct proposal paths</a:t>
            </a:r>
          </a:p>
          <a:p>
            <a:pPr>
              <a:lnSpc>
                <a:spcPct val="102000"/>
              </a:lnSpc>
              <a:spcBef>
                <a:spcPts val="0"/>
              </a:spcBef>
              <a:spcAft>
                <a:spcPts val="0"/>
              </a:spcAft>
            </a:pPr>
            <a:r>
              <a:rPr sz="2000" b="0" i="0">
                <a:solidFill>
                  <a:srgbClr val="183A31"/>
                </a:solidFill>
                <a:latin typeface="Liberation Sans"/>
              </a:rPr>
              <a:t>5 real calls / 6,884 tokens</a:t>
            </a:r>
          </a:p>
          <a:p>
            <a:pPr>
              <a:lnSpc>
                <a:spcPct val="102000"/>
              </a:lnSpc>
              <a:spcBef>
                <a:spcPts val="0"/>
              </a:spcBef>
              <a:spcAft>
                <a:spcPts val="0"/>
              </a:spcAft>
            </a:pPr>
            <a:r>
              <a:rPr sz="2000" b="0" i="0">
                <a:solidFill>
                  <a:srgbClr val="183A31"/>
                </a:solidFill>
                <a:latin typeface="Liberation Sans"/>
              </a:rPr>
              <a:t>15 ledger events</a:t>
            </a:r>
          </a:p>
          <a:p>
            <a:pPr>
              <a:lnSpc>
                <a:spcPct val="102000"/>
              </a:lnSpc>
              <a:spcBef>
                <a:spcPts val="0"/>
              </a:spcBef>
              <a:spcAft>
                <a:spcPts val="0"/>
              </a:spcAft>
            </a:pPr>
            <a:r>
              <a:rPr sz="2000" b="0" i="0">
                <a:solidFill>
                  <a:srgbClr val="183A31"/>
                </a:solidFill>
                <a:latin typeface="Liberation Sans"/>
              </a:rPr>
              <a:t>Controlled state unchanged.</a:t>
            </a:r>
          </a:p>
          <a:p>
            <a:pPr>
              <a:lnSpc>
                <a:spcPct val="102000"/>
              </a:lnSpc>
              <a:spcBef>
                <a:spcPts val="0"/>
              </a:spcBef>
              <a:spcAft>
                <a:spcPts val="0"/>
              </a:spcAft>
            </a:pPr>
            <a:r>
              <a:rPr sz="2000" b="0" i="0">
                <a:solidFill>
                  <a:srgbClr val="183A31"/>
                </a:solidFill>
                <a:latin typeface="Liberation Sans"/>
              </a:rPr>
              <a:t>Full contents + usage survived restart.</a:t>
            </a:r>
          </a:p>
        </p:txBody>
      </p:sp>
      <p:sp>
        <p:nvSpPr>
          <p:cNvPr id="12" name="peer-2-background" descr="Container background; accompanying native text provides content."/>
          <p:cNvSpPr/>
          <p:nvPr/>
        </p:nvSpPr>
        <p:spPr>
          <a:xfrm>
            <a:off x="6195059" y="2313432"/>
            <a:ext cx="5490972" cy="3081528"/>
          </a:xfrm>
          <a:prstGeom prst="roundRect">
            <a:avLst/>
          </a:prstGeom>
          <a:solidFill>
            <a:srgbClr val="F7F2E7"/>
          </a:solidFill>
          <a:ln w="16510">
            <a:solidFill>
              <a:srgbClr val="173F35"/>
            </a:solidFill>
            <a:prstDash val="solid"/>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peer-2-title"/>
          <p:cNvSpPr txBox="1"/>
          <p:nvPr/>
        </p:nvSpPr>
        <p:spPr>
          <a:xfrm>
            <a:off x="6359651" y="2496312"/>
            <a:ext cx="5161788" cy="640080"/>
          </a:xfrm>
          <a:prstGeom prst="rect">
            <a:avLst/>
          </a:prstGeom>
          <a:noFill/>
        </p:spPr>
        <p:txBody>
          <a:bodyPr wrap="square" lIns="18288" rIns="18288" tIns="18288" bIns="18288" anchor="t">
            <a:noAutofit/>
          </a:bodyPr>
          <a:lstStyle/>
          <a:p>
            <a:pPr>
              <a:lnSpc>
                <a:spcPct val="102000"/>
              </a:lnSpc>
              <a:spcBef>
                <a:spcPts val="0"/>
              </a:spcBef>
              <a:spcAft>
                <a:spcPts val="0"/>
              </a:spcAft>
            </a:pPr>
            <a:r>
              <a:rPr sz="2000" b="1" i="0">
                <a:solidFill>
                  <a:srgbClr val="183A31"/>
                </a:solidFill>
                <a:latin typeface="Liberation Sans"/>
              </a:rPr>
              <a:t>NOT YET ESTABLISHED</a:t>
            </a:r>
          </a:p>
        </p:txBody>
      </p:sp>
      <p:sp>
        <p:nvSpPr>
          <p:cNvPr id="14" name="peer-2-body"/>
          <p:cNvSpPr txBox="1"/>
          <p:nvPr/>
        </p:nvSpPr>
        <p:spPr>
          <a:xfrm>
            <a:off x="6359651" y="3291839"/>
            <a:ext cx="5161788" cy="1920240"/>
          </a:xfrm>
          <a:prstGeom prst="rect">
            <a:avLst/>
          </a:prstGeom>
          <a:noFill/>
        </p:spPr>
        <p:txBody>
          <a:bodyPr wrap="square" lIns="18288" rIns="18288" tIns="18288" bIns="18288" anchor="t">
            <a:noAutofit/>
          </a:bodyPr>
          <a:lstStyle/>
          <a:p>
            <a:pPr>
              <a:lnSpc>
                <a:spcPct val="102000"/>
              </a:lnSpc>
              <a:spcBef>
                <a:spcPts val="0"/>
              </a:spcBef>
              <a:spcAft>
                <a:spcPts val="0"/>
              </a:spcAft>
            </a:pPr>
            <a:r>
              <a:rPr sz="2000" b="0" i="0">
                <a:solidFill>
                  <a:srgbClr val="183A31"/>
                </a:solidFill>
                <a:latin typeface="Liberation Sans"/>
              </a:rPr>
              <a:t>Staff browser/API + roles</a:t>
            </a:r>
          </a:p>
          <a:p>
            <a:pPr>
              <a:lnSpc>
                <a:spcPct val="102000"/>
              </a:lnSpc>
              <a:spcBef>
                <a:spcPts val="0"/>
              </a:spcBef>
              <a:spcAft>
                <a:spcPts val="0"/>
              </a:spcAft>
            </a:pPr>
            <a:r>
              <a:rPr sz="2000" b="0" i="0">
                <a:solidFill>
                  <a:srgbClr val="183A31"/>
                </a:solidFill>
                <a:latin typeface="Liberation Sans"/>
              </a:rPr>
              <a:t>Human source verification</a:t>
            </a:r>
          </a:p>
          <a:p>
            <a:pPr>
              <a:lnSpc>
                <a:spcPct val="102000"/>
              </a:lnSpc>
              <a:spcBef>
                <a:spcPts val="0"/>
              </a:spcBef>
              <a:spcAft>
                <a:spcPts val="0"/>
              </a:spcAft>
            </a:pPr>
            <a:r>
              <a:rPr sz="2000" b="0" i="0">
                <a:solidFill>
                  <a:srgbClr val="183A31"/>
                </a:solidFill>
                <a:latin typeface="Liberation Sans"/>
              </a:rPr>
              <a:t>Semantic correctness + value</a:t>
            </a:r>
          </a:p>
          <a:p>
            <a:pPr>
              <a:lnSpc>
                <a:spcPct val="102000"/>
              </a:lnSpc>
              <a:spcBef>
                <a:spcPts val="0"/>
              </a:spcBef>
              <a:spcAft>
                <a:spcPts val="0"/>
              </a:spcAft>
            </a:pPr>
            <a:r>
              <a:rPr sz="2000" b="0" i="0">
                <a:solidFill>
                  <a:srgbClr val="183A31"/>
                </a:solidFill>
                <a:latin typeface="Liberation Sans"/>
              </a:rPr>
              <a:t>Ready = generated, unreviewed.</a:t>
            </a:r>
          </a:p>
          <a:p>
            <a:pPr>
              <a:lnSpc>
                <a:spcPct val="102000"/>
              </a:lnSpc>
              <a:spcBef>
                <a:spcPts val="0"/>
              </a:spcBef>
              <a:spcAft>
                <a:spcPts val="0"/>
              </a:spcAft>
            </a:pPr>
            <a:r>
              <a:rPr sz="2000" b="0" i="0">
                <a:solidFill>
                  <a:srgbClr val="183A31"/>
                </a:solidFill>
                <a:latin typeface="Liberation Sans"/>
              </a:rPr>
              <a:t>Acceptance gates outstanding.</a:t>
            </a:r>
          </a:p>
        </p:txBody>
      </p:sp>
      <p:sp>
        <p:nvSpPr>
          <p:cNvPr id="15" name="proof-authority-background" descr="Container background; accompanying native text provides content."/>
          <p:cNvSpPr/>
          <p:nvPr/>
        </p:nvSpPr>
        <p:spPr>
          <a:xfrm>
            <a:off x="502920" y="5550408"/>
            <a:ext cx="11183112" cy="438912"/>
          </a:xfrm>
          <a:prstGeom prst="roundRect">
            <a:avLst/>
          </a:prstGeom>
          <a:solidFill>
            <a:srgbClr val="E5B96A"/>
          </a:solidFill>
          <a:ln w="16510">
            <a:solidFill>
              <a:srgbClr val="173F35"/>
            </a:solidFill>
            <a:prstDash val="solid"/>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proof-authority"/>
          <p:cNvSpPr txBox="1"/>
          <p:nvPr/>
        </p:nvSpPr>
        <p:spPr>
          <a:xfrm>
            <a:off x="640080" y="5623560"/>
            <a:ext cx="10908792" cy="329184"/>
          </a:xfrm>
          <a:prstGeom prst="rect">
            <a:avLst/>
          </a:prstGeom>
          <a:noFill/>
        </p:spPr>
        <p:txBody>
          <a:bodyPr wrap="square" lIns="18288" rIns="18288" tIns="18288" bIns="18288" anchor="t">
            <a:noAutofit/>
          </a:bodyPr>
          <a:lstStyle/>
          <a:p>
            <a:pPr>
              <a:lnSpc>
                <a:spcPct val="102000"/>
              </a:lnSpc>
              <a:spcBef>
                <a:spcPts val="0"/>
              </a:spcBef>
              <a:spcAft>
                <a:spcPts val="0"/>
              </a:spcAft>
            </a:pPr>
            <a:r>
              <a:rPr sz="2000" b="1" i="0">
                <a:solidFill>
                  <a:srgbClr val="183A31"/>
                </a:solidFill>
                <a:latin typeface="Liberation Sans"/>
              </a:rPr>
              <a:t>Normal five-assistant authority absent. Proactive OFF.</a:t>
            </a:r>
          </a:p>
        </p:txBody>
      </p:sp>
      <p:sp>
        <p:nvSpPr>
          <p:cNvPr id="17" name="proof-provenance">
            <a:hlinkClick r:id="rId4"/>
          </p:cNvPr>
          <p:cNvSpPr txBox="1"/>
          <p:nvPr/>
        </p:nvSpPr>
        <p:spPr>
          <a:xfrm>
            <a:off x="621792" y="6099048"/>
            <a:ext cx="10972800" cy="301752"/>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PUBLIC REPOSITORY EVIDENCE | 14 October | image05 / e0254cb3 | revision12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594360"/>
            <a:ext cx="11183112" cy="457200"/>
          </a:xfrm>
          <a:prstGeom prst="rect">
            <a:avLst/>
          </a:prstGeom>
          <a:noFill/>
        </p:spPr>
        <p:txBody>
          <a:bodyPr wrap="square" lIns="18288" rIns="18288" tIns="18288" bIns="18288" anchor="t">
            <a:noAutofit/>
          </a:bodyPr>
          <a:lstStyle/>
          <a:p>
            <a:pPr>
              <a:lnSpc>
                <a:spcPct val="108000"/>
              </a:lnSpc>
              <a:spcBef>
                <a:spcPts val="0"/>
              </a:spcBef>
              <a:spcAft>
                <a:spcPts val="500"/>
              </a:spcAft>
            </a:pPr>
            <a:r>
              <a:rPr sz="3000" b="1" i="0">
                <a:solidFill>
                  <a:srgbClr val="183A31"/>
                </a:solidFill>
                <a:latin typeface="Liberation Sans"/>
              </a:rPr>
              <a:t>Five assists. One controlled journey.</a:t>
            </a:r>
          </a:p>
        </p:txBody>
      </p:sp>
      <p:sp>
        <p:nvSpPr>
          <p:cNvPr id="6" name="source-footer"/>
          <p:cNvSpPr txBox="1"/>
          <p:nvPr/>
        </p:nvSpPr>
        <p:spPr>
          <a:xfrm>
            <a:off x="502920" y="6629400"/>
            <a:ext cx="10424160" cy="155448"/>
          </a:xfrm>
          <a:prstGeom prst="rect">
            <a:avLst/>
          </a:prstGeom>
          <a:noFill/>
        </p:spPr>
        <p:txBody>
          <a:bodyPr wrap="square" lIns="18288" rIns="18288" tIns="18288" bIns="18288" anchor="t">
            <a:noAutofit/>
          </a:bodyPr>
          <a:lstStyle/>
          <a:p>
            <a:pPr>
              <a:lnSpc>
                <a:spcPct val="108000"/>
              </a:lnSpc>
              <a:spcBef>
                <a:spcPts val="0"/>
              </a:spcBef>
              <a:spcAft>
                <a:spcPts val="500"/>
              </a:spcAft>
            </a:pPr>
            <a:r>
              <a:rPr sz="900" b="0" i="0">
                <a:solidFill>
                  <a:srgbClr val="183A31"/>
                </a:solidFill>
                <a:latin typeface="Liberation Sans"/>
              </a:rPr>
              <a:t>14 OCT 2026  •  S02 / S07 / S09 / S11 / S15  •  Sources + status in notes</a:t>
            </a:r>
          </a:p>
        </p:txBody>
      </p:sp>
      <p:sp>
        <p:nvSpPr>
          <p:cNvPr id="7" name="page-counter"/>
          <p:cNvSpPr txBox="1"/>
          <p:nvPr/>
        </p:nvSpPr>
        <p:spPr>
          <a:xfrm>
            <a:off x="10972800" y="6611112"/>
            <a:ext cx="713232"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13 / 22</a:t>
            </a:r>
          </a:p>
        </p:txBody>
      </p:sp>
      <p:sp>
        <p:nvSpPr>
          <p:cNvPr id="8" name="map-status"/>
          <p:cNvSpPr txBox="1"/>
          <p:nvPr/>
        </p:nvSpPr>
        <p:spPr>
          <a:xfrm>
            <a:off x="502920" y="1088136"/>
            <a:ext cx="11183112" cy="274320"/>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1" i="0">
                <a:solidFill>
                  <a:srgbClr val="183A31"/>
                </a:solidFill>
                <a:latin typeface="Liberation Sans"/>
              </a:rPr>
              <a:t>Workflow controls progression. People retain decisions.  |  Design + implemented contracts; proactive OFF.</a:t>
            </a:r>
          </a:p>
        </p:txBody>
      </p:sp>
      <p:sp>
        <p:nvSpPr>
          <p:cNvPr id="9" name="map-peer-1-stage-background"/>
          <p:cNvSpPr/>
          <p:nvPr/>
        </p:nvSpPr>
        <p:spPr>
          <a:xfrm>
            <a:off x="502920" y="1490472"/>
            <a:ext cx="2141524" cy="493776"/>
          </a:xfrm>
          <a:prstGeom prst="roundRect">
            <a:avLst/>
          </a:prstGeom>
          <a:solidFill>
            <a:srgbClr val="173F35"/>
          </a:solidFill>
          <a:ln>
            <a:solidFill>
              <a:srgbClr val="173F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map-peer-1-stage"/>
          <p:cNvSpPr txBox="1"/>
          <p:nvPr/>
        </p:nvSpPr>
        <p:spPr>
          <a:xfrm>
            <a:off x="548640" y="1554480"/>
            <a:ext cx="2050084" cy="374904"/>
          </a:xfrm>
          <a:prstGeom prst="rect">
            <a:avLst/>
          </a:prstGeom>
          <a:noFill/>
        </p:spPr>
        <p:txBody>
          <a:bodyPr wrap="square" lIns="18288" rIns="18288" tIns="18288" bIns="18288" anchor="t">
            <a:noAutofit/>
          </a:bodyPr>
          <a:lstStyle/>
          <a:p>
            <a:pPr>
              <a:lnSpc>
                <a:spcPct val="108000"/>
              </a:lnSpc>
              <a:spcBef>
                <a:spcPts val="0"/>
              </a:spcBef>
              <a:spcAft>
                <a:spcPts val="500"/>
              </a:spcAft>
            </a:pPr>
            <a:r>
              <a:rPr sz="1700" b="1" i="0">
                <a:solidFill>
                  <a:srgbClr val="F7F2E7"/>
                </a:solidFill>
                <a:latin typeface="Liberation Sans"/>
              </a:rPr>
              <a:t>Choose homes</a:t>
            </a:r>
          </a:p>
        </p:txBody>
      </p:sp>
      <p:sp>
        <p:nvSpPr>
          <p:cNvPr id="11" name="map-peer-1-owner"/>
          <p:cNvSpPr txBox="1"/>
          <p:nvPr/>
        </p:nvSpPr>
        <p:spPr>
          <a:xfrm>
            <a:off x="548640" y="2066543"/>
            <a:ext cx="2050084" cy="63093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183A31"/>
                </a:solidFill>
                <a:latin typeface="Liberation Sans"/>
              </a:rPr>
              <a:t>Assets: policy;</a:t>
            </a:r>
          </a:p>
          <a:p>
            <a:pPr>
              <a:lnSpc>
                <a:spcPct val="108000"/>
              </a:lnSpc>
              <a:spcBef>
                <a:spcPts val="0"/>
              </a:spcBef>
              <a:spcAft>
                <a:spcPts val="500"/>
              </a:spcAft>
            </a:pPr>
            <a:r>
              <a:rPr sz="1600" b="0" i="0">
                <a:solidFill>
                  <a:srgbClr val="183A31"/>
                </a:solidFill>
                <a:latin typeface="Liberation Sans"/>
              </a:rPr>
              <a:t>data owners: verify</a:t>
            </a:r>
          </a:p>
        </p:txBody>
      </p:sp>
      <p:sp>
        <p:nvSpPr>
          <p:cNvPr id="12" name="map-peer-1-capability-background"/>
          <p:cNvSpPr/>
          <p:nvPr/>
        </p:nvSpPr>
        <p:spPr>
          <a:xfrm>
            <a:off x="502920" y="2752344"/>
            <a:ext cx="2141524" cy="2596896"/>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map-peer-1-title"/>
          <p:cNvSpPr txBox="1"/>
          <p:nvPr/>
        </p:nvSpPr>
        <p:spPr>
          <a:xfrm>
            <a:off x="594360" y="2834640"/>
            <a:ext cx="1958644" cy="676656"/>
          </a:xfrm>
          <a:prstGeom prst="rect">
            <a:avLst/>
          </a:prstGeom>
          <a:noFill/>
        </p:spPr>
        <p:txBody>
          <a:bodyPr wrap="square" lIns="18288" rIns="18288" tIns="18288" bIns="18288" anchor="t">
            <a:noAutofit/>
          </a:bodyPr>
          <a:lstStyle/>
          <a:p>
            <a:pPr>
              <a:lnSpc>
                <a:spcPct val="108000"/>
              </a:lnSpc>
              <a:spcBef>
                <a:spcPts val="0"/>
              </a:spcBef>
              <a:spcAft>
                <a:spcPts val="500"/>
              </a:spcAft>
            </a:pPr>
            <a:r>
              <a:rPr sz="1700" b="1" i="0">
                <a:solidFill>
                  <a:srgbClr val="183A31"/>
                </a:solidFill>
                <a:latin typeface="Liberation Sans"/>
              </a:rPr>
              <a:t>Stock</a:t>
            </a:r>
          </a:p>
          <a:p>
            <a:pPr>
              <a:lnSpc>
                <a:spcPct val="108000"/>
              </a:lnSpc>
              <a:spcBef>
                <a:spcPts val="0"/>
              </a:spcBef>
              <a:spcAft>
                <a:spcPts val="500"/>
              </a:spcAft>
            </a:pPr>
            <a:r>
              <a:rPr sz="1700" b="1" i="0">
                <a:solidFill>
                  <a:srgbClr val="183A31"/>
                </a:solidFill>
                <a:latin typeface="Liberation Sans"/>
              </a:rPr>
              <a:t>Prioritisation</a:t>
            </a:r>
          </a:p>
        </p:txBody>
      </p:sp>
      <p:sp>
        <p:nvSpPr>
          <p:cNvPr id="14" name="map-peer-1-request-label"/>
          <p:cNvSpPr txBox="1"/>
          <p:nvPr/>
        </p:nvSpPr>
        <p:spPr>
          <a:xfrm>
            <a:off x="594360" y="3575304"/>
            <a:ext cx="1958644" cy="26517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1" i="0">
                <a:solidFill>
                  <a:srgbClr val="183A31"/>
                </a:solidFill>
                <a:latin typeface="Liberation Sans"/>
              </a:rPr>
              <a:t>On request</a:t>
            </a:r>
          </a:p>
        </p:txBody>
      </p:sp>
      <p:sp>
        <p:nvSpPr>
          <p:cNvPr id="15" name="map-peer-1-request-body"/>
          <p:cNvSpPr txBox="1"/>
          <p:nvPr/>
        </p:nvSpPr>
        <p:spPr>
          <a:xfrm>
            <a:off x="594360" y="3867912"/>
            <a:ext cx="1958644" cy="521207"/>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183A31"/>
                </a:solidFill>
                <a:latin typeface="Liberation Sans"/>
              </a:rPr>
              <a:t>Explain facts;</a:t>
            </a:r>
          </a:p>
          <a:p>
            <a:pPr>
              <a:lnSpc>
                <a:spcPct val="108000"/>
              </a:lnSpc>
              <a:spcBef>
                <a:spcPts val="0"/>
              </a:spcBef>
              <a:spcAft>
                <a:spcPts val="500"/>
              </a:spcAft>
            </a:pPr>
            <a:r>
              <a:rPr sz="1600" b="0" i="0">
                <a:solidFill>
                  <a:srgbClr val="183A31"/>
                </a:solidFill>
                <a:latin typeface="Liberation Sans"/>
              </a:rPr>
              <a:t>query conflicts</a:t>
            </a:r>
          </a:p>
        </p:txBody>
      </p:sp>
      <p:sp>
        <p:nvSpPr>
          <p:cNvPr id="16" name="map-peer-1-proactive-label"/>
          <p:cNvSpPr txBox="1"/>
          <p:nvPr/>
        </p:nvSpPr>
        <p:spPr>
          <a:xfrm>
            <a:off x="594360" y="4443984"/>
            <a:ext cx="1958644" cy="26517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1" i="0">
                <a:solidFill>
                  <a:srgbClr val="183A31"/>
                </a:solidFill>
                <a:latin typeface="Liberation Sans"/>
              </a:rPr>
              <a:t>Trigger • OFF</a:t>
            </a:r>
          </a:p>
        </p:txBody>
      </p:sp>
      <p:sp>
        <p:nvSpPr>
          <p:cNvPr id="17" name="map-peer-1-proactive-body"/>
          <p:cNvSpPr txBox="1"/>
          <p:nvPr/>
        </p:nvSpPr>
        <p:spPr>
          <a:xfrm>
            <a:off x="594360" y="4745736"/>
            <a:ext cx="1958644" cy="53949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183A31"/>
                </a:solidFill>
                <a:latin typeface="Liberation Sans"/>
              </a:rPr>
              <a:t>Missing/conflicting</a:t>
            </a:r>
          </a:p>
          <a:p>
            <a:pPr>
              <a:lnSpc>
                <a:spcPct val="108000"/>
              </a:lnSpc>
              <a:spcBef>
                <a:spcPts val="0"/>
              </a:spcBef>
              <a:spcAft>
                <a:spcPts val="500"/>
              </a:spcAft>
            </a:pPr>
            <a:r>
              <a:rPr sz="1600" b="0" i="0">
                <a:solidFill>
                  <a:srgbClr val="183A31"/>
                </a:solidFill>
                <a:latin typeface="Liberation Sans"/>
              </a:rPr>
              <a:t>stock facts</a:t>
            </a:r>
          </a:p>
        </p:txBody>
      </p:sp>
      <p:cxnSp>
        <p:nvCxnSpPr>
          <p:cNvPr id="18" name="map-peer-1-stage-arrow"/>
          <p:cNvCxnSpPr/>
          <p:nvPr/>
        </p:nvCxnSpPr>
        <p:spPr>
          <a:xfrm>
            <a:off x="2653588" y="1737360"/>
            <a:ext cx="100584" cy="0"/>
          </a:xfrm>
          <a:prstGeom prst="line">
            <a:avLst/>
          </a:prstGeom>
          <a:ln w="22860">
            <a:solidFill>
              <a:srgbClr val="446056"/>
            </a:solidFill>
            <a:tailEnd type="triangle"/>
          </a:ln>
        </p:spPr>
        <p:style>
          <a:lnRef idx="2">
            <a:schemeClr val="accent1"/>
          </a:lnRef>
          <a:fillRef idx="0">
            <a:schemeClr val="accent1"/>
          </a:fillRef>
          <a:effectRef idx="1">
            <a:schemeClr val="accent1"/>
          </a:effectRef>
          <a:fontRef idx="minor">
            <a:schemeClr val="tx1"/>
          </a:fontRef>
        </p:style>
      </p:cxnSp>
      <p:sp>
        <p:nvSpPr>
          <p:cNvPr id="19" name="map-peer-2-stage-background"/>
          <p:cNvSpPr/>
          <p:nvPr/>
        </p:nvSpPr>
        <p:spPr>
          <a:xfrm>
            <a:off x="2763316" y="1490472"/>
            <a:ext cx="2141524" cy="493776"/>
          </a:xfrm>
          <a:prstGeom prst="roundRect">
            <a:avLst/>
          </a:prstGeom>
          <a:solidFill>
            <a:srgbClr val="173F35"/>
          </a:solidFill>
          <a:ln>
            <a:solidFill>
              <a:srgbClr val="173F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map-peer-2-stage"/>
          <p:cNvSpPr txBox="1"/>
          <p:nvPr/>
        </p:nvSpPr>
        <p:spPr>
          <a:xfrm>
            <a:off x="2809036" y="1554480"/>
            <a:ext cx="2050084" cy="374904"/>
          </a:xfrm>
          <a:prstGeom prst="rect">
            <a:avLst/>
          </a:prstGeom>
          <a:noFill/>
        </p:spPr>
        <p:txBody>
          <a:bodyPr wrap="square" lIns="18288" rIns="18288" tIns="18288" bIns="18288" anchor="t">
            <a:noAutofit/>
          </a:bodyPr>
          <a:lstStyle/>
          <a:p>
            <a:pPr>
              <a:lnSpc>
                <a:spcPct val="108000"/>
              </a:lnSpc>
              <a:spcBef>
                <a:spcPts val="0"/>
              </a:spcBef>
              <a:spcAft>
                <a:spcPts val="500"/>
              </a:spcAft>
            </a:pPr>
            <a:r>
              <a:rPr sz="1700" b="1" i="0">
                <a:solidFill>
                  <a:srgbClr val="F7F2E7"/>
                </a:solidFill>
                <a:latin typeface="Liberation Sans"/>
              </a:rPr>
              <a:t>Assess &amp; design</a:t>
            </a:r>
          </a:p>
        </p:txBody>
      </p:sp>
      <p:sp>
        <p:nvSpPr>
          <p:cNvPr id="21" name="map-peer-2-owner"/>
          <p:cNvSpPr txBox="1"/>
          <p:nvPr/>
        </p:nvSpPr>
        <p:spPr>
          <a:xfrm>
            <a:off x="2809036" y="2066543"/>
            <a:ext cx="2050084" cy="63093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183A31"/>
                </a:solidFill>
                <a:latin typeface="Liberation Sans"/>
              </a:rPr>
              <a:t>Assessor/coordinator:</a:t>
            </a:r>
          </a:p>
          <a:p>
            <a:pPr>
              <a:lnSpc>
                <a:spcPct val="108000"/>
              </a:lnSpc>
              <a:spcBef>
                <a:spcPts val="0"/>
              </a:spcBef>
              <a:spcAft>
                <a:spcPts val="500"/>
              </a:spcAft>
            </a:pPr>
            <a:r>
              <a:rPr sz="1600" b="0" i="0">
                <a:solidFill>
                  <a:srgbClr val="183A31"/>
                </a:solidFill>
                <a:latin typeface="Liberation Sans"/>
              </a:rPr>
              <a:t>independent sign-off</a:t>
            </a:r>
          </a:p>
        </p:txBody>
      </p:sp>
      <p:sp>
        <p:nvSpPr>
          <p:cNvPr id="22" name="map-peer-2-capability-background"/>
          <p:cNvSpPr/>
          <p:nvPr/>
        </p:nvSpPr>
        <p:spPr>
          <a:xfrm>
            <a:off x="2763316" y="2752344"/>
            <a:ext cx="2141524" cy="2596896"/>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map-peer-2-title"/>
          <p:cNvSpPr txBox="1"/>
          <p:nvPr/>
        </p:nvSpPr>
        <p:spPr>
          <a:xfrm>
            <a:off x="2854756" y="2834640"/>
            <a:ext cx="1958644" cy="676656"/>
          </a:xfrm>
          <a:prstGeom prst="rect">
            <a:avLst/>
          </a:prstGeom>
          <a:noFill/>
        </p:spPr>
        <p:txBody>
          <a:bodyPr wrap="square" lIns="18288" rIns="18288" tIns="18288" bIns="18288" anchor="t">
            <a:noAutofit/>
          </a:bodyPr>
          <a:lstStyle/>
          <a:p>
            <a:pPr>
              <a:lnSpc>
                <a:spcPct val="108000"/>
              </a:lnSpc>
              <a:spcBef>
                <a:spcPts val="0"/>
              </a:spcBef>
              <a:spcAft>
                <a:spcPts val="500"/>
              </a:spcAft>
            </a:pPr>
            <a:r>
              <a:rPr sz="1700" b="1" i="0">
                <a:solidFill>
                  <a:srgbClr val="183A31"/>
                </a:solidFill>
                <a:latin typeface="Liberation Sans"/>
              </a:rPr>
              <a:t>Assessment</a:t>
            </a:r>
          </a:p>
          <a:p>
            <a:pPr>
              <a:lnSpc>
                <a:spcPct val="108000"/>
              </a:lnSpc>
              <a:spcBef>
                <a:spcPts val="0"/>
              </a:spcBef>
              <a:spcAft>
                <a:spcPts val="500"/>
              </a:spcAft>
            </a:pPr>
            <a:r>
              <a:rPr sz="1700" b="1" i="0">
                <a:solidFill>
                  <a:srgbClr val="183A31"/>
                </a:solidFill>
                <a:latin typeface="Liberation Sans"/>
              </a:rPr>
              <a:t>Preparation</a:t>
            </a:r>
          </a:p>
        </p:txBody>
      </p:sp>
      <p:sp>
        <p:nvSpPr>
          <p:cNvPr id="24" name="map-peer-2-request-label"/>
          <p:cNvSpPr txBox="1"/>
          <p:nvPr/>
        </p:nvSpPr>
        <p:spPr>
          <a:xfrm>
            <a:off x="2854756" y="3575304"/>
            <a:ext cx="1958644" cy="26517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1" i="0">
                <a:solidFill>
                  <a:srgbClr val="183A31"/>
                </a:solidFill>
                <a:latin typeface="Liberation Sans"/>
              </a:rPr>
              <a:t>On request</a:t>
            </a:r>
          </a:p>
        </p:txBody>
      </p:sp>
      <p:sp>
        <p:nvSpPr>
          <p:cNvPr id="25" name="map-peer-2-request-body"/>
          <p:cNvSpPr txBox="1"/>
          <p:nvPr/>
        </p:nvSpPr>
        <p:spPr>
          <a:xfrm>
            <a:off x="2854756" y="3867912"/>
            <a:ext cx="1958644" cy="521207"/>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183A31"/>
                </a:solidFill>
                <a:latin typeface="Liberation Sans"/>
              </a:rPr>
              <a:t>Prepare sourced</a:t>
            </a:r>
          </a:p>
          <a:p>
            <a:pPr>
              <a:lnSpc>
                <a:spcPct val="108000"/>
              </a:lnSpc>
              <a:spcBef>
                <a:spcPts val="0"/>
              </a:spcBef>
              <a:spcAft>
                <a:spcPts val="500"/>
              </a:spcAft>
            </a:pPr>
            <a:r>
              <a:rPr sz="1600" b="0" i="0">
                <a:solidFill>
                  <a:srgbClr val="183A31"/>
                </a:solidFill>
                <a:latin typeface="Liberation Sans"/>
              </a:rPr>
              <a:t>survey/design pack</a:t>
            </a:r>
          </a:p>
        </p:txBody>
      </p:sp>
      <p:sp>
        <p:nvSpPr>
          <p:cNvPr id="26" name="map-peer-2-proactive-label"/>
          <p:cNvSpPr txBox="1"/>
          <p:nvPr/>
        </p:nvSpPr>
        <p:spPr>
          <a:xfrm>
            <a:off x="2854756" y="4443984"/>
            <a:ext cx="1958644" cy="26517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1" i="0">
                <a:solidFill>
                  <a:srgbClr val="183A31"/>
                </a:solidFill>
                <a:latin typeface="Liberation Sans"/>
              </a:rPr>
              <a:t>Trigger • OFF</a:t>
            </a:r>
          </a:p>
        </p:txBody>
      </p:sp>
      <p:sp>
        <p:nvSpPr>
          <p:cNvPr id="27" name="map-peer-2-proactive-body"/>
          <p:cNvSpPr txBox="1"/>
          <p:nvPr/>
        </p:nvSpPr>
        <p:spPr>
          <a:xfrm>
            <a:off x="2854756" y="4745736"/>
            <a:ext cx="1958644" cy="53949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183A31"/>
                </a:solidFill>
                <a:latin typeface="Liberation Sans"/>
              </a:rPr>
              <a:t>Missing/changed</a:t>
            </a:r>
          </a:p>
          <a:p>
            <a:pPr>
              <a:lnSpc>
                <a:spcPct val="108000"/>
              </a:lnSpc>
              <a:spcBef>
                <a:spcPts val="0"/>
              </a:spcBef>
              <a:spcAft>
                <a:spcPts val="500"/>
              </a:spcAft>
            </a:pPr>
            <a:r>
              <a:rPr sz="1600" b="0" i="0">
                <a:solidFill>
                  <a:srgbClr val="183A31"/>
                </a:solidFill>
                <a:latin typeface="Liberation Sans"/>
              </a:rPr>
              <a:t>survey or design</a:t>
            </a:r>
          </a:p>
        </p:txBody>
      </p:sp>
      <p:cxnSp>
        <p:nvCxnSpPr>
          <p:cNvPr id="28" name="map-peer-2-stage-arrow"/>
          <p:cNvCxnSpPr/>
          <p:nvPr/>
        </p:nvCxnSpPr>
        <p:spPr>
          <a:xfrm>
            <a:off x="4913985" y="1737360"/>
            <a:ext cx="100584" cy="0"/>
          </a:xfrm>
          <a:prstGeom prst="line">
            <a:avLst/>
          </a:prstGeom>
          <a:ln w="22860">
            <a:solidFill>
              <a:srgbClr val="446056"/>
            </a:solidFill>
            <a:tailEnd type="triangle"/>
          </a:ln>
        </p:spPr>
        <p:style>
          <a:lnRef idx="2">
            <a:schemeClr val="accent1"/>
          </a:lnRef>
          <a:fillRef idx="0">
            <a:schemeClr val="accent1"/>
          </a:fillRef>
          <a:effectRef idx="1">
            <a:schemeClr val="accent1"/>
          </a:effectRef>
          <a:fontRef idx="minor">
            <a:schemeClr val="tx1"/>
          </a:fontRef>
        </p:style>
      </p:cxnSp>
      <p:sp>
        <p:nvSpPr>
          <p:cNvPr id="29" name="map-peer-3-stage-background"/>
          <p:cNvSpPr/>
          <p:nvPr/>
        </p:nvSpPr>
        <p:spPr>
          <a:xfrm>
            <a:off x="5023713" y="1490472"/>
            <a:ext cx="2141524" cy="493776"/>
          </a:xfrm>
          <a:prstGeom prst="roundRect">
            <a:avLst/>
          </a:prstGeom>
          <a:solidFill>
            <a:srgbClr val="173F35"/>
          </a:solidFill>
          <a:ln>
            <a:solidFill>
              <a:srgbClr val="173F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map-peer-3-stage"/>
          <p:cNvSpPr txBox="1"/>
          <p:nvPr/>
        </p:nvSpPr>
        <p:spPr>
          <a:xfrm>
            <a:off x="5069433" y="1554480"/>
            <a:ext cx="2050084" cy="374904"/>
          </a:xfrm>
          <a:prstGeom prst="rect">
            <a:avLst/>
          </a:prstGeom>
          <a:noFill/>
        </p:spPr>
        <p:txBody>
          <a:bodyPr wrap="square" lIns="18288" rIns="18288" tIns="18288" bIns="18288" anchor="t">
            <a:noAutofit/>
          </a:bodyPr>
          <a:lstStyle/>
          <a:p>
            <a:pPr>
              <a:lnSpc>
                <a:spcPct val="108000"/>
              </a:lnSpc>
              <a:spcBef>
                <a:spcPts val="0"/>
              </a:spcBef>
              <a:spcAft>
                <a:spcPts val="500"/>
              </a:spcAft>
            </a:pPr>
            <a:r>
              <a:rPr sz="1700" b="1" i="0">
                <a:solidFill>
                  <a:srgbClr val="F7F2E7"/>
                </a:solidFill>
                <a:latin typeface="Liberation Sans"/>
              </a:rPr>
              <a:t>Prepare funding</a:t>
            </a:r>
          </a:p>
        </p:txBody>
      </p:sp>
      <p:sp>
        <p:nvSpPr>
          <p:cNvPr id="31" name="map-peer-3-owner"/>
          <p:cNvSpPr txBox="1"/>
          <p:nvPr/>
        </p:nvSpPr>
        <p:spPr>
          <a:xfrm>
            <a:off x="5069433" y="2066543"/>
            <a:ext cx="2050084" cy="63093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183A31"/>
                </a:solidFill>
                <a:latin typeface="Liberation Sans"/>
              </a:rPr>
              <a:t>Finance: validate,</a:t>
            </a:r>
          </a:p>
          <a:p>
            <a:pPr>
              <a:lnSpc>
                <a:spcPct val="108000"/>
              </a:lnSpc>
              <a:spcBef>
                <a:spcPts val="0"/>
              </a:spcBef>
              <a:spcAft>
                <a:spcPts val="500"/>
              </a:spcAft>
            </a:pPr>
            <a:r>
              <a:rPr sz="1600" b="0" i="0">
                <a:solidFill>
                  <a:srgbClr val="183A31"/>
                </a:solidFill>
                <a:latin typeface="Liberation Sans"/>
              </a:rPr>
              <a:t>approve, submit</a:t>
            </a:r>
          </a:p>
        </p:txBody>
      </p:sp>
      <p:sp>
        <p:nvSpPr>
          <p:cNvPr id="32" name="map-peer-3-capability-background"/>
          <p:cNvSpPr/>
          <p:nvPr/>
        </p:nvSpPr>
        <p:spPr>
          <a:xfrm>
            <a:off x="5023713" y="2752344"/>
            <a:ext cx="2141524" cy="2596896"/>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map-peer-3-title"/>
          <p:cNvSpPr txBox="1"/>
          <p:nvPr/>
        </p:nvSpPr>
        <p:spPr>
          <a:xfrm>
            <a:off x="5115153" y="2834640"/>
            <a:ext cx="1958644" cy="676656"/>
          </a:xfrm>
          <a:prstGeom prst="rect">
            <a:avLst/>
          </a:prstGeom>
          <a:noFill/>
        </p:spPr>
        <p:txBody>
          <a:bodyPr wrap="square" lIns="18288" rIns="18288" tIns="18288" bIns="18288" anchor="t">
            <a:noAutofit/>
          </a:bodyPr>
          <a:lstStyle/>
          <a:p>
            <a:pPr>
              <a:lnSpc>
                <a:spcPct val="108000"/>
              </a:lnSpc>
              <a:spcBef>
                <a:spcPts val="0"/>
              </a:spcBef>
              <a:spcAft>
                <a:spcPts val="500"/>
              </a:spcAft>
            </a:pPr>
            <a:r>
              <a:rPr sz="1700" b="1" i="0">
                <a:solidFill>
                  <a:srgbClr val="183A31"/>
                </a:solidFill>
                <a:latin typeface="Liberation Sans"/>
              </a:rPr>
              <a:t>Grant &amp; Funding</a:t>
            </a:r>
          </a:p>
          <a:p>
            <a:pPr>
              <a:lnSpc>
                <a:spcPct val="108000"/>
              </a:lnSpc>
              <a:spcBef>
                <a:spcPts val="0"/>
              </a:spcBef>
              <a:spcAft>
                <a:spcPts val="500"/>
              </a:spcAft>
            </a:pPr>
            <a:r>
              <a:rPr sz="1700" b="1" i="0">
                <a:solidFill>
                  <a:srgbClr val="183A31"/>
                </a:solidFill>
                <a:latin typeface="Liberation Sans"/>
              </a:rPr>
              <a:t>Evidence</a:t>
            </a:r>
          </a:p>
        </p:txBody>
      </p:sp>
      <p:sp>
        <p:nvSpPr>
          <p:cNvPr id="34" name="map-peer-3-request-label"/>
          <p:cNvSpPr txBox="1"/>
          <p:nvPr/>
        </p:nvSpPr>
        <p:spPr>
          <a:xfrm>
            <a:off x="5115153" y="3575304"/>
            <a:ext cx="1958644" cy="26517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1" i="0">
                <a:solidFill>
                  <a:srgbClr val="183A31"/>
                </a:solidFill>
                <a:latin typeface="Liberation Sans"/>
              </a:rPr>
              <a:t>On request</a:t>
            </a:r>
          </a:p>
        </p:txBody>
      </p:sp>
      <p:sp>
        <p:nvSpPr>
          <p:cNvPr id="35" name="map-peer-3-request-body"/>
          <p:cNvSpPr txBox="1"/>
          <p:nvPr/>
        </p:nvSpPr>
        <p:spPr>
          <a:xfrm>
            <a:off x="5115153" y="3867912"/>
            <a:ext cx="1958644" cy="521207"/>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183A31"/>
                </a:solidFill>
                <a:latin typeface="Liberation Sans"/>
              </a:rPr>
              <a:t>Draft source-linked</a:t>
            </a:r>
          </a:p>
          <a:p>
            <a:pPr>
              <a:lnSpc>
                <a:spcPct val="108000"/>
              </a:lnSpc>
              <a:spcBef>
                <a:spcPts val="0"/>
              </a:spcBef>
              <a:spcAft>
                <a:spcPts val="500"/>
              </a:spcAft>
            </a:pPr>
            <a:r>
              <a:rPr sz="1600" b="0" i="0">
                <a:solidFill>
                  <a:srgbClr val="183A31"/>
                </a:solidFill>
                <a:latin typeface="Liberation Sans"/>
              </a:rPr>
              <a:t>evidence pack</a:t>
            </a:r>
          </a:p>
        </p:txBody>
      </p:sp>
      <p:sp>
        <p:nvSpPr>
          <p:cNvPr id="36" name="map-peer-3-proactive-label"/>
          <p:cNvSpPr txBox="1"/>
          <p:nvPr/>
        </p:nvSpPr>
        <p:spPr>
          <a:xfrm>
            <a:off x="5115153" y="4443984"/>
            <a:ext cx="1958644" cy="26517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1" i="0">
                <a:solidFill>
                  <a:srgbClr val="183A31"/>
                </a:solidFill>
                <a:latin typeface="Liberation Sans"/>
              </a:rPr>
              <a:t>Trigger • OFF</a:t>
            </a:r>
          </a:p>
        </p:txBody>
      </p:sp>
      <p:sp>
        <p:nvSpPr>
          <p:cNvPr id="37" name="map-peer-3-proactive-body"/>
          <p:cNvSpPr txBox="1"/>
          <p:nvPr/>
        </p:nvSpPr>
        <p:spPr>
          <a:xfrm>
            <a:off x="5115153" y="4745736"/>
            <a:ext cx="1958644" cy="53949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183A31"/>
                </a:solidFill>
                <a:latin typeface="Liberation Sans"/>
              </a:rPr>
              <a:t>Missing inputs or</a:t>
            </a:r>
          </a:p>
          <a:p>
            <a:pPr>
              <a:lnSpc>
                <a:spcPct val="108000"/>
              </a:lnSpc>
              <a:spcBef>
                <a:spcPts val="0"/>
              </a:spcBef>
              <a:spcAft>
                <a:spcPts val="500"/>
              </a:spcAft>
            </a:pPr>
            <a:r>
              <a:rPr sz="1600" b="0" i="0">
                <a:solidFill>
                  <a:srgbClr val="183A31"/>
                </a:solidFill>
                <a:latin typeface="Liberation Sans"/>
              </a:rPr>
              <a:t>changed terms</a:t>
            </a:r>
          </a:p>
        </p:txBody>
      </p:sp>
      <p:cxnSp>
        <p:nvCxnSpPr>
          <p:cNvPr id="38" name="map-peer-3-stage-arrow"/>
          <p:cNvCxnSpPr/>
          <p:nvPr/>
        </p:nvCxnSpPr>
        <p:spPr>
          <a:xfrm>
            <a:off x="7174382" y="1737360"/>
            <a:ext cx="100584" cy="0"/>
          </a:xfrm>
          <a:prstGeom prst="line">
            <a:avLst/>
          </a:prstGeom>
          <a:ln w="22860">
            <a:solidFill>
              <a:srgbClr val="446056"/>
            </a:solidFill>
            <a:tailEnd type="triangle"/>
          </a:ln>
        </p:spPr>
        <p:style>
          <a:lnRef idx="2">
            <a:schemeClr val="accent1"/>
          </a:lnRef>
          <a:fillRef idx="0">
            <a:schemeClr val="accent1"/>
          </a:fillRef>
          <a:effectRef idx="1">
            <a:schemeClr val="accent1"/>
          </a:effectRef>
          <a:fontRef idx="minor">
            <a:schemeClr val="tx1"/>
          </a:fontRef>
        </p:style>
      </p:cxnSp>
      <p:sp>
        <p:nvSpPr>
          <p:cNvPr id="39" name="map-peer-4-stage-background"/>
          <p:cNvSpPr/>
          <p:nvPr/>
        </p:nvSpPr>
        <p:spPr>
          <a:xfrm>
            <a:off x="7284110" y="1490472"/>
            <a:ext cx="2141524" cy="493776"/>
          </a:xfrm>
          <a:prstGeom prst="roundRect">
            <a:avLst/>
          </a:prstGeom>
          <a:solidFill>
            <a:srgbClr val="173F35"/>
          </a:solidFill>
          <a:ln>
            <a:solidFill>
              <a:srgbClr val="173F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map-peer-4-stage"/>
          <p:cNvSpPr txBox="1"/>
          <p:nvPr/>
        </p:nvSpPr>
        <p:spPr>
          <a:xfrm>
            <a:off x="7329830" y="1554480"/>
            <a:ext cx="2050084" cy="374904"/>
          </a:xfrm>
          <a:prstGeom prst="rect">
            <a:avLst/>
          </a:prstGeom>
          <a:noFill/>
        </p:spPr>
        <p:txBody>
          <a:bodyPr wrap="square" lIns="18288" rIns="18288" tIns="18288" bIns="18288" anchor="t">
            <a:noAutofit/>
          </a:bodyPr>
          <a:lstStyle/>
          <a:p>
            <a:pPr>
              <a:lnSpc>
                <a:spcPct val="108000"/>
              </a:lnSpc>
              <a:spcBef>
                <a:spcPts val="0"/>
              </a:spcBef>
              <a:spcAft>
                <a:spcPts val="500"/>
              </a:spcAft>
            </a:pPr>
            <a:r>
              <a:rPr sz="1700" b="1" i="0">
                <a:solidFill>
                  <a:srgbClr val="F7F2E7"/>
                </a:solidFill>
                <a:latin typeface="Liberation Sans"/>
              </a:rPr>
              <a:t>Coordinate works</a:t>
            </a:r>
          </a:p>
        </p:txBody>
      </p:sp>
      <p:sp>
        <p:nvSpPr>
          <p:cNvPr id="41" name="map-peer-4-owner"/>
          <p:cNvSpPr txBox="1"/>
          <p:nvPr/>
        </p:nvSpPr>
        <p:spPr>
          <a:xfrm>
            <a:off x="7329830" y="2066543"/>
            <a:ext cx="2050084" cy="63093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183A31"/>
                </a:solidFill>
                <a:latin typeface="Liberation Sans"/>
              </a:rPr>
              <a:t>Resident: choice;</a:t>
            </a:r>
          </a:p>
          <a:p>
            <a:pPr>
              <a:lnSpc>
                <a:spcPct val="108000"/>
              </a:lnSpc>
              <a:spcBef>
                <a:spcPts val="0"/>
              </a:spcBef>
              <a:spcAft>
                <a:spcPts val="500"/>
              </a:spcAft>
            </a:pPr>
            <a:r>
              <a:rPr sz="1600" b="0" i="0">
                <a:solidFill>
                  <a:srgbClr val="183A31"/>
                </a:solidFill>
                <a:latin typeface="Liberation Sans"/>
              </a:rPr>
              <a:t>Programme: release</a:t>
            </a:r>
          </a:p>
        </p:txBody>
      </p:sp>
      <p:sp>
        <p:nvSpPr>
          <p:cNvPr id="42" name="map-peer-4-capability-background"/>
          <p:cNvSpPr/>
          <p:nvPr/>
        </p:nvSpPr>
        <p:spPr>
          <a:xfrm>
            <a:off x="7284110" y="2752344"/>
            <a:ext cx="2141524" cy="2596896"/>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map-peer-4-title"/>
          <p:cNvSpPr txBox="1"/>
          <p:nvPr/>
        </p:nvSpPr>
        <p:spPr>
          <a:xfrm>
            <a:off x="7375550" y="2834640"/>
            <a:ext cx="1958644" cy="676656"/>
          </a:xfrm>
          <a:prstGeom prst="rect">
            <a:avLst/>
          </a:prstGeom>
          <a:noFill/>
        </p:spPr>
        <p:txBody>
          <a:bodyPr wrap="square" lIns="18288" rIns="18288" tIns="18288" bIns="18288" anchor="t">
            <a:noAutofit/>
          </a:bodyPr>
          <a:lstStyle/>
          <a:p>
            <a:pPr>
              <a:lnSpc>
                <a:spcPct val="108000"/>
              </a:lnSpc>
              <a:spcBef>
                <a:spcPts val="0"/>
              </a:spcBef>
              <a:spcAft>
                <a:spcPts val="500"/>
              </a:spcAft>
            </a:pPr>
            <a:r>
              <a:rPr sz="1700" b="1" i="0">
                <a:solidFill>
                  <a:srgbClr val="183A31"/>
                </a:solidFill>
                <a:latin typeface="Liberation Sans"/>
              </a:rPr>
              <a:t>Works &amp; Resident</a:t>
            </a:r>
          </a:p>
          <a:p>
            <a:pPr>
              <a:lnSpc>
                <a:spcPct val="108000"/>
              </a:lnSpc>
              <a:spcBef>
                <a:spcPts val="0"/>
              </a:spcBef>
              <a:spcAft>
                <a:spcPts val="500"/>
              </a:spcAft>
            </a:pPr>
            <a:r>
              <a:rPr sz="1700" b="1" i="0">
                <a:solidFill>
                  <a:srgbClr val="183A31"/>
                </a:solidFill>
                <a:latin typeface="Liberation Sans"/>
              </a:rPr>
              <a:t>Coordination</a:t>
            </a:r>
          </a:p>
        </p:txBody>
      </p:sp>
      <p:sp>
        <p:nvSpPr>
          <p:cNvPr id="44" name="map-peer-4-request-label"/>
          <p:cNvSpPr txBox="1"/>
          <p:nvPr/>
        </p:nvSpPr>
        <p:spPr>
          <a:xfrm>
            <a:off x="7375550" y="3575304"/>
            <a:ext cx="1958644" cy="26517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1" i="0">
                <a:solidFill>
                  <a:srgbClr val="183A31"/>
                </a:solidFill>
                <a:latin typeface="Liberation Sans"/>
              </a:rPr>
              <a:t>On request</a:t>
            </a:r>
          </a:p>
        </p:txBody>
      </p:sp>
      <p:sp>
        <p:nvSpPr>
          <p:cNvPr id="45" name="map-peer-4-request-body"/>
          <p:cNvSpPr txBox="1"/>
          <p:nvPr/>
        </p:nvSpPr>
        <p:spPr>
          <a:xfrm>
            <a:off x="7375550" y="3867912"/>
            <a:ext cx="1958644" cy="521207"/>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183A31"/>
                </a:solidFill>
                <a:latin typeface="Liberation Sans"/>
              </a:rPr>
              <a:t>Draft update;</a:t>
            </a:r>
          </a:p>
          <a:p>
            <a:pPr>
              <a:lnSpc>
                <a:spcPct val="108000"/>
              </a:lnSpc>
              <a:spcBef>
                <a:spcPts val="0"/>
              </a:spcBef>
              <a:spcAft>
                <a:spcPts val="500"/>
              </a:spcAft>
            </a:pPr>
            <a:r>
              <a:rPr sz="1600" b="0" i="0">
                <a:solidFill>
                  <a:srgbClr val="183A31"/>
                </a:solidFill>
                <a:latin typeface="Liberation Sans"/>
              </a:rPr>
              <a:t>suggest crew slots</a:t>
            </a:r>
          </a:p>
        </p:txBody>
      </p:sp>
      <p:sp>
        <p:nvSpPr>
          <p:cNvPr id="46" name="map-peer-4-proactive-label"/>
          <p:cNvSpPr txBox="1"/>
          <p:nvPr/>
        </p:nvSpPr>
        <p:spPr>
          <a:xfrm>
            <a:off x="7375550" y="4443984"/>
            <a:ext cx="1958644" cy="26517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1" i="0">
                <a:solidFill>
                  <a:srgbClr val="183A31"/>
                </a:solidFill>
                <a:latin typeface="Liberation Sans"/>
              </a:rPr>
              <a:t>Trigger • OFF</a:t>
            </a:r>
          </a:p>
        </p:txBody>
      </p:sp>
      <p:sp>
        <p:nvSpPr>
          <p:cNvPr id="47" name="map-peer-4-proactive-body"/>
          <p:cNvSpPr txBox="1"/>
          <p:nvPr/>
        </p:nvSpPr>
        <p:spPr>
          <a:xfrm>
            <a:off x="7375550" y="4745736"/>
            <a:ext cx="1958644" cy="53949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183A31"/>
                </a:solidFill>
                <a:latin typeface="Liberation Sans"/>
              </a:rPr>
              <a:t>Unaccepted handoff;</a:t>
            </a:r>
          </a:p>
          <a:p>
            <a:pPr>
              <a:lnSpc>
                <a:spcPct val="108000"/>
              </a:lnSpc>
              <a:spcBef>
                <a:spcPts val="0"/>
              </a:spcBef>
              <a:spcAft>
                <a:spcPts val="500"/>
              </a:spcAft>
            </a:pPr>
            <a:r>
              <a:rPr sz="1600" b="0" i="0">
                <a:solidFill>
                  <a:srgbClr val="183A31"/>
                </a:solidFill>
                <a:latin typeface="Liberation Sans"/>
              </a:rPr>
              <a:t>overdue update</a:t>
            </a:r>
          </a:p>
        </p:txBody>
      </p:sp>
      <p:cxnSp>
        <p:nvCxnSpPr>
          <p:cNvPr id="48" name="map-peer-4-stage-arrow"/>
          <p:cNvCxnSpPr/>
          <p:nvPr/>
        </p:nvCxnSpPr>
        <p:spPr>
          <a:xfrm>
            <a:off x="9434779" y="1737360"/>
            <a:ext cx="100584" cy="0"/>
          </a:xfrm>
          <a:prstGeom prst="line">
            <a:avLst/>
          </a:prstGeom>
          <a:ln w="22860">
            <a:solidFill>
              <a:srgbClr val="446056"/>
            </a:solidFill>
            <a:tailEnd type="triangle"/>
          </a:ln>
        </p:spPr>
        <p:style>
          <a:lnRef idx="2">
            <a:schemeClr val="accent1"/>
          </a:lnRef>
          <a:fillRef idx="0">
            <a:schemeClr val="accent1"/>
          </a:fillRef>
          <a:effectRef idx="1">
            <a:schemeClr val="accent1"/>
          </a:effectRef>
          <a:fontRef idx="minor">
            <a:schemeClr val="tx1"/>
          </a:fontRef>
        </p:style>
      </p:cxnSp>
      <p:sp>
        <p:nvSpPr>
          <p:cNvPr id="49" name="map-peer-5-stage-background"/>
          <p:cNvSpPr/>
          <p:nvPr/>
        </p:nvSpPr>
        <p:spPr>
          <a:xfrm>
            <a:off x="9544507" y="1490472"/>
            <a:ext cx="2141524" cy="493776"/>
          </a:xfrm>
          <a:prstGeom prst="roundRect">
            <a:avLst/>
          </a:prstGeom>
          <a:solidFill>
            <a:srgbClr val="173F35"/>
          </a:solidFill>
          <a:ln>
            <a:solidFill>
              <a:srgbClr val="173F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map-peer-5-stage"/>
          <p:cNvSpPr txBox="1"/>
          <p:nvPr/>
        </p:nvSpPr>
        <p:spPr>
          <a:xfrm>
            <a:off x="9590227" y="1554480"/>
            <a:ext cx="2050084" cy="374904"/>
          </a:xfrm>
          <a:prstGeom prst="rect">
            <a:avLst/>
          </a:prstGeom>
          <a:noFill/>
        </p:spPr>
        <p:txBody>
          <a:bodyPr wrap="square" lIns="18288" rIns="18288" tIns="18288" bIns="18288" anchor="t">
            <a:noAutofit/>
          </a:bodyPr>
          <a:lstStyle/>
          <a:p>
            <a:pPr>
              <a:lnSpc>
                <a:spcPct val="108000"/>
              </a:lnSpc>
              <a:spcBef>
                <a:spcPts val="0"/>
              </a:spcBef>
              <a:spcAft>
                <a:spcPts val="500"/>
              </a:spcAft>
            </a:pPr>
            <a:r>
              <a:rPr sz="1700" b="1" i="0">
                <a:solidFill>
                  <a:srgbClr val="F7F2E7"/>
                </a:solidFill>
                <a:latin typeface="Liberation Sans"/>
              </a:rPr>
              <a:t>Verify &amp; hand over</a:t>
            </a:r>
          </a:p>
        </p:txBody>
      </p:sp>
      <p:sp>
        <p:nvSpPr>
          <p:cNvPr id="51" name="map-peer-5-owner"/>
          <p:cNvSpPr txBox="1"/>
          <p:nvPr/>
        </p:nvSpPr>
        <p:spPr>
          <a:xfrm>
            <a:off x="9590227" y="2066543"/>
            <a:ext cx="2050084" cy="63093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183A31"/>
                </a:solidFill>
                <a:latin typeface="Liberation Sans"/>
              </a:rPr>
              <a:t>Independent quality</a:t>
            </a:r>
          </a:p>
          <a:p>
            <a:pPr>
              <a:lnSpc>
                <a:spcPct val="108000"/>
              </a:lnSpc>
              <a:spcBef>
                <a:spcPts val="0"/>
              </a:spcBef>
              <a:spcAft>
                <a:spcPts val="500"/>
              </a:spcAft>
            </a:pPr>
            <a:r>
              <a:rPr sz="1600" b="0" i="0">
                <a:solidFill>
                  <a:srgbClr val="183A31"/>
                </a:solidFill>
                <a:latin typeface="Liberation Sans"/>
              </a:rPr>
              <a:t>authority: accept</a:t>
            </a:r>
          </a:p>
        </p:txBody>
      </p:sp>
      <p:sp>
        <p:nvSpPr>
          <p:cNvPr id="52" name="map-peer-5-capability-background"/>
          <p:cNvSpPr/>
          <p:nvPr/>
        </p:nvSpPr>
        <p:spPr>
          <a:xfrm>
            <a:off x="9544507" y="2752344"/>
            <a:ext cx="2141524" cy="2596896"/>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map-peer-5-title"/>
          <p:cNvSpPr txBox="1"/>
          <p:nvPr/>
        </p:nvSpPr>
        <p:spPr>
          <a:xfrm>
            <a:off x="9635947" y="2834640"/>
            <a:ext cx="1958644" cy="676656"/>
          </a:xfrm>
          <a:prstGeom prst="rect">
            <a:avLst/>
          </a:prstGeom>
          <a:noFill/>
        </p:spPr>
        <p:txBody>
          <a:bodyPr wrap="square" lIns="18288" rIns="18288" tIns="18288" bIns="18288" anchor="t">
            <a:noAutofit/>
          </a:bodyPr>
          <a:lstStyle/>
          <a:p>
            <a:pPr>
              <a:lnSpc>
                <a:spcPct val="108000"/>
              </a:lnSpc>
              <a:spcBef>
                <a:spcPts val="0"/>
              </a:spcBef>
              <a:spcAft>
                <a:spcPts val="500"/>
              </a:spcAft>
            </a:pPr>
            <a:r>
              <a:rPr sz="1700" b="1" i="0">
                <a:solidFill>
                  <a:srgbClr val="183A31"/>
                </a:solidFill>
                <a:latin typeface="Liberation Sans"/>
              </a:rPr>
              <a:t>Quality Evidence</a:t>
            </a:r>
          </a:p>
          <a:p>
            <a:pPr>
              <a:lnSpc>
                <a:spcPct val="108000"/>
              </a:lnSpc>
              <a:spcBef>
                <a:spcPts val="0"/>
              </a:spcBef>
              <a:spcAft>
                <a:spcPts val="500"/>
              </a:spcAft>
            </a:pPr>
            <a:r>
              <a:rPr sz="1700" b="1" i="0">
                <a:solidFill>
                  <a:srgbClr val="183A31"/>
                </a:solidFill>
                <a:latin typeface="Liberation Sans"/>
              </a:rPr>
              <a:t>Review</a:t>
            </a:r>
          </a:p>
        </p:txBody>
      </p:sp>
      <p:sp>
        <p:nvSpPr>
          <p:cNvPr id="54" name="map-peer-5-request-label"/>
          <p:cNvSpPr txBox="1"/>
          <p:nvPr/>
        </p:nvSpPr>
        <p:spPr>
          <a:xfrm>
            <a:off x="9635947" y="3575304"/>
            <a:ext cx="1958644" cy="26517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1" i="0">
                <a:solidFill>
                  <a:srgbClr val="183A31"/>
                </a:solidFill>
                <a:latin typeface="Liberation Sans"/>
              </a:rPr>
              <a:t>On request</a:t>
            </a:r>
          </a:p>
        </p:txBody>
      </p:sp>
      <p:sp>
        <p:nvSpPr>
          <p:cNvPr id="55" name="map-peer-5-request-body"/>
          <p:cNvSpPr txBox="1"/>
          <p:nvPr/>
        </p:nvSpPr>
        <p:spPr>
          <a:xfrm>
            <a:off x="9635947" y="3867912"/>
            <a:ext cx="1958644" cy="521207"/>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183A31"/>
                </a:solidFill>
                <a:latin typeface="Liberation Sans"/>
              </a:rPr>
              <a:t>Assemble evidence;</a:t>
            </a:r>
          </a:p>
          <a:p>
            <a:pPr>
              <a:lnSpc>
                <a:spcPct val="108000"/>
              </a:lnSpc>
              <a:spcBef>
                <a:spcPts val="0"/>
              </a:spcBef>
              <a:spcAft>
                <a:spcPts val="500"/>
              </a:spcAft>
            </a:pPr>
            <a:r>
              <a:rPr sz="1600" b="0" i="0">
                <a:solidFill>
                  <a:srgbClr val="183A31"/>
                </a:solidFill>
                <a:latin typeface="Liberation Sans"/>
              </a:rPr>
              <a:t>raise gaps</a:t>
            </a:r>
          </a:p>
        </p:txBody>
      </p:sp>
      <p:sp>
        <p:nvSpPr>
          <p:cNvPr id="56" name="map-peer-5-proactive-label"/>
          <p:cNvSpPr txBox="1"/>
          <p:nvPr/>
        </p:nvSpPr>
        <p:spPr>
          <a:xfrm>
            <a:off x="9635947" y="4443984"/>
            <a:ext cx="1958644" cy="26517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1" i="0">
                <a:solidFill>
                  <a:srgbClr val="183A31"/>
                </a:solidFill>
                <a:latin typeface="Liberation Sans"/>
              </a:rPr>
              <a:t>Trigger • OFF</a:t>
            </a:r>
          </a:p>
        </p:txBody>
      </p:sp>
      <p:sp>
        <p:nvSpPr>
          <p:cNvPr id="57" name="map-peer-5-proactive-body"/>
          <p:cNvSpPr txBox="1"/>
          <p:nvPr/>
        </p:nvSpPr>
        <p:spPr>
          <a:xfrm>
            <a:off x="9635947" y="4745736"/>
            <a:ext cx="1958644" cy="539496"/>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183A31"/>
                </a:solidFill>
                <a:latin typeface="Liberation Sans"/>
              </a:rPr>
              <a:t>Missing/conflicting</a:t>
            </a:r>
          </a:p>
          <a:p>
            <a:pPr>
              <a:lnSpc>
                <a:spcPct val="108000"/>
              </a:lnSpc>
              <a:spcBef>
                <a:spcPts val="0"/>
              </a:spcBef>
              <a:spcAft>
                <a:spcPts val="500"/>
              </a:spcAft>
            </a:pPr>
            <a:r>
              <a:rPr sz="1600" b="0" i="0">
                <a:solidFill>
                  <a:srgbClr val="183A31"/>
                </a:solidFill>
                <a:latin typeface="Liberation Sans"/>
              </a:rPr>
              <a:t>quality evidence</a:t>
            </a:r>
          </a:p>
        </p:txBody>
      </p:sp>
      <p:sp>
        <p:nvSpPr>
          <p:cNvPr id="58" name="map-core-background"/>
          <p:cNvSpPr/>
          <p:nvPr/>
        </p:nvSpPr>
        <p:spPr>
          <a:xfrm>
            <a:off x="502920" y="5477256"/>
            <a:ext cx="11183112" cy="411480"/>
          </a:xfrm>
          <a:prstGeom prst="roundRect">
            <a:avLst/>
          </a:prstGeom>
          <a:solidFill>
            <a:srgbClr val="173F35"/>
          </a:solidFill>
          <a:ln>
            <a:solidFill>
              <a:srgbClr val="173F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map-core"/>
          <p:cNvSpPr txBox="1"/>
          <p:nvPr/>
        </p:nvSpPr>
        <p:spPr>
          <a:xfrm>
            <a:off x="630936" y="5559552"/>
            <a:ext cx="10927080" cy="283464"/>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1" i="0">
                <a:solidFill>
                  <a:srgbClr val="F7F2E7"/>
                </a:solidFill>
                <a:latin typeface="Liberation Sans"/>
              </a:rPr>
              <a:t>Workflow core: rights • versions • gates • human approvals • audit • retries • manual recovery</a:t>
            </a:r>
          </a:p>
        </p:txBody>
      </p:sp>
      <p:sp>
        <p:nvSpPr>
          <p:cNvPr id="60" name="map-funding-boundary"/>
          <p:cNvSpPr txBox="1"/>
          <p:nvPr/>
        </p:nvSpPr>
        <p:spPr>
          <a:xfrm>
            <a:off x="502920" y="5980176"/>
            <a:ext cx="11183112" cy="256032"/>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183A31"/>
                </a:solidFill>
                <a:latin typeface="Liberation Sans"/>
              </a:rPr>
              <a:t>Checks OFF now; future eligibility → named human queue. Funding: application ≠ award ≠ claim ≠ cash.</a:t>
            </a:r>
          </a:p>
        </p:txBody>
      </p:sp>
      <p:sp>
        <p:nvSpPr>
          <p:cNvPr id="61" name="map-hazard-boundary"/>
          <p:cNvSpPr txBox="1"/>
          <p:nvPr/>
        </p:nvSpPr>
        <p:spPr>
          <a:xfrm>
            <a:off x="502920" y="6272784"/>
            <a:ext cx="11183112" cy="246888"/>
          </a:xfrm>
          <a:prstGeom prst="rect">
            <a:avLst/>
          </a:prstGeom>
          <a:noFill/>
        </p:spPr>
        <p:txBody>
          <a:bodyPr wrap="square" lIns="18288" rIns="18288" tIns="18288" bIns="18288" anchor="t">
            <a:noAutofit/>
          </a:bodyPr>
          <a:lstStyle/>
          <a:p>
            <a:pPr>
              <a:lnSpc>
                <a:spcPct val="108000"/>
              </a:lnSpc>
              <a:spcBef>
                <a:spcPts val="0"/>
              </a:spcBef>
              <a:spcAft>
                <a:spcPts val="500"/>
              </a:spcAft>
            </a:pPr>
            <a:r>
              <a:rPr sz="1600" b="0" i="0">
                <a:solidFill>
                  <a:srgbClr val="183A31"/>
                </a:solidFill>
                <a:latin typeface="Liberation Sans"/>
              </a:rPr>
              <a:t>Hazard → human service now, never wait for AI. Value remains a hypothesis.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See cash before optimism.</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S03 / S06 / S09  •  Sources + status in notes</a:t>
            </a:r>
          </a:p>
        </p:txBody>
      </p:sp>
      <p:sp>
        <p:nvSpPr>
          <p:cNvPr id="7" name="page-counter"/>
          <p:cNvSpPr txBox="1"/>
          <p:nvPr/>
        </p:nvSpPr>
        <p:spPr>
          <a:xfrm>
            <a:off x="10972800" y="6620256"/>
            <a:ext cx="713232"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14 / 24</a:t>
            </a:r>
          </a:p>
        </p:txBody>
      </p:sp>
      <p:sp>
        <p:nvSpPr>
          <p:cNvPr id="8" name="fictional-label"/>
          <p:cNvSpPr txBox="1"/>
          <p:nvPr/>
        </p:nvSpPr>
        <p:spPr>
          <a:xfrm>
            <a:off x="502920" y="1764792"/>
            <a:ext cx="11155680" cy="320040"/>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1" i="0">
                <a:solidFill>
                  <a:srgbClr val="183A31"/>
                </a:solidFill>
                <a:latin typeface="Liberation Sans"/>
              </a:rPr>
              <a:t>FICTIONAL EXA-010/015 / not a technology price, award or budget</a:t>
            </a:r>
          </a:p>
        </p:txBody>
      </p:sp>
      <p:sp>
        <p:nvSpPr>
          <p:cNvPr id="9" name="gross-background" descr="Container background; accompanying native text provides content."/>
          <p:cNvSpPr/>
          <p:nvPr/>
        </p:nvSpPr>
        <p:spPr>
          <a:xfrm>
            <a:off x="502920" y="2295144"/>
            <a:ext cx="11183112" cy="1033271"/>
          </a:xfrm>
          <a:prstGeom prst="roundRect">
            <a:avLst/>
          </a:prstGeom>
          <a:solidFill>
            <a:srgbClr val="173F35"/>
          </a:solidFill>
          <a:ln>
            <a:solidFill>
              <a:srgbClr val="173F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gross-title"/>
          <p:cNvSpPr txBox="1"/>
          <p:nvPr/>
        </p:nvSpPr>
        <p:spPr>
          <a:xfrm>
            <a:off x="731520" y="2487168"/>
            <a:ext cx="5120640" cy="365760"/>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1" i="0">
                <a:solidFill>
                  <a:srgbClr val="F7F2E7"/>
                </a:solidFill>
                <a:latin typeface="Liberation Sans"/>
              </a:rPr>
              <a:t>BEFORE GRANT RECEIPT</a:t>
            </a:r>
          </a:p>
        </p:txBody>
      </p:sp>
      <p:sp>
        <p:nvSpPr>
          <p:cNvPr id="11" name="gross-value"/>
          <p:cNvSpPr txBox="1"/>
          <p:nvPr/>
        </p:nvSpPr>
        <p:spPr>
          <a:xfrm>
            <a:off x="6007608" y="2487168"/>
            <a:ext cx="5449824" cy="548640"/>
          </a:xfrm>
          <a:prstGeom prst="rect">
            <a:avLst/>
          </a:prstGeom>
          <a:noFill/>
        </p:spPr>
        <p:txBody>
          <a:bodyPr wrap="square" lIns="18288" rIns="18288" tIns="18288" bIns="18288" anchor="t">
            <a:noAutofit/>
          </a:bodyPr>
          <a:lstStyle/>
          <a:p>
            <a:pPr>
              <a:lnSpc>
                <a:spcPct val="108000"/>
              </a:lnSpc>
              <a:spcBef>
                <a:spcPts val="0"/>
              </a:spcBef>
              <a:spcAft>
                <a:spcPts val="500"/>
              </a:spcAft>
            </a:pPr>
            <a:r>
              <a:rPr sz="2900" b="1" i="0">
                <a:solidFill>
                  <a:srgbClr val="F7F2E7"/>
                </a:solidFill>
                <a:latin typeface="Liberation Sans"/>
              </a:rPr>
              <a:t>£20,000 gross base cash</a:t>
            </a:r>
          </a:p>
        </p:txBody>
      </p:sp>
      <p:sp>
        <p:nvSpPr>
          <p:cNvPr id="12" name="peer-1-background" descr="Container background; accompanying native text provides content."/>
          <p:cNvSpPr/>
          <p:nvPr/>
        </p:nvSpPr>
        <p:spPr>
          <a:xfrm>
            <a:off x="502920" y="3639312"/>
            <a:ext cx="5490972" cy="178308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peer-1-title"/>
          <p:cNvSpPr txBox="1"/>
          <p:nvPr/>
        </p:nvSpPr>
        <p:spPr>
          <a:xfrm>
            <a:off x="667512" y="3822191"/>
            <a:ext cx="5161788" cy="393192"/>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1" i="0">
                <a:solidFill>
                  <a:srgbClr val="183A31"/>
                </a:solidFill>
                <a:latin typeface="Liberation Sans"/>
              </a:rPr>
              <a:t>IF RECEIVED</a:t>
            </a:r>
          </a:p>
        </p:txBody>
      </p:sp>
      <p:sp>
        <p:nvSpPr>
          <p:cNvPr id="14" name="peer-1-body"/>
          <p:cNvSpPr txBox="1"/>
          <p:nvPr/>
        </p:nvSpPr>
        <p:spPr>
          <a:xfrm>
            <a:off x="667512" y="4370831"/>
            <a:ext cx="5161788" cy="868680"/>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0" i="0">
                <a:solidFill>
                  <a:srgbClr val="183A31"/>
                </a:solidFill>
                <a:latin typeface="Liberation Sans"/>
              </a:rPr>
              <a:t>£7,500 fictional grant</a:t>
            </a:r>
          </a:p>
          <a:p>
            <a:pPr>
              <a:lnSpc>
                <a:spcPct val="108000"/>
              </a:lnSpc>
              <a:spcBef>
                <a:spcPts val="0"/>
              </a:spcBef>
              <a:spcAft>
                <a:spcPts val="500"/>
              </a:spcAft>
            </a:pPr>
            <a:r>
              <a:rPr sz="2300" b="0" i="0">
                <a:solidFill>
                  <a:srgbClr val="183A31"/>
                </a:solidFill>
                <a:latin typeface="Liberation Sans"/>
              </a:rPr>
              <a:t>→ £12,500 provider base.</a:t>
            </a:r>
          </a:p>
        </p:txBody>
      </p:sp>
      <p:sp>
        <p:nvSpPr>
          <p:cNvPr id="15" name="peer-2-background" descr="Container background; accompanying native text provides content."/>
          <p:cNvSpPr/>
          <p:nvPr/>
        </p:nvSpPr>
        <p:spPr>
          <a:xfrm>
            <a:off x="6195059" y="3639312"/>
            <a:ext cx="5490972" cy="178308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peer-2-title"/>
          <p:cNvSpPr txBox="1"/>
          <p:nvPr/>
        </p:nvSpPr>
        <p:spPr>
          <a:xfrm>
            <a:off x="6359651" y="3822191"/>
            <a:ext cx="5161788" cy="393192"/>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1" i="0">
                <a:solidFill>
                  <a:srgbClr val="183A31"/>
                </a:solidFill>
                <a:latin typeface="Liberation Sans"/>
              </a:rPr>
              <a:t>IF CONTINGENCY SPENT</a:t>
            </a:r>
          </a:p>
        </p:txBody>
      </p:sp>
      <p:sp>
        <p:nvSpPr>
          <p:cNvPr id="17" name="peer-2-body"/>
          <p:cNvSpPr txBox="1"/>
          <p:nvPr/>
        </p:nvSpPr>
        <p:spPr>
          <a:xfrm>
            <a:off x="6359651" y="4370831"/>
            <a:ext cx="5161788" cy="868680"/>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0" i="0">
                <a:solidFill>
                  <a:srgbClr val="183A31"/>
                </a:solidFill>
                <a:latin typeface="Liberation Sans"/>
              </a:rPr>
              <a:t>£22,000 gross exposure</a:t>
            </a:r>
          </a:p>
          <a:p>
            <a:pPr>
              <a:lnSpc>
                <a:spcPct val="108000"/>
              </a:lnSpc>
              <a:spcBef>
                <a:spcPts val="0"/>
              </a:spcBef>
              <a:spcAft>
                <a:spcPts val="500"/>
              </a:spcAft>
            </a:pPr>
            <a:r>
              <a:rPr sz="2300" b="0" i="0">
                <a:solidFill>
                  <a:srgbClr val="183A31"/>
                </a:solidFill>
                <a:latin typeface="Liberation Sans"/>
              </a:rPr>
              <a:t>£14,500 provider exposure.</a:t>
            </a:r>
          </a:p>
        </p:txBody>
      </p:sp>
      <p:sp>
        <p:nvSpPr>
          <p:cNvPr id="18" name="boundary-background" descr="Container background; accompanying native text provides content."/>
          <p:cNvSpPr/>
          <p:nvPr/>
        </p:nvSpPr>
        <p:spPr>
          <a:xfrm>
            <a:off x="502920" y="5696712"/>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boundary-text"/>
          <p:cNvSpPr txBox="1"/>
          <p:nvPr/>
        </p:nvSpPr>
        <p:spPr>
          <a:xfrm>
            <a:off x="667512" y="5788152"/>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1" i="0">
                <a:solidFill>
                  <a:srgbClr val="183A31"/>
                </a:solidFill>
                <a:latin typeface="Liberation Sans"/>
              </a:rPr>
              <a:t>Application ≠ award ≠ claim ≠ cash.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Make the first change small enough to learn.</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S06 / S07 / S10 / S12  •  Sources + status in notes</a:t>
            </a:r>
          </a:p>
        </p:txBody>
      </p:sp>
      <p:sp>
        <p:nvSpPr>
          <p:cNvPr id="7" name="page-counter"/>
          <p:cNvSpPr txBox="1"/>
          <p:nvPr/>
        </p:nvSpPr>
        <p:spPr>
          <a:xfrm>
            <a:off x="10972800" y="6620256"/>
            <a:ext cx="713232"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15 / 24</a:t>
            </a:r>
          </a:p>
        </p:txBody>
      </p:sp>
      <p:sp>
        <p:nvSpPr>
          <p:cNvPr id="8" name="peer-1-background" descr="Container background; accompanying native text provides content."/>
          <p:cNvSpPr/>
          <p:nvPr/>
        </p:nvSpPr>
        <p:spPr>
          <a:xfrm>
            <a:off x="502920" y="1847088"/>
            <a:ext cx="264490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er-1-title"/>
          <p:cNvSpPr txBox="1"/>
          <p:nvPr/>
        </p:nvSpPr>
        <p:spPr>
          <a:xfrm>
            <a:off x="667512" y="2029968"/>
            <a:ext cx="2315718" cy="96012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1" i="0">
                <a:solidFill>
                  <a:srgbClr val="183A31"/>
                </a:solidFill>
                <a:latin typeface="Liberation Sans"/>
              </a:rPr>
              <a:t>Co-design</a:t>
            </a:r>
          </a:p>
          <a:p>
            <a:pPr>
              <a:lnSpc>
                <a:spcPct val="108000"/>
              </a:lnSpc>
              <a:spcBef>
                <a:spcPts val="0"/>
              </a:spcBef>
              <a:spcAft>
                <a:spcPts val="500"/>
              </a:spcAft>
            </a:pPr>
            <a:r>
              <a:rPr sz="2200" b="1" i="0">
                <a:solidFill>
                  <a:srgbClr val="183A31"/>
                </a:solidFill>
                <a:latin typeface="Liberation Sans"/>
              </a:rPr>
              <a:t>tasks</a:t>
            </a:r>
          </a:p>
        </p:txBody>
      </p:sp>
      <p:sp>
        <p:nvSpPr>
          <p:cNvPr id="10" name="peer-1-body"/>
          <p:cNvSpPr txBox="1"/>
          <p:nvPr/>
        </p:nvSpPr>
        <p:spPr>
          <a:xfrm>
            <a:off x="667512" y="3145536"/>
            <a:ext cx="2315718" cy="192024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Programme +</a:t>
            </a:r>
          </a:p>
          <a:p>
            <a:pPr>
              <a:lnSpc>
                <a:spcPct val="108000"/>
              </a:lnSpc>
              <a:spcBef>
                <a:spcPts val="0"/>
              </a:spcBef>
              <a:spcAft>
                <a:spcPts val="500"/>
              </a:spcAft>
            </a:pPr>
            <a:r>
              <a:rPr sz="2200" b="0" i="0">
                <a:solidFill>
                  <a:srgbClr val="183A31"/>
                </a:solidFill>
                <a:latin typeface="Liberation Sans"/>
              </a:rPr>
              <a:t>workbook owners.</a:t>
            </a:r>
          </a:p>
        </p:txBody>
      </p:sp>
      <p:sp>
        <p:nvSpPr>
          <p:cNvPr id="11" name="peer-2-background" descr="Container background; accompanying native text provides content."/>
          <p:cNvSpPr/>
          <p:nvPr/>
        </p:nvSpPr>
        <p:spPr>
          <a:xfrm>
            <a:off x="3348990" y="1847088"/>
            <a:ext cx="264490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eer-2-title"/>
          <p:cNvSpPr txBox="1"/>
          <p:nvPr/>
        </p:nvSpPr>
        <p:spPr>
          <a:xfrm>
            <a:off x="3513582" y="2029968"/>
            <a:ext cx="2315718" cy="96012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1" i="0">
                <a:solidFill>
                  <a:srgbClr val="183A31"/>
                </a:solidFill>
                <a:latin typeface="Liberation Sans"/>
              </a:rPr>
              <a:t>Shadow</a:t>
            </a:r>
          </a:p>
          <a:p>
            <a:pPr>
              <a:lnSpc>
                <a:spcPct val="108000"/>
              </a:lnSpc>
              <a:spcBef>
                <a:spcPts val="0"/>
              </a:spcBef>
              <a:spcAft>
                <a:spcPts val="500"/>
              </a:spcAft>
            </a:pPr>
            <a:r>
              <a:rPr sz="2200" b="1" i="0">
                <a:solidFill>
                  <a:srgbClr val="183A31"/>
                </a:solidFill>
                <a:latin typeface="Liberation Sans"/>
              </a:rPr>
              <a:t>one-way import</a:t>
            </a:r>
          </a:p>
        </p:txBody>
      </p:sp>
      <p:sp>
        <p:nvSpPr>
          <p:cNvPr id="13" name="peer-2-body"/>
          <p:cNvSpPr txBox="1"/>
          <p:nvPr/>
        </p:nvSpPr>
        <p:spPr>
          <a:xfrm>
            <a:off x="3513582" y="3145536"/>
            <a:ext cx="2315718" cy="192024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Data owners:</a:t>
            </a:r>
          </a:p>
          <a:p>
            <a:pPr>
              <a:lnSpc>
                <a:spcPct val="108000"/>
              </a:lnSpc>
              <a:spcBef>
                <a:spcPts val="0"/>
              </a:spcBef>
              <a:spcAft>
                <a:spcPts val="500"/>
              </a:spcAft>
            </a:pPr>
            <a:r>
              <a:rPr sz="2200" b="0" i="0">
                <a:solidFill>
                  <a:srgbClr val="183A31"/>
                </a:solidFill>
                <a:latin typeface="Liberation Sans"/>
              </a:rPr>
              <a:t>reconcile + quarantine.</a:t>
            </a:r>
          </a:p>
        </p:txBody>
      </p:sp>
      <p:sp>
        <p:nvSpPr>
          <p:cNvPr id="14" name="peer-3-background" descr="Container background; accompanying native text provides content."/>
          <p:cNvSpPr/>
          <p:nvPr/>
        </p:nvSpPr>
        <p:spPr>
          <a:xfrm>
            <a:off x="6195060" y="1847088"/>
            <a:ext cx="264490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peer-3-title"/>
          <p:cNvSpPr txBox="1"/>
          <p:nvPr/>
        </p:nvSpPr>
        <p:spPr>
          <a:xfrm>
            <a:off x="6359652" y="2029968"/>
            <a:ext cx="2315718" cy="96012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1" i="0">
                <a:solidFill>
                  <a:srgbClr val="183A31"/>
                </a:solidFill>
                <a:latin typeface="Liberation Sans"/>
              </a:rPr>
              <a:t>Supported task</a:t>
            </a:r>
          </a:p>
          <a:p>
            <a:pPr>
              <a:lnSpc>
                <a:spcPct val="108000"/>
              </a:lnSpc>
              <a:spcBef>
                <a:spcPts val="0"/>
              </a:spcBef>
              <a:spcAft>
                <a:spcPts val="500"/>
              </a:spcAft>
            </a:pPr>
            <a:r>
              <a:rPr sz="2200" b="1" i="0">
                <a:solidFill>
                  <a:srgbClr val="183A31"/>
                </a:solidFill>
                <a:latin typeface="Liberation Sans"/>
              </a:rPr>
              <a:t>walkthroughs</a:t>
            </a:r>
          </a:p>
        </p:txBody>
      </p:sp>
      <p:sp>
        <p:nvSpPr>
          <p:cNvPr id="16" name="peer-3-body"/>
          <p:cNvSpPr txBox="1"/>
          <p:nvPr/>
        </p:nvSpPr>
        <p:spPr>
          <a:xfrm>
            <a:off x="6359652" y="3145536"/>
            <a:ext cx="2315718" cy="192024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Team leads:</a:t>
            </a:r>
          </a:p>
          <a:p>
            <a:pPr>
              <a:lnSpc>
                <a:spcPct val="108000"/>
              </a:lnSpc>
              <a:spcBef>
                <a:spcPts val="0"/>
              </a:spcBef>
              <a:spcAft>
                <a:spcPts val="500"/>
              </a:spcAft>
            </a:pPr>
            <a:r>
              <a:rPr sz="2200" b="0" i="0">
                <a:solidFill>
                  <a:srgbClr val="183A31"/>
                </a:solidFill>
                <a:latin typeface="Liberation Sans"/>
              </a:rPr>
              <a:t>help + observe.</a:t>
            </a:r>
          </a:p>
        </p:txBody>
      </p:sp>
      <p:sp>
        <p:nvSpPr>
          <p:cNvPr id="17" name="peer-4-background" descr="Container background; accompanying native text provides content."/>
          <p:cNvSpPr/>
          <p:nvPr/>
        </p:nvSpPr>
        <p:spPr>
          <a:xfrm>
            <a:off x="9041130" y="1847088"/>
            <a:ext cx="264490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peer-4-title"/>
          <p:cNvSpPr txBox="1"/>
          <p:nvPr/>
        </p:nvSpPr>
        <p:spPr>
          <a:xfrm>
            <a:off x="9205722" y="2029968"/>
            <a:ext cx="2315718" cy="96012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1" i="0">
                <a:solidFill>
                  <a:srgbClr val="183A31"/>
                </a:solidFill>
                <a:latin typeface="Liberation Sans"/>
              </a:rPr>
              <a:t>Controlled switch</a:t>
            </a:r>
          </a:p>
          <a:p>
            <a:pPr>
              <a:lnSpc>
                <a:spcPct val="108000"/>
              </a:lnSpc>
              <a:spcBef>
                <a:spcPts val="0"/>
              </a:spcBef>
              <a:spcAft>
                <a:spcPts val="500"/>
              </a:spcAft>
            </a:pPr>
            <a:r>
              <a:rPr sz="2200" b="1" i="0">
                <a:solidFill>
                  <a:srgbClr val="183A31"/>
                </a:solidFill>
                <a:latin typeface="Liberation Sans"/>
              </a:rPr>
              <a:t>and rollback</a:t>
            </a:r>
          </a:p>
        </p:txBody>
      </p:sp>
      <p:sp>
        <p:nvSpPr>
          <p:cNvPr id="19" name="peer-4-body"/>
          <p:cNvSpPr txBox="1"/>
          <p:nvPr/>
        </p:nvSpPr>
        <p:spPr>
          <a:xfrm>
            <a:off x="9205722" y="3145536"/>
            <a:ext cx="2315718" cy="192024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Digital + work owners:</a:t>
            </a:r>
          </a:p>
          <a:p>
            <a:pPr>
              <a:lnSpc>
                <a:spcPct val="108000"/>
              </a:lnSpc>
              <a:spcBef>
                <a:spcPts val="0"/>
              </a:spcBef>
              <a:spcAft>
                <a:spcPts val="500"/>
              </a:spcAft>
            </a:pPr>
            <a:r>
              <a:rPr sz="2200" b="0" i="0">
                <a:solidFill>
                  <a:srgbClr val="183A31"/>
                </a:solidFill>
                <a:latin typeface="Liberation Sans"/>
              </a:rPr>
              <a:t>exit tests first.</a:t>
            </a:r>
          </a:p>
        </p:txBody>
      </p:sp>
      <p:sp>
        <p:nvSpPr>
          <p:cNvPr id="20" name="boundary-background" descr="Container background; accompanying native text provides content."/>
          <p:cNvSpPr/>
          <p:nvPr/>
        </p:nvSpPr>
        <p:spPr>
          <a:xfrm>
            <a:off x="502920" y="5669280"/>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boundary-text"/>
          <p:cNvSpPr txBox="1"/>
          <p:nvPr/>
        </p:nvSpPr>
        <p:spPr>
          <a:xfrm>
            <a:off x="667512" y="5760720"/>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1" i="0">
                <a:solidFill>
                  <a:srgbClr val="183A31"/>
                </a:solidFill>
                <a:latin typeface="Liberation Sans"/>
              </a:rPr>
              <a:t>Proposed owners. No permanent dual entry. No compulsory portal.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Prove the programme. Test the AI separately.</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S02 / S05 / S07 / S10  •  Sources + status in notes</a:t>
            </a:r>
          </a:p>
        </p:txBody>
      </p:sp>
      <p:sp>
        <p:nvSpPr>
          <p:cNvPr id="7" name="page-counter"/>
          <p:cNvSpPr txBox="1"/>
          <p:nvPr/>
        </p:nvSpPr>
        <p:spPr>
          <a:xfrm>
            <a:off x="10972800" y="6620256"/>
            <a:ext cx="713232"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16 / 24</a:t>
            </a:r>
          </a:p>
        </p:txBody>
      </p:sp>
      <p:sp>
        <p:nvSpPr>
          <p:cNvPr id="8" name="peer-1-background" descr="Container background; accompanying native text provides content."/>
          <p:cNvSpPr/>
          <p:nvPr/>
        </p:nvSpPr>
        <p:spPr>
          <a:xfrm>
            <a:off x="502920" y="1847088"/>
            <a:ext cx="549097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er-1-title"/>
          <p:cNvSpPr txBox="1"/>
          <p:nvPr/>
        </p:nvSpPr>
        <p:spPr>
          <a:xfrm>
            <a:off x="667512" y="2029968"/>
            <a:ext cx="516178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Programme comparison</a:t>
            </a:r>
          </a:p>
        </p:txBody>
      </p:sp>
      <p:sp>
        <p:nvSpPr>
          <p:cNvPr id="10" name="peer-1-body"/>
          <p:cNvSpPr txBox="1"/>
          <p:nvPr/>
        </p:nvSpPr>
        <p:spPr>
          <a:xfrm>
            <a:off x="667512" y="3044952"/>
            <a:ext cx="516178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0" i="0">
                <a:solidFill>
                  <a:srgbClr val="183A31"/>
                </a:solidFill>
                <a:latin typeface="Liberation Sans"/>
              </a:rPr>
              <a:t>Matched existing teams.</a:t>
            </a:r>
          </a:p>
          <a:p>
            <a:pPr>
              <a:lnSpc>
                <a:spcPct val="108000"/>
              </a:lnSpc>
              <a:spcBef>
                <a:spcPts val="0"/>
              </a:spcBef>
              <a:spcAft>
                <a:spcPts val="500"/>
              </a:spcAft>
            </a:pPr>
            <a:r>
              <a:rPr sz="2400" b="0" i="0">
                <a:solidFill>
                  <a:srgbClr val="183A31"/>
                </a:solidFill>
                <a:latin typeface="Liberation Sans"/>
              </a:rPr>
              <a:t>Frozen cohort; same events.</a:t>
            </a:r>
          </a:p>
          <a:p>
            <a:pPr>
              <a:lnSpc>
                <a:spcPct val="108000"/>
              </a:lnSpc>
              <a:spcBef>
                <a:spcPts val="0"/>
              </a:spcBef>
              <a:spcAft>
                <a:spcPts val="500"/>
              </a:spcAft>
            </a:pPr>
            <a:r>
              <a:rPr sz="2400" b="0" i="0">
                <a:solidFill>
                  <a:srgbClr val="183A31"/>
                </a:solidFill>
                <a:latin typeface="Liberation Sans"/>
              </a:rPr>
              <a:t>Accepted handovers +</a:t>
            </a:r>
          </a:p>
          <a:p>
            <a:pPr>
              <a:lnSpc>
                <a:spcPct val="108000"/>
              </a:lnSpc>
              <a:spcBef>
                <a:spcPts val="0"/>
              </a:spcBef>
              <a:spcAft>
                <a:spcPts val="500"/>
              </a:spcAft>
            </a:pPr>
            <a:r>
              <a:rPr sz="2400" b="0" i="0">
                <a:solidFill>
                  <a:srgbClr val="183A31"/>
                </a:solidFill>
                <a:latin typeface="Liberation Sans"/>
              </a:rPr>
              <a:t>whole-chain cost.</a:t>
            </a:r>
          </a:p>
        </p:txBody>
      </p:sp>
      <p:sp>
        <p:nvSpPr>
          <p:cNvPr id="11" name="peer-2-background" descr="Container background; accompanying native text provides content."/>
          <p:cNvSpPr/>
          <p:nvPr/>
        </p:nvSpPr>
        <p:spPr>
          <a:xfrm>
            <a:off x="6195059" y="1847088"/>
            <a:ext cx="549097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eer-2-title"/>
          <p:cNvSpPr txBox="1"/>
          <p:nvPr/>
        </p:nvSpPr>
        <p:spPr>
          <a:xfrm>
            <a:off x="6359651" y="2029968"/>
            <a:ext cx="516178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Paired task comparison</a:t>
            </a:r>
          </a:p>
        </p:txBody>
      </p:sp>
      <p:sp>
        <p:nvSpPr>
          <p:cNvPr id="13" name="peer-2-body"/>
          <p:cNvSpPr txBox="1"/>
          <p:nvPr/>
        </p:nvSpPr>
        <p:spPr>
          <a:xfrm>
            <a:off x="6359651" y="3044952"/>
            <a:ext cx="516178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0" i="0">
                <a:solidFill>
                  <a:srgbClr val="183A31"/>
                </a:solidFill>
                <a:latin typeface="Liberation Sans"/>
              </a:rPr>
              <a:t>Same inputs: manual/rules</a:t>
            </a:r>
          </a:p>
          <a:p>
            <a:pPr>
              <a:lnSpc>
                <a:spcPct val="108000"/>
              </a:lnSpc>
              <a:spcBef>
                <a:spcPts val="0"/>
              </a:spcBef>
              <a:spcAft>
                <a:spcPts val="500"/>
              </a:spcAft>
            </a:pPr>
            <a:r>
              <a:rPr sz="2400" b="0" i="0">
                <a:solidFill>
                  <a:srgbClr val="183A31"/>
                </a:solidFill>
                <a:latin typeface="Liberation Sans"/>
              </a:rPr>
              <a:t>versus assistance.</a:t>
            </a:r>
          </a:p>
          <a:p>
            <a:pPr>
              <a:lnSpc>
                <a:spcPct val="108000"/>
              </a:lnSpc>
              <a:spcBef>
                <a:spcPts val="0"/>
              </a:spcBef>
              <a:spcAft>
                <a:spcPts val="500"/>
              </a:spcAft>
            </a:pPr>
            <a:r>
              <a:rPr sz="2400" b="0" i="0">
                <a:solidFill>
                  <a:srgbClr val="183A31"/>
                </a:solidFill>
                <a:latin typeface="Liberation Sans"/>
              </a:rPr>
              <a:t>Quality, net human effort,</a:t>
            </a:r>
          </a:p>
          <a:p>
            <a:pPr>
              <a:lnSpc>
                <a:spcPct val="108000"/>
              </a:lnSpc>
              <a:spcBef>
                <a:spcPts val="0"/>
              </a:spcBef>
              <a:spcAft>
                <a:spcPts val="500"/>
              </a:spcAft>
            </a:pPr>
            <a:r>
              <a:rPr sz="2400" b="0" i="0">
                <a:solidFill>
                  <a:srgbClr val="183A31"/>
                </a:solidFill>
                <a:latin typeface="Liberation Sans"/>
              </a:rPr>
              <a:t>latency and cost.</a:t>
            </a:r>
          </a:p>
        </p:txBody>
      </p:sp>
      <p:sp>
        <p:nvSpPr>
          <p:cNvPr id="14" name="boundary-background" descr="Container background; accompanying native text provides content."/>
          <p:cNvSpPr/>
          <p:nvPr/>
        </p:nvSpPr>
        <p:spPr>
          <a:xfrm>
            <a:off x="502920" y="5669280"/>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boundary-text"/>
          <p:cNvSpPr txBox="1"/>
          <p:nvPr/>
        </p:nvSpPr>
        <p:spPr>
          <a:xfrm>
            <a:off x="667512" y="5760720"/>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1" i="0">
                <a:solidFill>
                  <a:srgbClr val="183A31"/>
                </a:solidFill>
                <a:latin typeface="Liberation Sans"/>
              </a:rPr>
              <a:t>Include unfinished/withdrawn homes. Protect safety, choice, quality, equity + cash.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Earn the next gate; do not repeat the last proof.</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S07 / S09 / S10 / S11  •  Sources + status in notes</a:t>
            </a:r>
          </a:p>
        </p:txBody>
      </p:sp>
      <p:sp>
        <p:nvSpPr>
          <p:cNvPr id="7" name="page-counter"/>
          <p:cNvSpPr txBox="1"/>
          <p:nvPr/>
        </p:nvSpPr>
        <p:spPr>
          <a:xfrm>
            <a:off x="10972800" y="6620256"/>
            <a:ext cx="713232"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17 / 24</a:t>
            </a:r>
          </a:p>
        </p:txBody>
      </p:sp>
      <p:sp>
        <p:nvSpPr>
          <p:cNvPr id="8" name="peer-1-background" descr="Container background; accompanying native text provides content."/>
          <p:cNvSpPr/>
          <p:nvPr/>
        </p:nvSpPr>
        <p:spPr>
          <a:xfrm>
            <a:off x="502920" y="1847088"/>
            <a:ext cx="264490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er-1-title"/>
          <p:cNvSpPr txBox="1"/>
          <p:nvPr/>
        </p:nvSpPr>
        <p:spPr>
          <a:xfrm>
            <a:off x="667512" y="2029968"/>
            <a:ext cx="2315718" cy="667512"/>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1  Confirm</a:t>
            </a:r>
          </a:p>
        </p:txBody>
      </p:sp>
      <p:sp>
        <p:nvSpPr>
          <p:cNvPr id="10" name="peer-1-body"/>
          <p:cNvSpPr txBox="1"/>
          <p:nvPr/>
        </p:nvSpPr>
        <p:spPr>
          <a:xfrm>
            <a:off x="667512" y="2852928"/>
            <a:ext cx="2315718" cy="2212848"/>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0" i="0">
                <a:solidFill>
                  <a:srgbClr val="183A31"/>
                </a:solidFill>
                <a:latin typeface="Liberation Sans"/>
              </a:rPr>
              <a:t>Requirements,</a:t>
            </a:r>
          </a:p>
          <a:p>
            <a:pPr>
              <a:lnSpc>
                <a:spcPct val="108000"/>
              </a:lnSpc>
              <a:spcBef>
                <a:spcPts val="0"/>
              </a:spcBef>
              <a:spcAft>
                <a:spcPts val="500"/>
              </a:spcAft>
            </a:pPr>
            <a:r>
              <a:rPr sz="2300" b="0" i="0">
                <a:solidFill>
                  <a:srgbClr val="183A31"/>
                </a:solidFill>
                <a:latin typeface="Liberation Sans"/>
              </a:rPr>
              <a:t>owners, authority.</a:t>
            </a:r>
          </a:p>
        </p:txBody>
      </p:sp>
      <p:sp>
        <p:nvSpPr>
          <p:cNvPr id="11" name="peer-2-background" descr="Container background; accompanying native text provides content."/>
          <p:cNvSpPr/>
          <p:nvPr/>
        </p:nvSpPr>
        <p:spPr>
          <a:xfrm>
            <a:off x="3348990" y="1847088"/>
            <a:ext cx="264490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eer-2-title"/>
          <p:cNvSpPr txBox="1"/>
          <p:nvPr/>
        </p:nvSpPr>
        <p:spPr>
          <a:xfrm>
            <a:off x="3513582" y="2029968"/>
            <a:ext cx="2315718" cy="667512"/>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2  Test</a:t>
            </a:r>
          </a:p>
        </p:txBody>
      </p:sp>
      <p:sp>
        <p:nvSpPr>
          <p:cNvPr id="13" name="peer-2-body"/>
          <p:cNvSpPr txBox="1"/>
          <p:nvPr/>
        </p:nvSpPr>
        <p:spPr>
          <a:xfrm>
            <a:off x="3513582" y="2852928"/>
            <a:ext cx="2315718" cy="2212848"/>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0" i="0">
                <a:solidFill>
                  <a:srgbClr val="183A31"/>
                </a:solidFill>
                <a:latin typeface="Liberation Sans"/>
              </a:rPr>
              <a:t>Real staff/session,</a:t>
            </a:r>
          </a:p>
          <a:p>
            <a:pPr>
              <a:lnSpc>
                <a:spcPct val="108000"/>
              </a:lnSpc>
              <a:spcBef>
                <a:spcPts val="0"/>
              </a:spcBef>
              <a:spcAft>
                <a:spcPts val="500"/>
              </a:spcAft>
            </a:pPr>
            <a:r>
              <a:rPr sz="2300" b="0" i="0">
                <a:solidFill>
                  <a:srgbClr val="183A31"/>
                </a:solidFill>
                <a:latin typeface="Liberation Sans"/>
              </a:rPr>
              <a:t>source review, roles,</a:t>
            </a:r>
          </a:p>
          <a:p>
            <a:pPr>
              <a:lnSpc>
                <a:spcPct val="108000"/>
              </a:lnSpc>
              <a:spcBef>
                <a:spcPts val="0"/>
              </a:spcBef>
              <a:spcAft>
                <a:spcPts val="500"/>
              </a:spcAft>
            </a:pPr>
            <a:r>
              <a:rPr sz="2300" b="0" i="0">
                <a:solidFill>
                  <a:srgbClr val="183A31"/>
                </a:solidFill>
                <a:latin typeface="Liberation Sans"/>
              </a:rPr>
              <a:t>accessibility.</a:t>
            </a:r>
          </a:p>
        </p:txBody>
      </p:sp>
      <p:sp>
        <p:nvSpPr>
          <p:cNvPr id="14" name="peer-3-background" descr="Container background; accompanying native text provides content."/>
          <p:cNvSpPr/>
          <p:nvPr/>
        </p:nvSpPr>
        <p:spPr>
          <a:xfrm>
            <a:off x="6195060" y="1847088"/>
            <a:ext cx="264490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peer-3-title"/>
          <p:cNvSpPr txBox="1"/>
          <p:nvPr/>
        </p:nvSpPr>
        <p:spPr>
          <a:xfrm>
            <a:off x="6359652" y="2029968"/>
            <a:ext cx="2315718" cy="667512"/>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3  Compare</a:t>
            </a:r>
          </a:p>
        </p:txBody>
      </p:sp>
      <p:sp>
        <p:nvSpPr>
          <p:cNvPr id="16" name="peer-3-body"/>
          <p:cNvSpPr txBox="1"/>
          <p:nvPr/>
        </p:nvSpPr>
        <p:spPr>
          <a:xfrm>
            <a:off x="6359652" y="2852928"/>
            <a:ext cx="2315718" cy="2212848"/>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0" i="0">
                <a:solidFill>
                  <a:srgbClr val="183A31"/>
                </a:solidFill>
                <a:latin typeface="Liberation Sans"/>
              </a:rPr>
              <a:t>Semantics, net effort,</a:t>
            </a:r>
          </a:p>
          <a:p>
            <a:pPr>
              <a:lnSpc>
                <a:spcPct val="108000"/>
              </a:lnSpc>
              <a:spcBef>
                <a:spcPts val="0"/>
              </a:spcBef>
              <a:spcAft>
                <a:spcPts val="500"/>
              </a:spcAft>
            </a:pPr>
            <a:r>
              <a:rPr sz="2300" b="0" i="0">
                <a:solidFill>
                  <a:srgbClr val="183A31"/>
                </a:solidFill>
                <a:latin typeface="Liberation Sans"/>
              </a:rPr>
              <a:t>cost, recovery.</a:t>
            </a:r>
          </a:p>
        </p:txBody>
      </p:sp>
      <p:sp>
        <p:nvSpPr>
          <p:cNvPr id="17" name="peer-4-background" descr="Container background; accompanying native text provides content."/>
          <p:cNvSpPr/>
          <p:nvPr/>
        </p:nvSpPr>
        <p:spPr>
          <a:xfrm>
            <a:off x="9041130" y="1847088"/>
            <a:ext cx="264490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peer-4-title"/>
          <p:cNvSpPr txBox="1"/>
          <p:nvPr/>
        </p:nvSpPr>
        <p:spPr>
          <a:xfrm>
            <a:off x="9205722" y="2029968"/>
            <a:ext cx="2315718" cy="667512"/>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4  Decide</a:t>
            </a:r>
          </a:p>
        </p:txBody>
      </p:sp>
      <p:sp>
        <p:nvSpPr>
          <p:cNvPr id="19" name="peer-4-body"/>
          <p:cNvSpPr txBox="1"/>
          <p:nvPr/>
        </p:nvSpPr>
        <p:spPr>
          <a:xfrm>
            <a:off x="9205722" y="2852928"/>
            <a:ext cx="2315718" cy="2212848"/>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0" i="0">
                <a:solidFill>
                  <a:srgbClr val="183A31"/>
                </a:solidFill>
                <a:latin typeface="Liberation Sans"/>
              </a:rPr>
              <a:t>Continue,</a:t>
            </a:r>
          </a:p>
          <a:p>
            <a:pPr>
              <a:lnSpc>
                <a:spcPct val="108000"/>
              </a:lnSpc>
              <a:spcBef>
                <a:spcPts val="0"/>
              </a:spcBef>
              <a:spcAft>
                <a:spcPts val="500"/>
              </a:spcAft>
            </a:pPr>
            <a:r>
              <a:rPr sz="2300" b="0" i="0">
                <a:solidFill>
                  <a:srgbClr val="183A31"/>
                </a:solidFill>
                <a:latin typeface="Liberation Sans"/>
              </a:rPr>
              <a:t>simplify or stop.</a:t>
            </a:r>
          </a:p>
        </p:txBody>
      </p:sp>
      <p:sp>
        <p:nvSpPr>
          <p:cNvPr id="20" name="boundary-background" descr="Container background; accompanying native text provides content."/>
          <p:cNvSpPr/>
          <p:nvPr/>
        </p:nvSpPr>
        <p:spPr>
          <a:xfrm>
            <a:off x="502920" y="5669280"/>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boundary-text"/>
          <p:cNvSpPr txBox="1"/>
          <p:nvPr/>
        </p:nvSpPr>
        <p:spPr>
          <a:xfrm>
            <a:off x="667512" y="5760720"/>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1" i="0">
                <a:solidFill>
                  <a:srgbClr val="183A31"/>
                </a:solidFill>
                <a:latin typeface="Liberation Sans"/>
              </a:rPr>
              <a:t>Outstanding gates: critical failure -&gt; stop; no AI value -&gt; simplify.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73F35"/>
        </a:solidFill>
        <a:effectLst/>
      </p:bgPr>
    </p:bg>
    <p:spTree>
      <p:nvGrpSpPr>
        <p:cNvPr id="1" name=""/>
        <p:cNvGrpSpPr/>
        <p:nvPr/>
      </p:nvGrpSpPr>
      <p:grpSpPr/>
      <p:sp>
        <p:nvSpPr>
          <p:cNvPr id="2" name="deck-eyebrow"/>
          <p:cNvSpPr txBox="1"/>
          <p:nvPr/>
        </p:nvSpPr>
        <p:spPr>
          <a:xfrm>
            <a:off x="502920" y="228600"/>
            <a:ext cx="731520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F7F2E7"/>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F7F2E7"/>
                </a:solidFill>
                <a:latin typeface="Liberation Sans"/>
              </a:rPr>
              <a:t>Endorse the next acceptance-and-value proposal.</a:t>
            </a:r>
          </a:p>
        </p:txBody>
      </p:sp>
      <p:sp>
        <p:nvSpPr>
          <p:cNvPr id="6" name="source-footer"/>
          <p:cNvSpPr txBox="1"/>
          <p:nvPr/>
        </p:nvSpPr>
        <p:spPr>
          <a:xfrm>
            <a:off x="502920" y="6656832"/>
            <a:ext cx="10424160" cy="192024"/>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F7F2E7"/>
                </a:solidFill>
                <a:latin typeface="Liberation Sans"/>
              </a:rPr>
              <a:t>14 OCT 2026 | S16 + retained sources/status in notes</a:t>
            </a:r>
          </a:p>
        </p:txBody>
      </p:sp>
      <p:sp>
        <p:nvSpPr>
          <p:cNvPr id="7" name="page-counter"/>
          <p:cNvSpPr txBox="1"/>
          <p:nvPr/>
        </p:nvSpPr>
        <p:spPr>
          <a:xfrm>
            <a:off x="10972800" y="6620256"/>
            <a:ext cx="713232"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F7F2E7"/>
                </a:solidFill>
                <a:latin typeface="Liberation Sans"/>
              </a:rPr>
              <a:t>18 / 24</a:t>
            </a:r>
          </a:p>
        </p:txBody>
      </p:sp>
      <p:sp>
        <p:nvSpPr>
          <p:cNvPr id="8" name="closing-ask"/>
          <p:cNvSpPr txBox="1"/>
          <p:nvPr/>
        </p:nvSpPr>
        <p:spPr>
          <a:xfrm>
            <a:off x="502920" y="1810512"/>
            <a:ext cx="11183112" cy="676656"/>
          </a:xfrm>
          <a:prstGeom prst="rect">
            <a:avLst/>
          </a:prstGeom>
          <a:noFill/>
        </p:spPr>
        <p:txBody>
          <a:bodyPr wrap="square" lIns="18288" rIns="18288" tIns="18288" bIns="18288" anchor="t">
            <a:noAutofit/>
          </a:bodyPr>
          <a:lstStyle/>
          <a:p>
            <a:pPr>
              <a:lnSpc>
                <a:spcPct val="102000"/>
              </a:lnSpc>
              <a:spcBef>
                <a:spcPts val="0"/>
              </a:spcBef>
              <a:spcAft>
                <a:spcPts val="0"/>
              </a:spcAft>
            </a:pPr>
            <a:r>
              <a:rPr sz="2400" b="1" i="0">
                <a:solidFill>
                  <a:srgbClr val="F7F2E7"/>
                </a:solidFill>
                <a:latin typeface="Liberation Sans"/>
              </a:rPr>
              <a:t>Endorse preparation of the next acceptance-and-value proposal.</a:t>
            </a:r>
          </a:p>
        </p:txBody>
      </p:sp>
      <p:sp>
        <p:nvSpPr>
          <p:cNvPr id="9" name="peer-1-background" descr="Container background; accompanying native text provides content."/>
          <p:cNvSpPr/>
          <p:nvPr/>
        </p:nvSpPr>
        <p:spPr>
          <a:xfrm>
            <a:off x="502920" y="2724912"/>
            <a:ext cx="3593592" cy="2468880"/>
          </a:xfrm>
          <a:prstGeom prst="roundRect">
            <a:avLst/>
          </a:prstGeom>
          <a:solidFill>
            <a:srgbClr val="F7F2E7"/>
          </a:solidFill>
          <a:ln w="16510">
            <a:solidFill>
              <a:srgbClr val="173F35"/>
            </a:solidFill>
            <a:prstDash val="solid"/>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peer-1-title"/>
          <p:cNvSpPr txBox="1"/>
          <p:nvPr/>
        </p:nvSpPr>
        <p:spPr>
          <a:xfrm>
            <a:off x="667512" y="2907792"/>
            <a:ext cx="3264408" cy="466344"/>
          </a:xfrm>
          <a:prstGeom prst="rect">
            <a:avLst/>
          </a:prstGeom>
          <a:noFill/>
        </p:spPr>
        <p:txBody>
          <a:bodyPr wrap="square" lIns="18288" rIns="18288" tIns="18288" bIns="18288" anchor="t">
            <a:noAutofit/>
          </a:bodyPr>
          <a:lstStyle/>
          <a:p>
            <a:pPr>
              <a:lnSpc>
                <a:spcPct val="102000"/>
              </a:lnSpc>
              <a:spcBef>
                <a:spcPts val="0"/>
              </a:spcBef>
              <a:spcAft>
                <a:spcPts val="0"/>
              </a:spcAft>
            </a:pPr>
            <a:r>
              <a:rPr sz="2300" b="1" i="0">
                <a:solidFill>
                  <a:srgbClr val="183A31"/>
                </a:solidFill>
                <a:latin typeface="Liberation Sans"/>
              </a:rPr>
              <a:t>CEO / Assets</a:t>
            </a:r>
          </a:p>
        </p:txBody>
      </p:sp>
      <p:sp>
        <p:nvSpPr>
          <p:cNvPr id="11" name="peer-1-body"/>
          <p:cNvSpPr txBox="1"/>
          <p:nvPr/>
        </p:nvSpPr>
        <p:spPr>
          <a:xfrm>
            <a:off x="667512" y="3529584"/>
            <a:ext cx="3264408" cy="1481328"/>
          </a:xfrm>
          <a:prstGeom prst="rect">
            <a:avLst/>
          </a:prstGeom>
          <a:noFill/>
        </p:spPr>
        <p:txBody>
          <a:bodyPr wrap="square" lIns="18288" rIns="18288" tIns="18288" bIns="18288" anchor="t">
            <a:noAutofit/>
          </a:bodyPr>
          <a:lstStyle/>
          <a:p>
            <a:pPr>
              <a:lnSpc>
                <a:spcPct val="102000"/>
              </a:lnSpc>
              <a:spcBef>
                <a:spcPts val="0"/>
              </a:spcBef>
              <a:spcAft>
                <a:spcPts val="0"/>
              </a:spcAft>
            </a:pPr>
            <a:r>
              <a:rPr sz="2100" b="0" i="0">
                <a:solidFill>
                  <a:srgbClr val="183A31"/>
                </a:solidFill>
                <a:latin typeface="Liberation Sans"/>
              </a:rPr>
              <a:t>Owner: proposed sponsor</a:t>
            </a:r>
          </a:p>
          <a:p>
            <a:pPr>
              <a:lnSpc>
                <a:spcPct val="102000"/>
              </a:lnSpc>
              <a:spcBef>
                <a:spcPts val="0"/>
              </a:spcBef>
              <a:spcAft>
                <a:spcPts val="0"/>
              </a:spcAft>
            </a:pPr>
            <a:r>
              <a:rPr sz="2100" b="0" i="0">
                <a:solidFill>
                  <a:srgbClr val="183A31"/>
                </a:solidFill>
                <a:latin typeface="Liberation Sans"/>
              </a:rPr>
              <a:t>Deliverable: accountable</a:t>
            </a:r>
          </a:p>
          <a:p>
            <a:pPr>
              <a:lnSpc>
                <a:spcPct val="102000"/>
              </a:lnSpc>
              <a:spcBef>
                <a:spcPts val="0"/>
              </a:spcBef>
              <a:spcAft>
                <a:spcPts val="0"/>
              </a:spcAft>
            </a:pPr>
            <a:r>
              <a:rPr sz="2100" b="0" i="0">
                <a:solidFill>
                  <a:srgbClr val="183A31"/>
                </a:solidFill>
                <a:latin typeface="Liberation Sans"/>
              </a:rPr>
              <a:t>owners + scope.</a:t>
            </a:r>
          </a:p>
        </p:txBody>
      </p:sp>
      <p:sp>
        <p:nvSpPr>
          <p:cNvPr id="12" name="peer-2-background" descr="Container background; accompanying native text provides content."/>
          <p:cNvSpPr/>
          <p:nvPr/>
        </p:nvSpPr>
        <p:spPr>
          <a:xfrm>
            <a:off x="4297680" y="2724912"/>
            <a:ext cx="3593592" cy="2468880"/>
          </a:xfrm>
          <a:prstGeom prst="roundRect">
            <a:avLst/>
          </a:prstGeom>
          <a:solidFill>
            <a:srgbClr val="F7F2E7"/>
          </a:solidFill>
          <a:ln w="16510">
            <a:solidFill>
              <a:srgbClr val="173F35"/>
            </a:solidFill>
            <a:prstDash val="solid"/>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peer-2-title"/>
          <p:cNvSpPr txBox="1"/>
          <p:nvPr/>
        </p:nvSpPr>
        <p:spPr>
          <a:xfrm>
            <a:off x="4462272" y="2907792"/>
            <a:ext cx="3264408" cy="466344"/>
          </a:xfrm>
          <a:prstGeom prst="rect">
            <a:avLst/>
          </a:prstGeom>
          <a:noFill/>
        </p:spPr>
        <p:txBody>
          <a:bodyPr wrap="square" lIns="18288" rIns="18288" tIns="18288" bIns="18288" anchor="t">
            <a:noAutofit/>
          </a:bodyPr>
          <a:lstStyle/>
          <a:p>
            <a:pPr>
              <a:lnSpc>
                <a:spcPct val="102000"/>
              </a:lnSpc>
              <a:spcBef>
                <a:spcPts val="0"/>
              </a:spcBef>
              <a:spcAft>
                <a:spcPts val="0"/>
              </a:spcAft>
            </a:pPr>
            <a:r>
              <a:rPr sz="2300" b="1" i="0">
                <a:solidFill>
                  <a:srgbClr val="183A31"/>
                </a:solidFill>
                <a:latin typeface="Liberation Sans"/>
              </a:rPr>
              <a:t>CIO / Programme</a:t>
            </a:r>
          </a:p>
        </p:txBody>
      </p:sp>
      <p:sp>
        <p:nvSpPr>
          <p:cNvPr id="14" name="peer-2-body"/>
          <p:cNvSpPr txBox="1"/>
          <p:nvPr/>
        </p:nvSpPr>
        <p:spPr>
          <a:xfrm>
            <a:off x="4462272" y="3529584"/>
            <a:ext cx="3264408" cy="1481328"/>
          </a:xfrm>
          <a:prstGeom prst="rect">
            <a:avLst/>
          </a:prstGeom>
          <a:noFill/>
        </p:spPr>
        <p:txBody>
          <a:bodyPr wrap="square" lIns="18288" rIns="18288" tIns="18288" bIns="18288" anchor="t">
            <a:noAutofit/>
          </a:bodyPr>
          <a:lstStyle/>
          <a:p>
            <a:pPr>
              <a:lnSpc>
                <a:spcPct val="102000"/>
              </a:lnSpc>
              <a:spcBef>
                <a:spcPts val="0"/>
              </a:spcBef>
              <a:spcAft>
                <a:spcPts val="0"/>
              </a:spcAft>
            </a:pPr>
            <a:r>
              <a:rPr sz="2100" b="0" i="0">
                <a:solidFill>
                  <a:srgbClr val="183A31"/>
                </a:solidFill>
                <a:latin typeface="Liberation Sans"/>
              </a:rPr>
              <a:t>Owner: proposed operator</a:t>
            </a:r>
          </a:p>
          <a:p>
            <a:pPr>
              <a:lnSpc>
                <a:spcPct val="102000"/>
              </a:lnSpc>
              <a:spcBef>
                <a:spcPts val="0"/>
              </a:spcBef>
              <a:spcAft>
                <a:spcPts val="0"/>
              </a:spcAft>
            </a:pPr>
            <a:r>
              <a:rPr sz="2100" b="0" i="0">
                <a:solidFill>
                  <a:srgbClr val="183A31"/>
                </a:solidFill>
                <a:latin typeface="Liberation Sans"/>
              </a:rPr>
              <a:t>Deliverable: human, access</a:t>
            </a:r>
          </a:p>
          <a:p>
            <a:pPr>
              <a:lnSpc>
                <a:spcPct val="102000"/>
              </a:lnSpc>
              <a:spcBef>
                <a:spcPts val="0"/>
              </a:spcBef>
              <a:spcAft>
                <a:spcPts val="0"/>
              </a:spcAft>
            </a:pPr>
            <a:r>
              <a:rPr sz="2100" b="0" i="0">
                <a:solidFill>
                  <a:srgbClr val="183A31"/>
                </a:solidFill>
                <a:latin typeface="Liberation Sans"/>
              </a:rPr>
              <a:t>and recovery evidence.</a:t>
            </a:r>
          </a:p>
        </p:txBody>
      </p:sp>
      <p:sp>
        <p:nvSpPr>
          <p:cNvPr id="15" name="peer-3-background" descr="Container background; accompanying native text provides content."/>
          <p:cNvSpPr/>
          <p:nvPr/>
        </p:nvSpPr>
        <p:spPr>
          <a:xfrm>
            <a:off x="8092440" y="2724912"/>
            <a:ext cx="3593592" cy="2468880"/>
          </a:xfrm>
          <a:prstGeom prst="roundRect">
            <a:avLst/>
          </a:prstGeom>
          <a:solidFill>
            <a:srgbClr val="F7F2E7"/>
          </a:solidFill>
          <a:ln w="16510">
            <a:solidFill>
              <a:srgbClr val="173F35"/>
            </a:solidFill>
            <a:prstDash val="solid"/>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peer-3-title"/>
          <p:cNvSpPr txBox="1"/>
          <p:nvPr/>
        </p:nvSpPr>
        <p:spPr>
          <a:xfrm>
            <a:off x="8257032" y="2907792"/>
            <a:ext cx="3264408" cy="466344"/>
          </a:xfrm>
          <a:prstGeom prst="rect">
            <a:avLst/>
          </a:prstGeom>
          <a:noFill/>
        </p:spPr>
        <p:txBody>
          <a:bodyPr wrap="square" lIns="18288" rIns="18288" tIns="18288" bIns="18288" anchor="t">
            <a:noAutofit/>
          </a:bodyPr>
          <a:lstStyle/>
          <a:p>
            <a:pPr>
              <a:lnSpc>
                <a:spcPct val="102000"/>
              </a:lnSpc>
              <a:spcBef>
                <a:spcPts val="0"/>
              </a:spcBef>
              <a:spcAft>
                <a:spcPts val="0"/>
              </a:spcAft>
            </a:pPr>
            <a:r>
              <a:rPr sz="2300" b="1" i="0">
                <a:solidFill>
                  <a:srgbClr val="183A31"/>
                </a:solidFill>
                <a:latin typeface="Liberation Sans"/>
              </a:rPr>
              <a:t>CFO</a:t>
            </a:r>
          </a:p>
        </p:txBody>
      </p:sp>
      <p:sp>
        <p:nvSpPr>
          <p:cNvPr id="17" name="peer-3-body"/>
          <p:cNvSpPr txBox="1"/>
          <p:nvPr/>
        </p:nvSpPr>
        <p:spPr>
          <a:xfrm>
            <a:off x="8257032" y="3529584"/>
            <a:ext cx="3264408" cy="1481328"/>
          </a:xfrm>
          <a:prstGeom prst="rect">
            <a:avLst/>
          </a:prstGeom>
          <a:noFill/>
        </p:spPr>
        <p:txBody>
          <a:bodyPr wrap="square" lIns="18288" rIns="18288" tIns="18288" bIns="18288" anchor="t">
            <a:noAutofit/>
          </a:bodyPr>
          <a:lstStyle/>
          <a:p>
            <a:pPr>
              <a:lnSpc>
                <a:spcPct val="102000"/>
              </a:lnSpc>
              <a:spcBef>
                <a:spcPts val="0"/>
              </a:spcBef>
              <a:spcAft>
                <a:spcPts val="0"/>
              </a:spcAft>
            </a:pPr>
            <a:r>
              <a:rPr sz="2100" b="0" i="0">
                <a:solidFill>
                  <a:srgbClr val="183A31"/>
                </a:solidFill>
                <a:latin typeface="Liberation Sans"/>
              </a:rPr>
              <a:t>Owner: proposed reviewer</a:t>
            </a:r>
          </a:p>
          <a:p>
            <a:pPr>
              <a:lnSpc>
                <a:spcPct val="102000"/>
              </a:lnSpc>
              <a:spcBef>
                <a:spcPts val="0"/>
              </a:spcBef>
              <a:spcAft>
                <a:spcPts val="0"/>
              </a:spcAft>
            </a:pPr>
            <a:r>
              <a:rPr sz="2100" b="0" i="0">
                <a:solidFill>
                  <a:srgbClr val="183A31"/>
                </a:solidFill>
                <a:latin typeface="Liberation Sans"/>
              </a:rPr>
              <a:t>Deliverable: whole-life cost</a:t>
            </a:r>
          </a:p>
          <a:p>
            <a:pPr marL="228600" indent="-228600">
              <a:lnSpc>
                <a:spcPct val="102000"/>
              </a:lnSpc>
              <a:spcBef>
                <a:spcPts val="0"/>
              </a:spcBef>
              <a:spcAft>
                <a:spcPts val="0"/>
              </a:spcAft>
              <a:buChar char="•"/>
            </a:pPr>
            <a:r>
              <a:rPr sz="2100" b="0" i="0">
                <a:solidFill>
                  <a:srgbClr val="183A31"/>
                </a:solidFill>
                <a:latin typeface="Liberation Sans"/>
              </a:rPr>
              <a:t>scoped authority review.</a:t>
            </a:r>
          </a:p>
        </p:txBody>
      </p:sp>
      <p:sp>
        <p:nvSpPr>
          <p:cNvPr id="18" name="closing-action-background" descr="Container background; accompanying native text provides content."/>
          <p:cNvSpPr/>
          <p:nvPr/>
        </p:nvSpPr>
        <p:spPr>
          <a:xfrm>
            <a:off x="502920" y="5468112"/>
            <a:ext cx="11183112" cy="749808"/>
          </a:xfrm>
          <a:prstGeom prst="roundRect">
            <a:avLst/>
          </a:prstGeom>
          <a:solidFill>
            <a:srgbClr val="E5B96A"/>
          </a:solidFill>
          <a:ln w="16510">
            <a:solidFill>
              <a:srgbClr val="173F35"/>
            </a:solidFill>
            <a:prstDash val="solid"/>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closing-action"/>
          <p:cNvSpPr txBox="1"/>
          <p:nvPr/>
        </p:nvSpPr>
        <p:spPr>
          <a:xfrm>
            <a:off x="640080" y="5541264"/>
            <a:ext cx="10908792" cy="640080"/>
          </a:xfrm>
          <a:prstGeom prst="rect">
            <a:avLst/>
          </a:prstGeom>
          <a:noFill/>
        </p:spPr>
        <p:txBody>
          <a:bodyPr wrap="square" lIns="18288" rIns="18288" tIns="18288" bIns="18288" anchor="t">
            <a:noAutofit/>
          </a:bodyPr>
          <a:lstStyle/>
          <a:p>
            <a:pPr>
              <a:lnSpc>
                <a:spcPct val="102000"/>
              </a:lnSpc>
              <a:spcBef>
                <a:spcPts val="0"/>
              </a:spcBef>
              <a:spcAft>
                <a:spcPts val="0"/>
              </a:spcAft>
            </a:pPr>
            <a:r>
              <a:rPr sz="2000" b="1" i="0">
                <a:solidFill>
                  <a:srgbClr val="183A31"/>
                </a:solidFill>
                <a:latin typeface="Liberation Sans"/>
              </a:rPr>
              <a:t>Agree owners + return date (to agree). Continue, simplify or stop</a:t>
            </a:r>
          </a:p>
          <a:p>
            <a:pPr>
              <a:lnSpc>
                <a:spcPct val="102000"/>
              </a:lnSpc>
              <a:spcBef>
                <a:spcPts val="0"/>
              </a:spcBef>
              <a:spcAft>
                <a:spcPts val="0"/>
              </a:spcAft>
            </a:pPr>
            <a:r>
              <a:rPr sz="2000" b="1" i="0">
                <a:solidFill>
                  <a:srgbClr val="183A31"/>
                </a:solidFill>
                <a:latin typeface="Liberation Sans"/>
              </a:rPr>
              <a:t>against pre-agreed tests.</a:t>
            </a:r>
          </a:p>
        </p:txBody>
      </p:sp>
      <p:sp>
        <p:nvSpPr>
          <p:cNvPr id="20" name="closing-boundary"/>
          <p:cNvSpPr txBox="1"/>
          <p:nvPr/>
        </p:nvSpPr>
        <p:spPr>
          <a:xfrm>
            <a:off x="502920" y="6281928"/>
            <a:ext cx="11183112" cy="329184"/>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F7F2E7"/>
                </a:solidFill>
                <a:latin typeface="Liberation Sans"/>
              </a:rPr>
              <a:t>No new spending, procurement, rollout or production authority.</a:t>
            </a:r>
          </a:p>
        </p:txBody>
      </p:sp>
      <p:sp>
        <p:nvSpPr>
          <p:cNvPr id="21" name="challenge-19-link" descr="Runtime detail:19">
            <a:hlinkClick action="ppaction://hlinksldjump" r:id="rId4"/>
          </p:cNvPr>
          <p:cNvSpPr txBox="1"/>
          <p:nvPr/>
        </p:nvSpPr>
        <p:spPr>
          <a:xfrm>
            <a:off x="8001000" y="219456"/>
            <a:ext cx="2743200" cy="274320"/>
          </a:xfrm>
          <a:prstGeom prst="rect">
            <a:avLst/>
          </a:prstGeom>
          <a:noFill/>
        </p:spPr>
        <p:txBody>
          <a:bodyPr wrap="square" lIns="18288" rIns="18288" tIns="18288" bIns="18288" anchor="t">
            <a:noAutofit/>
          </a:bodyPr>
          <a:lstStyle/>
          <a:p>
            <a:pPr>
              <a:lnSpc>
                <a:spcPct val="102000"/>
              </a:lnSpc>
              <a:spcBef>
                <a:spcPts val="0"/>
              </a:spcBef>
              <a:spcAft>
                <a:spcPts val="0"/>
              </a:spcAft>
            </a:pPr>
            <a:r>
              <a:rPr sz="1600" b="1" i="0">
                <a:solidFill>
                  <a:srgbClr val="F7F2E7"/>
                </a:solidFill>
                <a:latin typeface="Liberation Sans"/>
              </a:rPr>
              <a:t>Runtime: slide 19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OPTIONAL REFERENCE</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One runtime. Proposals are not domain approvals.</a:t>
            </a:r>
          </a:p>
        </p:txBody>
      </p:sp>
      <p:sp>
        <p:nvSpPr>
          <p:cNvPr id="6" name="source-footer"/>
          <p:cNvSpPr txBox="1"/>
          <p:nvPr/>
        </p:nvSpPr>
        <p:spPr>
          <a:xfrm>
            <a:off x="502920" y="6656832"/>
            <a:ext cx="10424160" cy="192024"/>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S16 + retained sources/status in notes</a:t>
            </a:r>
          </a:p>
        </p:txBody>
      </p:sp>
      <p:sp>
        <p:nvSpPr>
          <p:cNvPr id="7" name="page-counter"/>
          <p:cNvSpPr txBox="1"/>
          <p:nvPr/>
        </p:nvSpPr>
        <p:spPr>
          <a:xfrm>
            <a:off x="10972800" y="6620256"/>
            <a:ext cx="713232"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19 / 24</a:t>
            </a:r>
          </a:p>
        </p:txBody>
      </p:sp>
      <p:cxnSp>
        <p:nvCxnSpPr>
          <p:cNvPr id="8" name="runtime-sign-in-segment-1"/>
          <p:cNvCxnSpPr/>
          <p:nvPr/>
        </p:nvCxnSpPr>
        <p:spPr>
          <a:xfrm>
            <a:off x="3913632" y="2331720"/>
            <a:ext cx="475488" cy="0"/>
          </a:xfrm>
          <a:prstGeom prst="line">
            <a:avLst/>
          </a:prstGeom>
          <a:ln w="22860">
            <a:solidFill>
              <a:srgbClr val="173F35"/>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9" name="runtime-issuer-segment-1"/>
          <p:cNvCxnSpPr/>
          <p:nvPr/>
        </p:nvCxnSpPr>
        <p:spPr>
          <a:xfrm>
            <a:off x="7799831" y="2331720"/>
            <a:ext cx="475489" cy="0"/>
          </a:xfrm>
          <a:prstGeom prst="line">
            <a:avLst/>
          </a:prstGeom>
          <a:ln w="22860">
            <a:solidFill>
              <a:srgbClr val="173F35"/>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0" name="runtime-principal-segment-1"/>
          <p:cNvCxnSpPr/>
          <p:nvPr/>
        </p:nvCxnSpPr>
        <p:spPr>
          <a:xfrm>
            <a:off x="9966960" y="2889504"/>
            <a:ext cx="0" cy="164592"/>
          </a:xfrm>
          <a:prstGeom prst="line">
            <a:avLst/>
          </a:prstGeom>
          <a:ln w="22860">
            <a:solidFill>
              <a:srgbClr val="173F35"/>
            </a:solidFill>
            <a:prstDash val="dash"/>
          </a:ln>
        </p:spPr>
        <p:style>
          <a:lnRef idx="2">
            <a:schemeClr val="accent1"/>
          </a:lnRef>
          <a:fillRef idx="0">
            <a:schemeClr val="accent1"/>
          </a:fillRef>
          <a:effectRef idx="1">
            <a:schemeClr val="accent1"/>
          </a:effectRef>
          <a:fontRef idx="minor">
            <a:schemeClr val="tx1"/>
          </a:fontRef>
        </p:style>
      </p:cxnSp>
      <p:cxnSp>
        <p:nvCxnSpPr>
          <p:cNvPr id="11" name="runtime-principal-segment-2"/>
          <p:cNvCxnSpPr/>
          <p:nvPr/>
        </p:nvCxnSpPr>
        <p:spPr>
          <a:xfrm flipH="1">
            <a:off x="6080760" y="3054096"/>
            <a:ext cx="3886200" cy="0"/>
          </a:xfrm>
          <a:prstGeom prst="line">
            <a:avLst/>
          </a:prstGeom>
          <a:ln w="22860">
            <a:solidFill>
              <a:srgbClr val="173F35"/>
            </a:solidFill>
            <a:prstDash val="dash"/>
          </a:ln>
        </p:spPr>
        <p:style>
          <a:lnRef idx="2">
            <a:schemeClr val="accent1"/>
          </a:lnRef>
          <a:fillRef idx="0">
            <a:schemeClr val="accent1"/>
          </a:fillRef>
          <a:effectRef idx="1">
            <a:schemeClr val="accent1"/>
          </a:effectRef>
          <a:fontRef idx="minor">
            <a:schemeClr val="tx1"/>
          </a:fontRef>
        </p:style>
      </p:cxnSp>
      <p:cxnSp>
        <p:nvCxnSpPr>
          <p:cNvPr id="12" name="runtime-principal-segment-3"/>
          <p:cNvCxnSpPr/>
          <p:nvPr/>
        </p:nvCxnSpPr>
        <p:spPr>
          <a:xfrm>
            <a:off x="6080760" y="3054096"/>
            <a:ext cx="0" cy="192024"/>
          </a:xfrm>
          <a:prstGeom prst="line">
            <a:avLst/>
          </a:prstGeom>
          <a:ln w="22860">
            <a:solidFill>
              <a:srgbClr val="173F35"/>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3" name="runtime-api-model-segment-1"/>
          <p:cNvCxnSpPr/>
          <p:nvPr/>
        </p:nvCxnSpPr>
        <p:spPr>
          <a:xfrm flipH="1">
            <a:off x="3913632" y="3913632"/>
            <a:ext cx="475488" cy="0"/>
          </a:xfrm>
          <a:prstGeom prst="line">
            <a:avLst/>
          </a:prstGeom>
          <a:ln w="22860">
            <a:solidFill>
              <a:srgbClr val="173F35"/>
            </a:solidFill>
            <a:prstDash val="dash"/>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4" name="runtime-api-sql-segment-1"/>
          <p:cNvCxnSpPr/>
          <p:nvPr/>
        </p:nvCxnSpPr>
        <p:spPr>
          <a:xfrm>
            <a:off x="7799831" y="3913632"/>
            <a:ext cx="475489" cy="0"/>
          </a:xfrm>
          <a:prstGeom prst="line">
            <a:avLst/>
          </a:prstGeom>
          <a:ln w="22860">
            <a:solidFill>
              <a:srgbClr val="173F35"/>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15" name="runtime-review-api-segment-1"/>
          <p:cNvCxnSpPr/>
          <p:nvPr/>
        </p:nvCxnSpPr>
        <p:spPr>
          <a:xfrm flipV="1">
            <a:off x="6080760" y="4553712"/>
            <a:ext cx="0" cy="310896"/>
          </a:xfrm>
          <a:prstGeom prst="line">
            <a:avLst/>
          </a:prstGeom>
          <a:ln w="22860">
            <a:solidFill>
              <a:srgbClr val="173F35"/>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16" name="runtime-api-blob-segment-1"/>
          <p:cNvCxnSpPr/>
          <p:nvPr/>
        </p:nvCxnSpPr>
        <p:spPr>
          <a:xfrm>
            <a:off x="7452360" y="4553712"/>
            <a:ext cx="0" cy="201168"/>
          </a:xfrm>
          <a:prstGeom prst="line">
            <a:avLst/>
          </a:prstGeom>
          <a:ln w="22860">
            <a:solidFill>
              <a:srgbClr val="173F35"/>
            </a:solidFill>
            <a:prstDash val="dash"/>
          </a:ln>
        </p:spPr>
        <p:style>
          <a:lnRef idx="2">
            <a:schemeClr val="accent1"/>
          </a:lnRef>
          <a:fillRef idx="0">
            <a:schemeClr val="accent1"/>
          </a:fillRef>
          <a:effectRef idx="1">
            <a:schemeClr val="accent1"/>
          </a:effectRef>
          <a:fontRef idx="minor">
            <a:schemeClr val="tx1"/>
          </a:fontRef>
        </p:style>
      </p:cxnSp>
      <p:cxnSp>
        <p:nvCxnSpPr>
          <p:cNvPr id="17" name="runtime-api-blob-segment-2"/>
          <p:cNvCxnSpPr/>
          <p:nvPr/>
        </p:nvCxnSpPr>
        <p:spPr>
          <a:xfrm>
            <a:off x="7452360" y="4754880"/>
            <a:ext cx="2514600" cy="0"/>
          </a:xfrm>
          <a:prstGeom prst="line">
            <a:avLst/>
          </a:prstGeom>
          <a:ln w="22860">
            <a:solidFill>
              <a:srgbClr val="173F35"/>
            </a:solidFill>
            <a:prstDash val="dash"/>
          </a:ln>
        </p:spPr>
        <p:style>
          <a:lnRef idx="2">
            <a:schemeClr val="accent1"/>
          </a:lnRef>
          <a:fillRef idx="0">
            <a:schemeClr val="accent1"/>
          </a:fillRef>
          <a:effectRef idx="1">
            <a:schemeClr val="accent1"/>
          </a:effectRef>
          <a:fontRef idx="minor">
            <a:schemeClr val="tx1"/>
          </a:fontRef>
        </p:style>
      </p:cxnSp>
      <p:cxnSp>
        <p:nvCxnSpPr>
          <p:cNvPr id="18" name="runtime-api-blob-segment-3"/>
          <p:cNvCxnSpPr/>
          <p:nvPr/>
        </p:nvCxnSpPr>
        <p:spPr>
          <a:xfrm>
            <a:off x="9966960" y="4754880"/>
            <a:ext cx="0" cy="109728"/>
          </a:xfrm>
          <a:prstGeom prst="line">
            <a:avLst/>
          </a:prstGeom>
          <a:ln w="22860">
            <a:solidFill>
              <a:srgbClr val="173F35"/>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9" name="runtime-browser-background" descr="Container background; accompanying native text provides content."/>
          <p:cNvSpPr/>
          <p:nvPr/>
        </p:nvSpPr>
        <p:spPr>
          <a:xfrm>
            <a:off x="502920" y="1847088"/>
            <a:ext cx="3410712" cy="1078992"/>
          </a:xfrm>
          <a:prstGeom prst="roundRect">
            <a:avLst/>
          </a:prstGeom>
          <a:solidFill>
            <a:srgbClr val="F7F2E7"/>
          </a:solidFill>
          <a:ln w="16510">
            <a:solidFill>
              <a:srgbClr val="173F35"/>
            </a:solidFill>
            <a:prstDash val="solid"/>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untime-browser-title"/>
          <p:cNvSpPr txBox="1"/>
          <p:nvPr/>
        </p:nvSpPr>
        <p:spPr>
          <a:xfrm>
            <a:off x="612648" y="1920240"/>
            <a:ext cx="3191256"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Staff browser | HUMAN</a:t>
            </a:r>
          </a:p>
        </p:txBody>
      </p:sp>
      <p:sp>
        <p:nvSpPr>
          <p:cNvPr id="21" name="runtime-browser-body"/>
          <p:cNvSpPr txBox="1"/>
          <p:nvPr/>
        </p:nvSpPr>
        <p:spPr>
          <a:xfrm>
            <a:off x="612648" y="2267712"/>
            <a:ext cx="3191256" cy="603503"/>
          </a:xfrm>
          <a:prstGeom prst="rect">
            <a:avLst/>
          </a:prstGeom>
          <a:noFill/>
        </p:spPr>
        <p:txBody>
          <a:bodyPr wrap="square" lIns="18288" rIns="18288" tIns="18288" bIns="18288" anchor="t">
            <a:noAutofit/>
          </a:bodyPr>
          <a:lstStyle/>
          <a:p>
            <a:pPr>
              <a:lnSpc>
                <a:spcPct val="102000"/>
              </a:lnSpc>
              <a:spcBef>
                <a:spcPts val="0"/>
              </a:spcBef>
              <a:spcAft>
                <a:spcPts val="0"/>
              </a:spcAft>
            </a:pPr>
            <a:r>
              <a:rPr sz="1600" b="0" i="0">
                <a:solidFill>
                  <a:srgbClr val="183A31"/>
                </a:solidFill>
                <a:latin typeface="Liberation Sans"/>
              </a:rPr>
              <a:t>Entra sign-in; HTTPS ingress.</a:t>
            </a:r>
          </a:p>
          <a:p>
            <a:pPr>
              <a:lnSpc>
                <a:spcPct val="102000"/>
              </a:lnSpc>
              <a:spcBef>
                <a:spcPts val="0"/>
              </a:spcBef>
              <a:spcAft>
                <a:spcPts val="0"/>
              </a:spcAft>
            </a:pPr>
            <a:r>
              <a:rPr sz="1600" b="0" i="0">
                <a:solidFill>
                  <a:srgbClr val="183A31"/>
                </a:solidFill>
                <a:latin typeface="Liberation Sans"/>
              </a:rPr>
              <a:t>Public /; protected /app + APIs.</a:t>
            </a:r>
          </a:p>
        </p:txBody>
      </p:sp>
      <p:sp>
        <p:nvSpPr>
          <p:cNvPr id="22" name="runtime-entra-background" descr="Container background; accompanying native text provides content."/>
          <p:cNvSpPr/>
          <p:nvPr/>
        </p:nvSpPr>
        <p:spPr>
          <a:xfrm>
            <a:off x="4389120" y="1847088"/>
            <a:ext cx="3410712" cy="1078992"/>
          </a:xfrm>
          <a:prstGeom prst="roundRect">
            <a:avLst/>
          </a:prstGeom>
          <a:solidFill>
            <a:srgbClr val="D5E2D4"/>
          </a:solidFill>
          <a:ln w="16510">
            <a:solidFill>
              <a:srgbClr val="173F35"/>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untime-entra-title"/>
          <p:cNvSpPr txBox="1"/>
          <p:nvPr/>
        </p:nvSpPr>
        <p:spPr>
          <a:xfrm>
            <a:off x="4498848" y="1920240"/>
            <a:ext cx="3191256"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Entra ID | CONFIGURED</a:t>
            </a:r>
          </a:p>
        </p:txBody>
      </p:sp>
      <p:sp>
        <p:nvSpPr>
          <p:cNvPr id="24" name="runtime-entra-body"/>
          <p:cNvSpPr txBox="1"/>
          <p:nvPr/>
        </p:nvSpPr>
        <p:spPr>
          <a:xfrm>
            <a:off x="4498848" y="2267712"/>
            <a:ext cx="3191256" cy="603503"/>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0" i="0">
                <a:solidFill>
                  <a:srgbClr val="183A31"/>
                </a:solidFill>
                <a:latin typeface="Liberation Sans"/>
              </a:rPr>
              <a:t>Issuer + app roles.</a:t>
            </a:r>
          </a:p>
          <a:p>
            <a:pPr>
              <a:lnSpc>
                <a:spcPct val="102000"/>
              </a:lnSpc>
              <a:spcBef>
                <a:spcPts val="0"/>
              </a:spcBef>
              <a:spcAft>
                <a:spcPts val="0"/>
              </a:spcAft>
            </a:pPr>
            <a:r>
              <a:rPr sz="1800" b="0" i="0">
                <a:solidFill>
                  <a:srgbClr val="183A31"/>
                </a:solidFill>
                <a:latin typeface="Liberation Sans"/>
              </a:rPr>
              <a:t>Identity -&gt; EasyAuth.</a:t>
            </a:r>
          </a:p>
        </p:txBody>
      </p:sp>
      <p:sp>
        <p:nvSpPr>
          <p:cNvPr id="25" name="runtime-auth-background" descr="Container background; accompanying native text provides content."/>
          <p:cNvSpPr/>
          <p:nvPr/>
        </p:nvSpPr>
        <p:spPr>
          <a:xfrm>
            <a:off x="8275320" y="1847088"/>
            <a:ext cx="3410712" cy="1078992"/>
          </a:xfrm>
          <a:prstGeom prst="roundRect">
            <a:avLst/>
          </a:prstGeom>
          <a:solidFill>
            <a:srgbClr val="D5E2D4"/>
          </a:solidFill>
          <a:ln w="16510">
            <a:solidFill>
              <a:srgbClr val="173F35"/>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untime-auth-title"/>
          <p:cNvSpPr txBox="1"/>
          <p:nvPr/>
        </p:nvSpPr>
        <p:spPr>
          <a:xfrm>
            <a:off x="8385048" y="1920240"/>
            <a:ext cx="3191256"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EasyAuth | CONFIGURED</a:t>
            </a:r>
          </a:p>
        </p:txBody>
      </p:sp>
      <p:sp>
        <p:nvSpPr>
          <p:cNvPr id="27" name="runtime-auth-body"/>
          <p:cNvSpPr txBox="1"/>
          <p:nvPr/>
        </p:nvSpPr>
        <p:spPr>
          <a:xfrm>
            <a:off x="8385048" y="2267712"/>
            <a:ext cx="3191256" cy="603503"/>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0" i="0">
                <a:solidFill>
                  <a:srgbClr val="183A31"/>
                </a:solidFill>
                <a:latin typeface="Liberation Sans"/>
              </a:rPr>
              <a:t>HTTPS -&gt; verified principal.</a:t>
            </a:r>
          </a:p>
          <a:p>
            <a:pPr>
              <a:lnSpc>
                <a:spcPct val="102000"/>
              </a:lnSpc>
              <a:spcBef>
                <a:spcPts val="0"/>
              </a:spcBef>
              <a:spcAft>
                <a:spcPts val="0"/>
              </a:spcAft>
            </a:pPr>
            <a:r>
              <a:rPr sz="1800" b="0" i="0">
                <a:solidFill>
                  <a:srgbClr val="183A31"/>
                </a:solidFill>
                <a:latin typeface="Liberation Sans"/>
              </a:rPr>
              <a:t>443 -&gt; 8088; /healthz.</a:t>
            </a:r>
          </a:p>
        </p:txBody>
      </p:sp>
      <p:sp>
        <p:nvSpPr>
          <p:cNvPr id="28" name="runtime-model-background" descr="Container background; accompanying native text provides content."/>
          <p:cNvSpPr/>
          <p:nvPr/>
        </p:nvSpPr>
        <p:spPr>
          <a:xfrm>
            <a:off x="502920" y="3246120"/>
            <a:ext cx="3410712" cy="1325880"/>
          </a:xfrm>
          <a:prstGeom prst="roundRect">
            <a:avLst/>
          </a:prstGeom>
          <a:solidFill>
            <a:srgbClr val="D5E2D4"/>
          </a:solidFill>
          <a:ln w="16510">
            <a:solidFill>
              <a:srgbClr val="173F35"/>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untime-model-title"/>
          <p:cNvSpPr txBox="1"/>
          <p:nvPr/>
        </p:nvSpPr>
        <p:spPr>
          <a:xfrm>
            <a:off x="612648" y="3319272"/>
            <a:ext cx="3191256"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OpenAI | CONDITIONAL</a:t>
            </a:r>
          </a:p>
        </p:txBody>
      </p:sp>
      <p:sp>
        <p:nvSpPr>
          <p:cNvPr id="30" name="runtime-model-body"/>
          <p:cNvSpPr txBox="1"/>
          <p:nvPr/>
        </p:nvSpPr>
        <p:spPr>
          <a:xfrm>
            <a:off x="612648" y="3666744"/>
            <a:ext cx="3191256" cy="850392"/>
          </a:xfrm>
          <a:prstGeom prst="rect">
            <a:avLst/>
          </a:prstGeom>
          <a:noFill/>
        </p:spPr>
        <p:txBody>
          <a:bodyPr wrap="square" lIns="18288" rIns="18288" tIns="18288" bIns="18288" anchor="t">
            <a:noAutofit/>
          </a:bodyPr>
          <a:lstStyle/>
          <a:p>
            <a:pPr>
              <a:lnSpc>
                <a:spcPct val="102000"/>
              </a:lnSpc>
              <a:spcBef>
                <a:spcPts val="0"/>
              </a:spcBef>
              <a:spcAft>
                <a:spcPts val="0"/>
              </a:spcAft>
            </a:pPr>
            <a:r>
              <a:rPr sz="1600" b="0" i="0">
                <a:solidFill>
                  <a:srgbClr val="183A31"/>
                </a:solidFill>
                <a:latin typeface="Liberation Sans"/>
              </a:rPr>
              <a:t>OFF. Scoped draft + usage.</a:t>
            </a:r>
          </a:p>
          <a:p>
            <a:pPr>
              <a:lnSpc>
                <a:spcPct val="102000"/>
              </a:lnSpc>
              <a:spcBef>
                <a:spcPts val="0"/>
              </a:spcBef>
              <a:spcAft>
                <a:spcPts val="0"/>
              </a:spcAft>
            </a:pPr>
            <a:r>
              <a:rPr sz="1600" b="0" i="0">
                <a:solidFill>
                  <a:srgbClr val="183A31"/>
                </a:solidFill>
                <a:latin typeface="Liberation Sans"/>
              </a:rPr>
              <a:t>No DB/workflow credentials.</a:t>
            </a:r>
          </a:p>
          <a:p>
            <a:pPr>
              <a:lnSpc>
                <a:spcPct val="102000"/>
              </a:lnSpc>
              <a:spcBef>
                <a:spcPts val="0"/>
              </a:spcBef>
              <a:spcAft>
                <a:spcPts val="0"/>
              </a:spcAft>
            </a:pPr>
            <a:r>
              <a:rPr sz="1600" b="0" i="0">
                <a:solidFill>
                  <a:srgbClr val="183A31"/>
                </a:solidFill>
                <a:latin typeface="Liberation Sans"/>
              </a:rPr>
              <a:t>No Foundry Agent Service.</a:t>
            </a:r>
          </a:p>
        </p:txBody>
      </p:sp>
      <p:sp>
        <p:nvSpPr>
          <p:cNvPr id="31" name="runtime-api-background" descr="Container background; accompanying native text provides content."/>
          <p:cNvSpPr/>
          <p:nvPr/>
        </p:nvSpPr>
        <p:spPr>
          <a:xfrm>
            <a:off x="4389120" y="3246120"/>
            <a:ext cx="3410712" cy="1325880"/>
          </a:xfrm>
          <a:prstGeom prst="roundRect">
            <a:avLst/>
          </a:prstGeom>
          <a:solidFill>
            <a:srgbClr val="D5E2D4"/>
          </a:solidFill>
          <a:ln w="16510">
            <a:solidFill>
              <a:srgbClr val="173F35"/>
            </a:solidFill>
            <a:prstDash val="solid"/>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untime-api-title"/>
          <p:cNvSpPr txBox="1"/>
          <p:nvPr/>
        </p:nvSpPr>
        <p:spPr>
          <a:xfrm>
            <a:off x="4498848" y="3319272"/>
            <a:ext cx="3191256"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One Python API | CORE</a:t>
            </a:r>
          </a:p>
        </p:txBody>
      </p:sp>
      <p:sp>
        <p:nvSpPr>
          <p:cNvPr id="33" name="runtime-api-body"/>
          <p:cNvSpPr txBox="1"/>
          <p:nvPr/>
        </p:nvSpPr>
        <p:spPr>
          <a:xfrm>
            <a:off x="4498848" y="3666744"/>
            <a:ext cx="3191256" cy="850392"/>
          </a:xfrm>
          <a:prstGeom prst="rect">
            <a:avLst/>
          </a:prstGeom>
          <a:noFill/>
        </p:spPr>
        <p:txBody>
          <a:bodyPr wrap="square" lIns="18288" rIns="18288" tIns="18288" bIns="18288" anchor="t">
            <a:noAutofit/>
          </a:bodyPr>
          <a:lstStyle/>
          <a:p>
            <a:pPr>
              <a:lnSpc>
                <a:spcPct val="102000"/>
              </a:lnSpc>
              <a:spcBef>
                <a:spcPts val="0"/>
              </a:spcBef>
              <a:spcAft>
                <a:spcPts val="0"/>
              </a:spcAft>
            </a:pPr>
            <a:r>
              <a:rPr sz="1600" b="0" i="0">
                <a:solidFill>
                  <a:srgbClr val="183A31"/>
                </a:solidFill>
                <a:latin typeface="Liberation Sans"/>
              </a:rPr>
              <a:t>SQL staff/role/case/field checks.</a:t>
            </a:r>
          </a:p>
          <a:p>
            <a:pPr>
              <a:lnSpc>
                <a:spcPct val="102000"/>
              </a:lnSpc>
              <a:spcBef>
                <a:spcPts val="0"/>
              </a:spcBef>
              <a:spcAft>
                <a:spcPts val="0"/>
              </a:spcAft>
            </a:pPr>
            <a:r>
              <a:rPr sz="1600" b="0" i="0">
                <a:solidFill>
                  <a:srgbClr val="183A31"/>
                </a:solidFill>
                <a:latin typeface="Liberation Sans"/>
              </a:rPr>
              <a:t>Five assistant modules in one API.</a:t>
            </a:r>
          </a:p>
          <a:p>
            <a:pPr>
              <a:lnSpc>
                <a:spcPct val="102000"/>
              </a:lnSpc>
              <a:spcBef>
                <a:spcPts val="0"/>
              </a:spcBef>
              <a:spcAft>
                <a:spcPts val="0"/>
              </a:spcAft>
            </a:pPr>
            <a:r>
              <a:rPr sz="1600" b="0" i="0">
                <a:solidFill>
                  <a:srgbClr val="183A31"/>
                </a:solidFill>
                <a:latin typeface="Liberation Sans"/>
              </a:rPr>
              <a:t>Capture/reserve; validate/store.</a:t>
            </a:r>
          </a:p>
        </p:txBody>
      </p:sp>
      <p:sp>
        <p:nvSpPr>
          <p:cNvPr id="34" name="runtime-sql-background" descr="Container background; accompanying native text provides content."/>
          <p:cNvSpPr/>
          <p:nvPr/>
        </p:nvSpPr>
        <p:spPr>
          <a:xfrm>
            <a:off x="8275320" y="3246120"/>
            <a:ext cx="3410712" cy="1325880"/>
          </a:xfrm>
          <a:prstGeom prst="roundRect">
            <a:avLst/>
          </a:prstGeom>
          <a:solidFill>
            <a:srgbClr val="D5E2D4"/>
          </a:solidFill>
          <a:ln w="16510">
            <a:solidFill>
              <a:srgbClr val="173F35"/>
            </a:solidFill>
            <a:prstDash val="solid"/>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runtime-sql-title"/>
          <p:cNvSpPr txBox="1"/>
          <p:nvPr/>
        </p:nvSpPr>
        <p:spPr>
          <a:xfrm>
            <a:off x="8385048" y="3319272"/>
            <a:ext cx="3191256"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Azure SQL | CORE</a:t>
            </a:r>
          </a:p>
        </p:txBody>
      </p:sp>
      <p:sp>
        <p:nvSpPr>
          <p:cNvPr id="36" name="runtime-sql-body"/>
          <p:cNvSpPr txBox="1"/>
          <p:nvPr/>
        </p:nvSpPr>
        <p:spPr>
          <a:xfrm>
            <a:off x="8385048" y="3666744"/>
            <a:ext cx="3191256" cy="850392"/>
          </a:xfrm>
          <a:prstGeom prst="rect">
            <a:avLst/>
          </a:prstGeom>
          <a:noFill/>
        </p:spPr>
        <p:txBody>
          <a:bodyPr wrap="square" lIns="18288" rIns="18288" tIns="18288" bIns="18288" anchor="t">
            <a:noAutofit/>
          </a:bodyPr>
          <a:lstStyle/>
          <a:p>
            <a:pPr>
              <a:lnSpc>
                <a:spcPct val="102000"/>
              </a:lnSpc>
              <a:spcBef>
                <a:spcPts val="0"/>
              </a:spcBef>
              <a:spcAft>
                <a:spcPts val="0"/>
              </a:spcAft>
            </a:pPr>
            <a:r>
              <a:rPr sz="1600" b="0" i="0">
                <a:solidFill>
                  <a:srgbClr val="183A31"/>
                </a:solidFill>
                <a:latin typeface="Liberation Sans"/>
              </a:rPr>
              <a:t>Domain/proposal state + audit.</a:t>
            </a:r>
          </a:p>
          <a:p>
            <a:pPr>
              <a:lnSpc>
                <a:spcPct val="102000"/>
              </a:lnSpc>
              <a:spcBef>
                <a:spcPts val="0"/>
              </a:spcBef>
              <a:spcAft>
                <a:spcPts val="0"/>
              </a:spcAft>
            </a:pPr>
            <a:r>
              <a:rPr sz="1600" b="0" i="0">
                <a:solidFill>
                  <a:srgbClr val="183A31"/>
                </a:solidFill>
                <a:latin typeface="Liberation Sans"/>
              </a:rPr>
              <a:t>Dedupe, reservations, fences.</a:t>
            </a:r>
          </a:p>
          <a:p>
            <a:pPr>
              <a:lnSpc>
                <a:spcPct val="102000"/>
              </a:lnSpc>
              <a:spcBef>
                <a:spcPts val="0"/>
              </a:spcBef>
              <a:spcAft>
                <a:spcPts val="0"/>
              </a:spcAft>
            </a:pPr>
            <a:r>
              <a:rPr sz="1600" b="0" i="0">
                <a:solidFill>
                  <a:srgbClr val="183A31"/>
                </a:solidFill>
                <a:latin typeface="Liberation Sans"/>
              </a:rPr>
              <a:t>Inference outside locks.</a:t>
            </a:r>
          </a:p>
        </p:txBody>
      </p:sp>
      <p:sp>
        <p:nvSpPr>
          <p:cNvPr id="37" name="runtime-review-background" descr="Container background; accompanying native text provides content."/>
          <p:cNvSpPr/>
          <p:nvPr/>
        </p:nvSpPr>
        <p:spPr>
          <a:xfrm>
            <a:off x="502920" y="4864608"/>
            <a:ext cx="7296912" cy="1097280"/>
          </a:xfrm>
          <a:prstGeom prst="roundRect">
            <a:avLst/>
          </a:prstGeom>
          <a:solidFill>
            <a:srgbClr val="F7F2E7"/>
          </a:solidFill>
          <a:ln w="16510">
            <a:solidFill>
              <a:srgbClr val="173F35"/>
            </a:solidFill>
            <a:prstDash val="solid"/>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runtime-review-title"/>
          <p:cNvSpPr txBox="1"/>
          <p:nvPr/>
        </p:nvSpPr>
        <p:spPr>
          <a:xfrm>
            <a:off x="612648" y="4937760"/>
            <a:ext cx="7077456"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Human proposal review | SEPARATE REQUEST</a:t>
            </a:r>
          </a:p>
        </p:txBody>
      </p:sp>
      <p:sp>
        <p:nvSpPr>
          <p:cNvPr id="39" name="runtime-review-body"/>
          <p:cNvSpPr txBox="1"/>
          <p:nvPr/>
        </p:nvSpPr>
        <p:spPr>
          <a:xfrm>
            <a:off x="612648" y="5285232"/>
            <a:ext cx="7077456" cy="621792"/>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0" i="0">
                <a:solidFill>
                  <a:srgbClr val="183A31"/>
                </a:solidFill>
                <a:latin typeface="Liberation Sans"/>
              </a:rPr>
              <a:t>Verify sources. API rechecks permission, source/version/status.</a:t>
            </a:r>
          </a:p>
          <a:p>
            <a:pPr>
              <a:lnSpc>
                <a:spcPct val="102000"/>
              </a:lnSpc>
              <a:spcBef>
                <a:spcPts val="0"/>
              </a:spcBef>
              <a:spcAft>
                <a:spcPts val="0"/>
              </a:spcAft>
            </a:pPr>
            <a:r>
              <a:rPr sz="1800" b="0" i="0">
                <a:solidFill>
                  <a:srgbClr val="183A31"/>
                </a:solidFill>
                <a:latin typeface="Liberation Sans"/>
              </a:rPr>
              <a:t>Accept proposal -&gt; proposal/audit only, NEVER domain approval.</a:t>
            </a:r>
          </a:p>
        </p:txBody>
      </p:sp>
      <p:sp>
        <p:nvSpPr>
          <p:cNvPr id="40" name="runtime-blob-background" descr="Container background; accompanying native text provides content."/>
          <p:cNvSpPr/>
          <p:nvPr/>
        </p:nvSpPr>
        <p:spPr>
          <a:xfrm>
            <a:off x="8275320" y="4864608"/>
            <a:ext cx="3410712" cy="1097280"/>
          </a:xfrm>
          <a:prstGeom prst="roundRect">
            <a:avLst/>
          </a:prstGeom>
          <a:solidFill>
            <a:srgbClr val="D5E2D4"/>
          </a:solidFill>
          <a:ln w="16510">
            <a:solidFill>
              <a:srgbClr val="173F35"/>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runtime-blob-title"/>
          <p:cNvSpPr txBox="1"/>
          <p:nvPr/>
        </p:nvSpPr>
        <p:spPr>
          <a:xfrm>
            <a:off x="8385048" y="4937760"/>
            <a:ext cx="3191256"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Blob | CONFIGURED</a:t>
            </a:r>
          </a:p>
        </p:txBody>
      </p:sp>
      <p:sp>
        <p:nvSpPr>
          <p:cNvPr id="42" name="runtime-blob-body"/>
          <p:cNvSpPr txBox="1"/>
          <p:nvPr/>
        </p:nvSpPr>
        <p:spPr>
          <a:xfrm>
            <a:off x="8385048" y="5285232"/>
            <a:ext cx="3191256" cy="621792"/>
          </a:xfrm>
          <a:prstGeom prst="rect">
            <a:avLst/>
          </a:prstGeom>
          <a:noFill/>
        </p:spPr>
        <p:txBody>
          <a:bodyPr wrap="square" lIns="18288" rIns="18288" tIns="18288" bIns="18288" anchor="t">
            <a:noAutofit/>
          </a:bodyPr>
          <a:lstStyle/>
          <a:p>
            <a:pPr>
              <a:lnSpc>
                <a:spcPct val="102000"/>
              </a:lnSpc>
              <a:spcBef>
                <a:spcPts val="0"/>
              </a:spcBef>
              <a:spcAft>
                <a:spcPts val="0"/>
              </a:spcAft>
            </a:pPr>
            <a:r>
              <a:rPr sz="1600" b="0" i="0">
                <a:solidFill>
                  <a:srgbClr val="183A31"/>
                </a:solidFill>
                <a:latin typeface="Liberation Sans"/>
              </a:rPr>
              <a:t>API files; SQL refs + hashes.</a:t>
            </a:r>
          </a:p>
          <a:p>
            <a:pPr>
              <a:lnSpc>
                <a:spcPct val="102000"/>
              </a:lnSpc>
              <a:spcBef>
                <a:spcPts val="0"/>
              </a:spcBef>
              <a:spcAft>
                <a:spcPts val="0"/>
              </a:spcAft>
            </a:pPr>
            <a:r>
              <a:rPr sz="1600" b="0" i="0">
                <a:solidFill>
                  <a:srgbClr val="183A31"/>
                </a:solidFill>
                <a:latin typeface="Liberation Sans"/>
              </a:rPr>
              <a:t>Assist: allowed metadata only.</a:t>
            </a:r>
          </a:p>
        </p:txBody>
      </p:sp>
      <p:sp>
        <p:nvSpPr>
          <p:cNvPr id="43" name="runtime-authority"/>
          <p:cNvSpPr txBox="1"/>
          <p:nvPr/>
        </p:nvSpPr>
        <p:spPr>
          <a:xfrm>
            <a:off x="502920" y="6007608"/>
            <a:ext cx="11183112" cy="292608"/>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Five-assistant authority absent. Proactive OFF. Controlled approvals stay separate.</a:t>
            </a:r>
          </a:p>
        </p:txBody>
      </p:sp>
      <p:sp>
        <p:nvSpPr>
          <p:cNvPr id="44" name="operations-link" descr="Operations: slide 23">
            <a:hlinkClick action="ppaction://hlinksldjump" r:id="rId4"/>
          </p:cNvPr>
          <p:cNvSpPr txBox="1"/>
          <p:nvPr/>
        </p:nvSpPr>
        <p:spPr>
          <a:xfrm>
            <a:off x="502920" y="6373368"/>
            <a:ext cx="3291840" cy="274320"/>
          </a:xfrm>
          <a:prstGeom prst="rect">
            <a:avLst/>
          </a:prstGeom>
          <a:noFill/>
        </p:spPr>
        <p:txBody>
          <a:bodyPr wrap="square" lIns="18288" rIns="18288" tIns="18288" bIns="18288" anchor="t">
            <a:noAutofit/>
          </a:bodyPr>
          <a:lstStyle/>
          <a:p>
            <a:pPr>
              <a:lnSpc>
                <a:spcPct val="102000"/>
              </a:lnSpc>
              <a:spcBef>
                <a:spcPts val="0"/>
              </a:spcBef>
              <a:spcAft>
                <a:spcPts val="0"/>
              </a:spcAft>
            </a:pPr>
            <a:r>
              <a:rPr sz="1600" b="1" i="0">
                <a:solidFill>
                  <a:srgbClr val="173F35"/>
                </a:solidFill>
                <a:latin typeface="Liberation Sans"/>
              </a:rPr>
              <a:t>Operations: slide 23</a:t>
            </a:r>
          </a:p>
        </p:txBody>
      </p:sp>
      <p:sp>
        <p:nvSpPr>
          <p:cNvPr id="45" name="deferred-link" descr="Deferred topology: slide 24">
            <a:hlinkClick action="ppaction://hlinksldjump" r:id="rId5"/>
          </p:cNvPr>
          <p:cNvSpPr txBox="1"/>
          <p:nvPr/>
        </p:nvSpPr>
        <p:spPr>
          <a:xfrm>
            <a:off x="4114800" y="6373368"/>
            <a:ext cx="3931920" cy="274320"/>
          </a:xfrm>
          <a:prstGeom prst="rect">
            <a:avLst/>
          </a:prstGeom>
          <a:noFill/>
        </p:spPr>
        <p:txBody>
          <a:bodyPr wrap="square" lIns="18288" rIns="18288" tIns="18288" bIns="18288" anchor="t">
            <a:noAutofit/>
          </a:bodyPr>
          <a:lstStyle/>
          <a:p>
            <a:pPr>
              <a:lnSpc>
                <a:spcPct val="102000"/>
              </a:lnSpc>
              <a:spcBef>
                <a:spcPts val="0"/>
              </a:spcBef>
              <a:spcAft>
                <a:spcPts val="0"/>
              </a:spcAft>
            </a:pPr>
            <a:r>
              <a:rPr sz="1600" b="1" i="0">
                <a:solidFill>
                  <a:srgbClr val="173F35"/>
                </a:solidFill>
                <a:latin typeface="Liberation Sans"/>
              </a:rPr>
              <a:t>Deferred topology: slide 24</a:t>
            </a:r>
          </a:p>
        </p:txBody>
      </p:sp>
      <p:sp>
        <p:nvSpPr>
          <p:cNvPr id="46" name="return-decision-link" descr="Return to decision: slide 18">
            <a:hlinkClick action="ppaction://hlinksldjump" r:id="rId6"/>
          </p:cNvPr>
          <p:cNvSpPr txBox="1"/>
          <p:nvPr/>
        </p:nvSpPr>
        <p:spPr>
          <a:xfrm>
            <a:off x="8275320" y="6364224"/>
            <a:ext cx="2697480" cy="274320"/>
          </a:xfrm>
          <a:prstGeom prst="rect">
            <a:avLst/>
          </a:prstGeom>
          <a:noFill/>
        </p:spPr>
        <p:txBody>
          <a:bodyPr wrap="square" lIns="18288" rIns="18288" tIns="18288" bIns="18288" anchor="t">
            <a:noAutofit/>
          </a:bodyPr>
          <a:lstStyle/>
          <a:p>
            <a:pPr>
              <a:lnSpc>
                <a:spcPct val="102000"/>
              </a:lnSpc>
              <a:spcBef>
                <a:spcPts val="0"/>
              </a:spcBef>
              <a:spcAft>
                <a:spcPts val="0"/>
              </a:spcAft>
            </a:pPr>
            <a:r>
              <a:rPr sz="1600" b="1" i="0">
                <a:solidFill>
                  <a:srgbClr val="173F35"/>
                </a:solidFill>
                <a:latin typeface="Liberation Sans"/>
              </a:rPr>
              <a:t>Return to decision: slide 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OPTIONAL REFERENCE</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Council challenge: the objections we welcome.</a:t>
            </a:r>
          </a:p>
        </p:txBody>
      </p:sp>
      <p:sp>
        <p:nvSpPr>
          <p:cNvPr id="6" name="source-footer"/>
          <p:cNvSpPr txBox="1"/>
          <p:nvPr/>
        </p:nvSpPr>
        <p:spPr>
          <a:xfrm>
            <a:off x="502920" y="6675120"/>
            <a:ext cx="10424160" cy="155448"/>
          </a:xfrm>
          <a:prstGeom prst="rect">
            <a:avLst/>
          </a:prstGeom>
          <a:noFill/>
        </p:spPr>
        <p:txBody>
          <a:bodyPr wrap="square" lIns="18288" rIns="18288" tIns="18288" bIns="18288" anchor="t">
            <a:noAutofit/>
          </a:bodyPr>
          <a:lstStyle/>
          <a:p>
            <a:pPr>
              <a:lnSpc>
                <a:spcPct val="108000"/>
              </a:lnSpc>
              <a:spcBef>
                <a:spcPts val="0"/>
              </a:spcBef>
              <a:spcAft>
                <a:spcPts val="500"/>
              </a:spcAft>
            </a:pPr>
            <a:r>
              <a:rPr sz="900" b="0" i="0">
                <a:solidFill>
                  <a:srgbClr val="183A31"/>
                </a:solidFill>
                <a:latin typeface="Liberation Sans"/>
              </a:rPr>
              <a:t>14 OCT 2026  •  S02 / S03 / S05 / S07 / S09 / S10 / S11 / S12  •  Sources + status in notes</a:t>
            </a:r>
          </a:p>
        </p:txBody>
      </p:sp>
      <p:sp>
        <p:nvSpPr>
          <p:cNvPr id="7" name="page-counter"/>
          <p:cNvSpPr txBox="1"/>
          <p:nvPr/>
        </p:nvSpPr>
        <p:spPr>
          <a:xfrm>
            <a:off x="10972800" y="6620256"/>
            <a:ext cx="713232"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20 / 24</a:t>
            </a:r>
          </a:p>
        </p:txBody>
      </p:sp>
      <p:sp>
        <p:nvSpPr>
          <p:cNvPr id="8" name="qa-row-1-peer-1-background" descr="Container background; accompanying native text provides content."/>
          <p:cNvSpPr/>
          <p:nvPr/>
        </p:nvSpPr>
        <p:spPr>
          <a:xfrm>
            <a:off x="502920" y="1837943"/>
            <a:ext cx="5490972" cy="173736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qa-row-1-peer-1-title"/>
          <p:cNvSpPr txBox="1"/>
          <p:nvPr/>
        </p:nvSpPr>
        <p:spPr>
          <a:xfrm>
            <a:off x="667512" y="2020824"/>
            <a:ext cx="5161788" cy="521207"/>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1" i="0">
                <a:solidFill>
                  <a:srgbClr val="183A31"/>
                </a:solidFill>
                <a:latin typeface="Liberation Sans"/>
              </a:rPr>
              <a:t>Why not improve Excel?</a:t>
            </a:r>
          </a:p>
        </p:txBody>
      </p:sp>
      <p:sp>
        <p:nvSpPr>
          <p:cNvPr id="10" name="qa-row-1-peer-1-body"/>
          <p:cNvSpPr txBox="1"/>
          <p:nvPr/>
        </p:nvSpPr>
        <p:spPr>
          <a:xfrm>
            <a:off x="667512" y="2697479"/>
            <a:ext cx="5161788" cy="694944"/>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Test equal scope and controls.</a:t>
            </a:r>
          </a:p>
        </p:txBody>
      </p:sp>
      <p:sp>
        <p:nvSpPr>
          <p:cNvPr id="11" name="qa-row-1-peer-2-background" descr="Container background; accompanying native text provides content."/>
          <p:cNvSpPr/>
          <p:nvPr/>
        </p:nvSpPr>
        <p:spPr>
          <a:xfrm>
            <a:off x="6195059" y="1837943"/>
            <a:ext cx="5490972" cy="173736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qa-row-1-peer-2-title"/>
          <p:cNvSpPr txBox="1"/>
          <p:nvPr/>
        </p:nvSpPr>
        <p:spPr>
          <a:xfrm>
            <a:off x="6359651" y="2020824"/>
            <a:ext cx="5161788" cy="521207"/>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1" i="0">
                <a:solidFill>
                  <a:srgbClr val="183A31"/>
                </a:solidFill>
                <a:latin typeface="Liberation Sans"/>
              </a:rPr>
              <a:t>Why not launch now?</a:t>
            </a:r>
          </a:p>
        </p:txBody>
      </p:sp>
      <p:sp>
        <p:nvSpPr>
          <p:cNvPr id="13" name="qa-row-1-peer-2-body"/>
          <p:cNvSpPr txBox="1"/>
          <p:nvPr/>
        </p:nvSpPr>
        <p:spPr>
          <a:xfrm>
            <a:off x="6359651" y="2697479"/>
            <a:ext cx="5161788" cy="694944"/>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Human, semantic and value gates open.</a:t>
            </a:r>
          </a:p>
        </p:txBody>
      </p:sp>
      <p:sp>
        <p:nvSpPr>
          <p:cNvPr id="14" name="qa-row-2-peer-1-background" descr="Container background; accompanying native text provides content."/>
          <p:cNvSpPr/>
          <p:nvPr/>
        </p:nvSpPr>
        <p:spPr>
          <a:xfrm>
            <a:off x="502920" y="3694175"/>
            <a:ext cx="5490972" cy="173736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qa-row-2-peer-1-title"/>
          <p:cNvSpPr txBox="1"/>
          <p:nvPr/>
        </p:nvSpPr>
        <p:spPr>
          <a:xfrm>
            <a:off x="667512" y="3877055"/>
            <a:ext cx="5161788" cy="521207"/>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1" i="0">
                <a:solidFill>
                  <a:srgbClr val="183A31"/>
                </a:solidFill>
                <a:latin typeface="Liberation Sans"/>
              </a:rPr>
              <a:t>What budget?</a:t>
            </a:r>
          </a:p>
        </p:txBody>
      </p:sp>
      <p:sp>
        <p:nvSpPr>
          <p:cNvPr id="16" name="qa-row-2-peer-1-body"/>
          <p:cNvSpPr txBox="1"/>
          <p:nvPr/>
        </p:nvSpPr>
        <p:spPr>
          <a:xfrm>
            <a:off x="667512" y="4553712"/>
            <a:ext cx="5161788" cy="768096"/>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No new commitment; whole-life appraisal.</a:t>
            </a:r>
          </a:p>
        </p:txBody>
      </p:sp>
      <p:sp>
        <p:nvSpPr>
          <p:cNvPr id="17" name="qa-row-2-peer-2-background" descr="Container background; accompanying native text provides content."/>
          <p:cNvSpPr/>
          <p:nvPr/>
        </p:nvSpPr>
        <p:spPr>
          <a:xfrm>
            <a:off x="6195059" y="3694175"/>
            <a:ext cx="5490972" cy="173736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qa-row-2-peer-2-title"/>
          <p:cNvSpPr txBox="1"/>
          <p:nvPr/>
        </p:nvSpPr>
        <p:spPr>
          <a:xfrm>
            <a:off x="6359651" y="3877055"/>
            <a:ext cx="5161788" cy="521207"/>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1" i="0">
                <a:solidFill>
                  <a:srgbClr val="183A31"/>
                </a:solidFill>
                <a:latin typeface="Liberation Sans"/>
              </a:rPr>
              <a:t>What if AI fails?</a:t>
            </a:r>
          </a:p>
        </p:txBody>
      </p:sp>
      <p:sp>
        <p:nvSpPr>
          <p:cNvPr id="19" name="qa-row-2-peer-2-body"/>
          <p:cNvSpPr txBox="1"/>
          <p:nvPr/>
        </p:nvSpPr>
        <p:spPr>
          <a:xfrm>
            <a:off x="6359651" y="4553712"/>
            <a:ext cx="5161788" cy="768096"/>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Manual workflow remains; simplify.</a:t>
            </a:r>
          </a:p>
        </p:txBody>
      </p:sp>
      <p:sp>
        <p:nvSpPr>
          <p:cNvPr id="20" name="boundary-background" descr="Container background; accompanying native text provides content."/>
          <p:cNvSpPr/>
          <p:nvPr/>
        </p:nvSpPr>
        <p:spPr>
          <a:xfrm>
            <a:off x="502920" y="5669280"/>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boundary-text"/>
          <p:cNvSpPr txBox="1"/>
          <p:nvPr/>
        </p:nvSpPr>
        <p:spPr>
          <a:xfrm>
            <a:off x="667512" y="5760720"/>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1" i="0">
                <a:solidFill>
                  <a:srgbClr val="183A31"/>
                </a:solidFill>
                <a:latin typeface="Liberation Sans"/>
              </a:rPr>
              <a:t>Unknowns get an owner: runtime19 / options22 / operations23 / deferred24.</a:t>
            </a:r>
          </a:p>
        </p:txBody>
      </p:sp>
      <p:sp>
        <p:nvSpPr>
          <p:cNvPr id="22" name="return-decision-link" descr="Return to decision: slide 18">
            <a:hlinkClick action="ppaction://hlinksldjump" r:id="rId4"/>
          </p:cNvPr>
          <p:cNvSpPr txBox="1"/>
          <p:nvPr/>
        </p:nvSpPr>
        <p:spPr>
          <a:xfrm>
            <a:off x="8275320" y="6364224"/>
            <a:ext cx="2697480" cy="274320"/>
          </a:xfrm>
          <a:prstGeom prst="rect">
            <a:avLst/>
          </a:prstGeom>
          <a:noFill/>
        </p:spPr>
        <p:txBody>
          <a:bodyPr wrap="square" lIns="18288" rIns="18288" tIns="18288" bIns="18288" anchor="t">
            <a:noAutofit/>
          </a:bodyPr>
          <a:lstStyle/>
          <a:p>
            <a:pPr>
              <a:lnSpc>
                <a:spcPct val="102000"/>
              </a:lnSpc>
              <a:spcBef>
                <a:spcPts val="0"/>
              </a:spcBef>
              <a:spcAft>
                <a:spcPts val="0"/>
              </a:spcAft>
            </a:pPr>
            <a:r>
              <a:rPr sz="1600" b="1" i="0">
                <a:solidFill>
                  <a:srgbClr val="173F35"/>
                </a:solidFill>
                <a:latin typeface="Liberation Sans"/>
              </a:rPr>
              <a:t>Return to decision: slide 18</a:t>
            </a:r>
          </a:p>
        </p:txBody>
      </p:sp>
      <p:sp>
        <p:nvSpPr>
          <p:cNvPr id="23" name="challenge-22-link" descr="Options:22">
            <a:hlinkClick action="ppaction://hlinksldjump" r:id="rId5"/>
          </p:cNvPr>
          <p:cNvSpPr txBox="1"/>
          <p:nvPr/>
        </p:nvSpPr>
        <p:spPr>
          <a:xfrm>
            <a:off x="502920" y="6364224"/>
            <a:ext cx="2743200" cy="274320"/>
          </a:xfrm>
          <a:prstGeom prst="rect">
            <a:avLst/>
          </a:prstGeom>
          <a:noFill/>
        </p:spPr>
        <p:txBody>
          <a:bodyPr wrap="square" lIns="18288" rIns="18288" tIns="18288" bIns="18288" anchor="t">
            <a:noAutofit/>
          </a:bodyPr>
          <a:lstStyle/>
          <a:p>
            <a:pPr>
              <a:lnSpc>
                <a:spcPct val="102000"/>
              </a:lnSpc>
              <a:spcBef>
                <a:spcPts val="0"/>
              </a:spcBef>
              <a:spcAft>
                <a:spcPts val="0"/>
              </a:spcAft>
            </a:pPr>
            <a:r>
              <a:rPr sz="1600" b="1" i="0">
                <a:solidFill>
                  <a:srgbClr val="173F35"/>
                </a:solidFill>
                <a:latin typeface="Liberation Sans"/>
              </a:rPr>
              <a:t>Options:22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OPTIONAL REFERENCE</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Read the evidence label before the claim.</a:t>
            </a:r>
          </a:p>
        </p:txBody>
      </p:sp>
      <p:sp>
        <p:nvSpPr>
          <p:cNvPr id="6" name="source-footer">
            <a:hlinkClick r:id="rId4"/>
          </p:cNvPr>
          <p:cNvSpPr txBox="1"/>
          <p:nvPr/>
        </p:nvSpPr>
        <p:spPr>
          <a:xfrm>
            <a:off x="502920" y="6675120"/>
            <a:ext cx="10424160" cy="155448"/>
          </a:xfrm>
          <a:prstGeom prst="rect">
            <a:avLst/>
          </a:prstGeom>
          <a:noFill/>
        </p:spPr>
        <p:txBody>
          <a:bodyPr wrap="square" lIns="18288" rIns="18288" tIns="18288" bIns="18288" anchor="t">
            <a:noAutofit/>
          </a:bodyPr>
          <a:lstStyle/>
          <a:p>
            <a:pPr>
              <a:lnSpc>
                <a:spcPct val="108000"/>
              </a:lnSpc>
              <a:spcBef>
                <a:spcPts val="0"/>
              </a:spcBef>
              <a:spcAft>
                <a:spcPts val="500"/>
              </a:spcAft>
            </a:pPr>
            <a:r>
              <a:rPr sz="900" b="0" i="0">
                <a:solidFill>
                  <a:srgbClr val="183A31"/>
                </a:solidFill>
                <a:latin typeface="Liberation Sans"/>
              </a:rPr>
              <a:t>14 OCT 2026 | S01-S16 full source register + statuses in notes</a:t>
            </a:r>
          </a:p>
        </p:txBody>
      </p:sp>
      <p:sp>
        <p:nvSpPr>
          <p:cNvPr id="7" name="page-counter"/>
          <p:cNvSpPr txBox="1"/>
          <p:nvPr/>
        </p:nvSpPr>
        <p:spPr>
          <a:xfrm>
            <a:off x="10972800" y="6620256"/>
            <a:ext cx="713232"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21 / 24</a:t>
            </a:r>
          </a:p>
        </p:txBody>
      </p:sp>
      <p:sp>
        <p:nvSpPr>
          <p:cNvPr id="8" name="peer-1-background" descr="Container background; accompanying native text provides content."/>
          <p:cNvSpPr/>
          <p:nvPr/>
        </p:nvSpPr>
        <p:spPr>
          <a:xfrm>
            <a:off x="50292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er-1-title"/>
          <p:cNvSpPr txBox="1"/>
          <p:nvPr/>
        </p:nvSpPr>
        <p:spPr>
          <a:xfrm>
            <a:off x="66751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Request + research</a:t>
            </a:r>
          </a:p>
        </p:txBody>
      </p:sp>
      <p:sp>
        <p:nvSpPr>
          <p:cNvPr id="10" name="peer-1-body"/>
          <p:cNvSpPr txBox="1"/>
          <p:nvPr/>
        </p:nvSpPr>
        <p:spPr>
          <a:xfrm>
            <a:off x="66751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0" i="0">
                <a:solidFill>
                  <a:srgbClr val="183A31"/>
                </a:solidFill>
                <a:latin typeface="Liberation Sans"/>
              </a:rPr>
              <a:t>Request ≠ result.</a:t>
            </a:r>
          </a:p>
          <a:p>
            <a:pPr>
              <a:lnSpc>
                <a:spcPct val="108000"/>
              </a:lnSpc>
              <a:spcBef>
                <a:spcPts val="0"/>
              </a:spcBef>
              <a:spcAft>
                <a:spcPts val="500"/>
              </a:spcAft>
            </a:pPr>
            <a:r>
              <a:rPr sz="2300" b="0" i="0">
                <a:solidFill>
                  <a:srgbClr val="183A31"/>
                </a:solidFill>
                <a:latin typeface="Liberation Sans"/>
              </a:rPr>
              <a:t>Research instruments</a:t>
            </a:r>
          </a:p>
          <a:p>
            <a:pPr>
              <a:lnSpc>
                <a:spcPct val="108000"/>
              </a:lnSpc>
              <a:spcBef>
                <a:spcPts val="0"/>
              </a:spcBef>
              <a:spcAft>
                <a:spcPts val="500"/>
              </a:spcAft>
            </a:pPr>
            <a:r>
              <a:rPr sz="2300" b="0" i="0">
                <a:solidFill>
                  <a:srgbClr val="183A31"/>
                </a:solidFill>
                <a:latin typeface="Liberation Sans"/>
              </a:rPr>
              <a:t>≠ residents.</a:t>
            </a:r>
          </a:p>
        </p:txBody>
      </p:sp>
      <p:sp>
        <p:nvSpPr>
          <p:cNvPr id="11" name="peer-2-background" descr="Container background; accompanying native text provides content."/>
          <p:cNvSpPr/>
          <p:nvPr/>
        </p:nvSpPr>
        <p:spPr>
          <a:xfrm>
            <a:off x="429768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eer-2-title"/>
          <p:cNvSpPr txBox="1"/>
          <p:nvPr/>
        </p:nvSpPr>
        <p:spPr>
          <a:xfrm>
            <a:off x="446227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Exercise fixtures</a:t>
            </a:r>
          </a:p>
        </p:txBody>
      </p:sp>
      <p:sp>
        <p:nvSpPr>
          <p:cNvPr id="13" name="peer-2-body"/>
          <p:cNvSpPr txBox="1"/>
          <p:nvPr/>
        </p:nvSpPr>
        <p:spPr>
          <a:xfrm>
            <a:off x="446227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0" i="0">
                <a:solidFill>
                  <a:srgbClr val="183A31"/>
                </a:solidFill>
                <a:latin typeface="Liberation Sans"/>
              </a:rPr>
              <a:t>Fixtures ≠ company</a:t>
            </a:r>
          </a:p>
          <a:p>
            <a:pPr>
              <a:lnSpc>
                <a:spcPct val="108000"/>
              </a:lnSpc>
              <a:spcBef>
                <a:spcPts val="0"/>
              </a:spcBef>
              <a:spcAft>
                <a:spcPts val="500"/>
              </a:spcAft>
            </a:pPr>
            <a:r>
              <a:rPr sz="2300" b="0" i="0">
                <a:solidFill>
                  <a:srgbClr val="183A31"/>
                </a:solidFill>
                <a:latin typeface="Liberation Sans"/>
              </a:rPr>
              <a:t>performance or budgets.</a:t>
            </a:r>
          </a:p>
        </p:txBody>
      </p:sp>
      <p:sp>
        <p:nvSpPr>
          <p:cNvPr id="14" name="peer-3-background" descr="Container background; accompanying native text provides content."/>
          <p:cNvSpPr/>
          <p:nvPr/>
        </p:nvSpPr>
        <p:spPr>
          <a:xfrm>
            <a:off x="809244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peer-3-title"/>
          <p:cNvSpPr txBox="1"/>
          <p:nvPr/>
        </p:nvSpPr>
        <p:spPr>
          <a:xfrm>
            <a:off x="825703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Recorded technical proof</a:t>
            </a:r>
          </a:p>
        </p:txBody>
      </p:sp>
      <p:sp>
        <p:nvSpPr>
          <p:cNvPr id="16" name="peer-3-body"/>
          <p:cNvSpPr txBox="1"/>
          <p:nvPr/>
        </p:nvSpPr>
        <p:spPr>
          <a:xfrm>
            <a:off x="825703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0" i="0">
                <a:solidFill>
                  <a:srgbClr val="183A31"/>
                </a:solidFill>
                <a:latin typeface="Liberation Sans"/>
              </a:rPr>
              <a:t>Operator proof ≠ human,</a:t>
            </a:r>
          </a:p>
          <a:p>
            <a:pPr>
              <a:lnSpc>
                <a:spcPct val="108000"/>
              </a:lnSpc>
              <a:spcBef>
                <a:spcPts val="0"/>
              </a:spcBef>
              <a:spcAft>
                <a:spcPts val="500"/>
              </a:spcAft>
            </a:pPr>
            <a:r>
              <a:rPr sz="2300" b="0" i="0">
                <a:solidFill>
                  <a:srgbClr val="183A31"/>
                </a:solidFill>
                <a:latin typeface="Liberation Sans"/>
              </a:rPr>
              <a:t>semantic or value</a:t>
            </a:r>
          </a:p>
          <a:p>
            <a:pPr>
              <a:lnSpc>
                <a:spcPct val="108000"/>
              </a:lnSpc>
              <a:spcBef>
                <a:spcPts val="0"/>
              </a:spcBef>
              <a:spcAft>
                <a:spcPts val="500"/>
              </a:spcAft>
            </a:pPr>
            <a:r>
              <a:rPr sz="2300" b="0" i="0">
                <a:solidFill>
                  <a:srgbClr val="183A31"/>
                </a:solidFill>
                <a:latin typeface="Liberation Sans"/>
              </a:rPr>
              <a:t>acceptance.</a:t>
            </a:r>
          </a:p>
        </p:txBody>
      </p:sp>
      <p:sp>
        <p:nvSpPr>
          <p:cNvPr id="17" name="boundary-background" descr="Container background; accompanying native text provides content."/>
          <p:cNvSpPr/>
          <p:nvPr/>
        </p:nvSpPr>
        <p:spPr>
          <a:xfrm>
            <a:off x="502920" y="5513832"/>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boundary-text"/>
          <p:cNvSpPr txBox="1"/>
          <p:nvPr/>
        </p:nvSpPr>
        <p:spPr>
          <a:xfrm>
            <a:off x="667512" y="5605272"/>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2000" b="1" i="0">
                <a:solidFill>
                  <a:srgbClr val="183A31"/>
                </a:solidFill>
                <a:latin typeface="Liberation Sans"/>
              </a:rPr>
              <a:t>As at 14 October. Legal currentness not refreshed.</a:t>
            </a:r>
          </a:p>
        </p:txBody>
      </p:sp>
      <p:sp>
        <p:nvSpPr>
          <p:cNvPr id="19" name="assessment-open"/>
          <p:cNvSpPr txBox="1"/>
          <p:nvPr/>
        </p:nvSpPr>
        <p:spPr>
          <a:xfrm>
            <a:off x="649224" y="6181344"/>
            <a:ext cx="7498079" cy="338328"/>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1" i="0">
                <a:solidFill>
                  <a:srgbClr val="183A31"/>
                </a:solidFill>
                <a:latin typeface="Liberation Sans"/>
              </a:rPr>
              <a:t>Pitch, rehearsal + thought-leadership evidence outstanding.</a:t>
            </a:r>
          </a:p>
        </p:txBody>
      </p:sp>
      <p:sp>
        <p:nvSpPr>
          <p:cNvPr id="20" name="return-decision-link" descr="Return to decision: slide 18">
            <a:hlinkClick action="ppaction://hlinksldjump" r:id="rId5"/>
          </p:cNvPr>
          <p:cNvSpPr txBox="1"/>
          <p:nvPr/>
        </p:nvSpPr>
        <p:spPr>
          <a:xfrm>
            <a:off x="8275320" y="6364224"/>
            <a:ext cx="2697480" cy="274320"/>
          </a:xfrm>
          <a:prstGeom prst="rect">
            <a:avLst/>
          </a:prstGeom>
          <a:noFill/>
        </p:spPr>
        <p:txBody>
          <a:bodyPr wrap="square" lIns="18288" rIns="18288" tIns="18288" bIns="18288" anchor="t">
            <a:noAutofit/>
          </a:bodyPr>
          <a:lstStyle/>
          <a:p>
            <a:pPr>
              <a:lnSpc>
                <a:spcPct val="102000"/>
              </a:lnSpc>
              <a:spcBef>
                <a:spcPts val="0"/>
              </a:spcBef>
              <a:spcAft>
                <a:spcPts val="0"/>
              </a:spcAft>
            </a:pPr>
            <a:r>
              <a:rPr sz="1600" b="1" i="0">
                <a:solidFill>
                  <a:srgbClr val="173F35"/>
                </a:solidFill>
                <a:latin typeface="Liberation Sans"/>
              </a:rPr>
              <a:t>Return to decision: slide 18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OPTIONAL REFERENCE</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Compare equivalent routes before selecting a winner.</a:t>
            </a:r>
          </a:p>
        </p:txBody>
      </p:sp>
      <p:sp>
        <p:nvSpPr>
          <p:cNvPr id="6" name="source-footer"/>
          <p:cNvSpPr txBox="1"/>
          <p:nvPr/>
        </p:nvSpPr>
        <p:spPr>
          <a:xfrm>
            <a:off x="502920" y="6675120"/>
            <a:ext cx="10424160" cy="155448"/>
          </a:xfrm>
          <a:prstGeom prst="rect">
            <a:avLst/>
          </a:prstGeom>
          <a:noFill/>
        </p:spPr>
        <p:txBody>
          <a:bodyPr wrap="square" lIns="18288" rIns="18288" tIns="18288" bIns="18288" anchor="t">
            <a:noAutofit/>
          </a:bodyPr>
          <a:lstStyle/>
          <a:p>
            <a:pPr>
              <a:lnSpc>
                <a:spcPct val="108000"/>
              </a:lnSpc>
              <a:spcBef>
                <a:spcPts val="0"/>
              </a:spcBef>
              <a:spcAft>
                <a:spcPts val="500"/>
              </a:spcAft>
            </a:pPr>
            <a:r>
              <a:rPr sz="900" b="0" i="0">
                <a:solidFill>
                  <a:srgbClr val="183A31"/>
                </a:solidFill>
                <a:latin typeface="Liberation Sans"/>
              </a:rPr>
              <a:t>14 OCT 2026  •  S02 / S03 / S07 / S12  •  Sources + status in notes</a:t>
            </a:r>
          </a:p>
        </p:txBody>
      </p:sp>
      <p:sp>
        <p:nvSpPr>
          <p:cNvPr id="7" name="page-counter"/>
          <p:cNvSpPr txBox="1"/>
          <p:nvPr/>
        </p:nvSpPr>
        <p:spPr>
          <a:xfrm>
            <a:off x="10972800" y="6620256"/>
            <a:ext cx="713232"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22 / 24</a:t>
            </a:r>
          </a:p>
        </p:txBody>
      </p:sp>
      <p:sp>
        <p:nvSpPr>
          <p:cNvPr id="8" name="option-1-header-background" descr="Container background; accompanying native text provides content."/>
          <p:cNvSpPr/>
          <p:nvPr/>
        </p:nvSpPr>
        <p:spPr>
          <a:xfrm>
            <a:off x="3154680" y="1810512"/>
            <a:ext cx="2734056" cy="960120"/>
          </a:xfrm>
          <a:prstGeom prst="roundRect">
            <a:avLst/>
          </a:prstGeom>
          <a:solidFill>
            <a:srgbClr val="173F35"/>
          </a:solidFill>
          <a:ln>
            <a:solidFill>
              <a:srgbClr val="173F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option-peer-1-title"/>
          <p:cNvSpPr txBox="1"/>
          <p:nvPr/>
        </p:nvSpPr>
        <p:spPr>
          <a:xfrm>
            <a:off x="3273552" y="1956816"/>
            <a:ext cx="2496312" cy="795528"/>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1" i="0">
                <a:solidFill>
                  <a:srgbClr val="F7F2E7"/>
                </a:solidFill>
                <a:latin typeface="Liberation Sans"/>
              </a:rPr>
              <a:t>Improve current</a:t>
            </a:r>
          </a:p>
          <a:p>
            <a:pPr>
              <a:lnSpc>
                <a:spcPct val="108000"/>
              </a:lnSpc>
              <a:spcBef>
                <a:spcPts val="0"/>
              </a:spcBef>
              <a:spcAft>
                <a:spcPts val="500"/>
              </a:spcAft>
            </a:pPr>
            <a:r>
              <a:rPr sz="2100" b="1" i="0">
                <a:solidFill>
                  <a:srgbClr val="F7F2E7"/>
                </a:solidFill>
                <a:latin typeface="Liberation Sans"/>
              </a:rPr>
              <a:t>workflow</a:t>
            </a:r>
          </a:p>
        </p:txBody>
      </p:sp>
      <p:sp>
        <p:nvSpPr>
          <p:cNvPr id="10" name="option-2-header-background" descr="Container background; accompanying native text provides content."/>
          <p:cNvSpPr/>
          <p:nvPr/>
        </p:nvSpPr>
        <p:spPr>
          <a:xfrm>
            <a:off x="6053328" y="1810512"/>
            <a:ext cx="2734056" cy="960120"/>
          </a:xfrm>
          <a:prstGeom prst="roundRect">
            <a:avLst/>
          </a:prstGeom>
          <a:solidFill>
            <a:srgbClr val="173F35"/>
          </a:solidFill>
          <a:ln>
            <a:solidFill>
              <a:srgbClr val="173F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option-peer-2-title"/>
          <p:cNvSpPr txBox="1"/>
          <p:nvPr/>
        </p:nvSpPr>
        <p:spPr>
          <a:xfrm>
            <a:off x="6172200" y="1956816"/>
            <a:ext cx="2496312" cy="795528"/>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1" i="0">
                <a:solidFill>
                  <a:srgbClr val="F7F2E7"/>
                </a:solidFill>
                <a:latin typeface="Liberation Sans"/>
              </a:rPr>
              <a:t>Greenfield</a:t>
            </a:r>
          </a:p>
          <a:p>
            <a:pPr>
              <a:lnSpc>
                <a:spcPct val="108000"/>
              </a:lnSpc>
              <a:spcBef>
                <a:spcPts val="0"/>
              </a:spcBef>
              <a:spcAft>
                <a:spcPts val="500"/>
              </a:spcAft>
            </a:pPr>
            <a:r>
              <a:rPr sz="2100" b="1" i="0">
                <a:solidFill>
                  <a:srgbClr val="F7F2E7"/>
                </a:solidFill>
                <a:latin typeface="Liberation Sans"/>
              </a:rPr>
              <a:t>business platform</a:t>
            </a:r>
          </a:p>
        </p:txBody>
      </p:sp>
      <p:sp>
        <p:nvSpPr>
          <p:cNvPr id="12" name="option-3-header-background" descr="Container background; accompanying native text provides content."/>
          <p:cNvSpPr/>
          <p:nvPr/>
        </p:nvSpPr>
        <p:spPr>
          <a:xfrm>
            <a:off x="8951976" y="1810512"/>
            <a:ext cx="2734056" cy="960120"/>
          </a:xfrm>
          <a:prstGeom prst="roundRect">
            <a:avLst/>
          </a:prstGeom>
          <a:solidFill>
            <a:srgbClr val="173F35"/>
          </a:solidFill>
          <a:ln>
            <a:solidFill>
              <a:srgbClr val="173F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option-peer-3-title"/>
          <p:cNvSpPr txBox="1"/>
          <p:nvPr/>
        </p:nvSpPr>
        <p:spPr>
          <a:xfrm>
            <a:off x="9070848" y="1956816"/>
            <a:ext cx="2496312" cy="795528"/>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1" i="0">
                <a:solidFill>
                  <a:srgbClr val="F7F2E7"/>
                </a:solidFill>
                <a:latin typeface="Liberation Sans"/>
              </a:rPr>
              <a:t>Azure-led</a:t>
            </a:r>
          </a:p>
          <a:p>
            <a:pPr>
              <a:lnSpc>
                <a:spcPct val="108000"/>
              </a:lnSpc>
              <a:spcBef>
                <a:spcPts val="0"/>
              </a:spcBef>
              <a:spcAft>
                <a:spcPts val="500"/>
              </a:spcAft>
            </a:pPr>
            <a:r>
              <a:rPr sz="2100" b="1" i="0">
                <a:solidFill>
                  <a:srgbClr val="F7F2E7"/>
                </a:solidFill>
                <a:latin typeface="Liberation Sans"/>
              </a:rPr>
              <a:t>hybrid</a:t>
            </a:r>
          </a:p>
        </p:txBody>
      </p:sp>
      <p:sp>
        <p:nvSpPr>
          <p:cNvPr id="14" name="option-row-1-label"/>
          <p:cNvSpPr txBox="1"/>
          <p:nvPr/>
        </p:nvSpPr>
        <p:spPr>
          <a:xfrm>
            <a:off x="502920" y="3017520"/>
            <a:ext cx="2514600" cy="384048"/>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1" i="0">
                <a:solidFill>
                  <a:srgbClr val="183A31"/>
                </a:solidFill>
                <a:latin typeface="Liberation Sans"/>
              </a:rPr>
              <a:t>Mandatory controls</a:t>
            </a:r>
          </a:p>
        </p:txBody>
      </p:sp>
      <p:sp>
        <p:nvSpPr>
          <p:cNvPr id="15" name="option-1-row-1-background" descr="Container background; accompanying native text provides content."/>
          <p:cNvSpPr/>
          <p:nvPr/>
        </p:nvSpPr>
        <p:spPr>
          <a:xfrm>
            <a:off x="3154680" y="2907792"/>
            <a:ext cx="2734056" cy="521207"/>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option-row-1-peer-1-body"/>
          <p:cNvSpPr txBox="1"/>
          <p:nvPr/>
        </p:nvSpPr>
        <p:spPr>
          <a:xfrm>
            <a:off x="3273552" y="3017520"/>
            <a:ext cx="2496312" cy="365760"/>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To verify</a:t>
            </a:r>
          </a:p>
        </p:txBody>
      </p:sp>
      <p:sp>
        <p:nvSpPr>
          <p:cNvPr id="17" name="option-2-row-1-background" descr="Container background; accompanying native text provides content."/>
          <p:cNvSpPr/>
          <p:nvPr/>
        </p:nvSpPr>
        <p:spPr>
          <a:xfrm>
            <a:off x="6053328" y="2907792"/>
            <a:ext cx="2734056" cy="521207"/>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option-row-1-peer-2-body"/>
          <p:cNvSpPr txBox="1"/>
          <p:nvPr/>
        </p:nvSpPr>
        <p:spPr>
          <a:xfrm>
            <a:off x="6172200" y="3017520"/>
            <a:ext cx="2496312" cy="365760"/>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To verify</a:t>
            </a:r>
          </a:p>
        </p:txBody>
      </p:sp>
      <p:sp>
        <p:nvSpPr>
          <p:cNvPr id="19" name="option-3-row-1-background" descr="Container background; accompanying native text provides content."/>
          <p:cNvSpPr/>
          <p:nvPr/>
        </p:nvSpPr>
        <p:spPr>
          <a:xfrm>
            <a:off x="8951976" y="2907792"/>
            <a:ext cx="2734056" cy="521207"/>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option-row-1-peer-3-body"/>
          <p:cNvSpPr txBox="1"/>
          <p:nvPr/>
        </p:nvSpPr>
        <p:spPr>
          <a:xfrm>
            <a:off x="9070848" y="3017520"/>
            <a:ext cx="2496312" cy="365760"/>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To verify</a:t>
            </a:r>
          </a:p>
        </p:txBody>
      </p:sp>
      <p:sp>
        <p:nvSpPr>
          <p:cNvPr id="21" name="option-row-2-label"/>
          <p:cNvSpPr txBox="1"/>
          <p:nvPr/>
        </p:nvSpPr>
        <p:spPr>
          <a:xfrm>
            <a:off x="502920" y="3602736"/>
            <a:ext cx="2514600" cy="384048"/>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1" i="0">
                <a:solidFill>
                  <a:srgbClr val="183A31"/>
                </a:solidFill>
                <a:latin typeface="Liberation Sans"/>
              </a:rPr>
              <a:t>Transition + access</a:t>
            </a:r>
          </a:p>
        </p:txBody>
      </p:sp>
      <p:sp>
        <p:nvSpPr>
          <p:cNvPr id="22" name="option-1-row-2-background" descr="Container background; accompanying native text provides content."/>
          <p:cNvSpPr/>
          <p:nvPr/>
        </p:nvSpPr>
        <p:spPr>
          <a:xfrm>
            <a:off x="3154680" y="3493008"/>
            <a:ext cx="2734056" cy="521207"/>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option-row-2-peer-1-body"/>
          <p:cNvSpPr txBox="1"/>
          <p:nvPr/>
        </p:nvSpPr>
        <p:spPr>
          <a:xfrm>
            <a:off x="3273552" y="3602736"/>
            <a:ext cx="2496312" cy="365760"/>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To test</a:t>
            </a:r>
          </a:p>
        </p:txBody>
      </p:sp>
      <p:sp>
        <p:nvSpPr>
          <p:cNvPr id="24" name="option-2-row-2-background" descr="Container background; accompanying native text provides content."/>
          <p:cNvSpPr/>
          <p:nvPr/>
        </p:nvSpPr>
        <p:spPr>
          <a:xfrm>
            <a:off x="6053328" y="3493008"/>
            <a:ext cx="2734056" cy="521207"/>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option-row-2-peer-2-body"/>
          <p:cNvSpPr txBox="1"/>
          <p:nvPr/>
        </p:nvSpPr>
        <p:spPr>
          <a:xfrm>
            <a:off x="6172200" y="3602736"/>
            <a:ext cx="2496312" cy="365760"/>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To test</a:t>
            </a:r>
          </a:p>
        </p:txBody>
      </p:sp>
      <p:sp>
        <p:nvSpPr>
          <p:cNvPr id="26" name="option-3-row-2-background" descr="Container background; accompanying native text provides content."/>
          <p:cNvSpPr/>
          <p:nvPr/>
        </p:nvSpPr>
        <p:spPr>
          <a:xfrm>
            <a:off x="8951976" y="3493008"/>
            <a:ext cx="2734056" cy="521207"/>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option-row-2-peer-3-body"/>
          <p:cNvSpPr txBox="1"/>
          <p:nvPr/>
        </p:nvSpPr>
        <p:spPr>
          <a:xfrm>
            <a:off x="9070848" y="3602736"/>
            <a:ext cx="2496312" cy="365760"/>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To test</a:t>
            </a:r>
          </a:p>
        </p:txBody>
      </p:sp>
      <p:sp>
        <p:nvSpPr>
          <p:cNvPr id="28" name="option-row-3-label"/>
          <p:cNvSpPr txBox="1"/>
          <p:nvPr/>
        </p:nvSpPr>
        <p:spPr>
          <a:xfrm>
            <a:off x="502920" y="4187952"/>
            <a:ext cx="2514600" cy="384048"/>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1" i="0">
                <a:solidFill>
                  <a:srgbClr val="183A31"/>
                </a:solidFill>
                <a:latin typeface="Liberation Sans"/>
              </a:rPr>
              <a:t>Support + recovery</a:t>
            </a:r>
          </a:p>
        </p:txBody>
      </p:sp>
      <p:sp>
        <p:nvSpPr>
          <p:cNvPr id="29" name="option-1-row-3-background" descr="Container background; accompanying native text provides content."/>
          <p:cNvSpPr/>
          <p:nvPr/>
        </p:nvSpPr>
        <p:spPr>
          <a:xfrm>
            <a:off x="3154680" y="4078224"/>
            <a:ext cx="2734056" cy="521207"/>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option-row-3-peer-1-body"/>
          <p:cNvSpPr txBox="1"/>
          <p:nvPr/>
        </p:nvSpPr>
        <p:spPr>
          <a:xfrm>
            <a:off x="3273552" y="4187952"/>
            <a:ext cx="2496312" cy="365760"/>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To test</a:t>
            </a:r>
          </a:p>
        </p:txBody>
      </p:sp>
      <p:sp>
        <p:nvSpPr>
          <p:cNvPr id="31" name="option-2-row-3-background" descr="Container background; accompanying native text provides content."/>
          <p:cNvSpPr/>
          <p:nvPr/>
        </p:nvSpPr>
        <p:spPr>
          <a:xfrm>
            <a:off x="6053328" y="4078224"/>
            <a:ext cx="2734056" cy="521207"/>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option-row-3-peer-2-body"/>
          <p:cNvSpPr txBox="1"/>
          <p:nvPr/>
        </p:nvSpPr>
        <p:spPr>
          <a:xfrm>
            <a:off x="6172200" y="4187952"/>
            <a:ext cx="2496312" cy="365760"/>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To test</a:t>
            </a:r>
          </a:p>
        </p:txBody>
      </p:sp>
      <p:sp>
        <p:nvSpPr>
          <p:cNvPr id="33" name="option-3-row-3-background" descr="Container background; accompanying native text provides content."/>
          <p:cNvSpPr/>
          <p:nvPr/>
        </p:nvSpPr>
        <p:spPr>
          <a:xfrm>
            <a:off x="8951976" y="4078224"/>
            <a:ext cx="2734056" cy="521207"/>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option-row-3-peer-3-body"/>
          <p:cNvSpPr txBox="1"/>
          <p:nvPr/>
        </p:nvSpPr>
        <p:spPr>
          <a:xfrm>
            <a:off x="9070848" y="4187952"/>
            <a:ext cx="2496312" cy="365760"/>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To test</a:t>
            </a:r>
          </a:p>
        </p:txBody>
      </p:sp>
      <p:sp>
        <p:nvSpPr>
          <p:cNvPr id="35" name="option-row-4-label"/>
          <p:cNvSpPr txBox="1"/>
          <p:nvPr/>
        </p:nvSpPr>
        <p:spPr>
          <a:xfrm>
            <a:off x="502920" y="4773168"/>
            <a:ext cx="2514600" cy="384048"/>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1" i="0">
                <a:solidFill>
                  <a:srgbClr val="183A31"/>
                </a:solidFill>
                <a:latin typeface="Liberation Sans"/>
              </a:rPr>
              <a:t>Whole-life cost</a:t>
            </a:r>
          </a:p>
        </p:txBody>
      </p:sp>
      <p:sp>
        <p:nvSpPr>
          <p:cNvPr id="36" name="option-1-row-4-background" descr="Container background; accompanying native text provides content."/>
          <p:cNvSpPr/>
          <p:nvPr/>
        </p:nvSpPr>
        <p:spPr>
          <a:xfrm>
            <a:off x="3154680" y="4663440"/>
            <a:ext cx="2734056" cy="521207"/>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option-row-4-peer-1-body"/>
          <p:cNvSpPr txBox="1"/>
          <p:nvPr/>
        </p:nvSpPr>
        <p:spPr>
          <a:xfrm>
            <a:off x="3273552" y="4773168"/>
            <a:ext cx="2496312" cy="365760"/>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To price</a:t>
            </a:r>
          </a:p>
        </p:txBody>
      </p:sp>
      <p:sp>
        <p:nvSpPr>
          <p:cNvPr id="38" name="option-2-row-4-background" descr="Container background; accompanying native text provides content."/>
          <p:cNvSpPr/>
          <p:nvPr/>
        </p:nvSpPr>
        <p:spPr>
          <a:xfrm>
            <a:off x="6053328" y="4663440"/>
            <a:ext cx="2734056" cy="521207"/>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option-row-4-peer-2-body"/>
          <p:cNvSpPr txBox="1"/>
          <p:nvPr/>
        </p:nvSpPr>
        <p:spPr>
          <a:xfrm>
            <a:off x="6172200" y="4773168"/>
            <a:ext cx="2496312" cy="365760"/>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To price</a:t>
            </a:r>
          </a:p>
        </p:txBody>
      </p:sp>
      <p:sp>
        <p:nvSpPr>
          <p:cNvPr id="40" name="option-3-row-4-background" descr="Container background; accompanying native text provides content."/>
          <p:cNvSpPr/>
          <p:nvPr/>
        </p:nvSpPr>
        <p:spPr>
          <a:xfrm>
            <a:off x="8951976" y="4663440"/>
            <a:ext cx="2734056" cy="521207"/>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option-row-4-peer-3-body"/>
          <p:cNvSpPr txBox="1"/>
          <p:nvPr/>
        </p:nvSpPr>
        <p:spPr>
          <a:xfrm>
            <a:off x="9070848" y="4773168"/>
            <a:ext cx="2496312" cy="365760"/>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To price</a:t>
            </a:r>
          </a:p>
        </p:txBody>
      </p:sp>
      <p:sp>
        <p:nvSpPr>
          <p:cNvPr id="42" name="boundary-background" descr="Container background; accompanying native text provides content."/>
          <p:cNvSpPr/>
          <p:nvPr/>
        </p:nvSpPr>
        <p:spPr>
          <a:xfrm>
            <a:off x="502920" y="5678424"/>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boundary-text"/>
          <p:cNvSpPr txBox="1"/>
          <p:nvPr/>
        </p:nvSpPr>
        <p:spPr>
          <a:xfrm>
            <a:off x="667512" y="5769864"/>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1" i="0">
                <a:solidFill>
                  <a:srgbClr val="183A31"/>
                </a:solidFill>
                <a:latin typeface="Liberation Sans"/>
              </a:rPr>
              <a:t>Equivalent-scope appraisal needed. Exercise preference is NOT customer selection.</a:t>
            </a:r>
          </a:p>
        </p:txBody>
      </p:sp>
      <p:sp>
        <p:nvSpPr>
          <p:cNvPr id="44" name="return-decision-link" descr="Return to decision: slide 18">
            <a:hlinkClick action="ppaction://hlinksldjump" r:id="rId4"/>
          </p:cNvPr>
          <p:cNvSpPr txBox="1"/>
          <p:nvPr/>
        </p:nvSpPr>
        <p:spPr>
          <a:xfrm>
            <a:off x="8275320" y="6364224"/>
            <a:ext cx="2697480" cy="274320"/>
          </a:xfrm>
          <a:prstGeom prst="rect">
            <a:avLst/>
          </a:prstGeom>
          <a:noFill/>
        </p:spPr>
        <p:txBody>
          <a:bodyPr wrap="square" lIns="18288" rIns="18288" tIns="18288" bIns="18288" anchor="t">
            <a:noAutofit/>
          </a:bodyPr>
          <a:lstStyle/>
          <a:p>
            <a:pPr>
              <a:lnSpc>
                <a:spcPct val="102000"/>
              </a:lnSpc>
              <a:spcBef>
                <a:spcPts val="0"/>
              </a:spcBef>
              <a:spcAft>
                <a:spcPts val="0"/>
              </a:spcAft>
            </a:pPr>
            <a:r>
              <a:rPr sz="1600" b="1" i="0">
                <a:solidFill>
                  <a:srgbClr val="173F35"/>
                </a:solidFill>
                <a:latin typeface="Liberation Sans"/>
              </a:rPr>
              <a:t>Return to decision: slide 18</a:t>
            </a:r>
          </a:p>
        </p:txBody>
      </p:sp>
      <p:sp>
        <p:nvSpPr>
          <p:cNvPr id="45" name="return-options-link" descr="Return to options: slide 4">
            <a:hlinkClick action="ppaction://hlinksldjump" r:id="rId5"/>
          </p:cNvPr>
          <p:cNvSpPr txBox="1"/>
          <p:nvPr/>
        </p:nvSpPr>
        <p:spPr>
          <a:xfrm>
            <a:off x="502920" y="6364224"/>
            <a:ext cx="4114800" cy="274320"/>
          </a:xfrm>
          <a:prstGeom prst="rect">
            <a:avLst/>
          </a:prstGeom>
          <a:noFill/>
        </p:spPr>
        <p:txBody>
          <a:bodyPr wrap="square" lIns="18288" rIns="18288" tIns="18288" bIns="18288" anchor="t">
            <a:noAutofit/>
          </a:bodyPr>
          <a:lstStyle/>
          <a:p>
            <a:pPr>
              <a:lnSpc>
                <a:spcPct val="102000"/>
              </a:lnSpc>
              <a:spcBef>
                <a:spcPts val="0"/>
              </a:spcBef>
              <a:spcAft>
                <a:spcPts val="0"/>
              </a:spcAft>
            </a:pPr>
            <a:r>
              <a:rPr sz="1600" b="1" i="0">
                <a:solidFill>
                  <a:srgbClr val="173F35"/>
                </a:solidFill>
                <a:latin typeface="Liberation Sans"/>
              </a:rPr>
              <a:t>Return to options: slide 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OPTIONAL REFERENCE</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2"/>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Operate the core without overstating assurance.</a:t>
            </a:r>
          </a:p>
        </p:txBody>
      </p:sp>
      <p:sp>
        <p:nvSpPr>
          <p:cNvPr id="6" name="source-footer"/>
          <p:cNvSpPr txBox="1"/>
          <p:nvPr/>
        </p:nvSpPr>
        <p:spPr>
          <a:xfrm>
            <a:off x="502920" y="6656832"/>
            <a:ext cx="10424160" cy="192024"/>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S16 + retained sources/status in notes</a:t>
            </a:r>
          </a:p>
        </p:txBody>
      </p:sp>
      <p:sp>
        <p:nvSpPr>
          <p:cNvPr id="7" name="page-counter"/>
          <p:cNvSpPr txBox="1"/>
          <p:nvPr/>
        </p:nvSpPr>
        <p:spPr>
          <a:xfrm>
            <a:off x="10972800" y="6620256"/>
            <a:ext cx="713232"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23 / 24</a:t>
            </a:r>
          </a:p>
        </p:txBody>
      </p:sp>
      <p:cxnSp>
        <p:nvCxnSpPr>
          <p:cNvPr id="8" name="renewal-token-key-segment-1"/>
          <p:cNvCxnSpPr/>
          <p:nvPr/>
        </p:nvCxnSpPr>
        <p:spPr>
          <a:xfrm flipH="1">
            <a:off x="3913632" y="2468880"/>
            <a:ext cx="475488" cy="0"/>
          </a:xfrm>
          <a:prstGeom prst="line">
            <a:avLst/>
          </a:prstGeom>
          <a:ln w="22860">
            <a:solidFill>
              <a:srgbClr val="173F35"/>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9" name="renewal-vault-write-segment-1"/>
          <p:cNvCxnSpPr/>
          <p:nvPr/>
        </p:nvCxnSpPr>
        <p:spPr>
          <a:xfrm>
            <a:off x="7799831" y="2468880"/>
            <a:ext cx="475489" cy="0"/>
          </a:xfrm>
          <a:prstGeom prst="line">
            <a:avLst/>
          </a:prstGeom>
          <a:ln w="22860">
            <a:solidFill>
              <a:srgbClr val="173F35"/>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0" name="ops-tokens-background" descr="Container background; accompanying native text provides content."/>
          <p:cNvSpPr/>
          <p:nvPr/>
        </p:nvSpPr>
        <p:spPr>
          <a:xfrm>
            <a:off x="502920" y="1847088"/>
            <a:ext cx="3410712" cy="1417320"/>
          </a:xfrm>
          <a:prstGeom prst="roundRect">
            <a:avLst/>
          </a:prstGeom>
          <a:solidFill>
            <a:srgbClr val="D5E2D4"/>
          </a:solidFill>
          <a:ln w="16510">
            <a:solidFill>
              <a:srgbClr val="173F35"/>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ops-tokens-title"/>
          <p:cNvSpPr txBox="1"/>
          <p:nvPr/>
        </p:nvSpPr>
        <p:spPr>
          <a:xfrm>
            <a:off x="612648" y="1920240"/>
            <a:ext cx="3191256"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Separate auth-token Blob</a:t>
            </a:r>
          </a:p>
        </p:txBody>
      </p:sp>
      <p:sp>
        <p:nvSpPr>
          <p:cNvPr id="12" name="ops-tokens-body"/>
          <p:cNvSpPr txBox="1"/>
          <p:nvPr/>
        </p:nvSpPr>
        <p:spPr>
          <a:xfrm>
            <a:off x="612648" y="2267712"/>
            <a:ext cx="3191256" cy="941832"/>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0" i="0">
                <a:solidFill>
                  <a:srgbClr val="183A31"/>
                </a:solidFill>
                <a:latin typeface="Liberation Sans"/>
              </a:rPr>
              <a:t>CONFIGURED | private store</a:t>
            </a:r>
          </a:p>
          <a:p>
            <a:pPr>
              <a:lnSpc>
                <a:spcPct val="102000"/>
              </a:lnSpc>
              <a:spcBef>
                <a:spcPts val="0"/>
              </a:spcBef>
              <a:spcAft>
                <a:spcPts val="0"/>
              </a:spcAft>
            </a:pPr>
            <a:r>
              <a:rPr sz="1800" b="0" i="0">
                <a:solidFill>
                  <a:srgbClr val="183A31"/>
                </a:solidFill>
                <a:latin typeface="Liberation Sans"/>
              </a:rPr>
              <a:t>EasyAuth19 uses SAS.</a:t>
            </a:r>
          </a:p>
          <a:p>
            <a:pPr>
              <a:lnSpc>
                <a:spcPct val="102000"/>
              </a:lnSpc>
              <a:spcBef>
                <a:spcPts val="0"/>
              </a:spcBef>
              <a:spcAft>
                <a:spcPts val="0"/>
              </a:spcAft>
            </a:pPr>
            <a:r>
              <a:rPr sz="1800" b="0" i="0">
                <a:solidFill>
                  <a:srgbClr val="183A31"/>
                </a:solidFill>
                <a:latin typeface="Liberation Sans"/>
              </a:rPr>
              <a:t>Renewal gets delegation key.</a:t>
            </a:r>
          </a:p>
        </p:txBody>
      </p:sp>
      <p:sp>
        <p:nvSpPr>
          <p:cNvPr id="13" name="ops-renewal-background" descr="Container background; accompanying native text provides content."/>
          <p:cNvSpPr/>
          <p:nvPr/>
        </p:nvSpPr>
        <p:spPr>
          <a:xfrm>
            <a:off x="4389120" y="1847088"/>
            <a:ext cx="3410712" cy="1417320"/>
          </a:xfrm>
          <a:prstGeom prst="roundRect">
            <a:avLst/>
          </a:prstGeom>
          <a:solidFill>
            <a:srgbClr val="D5E2D4"/>
          </a:solidFill>
          <a:ln w="16510">
            <a:solidFill>
              <a:srgbClr val="173F35"/>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ops-renewal-title"/>
          <p:cNvSpPr txBox="1"/>
          <p:nvPr/>
        </p:nvSpPr>
        <p:spPr>
          <a:xfrm>
            <a:off x="4498848" y="1920240"/>
            <a:ext cx="3191256"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Container Apps renewal job</a:t>
            </a:r>
          </a:p>
        </p:txBody>
      </p:sp>
      <p:sp>
        <p:nvSpPr>
          <p:cNvPr id="15" name="ops-renewal-body"/>
          <p:cNvSpPr txBox="1"/>
          <p:nvPr/>
        </p:nvSpPr>
        <p:spPr>
          <a:xfrm>
            <a:off x="4498848" y="2267712"/>
            <a:ext cx="3191256" cy="941832"/>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0" i="0">
                <a:solidFill>
                  <a:srgbClr val="183A31"/>
                </a:solidFill>
                <a:latin typeface="Liberation Sans"/>
              </a:rPr>
              <a:t>CONFIGURED | 03:00 UTC</a:t>
            </a:r>
          </a:p>
          <a:p>
            <a:pPr>
              <a:lnSpc>
                <a:spcPct val="102000"/>
              </a:lnSpc>
              <a:spcBef>
                <a:spcPts val="0"/>
              </a:spcBef>
              <a:spcAft>
                <a:spcPts val="0"/>
              </a:spcAft>
            </a:pPr>
            <a:r>
              <a:rPr sz="1800" b="0" i="0">
                <a:solidFill>
                  <a:srgbClr val="183A31"/>
                </a:solidFill>
                <a:latin typeface="Liberation Sans"/>
              </a:rPr>
              <a:t>Daily five-day SAS.</a:t>
            </a:r>
          </a:p>
          <a:p>
            <a:pPr>
              <a:lnSpc>
                <a:spcPct val="102000"/>
              </a:lnSpc>
              <a:spcBef>
                <a:spcPts val="0"/>
              </a:spcBef>
              <a:spcAft>
                <a:spcPts val="0"/>
              </a:spcAft>
            </a:pPr>
            <a:r>
              <a:rPr sz="1800" b="0" i="0">
                <a:solidFill>
                  <a:srgbClr val="183A31"/>
                </a:solidFill>
                <a:latin typeface="Liberation Sans"/>
              </a:rPr>
              <a:t>Own maintenance identity.</a:t>
            </a:r>
          </a:p>
        </p:txBody>
      </p:sp>
      <p:sp>
        <p:nvSpPr>
          <p:cNvPr id="16" name="ops-vault-background" descr="Container background; accompanying native text provides content."/>
          <p:cNvSpPr/>
          <p:nvPr/>
        </p:nvSpPr>
        <p:spPr>
          <a:xfrm>
            <a:off x="8275320" y="1847088"/>
            <a:ext cx="3410712" cy="1417320"/>
          </a:xfrm>
          <a:prstGeom prst="roundRect">
            <a:avLst/>
          </a:prstGeom>
          <a:solidFill>
            <a:srgbClr val="D5E2D4"/>
          </a:solidFill>
          <a:ln w="16510">
            <a:solidFill>
              <a:srgbClr val="173F35"/>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ops-vault-title"/>
          <p:cNvSpPr txBox="1"/>
          <p:nvPr/>
        </p:nvSpPr>
        <p:spPr>
          <a:xfrm>
            <a:off x="8385048" y="1920240"/>
            <a:ext cx="3191256"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Azure Key Vault</a:t>
            </a:r>
          </a:p>
        </p:txBody>
      </p:sp>
      <p:sp>
        <p:nvSpPr>
          <p:cNvPr id="18" name="ops-vault-body"/>
          <p:cNvSpPr txBox="1"/>
          <p:nvPr/>
        </p:nvSpPr>
        <p:spPr>
          <a:xfrm>
            <a:off x="8385048" y="2267712"/>
            <a:ext cx="3191256" cy="941832"/>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0" i="0">
                <a:solidFill>
                  <a:srgbClr val="183A31"/>
                </a:solidFill>
                <a:latin typeface="Liberation Sans"/>
              </a:rPr>
              <a:t>CONFIGURED | one secret</a:t>
            </a:r>
          </a:p>
          <a:p>
            <a:pPr>
              <a:lnSpc>
                <a:spcPct val="102000"/>
              </a:lnSpc>
              <a:spcBef>
                <a:spcPts val="0"/>
              </a:spcBef>
              <a:spcAft>
                <a:spcPts val="0"/>
              </a:spcAft>
            </a:pPr>
            <a:r>
              <a:rPr sz="1800" b="0" i="0">
                <a:solidFill>
                  <a:srgbClr val="183A31"/>
                </a:solidFill>
                <a:latin typeface="Liberation Sans"/>
              </a:rPr>
              <a:t>Renewal writes; auth reads.</a:t>
            </a:r>
          </a:p>
          <a:p>
            <a:pPr>
              <a:lnSpc>
                <a:spcPct val="102000"/>
              </a:lnSpc>
              <a:spcBef>
                <a:spcPts val="0"/>
              </a:spcBef>
              <a:spcAft>
                <a:spcPts val="0"/>
              </a:spcAft>
            </a:pPr>
            <a:r>
              <a:rPr sz="1800" b="0" i="0">
                <a:solidFill>
                  <a:srgbClr val="183A31"/>
                </a:solidFill>
                <a:latin typeface="Liberation Sans"/>
              </a:rPr>
              <a:t>No browser token retrieval.</a:t>
            </a:r>
          </a:p>
        </p:txBody>
      </p:sp>
      <p:sp>
        <p:nvSpPr>
          <p:cNvPr id="19" name="ops-registry-background" descr="Container background; accompanying native text provides content."/>
          <p:cNvSpPr/>
          <p:nvPr/>
        </p:nvSpPr>
        <p:spPr>
          <a:xfrm>
            <a:off x="502920" y="3456432"/>
            <a:ext cx="3410712" cy="1417320"/>
          </a:xfrm>
          <a:prstGeom prst="roundRect">
            <a:avLst/>
          </a:prstGeom>
          <a:solidFill>
            <a:srgbClr val="D5E2D4"/>
          </a:solidFill>
          <a:ln w="16510">
            <a:solidFill>
              <a:srgbClr val="173F35"/>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ops-registry-title"/>
          <p:cNvSpPr txBox="1"/>
          <p:nvPr/>
        </p:nvSpPr>
        <p:spPr>
          <a:xfrm>
            <a:off x="612648" y="3529584"/>
            <a:ext cx="3191256"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Managed identities + ACR</a:t>
            </a:r>
          </a:p>
        </p:txBody>
      </p:sp>
      <p:sp>
        <p:nvSpPr>
          <p:cNvPr id="21" name="ops-registry-body"/>
          <p:cNvSpPr txBox="1"/>
          <p:nvPr/>
        </p:nvSpPr>
        <p:spPr>
          <a:xfrm>
            <a:off x="612648" y="3877056"/>
            <a:ext cx="3191256" cy="941832"/>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0" i="0">
                <a:solidFill>
                  <a:srgbClr val="183A31"/>
                </a:solidFill>
                <a:latin typeface="Liberation Sans"/>
              </a:rPr>
              <a:t>CONFIGURED | image pull</a:t>
            </a:r>
          </a:p>
          <a:p>
            <a:pPr>
              <a:lnSpc>
                <a:spcPct val="102000"/>
              </a:lnSpc>
              <a:spcBef>
                <a:spcPts val="0"/>
              </a:spcBef>
              <a:spcAft>
                <a:spcPts val="0"/>
              </a:spcAft>
            </a:pPr>
            <a:r>
              <a:rPr sz="1800" b="0" i="0">
                <a:solidFill>
                  <a:srgbClr val="183A31"/>
                </a:solidFill>
                <a:latin typeface="Liberation Sans"/>
              </a:rPr>
              <a:t>Operator build + deploy.</a:t>
            </a:r>
          </a:p>
          <a:p>
            <a:pPr>
              <a:lnSpc>
                <a:spcPct val="102000"/>
              </a:lnSpc>
              <a:spcBef>
                <a:spcPts val="0"/>
              </a:spcBef>
              <a:spcAft>
                <a:spcPts val="0"/>
              </a:spcAft>
            </a:pPr>
            <a:r>
              <a:rPr sz="1800" b="0" i="0">
                <a:solidFill>
                  <a:srgbClr val="183A31"/>
                </a:solidFill>
                <a:latin typeface="Liberation Sans"/>
              </a:rPr>
              <a:t>CI: tests / scan / SBOM only.</a:t>
            </a:r>
          </a:p>
        </p:txBody>
      </p:sp>
      <p:sp>
        <p:nvSpPr>
          <p:cNvPr id="22" name="ops-logs-background" descr="Container background; accompanying native text provides content."/>
          <p:cNvSpPr/>
          <p:nvPr/>
        </p:nvSpPr>
        <p:spPr>
          <a:xfrm>
            <a:off x="4389120" y="3456432"/>
            <a:ext cx="3410712" cy="1417320"/>
          </a:xfrm>
          <a:prstGeom prst="roundRect">
            <a:avLst/>
          </a:prstGeom>
          <a:solidFill>
            <a:srgbClr val="D5E2D4"/>
          </a:solidFill>
          <a:ln w="16510">
            <a:solidFill>
              <a:srgbClr val="173F35"/>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ops-logs-title"/>
          <p:cNvSpPr txBox="1"/>
          <p:nvPr/>
        </p:nvSpPr>
        <p:spPr>
          <a:xfrm>
            <a:off x="4498848" y="3529584"/>
            <a:ext cx="3191256"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Log Analytics + App Insights</a:t>
            </a:r>
          </a:p>
        </p:txBody>
      </p:sp>
      <p:sp>
        <p:nvSpPr>
          <p:cNvPr id="24" name="ops-logs-body"/>
          <p:cNvSpPr txBox="1"/>
          <p:nvPr/>
        </p:nvSpPr>
        <p:spPr>
          <a:xfrm>
            <a:off x="4498848" y="3877056"/>
            <a:ext cx="3191256" cy="941832"/>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0" i="0">
                <a:solidFill>
                  <a:srgbClr val="183A31"/>
                </a:solidFill>
                <a:latin typeface="Liberation Sans"/>
              </a:rPr>
              <a:t>CONFIGURED | logs + audit</a:t>
            </a:r>
          </a:p>
          <a:p>
            <a:pPr>
              <a:lnSpc>
                <a:spcPct val="102000"/>
              </a:lnSpc>
              <a:spcBef>
                <a:spcPts val="0"/>
              </a:spcBef>
              <a:spcAft>
                <a:spcPts val="0"/>
              </a:spcAft>
            </a:pPr>
            <a:r>
              <a:rPr sz="1800" b="0" i="0">
                <a:solidFill>
                  <a:srgbClr val="183A31"/>
                </a:solidFill>
                <a:latin typeface="Liberation Sans"/>
              </a:rPr>
              <a:t>Insights/SQL/API19 -&gt; logs.</a:t>
            </a:r>
          </a:p>
          <a:p>
            <a:pPr>
              <a:lnSpc>
                <a:spcPct val="102000"/>
              </a:lnSpc>
              <a:spcBef>
                <a:spcPts val="0"/>
              </a:spcBef>
              <a:spcAft>
                <a:spcPts val="0"/>
              </a:spcAft>
            </a:pPr>
            <a:r>
              <a:rPr sz="1800" b="0" i="0">
                <a:solidFill>
                  <a:srgbClr val="183A31"/>
                </a:solidFill>
                <a:latin typeface="Liberation Sans"/>
              </a:rPr>
              <a:t>Full tracing not established.</a:t>
            </a:r>
          </a:p>
        </p:txBody>
      </p:sp>
      <p:sp>
        <p:nvSpPr>
          <p:cNvPr id="25" name="ops-alerts-background" descr="Container background; accompanying native text provides content."/>
          <p:cNvSpPr/>
          <p:nvPr/>
        </p:nvSpPr>
        <p:spPr>
          <a:xfrm>
            <a:off x="8275320" y="3456432"/>
            <a:ext cx="3410712" cy="1417320"/>
          </a:xfrm>
          <a:prstGeom prst="roundRect">
            <a:avLst/>
          </a:prstGeom>
          <a:solidFill>
            <a:srgbClr val="D5E2D4"/>
          </a:solidFill>
          <a:ln w="16510">
            <a:solidFill>
              <a:srgbClr val="173F35"/>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ops-alerts-title"/>
          <p:cNvSpPr txBox="1"/>
          <p:nvPr/>
        </p:nvSpPr>
        <p:spPr>
          <a:xfrm>
            <a:off x="8385048" y="3529584"/>
            <a:ext cx="3191256"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Model/API/SQL alerts</a:t>
            </a:r>
          </a:p>
        </p:txBody>
      </p:sp>
      <p:sp>
        <p:nvSpPr>
          <p:cNvPr id="27" name="ops-alerts-body"/>
          <p:cNvSpPr txBox="1"/>
          <p:nvPr/>
        </p:nvSpPr>
        <p:spPr>
          <a:xfrm>
            <a:off x="8385048" y="3877056"/>
            <a:ext cx="3191256" cy="941832"/>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0" i="0">
                <a:solidFill>
                  <a:srgbClr val="183A31"/>
                </a:solidFill>
                <a:latin typeface="Liberation Sans"/>
              </a:rPr>
              <a:t>CONFIGURED | email alerts</a:t>
            </a:r>
          </a:p>
          <a:p>
            <a:pPr>
              <a:lnSpc>
                <a:spcPct val="102000"/>
              </a:lnSpc>
              <a:spcBef>
                <a:spcPts val="0"/>
              </a:spcBef>
              <a:spcAft>
                <a:spcPts val="0"/>
              </a:spcAft>
            </a:pPr>
            <a:r>
              <a:rPr sz="1800" b="0" i="0">
                <a:solidFill>
                  <a:srgbClr val="183A31"/>
                </a:solidFill>
                <a:latin typeface="Liberation Sans"/>
              </a:rPr>
              <a:t>80% actual / 100% forecast.</a:t>
            </a:r>
          </a:p>
          <a:p>
            <a:pPr>
              <a:lnSpc>
                <a:spcPct val="102000"/>
              </a:lnSpc>
              <a:spcBef>
                <a:spcPts val="0"/>
              </a:spcBef>
              <a:spcAft>
                <a:spcPts val="0"/>
              </a:spcAft>
            </a:pPr>
            <a:r>
              <a:rPr sz="1800" b="0" i="0">
                <a:solidFill>
                  <a:srgbClr val="183A31"/>
                </a:solidFill>
                <a:latin typeface="Liberation Sans"/>
              </a:rPr>
              <a:t>Not a hard spending cap.</a:t>
            </a:r>
          </a:p>
        </p:txBody>
      </p:sp>
      <p:sp>
        <p:nvSpPr>
          <p:cNvPr id="28" name="ops-network"/>
          <p:cNvSpPr txBox="1"/>
          <p:nvPr/>
        </p:nvSpPr>
        <p:spPr>
          <a:xfrm>
            <a:off x="502920" y="4983480"/>
            <a:ext cx="11183112" cy="58521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0" i="0">
                <a:solidFill>
                  <a:srgbClr val="183A31"/>
                </a:solidFill>
                <a:latin typeface="Liberation Sans"/>
              </a:rPr>
              <a:t>SOURCE-CONFIGURED: VNet, subnets, NSGs, private endpoints, DNS, AMPLS.</a:t>
            </a:r>
          </a:p>
          <a:p>
            <a:pPr>
              <a:lnSpc>
                <a:spcPct val="102000"/>
              </a:lnSpc>
              <a:spcBef>
                <a:spcPts val="0"/>
              </a:spcBef>
              <a:spcAft>
                <a:spcPts val="0"/>
              </a:spcAft>
            </a:pPr>
            <a:r>
              <a:rPr sz="1800" b="0" i="0">
                <a:solidFill>
                  <a:srgbClr val="183A31"/>
                </a:solidFill>
                <a:latin typeface="Liberation Sans"/>
              </a:rPr>
              <a:t>Development also permits public access. PaaS services are NOT VNet-hosted.</a:t>
            </a:r>
          </a:p>
        </p:txBody>
      </p:sp>
      <p:sp>
        <p:nvSpPr>
          <p:cNvPr id="29" name="ops-support"/>
          <p:cNvSpPr txBox="1"/>
          <p:nvPr/>
        </p:nvSpPr>
        <p:spPr>
          <a:xfrm>
            <a:off x="502920" y="5623560"/>
            <a:ext cx="11183112" cy="329184"/>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0" i="0">
                <a:solidFill>
                  <a:srgbClr val="183A31"/>
                </a:solidFill>
                <a:latin typeface="Liberation Sans"/>
              </a:rPr>
              <a:t>CONFIGURED: API19 -&gt; Graph own-photo User.Read; browser -&gt; tile provider (list alternative).</a:t>
            </a:r>
          </a:p>
        </p:txBody>
      </p:sp>
      <p:sp>
        <p:nvSpPr>
          <p:cNvPr id="30" name="ops-failures-background" descr="Container background; accompanying native text provides content."/>
          <p:cNvSpPr/>
          <p:nvPr/>
        </p:nvSpPr>
        <p:spPr>
          <a:xfrm>
            <a:off x="502920" y="5952744"/>
            <a:ext cx="11183112" cy="411480"/>
          </a:xfrm>
          <a:prstGeom prst="roundRect">
            <a:avLst/>
          </a:prstGeom>
          <a:solidFill>
            <a:srgbClr val="E5B96A"/>
          </a:solidFill>
          <a:ln w="16510">
            <a:solidFill>
              <a:srgbClr val="173F35"/>
            </a:solidFill>
            <a:prstDash val="solid"/>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ops-failures"/>
          <p:cNvSpPr txBox="1"/>
          <p:nvPr/>
        </p:nvSpPr>
        <p:spPr>
          <a:xfrm>
            <a:off x="640080" y="6025896"/>
            <a:ext cx="10908792" cy="301752"/>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Model fails: manual work. SQL fails: writes may block. Token renewal fails: act before expiry.</a:t>
            </a:r>
          </a:p>
        </p:txBody>
      </p:sp>
      <p:sp>
        <p:nvSpPr>
          <p:cNvPr id="32" name="return-decision-link" descr="Return to decision: slide 18">
            <a:hlinkClick action="ppaction://hlinksldjump" r:id="rId4"/>
          </p:cNvPr>
          <p:cNvSpPr txBox="1"/>
          <p:nvPr/>
        </p:nvSpPr>
        <p:spPr>
          <a:xfrm>
            <a:off x="8275320" y="6364224"/>
            <a:ext cx="2697480" cy="274320"/>
          </a:xfrm>
          <a:prstGeom prst="rect">
            <a:avLst/>
          </a:prstGeom>
          <a:noFill/>
        </p:spPr>
        <p:txBody>
          <a:bodyPr wrap="square" lIns="18288" rIns="18288" tIns="18288" bIns="18288" anchor="t">
            <a:noAutofit/>
          </a:bodyPr>
          <a:lstStyle/>
          <a:p>
            <a:pPr>
              <a:lnSpc>
                <a:spcPct val="102000"/>
              </a:lnSpc>
              <a:spcBef>
                <a:spcPts val="0"/>
              </a:spcBef>
              <a:spcAft>
                <a:spcPts val="0"/>
              </a:spcAft>
            </a:pPr>
            <a:r>
              <a:rPr sz="1600" b="1" i="0">
                <a:solidFill>
                  <a:srgbClr val="173F35"/>
                </a:solidFill>
                <a:latin typeface="Liberation Sans"/>
              </a:rPr>
              <a:t>Return to decision: slide 18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OPTIONAL REFERENCE</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2"/>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Deferred services are not the five-assistant runtime.</a:t>
            </a:r>
          </a:p>
        </p:txBody>
      </p:sp>
      <p:sp>
        <p:nvSpPr>
          <p:cNvPr id="6" name="source-footer"/>
          <p:cNvSpPr txBox="1"/>
          <p:nvPr/>
        </p:nvSpPr>
        <p:spPr>
          <a:xfrm>
            <a:off x="502920" y="6656832"/>
            <a:ext cx="10424160" cy="192024"/>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S16 + retained sources/status in notes</a:t>
            </a:r>
          </a:p>
        </p:txBody>
      </p:sp>
      <p:sp>
        <p:nvSpPr>
          <p:cNvPr id="7" name="page-counter"/>
          <p:cNvSpPr txBox="1"/>
          <p:nvPr/>
        </p:nvSpPr>
        <p:spPr>
          <a:xfrm>
            <a:off x="10972800" y="6620256"/>
            <a:ext cx="713232"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24 / 24</a:t>
            </a:r>
          </a:p>
        </p:txBody>
      </p:sp>
      <p:sp>
        <p:nvSpPr>
          <p:cNvPr id="8" name="deferred-frame-label"/>
          <p:cNvSpPr txBox="1"/>
          <p:nvPr/>
        </p:nvSpPr>
        <p:spPr>
          <a:xfrm>
            <a:off x="502920" y="1728216"/>
            <a:ext cx="11183112"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DEFERRED ADR 0001 | placeholder contracts, NOT the five-assistant runtime</a:t>
            </a:r>
          </a:p>
        </p:txBody>
      </p:sp>
      <p:cxnSp>
        <p:nvCxnSpPr>
          <p:cNvPr id="9" name="deferred-enqueue-segment-1"/>
          <p:cNvCxnSpPr/>
          <p:nvPr/>
        </p:nvCxnSpPr>
        <p:spPr>
          <a:xfrm>
            <a:off x="3913632" y="2706624"/>
            <a:ext cx="475488" cy="0"/>
          </a:xfrm>
          <a:prstGeom prst="line">
            <a:avLst/>
          </a:prstGeom>
          <a:ln w="22860">
            <a:solidFill>
              <a:srgbClr val="173F35"/>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0" name="deferred-keda-segment-1"/>
          <p:cNvCxnSpPr/>
          <p:nvPr/>
        </p:nvCxnSpPr>
        <p:spPr>
          <a:xfrm>
            <a:off x="7799831" y="2706624"/>
            <a:ext cx="475489" cy="0"/>
          </a:xfrm>
          <a:prstGeom prst="line">
            <a:avLst/>
          </a:prstGeom>
          <a:ln w="22860">
            <a:solidFill>
              <a:srgbClr val="173F35"/>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1" name="deferred-import-queue-segment-1"/>
          <p:cNvCxnSpPr/>
          <p:nvPr/>
        </p:nvCxnSpPr>
        <p:spPr>
          <a:xfrm>
            <a:off x="6080760" y="3465576"/>
            <a:ext cx="0" cy="173736"/>
          </a:xfrm>
          <a:prstGeom prst="line">
            <a:avLst/>
          </a:prstGeom>
          <a:ln w="22860">
            <a:solidFill>
              <a:srgbClr val="173F35"/>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2" name="deferred-snapshot-segment-1"/>
          <p:cNvCxnSpPr/>
          <p:nvPr/>
        </p:nvCxnSpPr>
        <p:spPr>
          <a:xfrm>
            <a:off x="3913632" y="4178808"/>
            <a:ext cx="475488" cy="0"/>
          </a:xfrm>
          <a:prstGeom prst="line">
            <a:avLst/>
          </a:prstGeom>
          <a:ln w="22860">
            <a:solidFill>
              <a:srgbClr val="173F35"/>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3" name="deferred-quarantine-segment-1"/>
          <p:cNvCxnSpPr/>
          <p:nvPr/>
        </p:nvCxnSpPr>
        <p:spPr>
          <a:xfrm>
            <a:off x="7799831" y="4178808"/>
            <a:ext cx="475489" cy="0"/>
          </a:xfrm>
          <a:prstGeom prst="line">
            <a:avLst/>
          </a:prstGeom>
          <a:ln w="22860">
            <a:solidFill>
              <a:srgbClr val="173F35"/>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4" name="deferred-orchestrator-background" descr="Container background; accompanying native text provides content."/>
          <p:cNvSpPr/>
          <p:nvPr/>
        </p:nvSpPr>
        <p:spPr>
          <a:xfrm>
            <a:off x="502920" y="2093976"/>
            <a:ext cx="3410712" cy="1371600"/>
          </a:xfrm>
          <a:prstGeom prst="roundRect">
            <a:avLst/>
          </a:prstGeom>
          <a:solidFill>
            <a:srgbClr val="D5E2D4"/>
          </a:solidFill>
          <a:ln w="16510">
            <a:solidFill>
              <a:srgbClr val="173F35"/>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deferred-orchestrator-title"/>
          <p:cNvSpPr txBox="1"/>
          <p:nvPr/>
        </p:nvSpPr>
        <p:spPr>
          <a:xfrm>
            <a:off x="612648" y="2167128"/>
            <a:ext cx="3191256"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Orchestrator | DEFERRED</a:t>
            </a:r>
          </a:p>
        </p:txBody>
      </p:sp>
      <p:sp>
        <p:nvSpPr>
          <p:cNvPr id="16" name="deferred-orchestrator-body"/>
          <p:cNvSpPr txBox="1"/>
          <p:nvPr/>
        </p:nvSpPr>
        <p:spPr>
          <a:xfrm>
            <a:off x="612648" y="2514600"/>
            <a:ext cx="3191256" cy="896112"/>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0" i="0">
                <a:solidFill>
                  <a:srgbClr val="183A31"/>
                </a:solidFill>
                <a:latin typeface="Liberation Sans"/>
              </a:rPr>
              <a:t>5-minute task placeholder.</a:t>
            </a:r>
          </a:p>
          <a:p>
            <a:pPr>
              <a:lnSpc>
                <a:spcPct val="102000"/>
              </a:lnSpc>
              <a:spcBef>
                <a:spcPts val="0"/>
              </a:spcBef>
              <a:spcAft>
                <a:spcPts val="0"/>
              </a:spcAft>
            </a:pPr>
            <a:r>
              <a:rPr sz="1800" b="0" i="0">
                <a:solidFill>
                  <a:srgbClr val="183A31"/>
                </a:solidFill>
                <a:latin typeface="Liberation Sans"/>
              </a:rPr>
              <a:t>Checkpoints -&gt; API19.</a:t>
            </a:r>
          </a:p>
          <a:p>
            <a:pPr>
              <a:lnSpc>
                <a:spcPct val="102000"/>
              </a:lnSpc>
              <a:spcBef>
                <a:spcPts val="0"/>
              </a:spcBef>
              <a:spcAft>
                <a:spcPts val="0"/>
              </a:spcAft>
            </a:pPr>
            <a:r>
              <a:rPr sz="1800" b="0" i="0">
                <a:solidFill>
                  <a:srgbClr val="183A31"/>
                </a:solidFill>
                <a:latin typeface="Liberation Sans"/>
              </a:rPr>
              <a:t>Not an AI supervisor.</a:t>
            </a:r>
          </a:p>
        </p:txBody>
      </p:sp>
      <p:sp>
        <p:nvSpPr>
          <p:cNvPr id="17" name="deferred-queues-background" descr="Container background; accompanying native text provides content."/>
          <p:cNvSpPr/>
          <p:nvPr/>
        </p:nvSpPr>
        <p:spPr>
          <a:xfrm>
            <a:off x="4389120" y="2093976"/>
            <a:ext cx="3410712" cy="1371600"/>
          </a:xfrm>
          <a:prstGeom prst="roundRect">
            <a:avLst/>
          </a:prstGeom>
          <a:solidFill>
            <a:srgbClr val="D5E2D4"/>
          </a:solidFill>
          <a:ln w="16510">
            <a:solidFill>
              <a:srgbClr val="173F35"/>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deferred-queues-title"/>
          <p:cNvSpPr txBox="1"/>
          <p:nvPr/>
        </p:nvSpPr>
        <p:spPr>
          <a:xfrm>
            <a:off x="4498848" y="2167128"/>
            <a:ext cx="3191256"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Queues | DEFERRED</a:t>
            </a:r>
          </a:p>
        </p:txBody>
      </p:sp>
      <p:sp>
        <p:nvSpPr>
          <p:cNvPr id="19" name="deferred-queues-body"/>
          <p:cNvSpPr txBox="1"/>
          <p:nvPr/>
        </p:nvSpPr>
        <p:spPr>
          <a:xfrm>
            <a:off x="4498848" y="2514600"/>
            <a:ext cx="3191256" cy="896112"/>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0" i="0">
                <a:solidFill>
                  <a:srgbClr val="183A31"/>
                </a:solidFill>
                <a:latin typeface="Liberation Sans"/>
              </a:rPr>
              <a:t>agent-tasks / import-jobs</a:t>
            </a:r>
          </a:p>
          <a:p>
            <a:pPr marL="228600" indent="-228600">
              <a:lnSpc>
                <a:spcPct val="102000"/>
              </a:lnSpc>
              <a:spcBef>
                <a:spcPts val="0"/>
              </a:spcBef>
              <a:spcAft>
                <a:spcPts val="0"/>
              </a:spcAft>
              <a:buChar char="•"/>
            </a:pPr>
            <a:r>
              <a:rPr sz="1800" b="0" i="0">
                <a:solidFill>
                  <a:srgbClr val="183A31"/>
                </a:solidFill>
                <a:latin typeface="Liberation Sans"/>
              </a:rPr>
              <a:t>matching poison queues.</a:t>
            </a:r>
          </a:p>
          <a:p>
            <a:pPr>
              <a:lnSpc>
                <a:spcPct val="102000"/>
              </a:lnSpc>
              <a:spcBef>
                <a:spcPts val="0"/>
              </a:spcBef>
              <a:spcAft>
                <a:spcPts val="0"/>
              </a:spcAft>
            </a:pPr>
            <a:r>
              <a:rPr sz="1800" b="0" i="0">
                <a:solidFill>
                  <a:srgbClr val="183A31"/>
                </a:solidFill>
                <a:latin typeface="Liberation Sans"/>
              </a:rPr>
              <a:t>KEDA tasks / import events.</a:t>
            </a:r>
          </a:p>
        </p:txBody>
      </p:sp>
      <p:sp>
        <p:nvSpPr>
          <p:cNvPr id="20" name="deferred-agents-background" descr="Container background; accompanying native text provides content."/>
          <p:cNvSpPr/>
          <p:nvPr/>
        </p:nvSpPr>
        <p:spPr>
          <a:xfrm>
            <a:off x="8275320" y="2093976"/>
            <a:ext cx="3410712" cy="1371600"/>
          </a:xfrm>
          <a:prstGeom prst="roundRect">
            <a:avLst/>
          </a:prstGeom>
          <a:solidFill>
            <a:srgbClr val="D5E2D4"/>
          </a:solidFill>
          <a:ln w="16510">
            <a:solidFill>
              <a:srgbClr val="173F35"/>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deferred-agents-title"/>
          <p:cNvSpPr txBox="1"/>
          <p:nvPr/>
        </p:nvSpPr>
        <p:spPr>
          <a:xfrm>
            <a:off x="8385048" y="2167128"/>
            <a:ext cx="3191256"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Agent app | DEFERRED</a:t>
            </a:r>
          </a:p>
        </p:txBody>
      </p:sp>
      <p:sp>
        <p:nvSpPr>
          <p:cNvPr id="22" name="deferred-agents-body"/>
          <p:cNvSpPr txBox="1"/>
          <p:nvPr/>
        </p:nvSpPr>
        <p:spPr>
          <a:xfrm>
            <a:off x="8385048" y="2514600"/>
            <a:ext cx="3191256" cy="896112"/>
          </a:xfrm>
          <a:prstGeom prst="rect">
            <a:avLst/>
          </a:prstGeom>
          <a:noFill/>
        </p:spPr>
        <p:txBody>
          <a:bodyPr wrap="square" lIns="18288" rIns="18288" tIns="18288" bIns="18288" anchor="t">
            <a:noAutofit/>
          </a:bodyPr>
          <a:lstStyle/>
          <a:p>
            <a:pPr>
              <a:lnSpc>
                <a:spcPct val="102000"/>
              </a:lnSpc>
              <a:spcBef>
                <a:spcPts val="0"/>
              </a:spcBef>
              <a:spcAft>
                <a:spcPts val="0"/>
              </a:spcAft>
            </a:pPr>
            <a:r>
              <a:rPr sz="1600" b="0" i="0">
                <a:solidFill>
                  <a:srgbClr val="183A31"/>
                </a:solidFill>
                <a:latin typeface="Liberation Sans"/>
              </a:rPr>
              <a:t>KEDA placeholder, not current AI.</a:t>
            </a:r>
          </a:p>
          <a:p>
            <a:pPr>
              <a:lnSpc>
                <a:spcPct val="102000"/>
              </a:lnSpc>
              <a:spcBef>
                <a:spcPts val="0"/>
              </a:spcBef>
              <a:spcAft>
                <a:spcPts val="0"/>
              </a:spcAft>
            </a:pPr>
            <a:r>
              <a:rPr sz="1600" b="0" i="0">
                <a:solidFill>
                  <a:srgbClr val="183A31"/>
                </a:solidFill>
                <a:latin typeface="Liberation Sans"/>
              </a:rPr>
              <a:t>Context/proposals -&gt; API19.</a:t>
            </a:r>
          </a:p>
          <a:p>
            <a:pPr>
              <a:lnSpc>
                <a:spcPct val="102000"/>
              </a:lnSpc>
              <a:spcBef>
                <a:spcPts val="0"/>
              </a:spcBef>
              <a:spcAft>
                <a:spcPts val="0"/>
              </a:spcAft>
            </a:pPr>
            <a:r>
              <a:rPr sz="1600" b="0" i="0">
                <a:solidFill>
                  <a:srgbClr val="183A31"/>
                </a:solidFill>
                <a:latin typeface="Liberation Sans"/>
              </a:rPr>
              <a:t>Models19; no data-store tools.</a:t>
            </a:r>
          </a:p>
        </p:txBody>
      </p:sp>
      <p:sp>
        <p:nvSpPr>
          <p:cNvPr id="23" name="deferred-m365-background" descr="Container background; accompanying native text provides content."/>
          <p:cNvSpPr/>
          <p:nvPr/>
        </p:nvSpPr>
        <p:spPr>
          <a:xfrm>
            <a:off x="502920" y="3639312"/>
            <a:ext cx="3410712" cy="1371600"/>
          </a:xfrm>
          <a:prstGeom prst="roundRect">
            <a:avLst/>
          </a:prstGeom>
          <a:solidFill>
            <a:srgbClr val="D5E2D4"/>
          </a:solidFill>
          <a:ln w="16510">
            <a:solidFill>
              <a:srgbClr val="173F35"/>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deferred-m365-title"/>
          <p:cNvSpPr txBox="1"/>
          <p:nvPr/>
        </p:nvSpPr>
        <p:spPr>
          <a:xfrm>
            <a:off x="612648" y="3712463"/>
            <a:ext cx="3191256"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M365 | CONDITIONAL</a:t>
            </a:r>
          </a:p>
        </p:txBody>
      </p:sp>
      <p:sp>
        <p:nvSpPr>
          <p:cNvPr id="25" name="deferred-m365-body"/>
          <p:cNvSpPr txBox="1"/>
          <p:nvPr/>
        </p:nvSpPr>
        <p:spPr>
          <a:xfrm>
            <a:off x="612648" y="4059936"/>
            <a:ext cx="3191256" cy="896112"/>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0" i="0">
                <a:solidFill>
                  <a:srgbClr val="183A31"/>
                </a:solidFill>
                <a:latin typeface="Liberation Sans"/>
              </a:rPr>
              <a:t>SharePoint/Excel snapshot.</a:t>
            </a:r>
          </a:p>
          <a:p>
            <a:pPr>
              <a:lnSpc>
                <a:spcPct val="102000"/>
              </a:lnSpc>
              <a:spcBef>
                <a:spcPts val="0"/>
              </a:spcBef>
              <a:spcAft>
                <a:spcPts val="0"/>
              </a:spcAft>
            </a:pPr>
            <a:r>
              <a:rPr sz="1800" b="0" i="0">
                <a:solidFill>
                  <a:srgbClr val="183A31"/>
                </a:solidFill>
                <a:latin typeface="Liberation Sans"/>
              </a:rPr>
              <a:t>Sites.Selected + site grant.</a:t>
            </a:r>
          </a:p>
          <a:p>
            <a:pPr>
              <a:lnSpc>
                <a:spcPct val="102000"/>
              </a:lnSpc>
              <a:spcBef>
                <a:spcPts val="0"/>
              </a:spcBef>
              <a:spcAft>
                <a:spcPts val="0"/>
              </a:spcAft>
            </a:pPr>
            <a:r>
              <a:rPr sz="1800" b="0" i="0">
                <a:solidFill>
                  <a:srgbClr val="183A31"/>
                </a:solidFill>
                <a:latin typeface="Liberation Sans"/>
              </a:rPr>
              <a:t>One-way; not photo rights.</a:t>
            </a:r>
          </a:p>
        </p:txBody>
      </p:sp>
      <p:sp>
        <p:nvSpPr>
          <p:cNvPr id="26" name="deferred-import-background" descr="Container background; accompanying native text provides content."/>
          <p:cNvSpPr/>
          <p:nvPr/>
        </p:nvSpPr>
        <p:spPr>
          <a:xfrm>
            <a:off x="4389120" y="3639312"/>
            <a:ext cx="3410712" cy="1371600"/>
          </a:xfrm>
          <a:prstGeom prst="roundRect">
            <a:avLst/>
          </a:prstGeom>
          <a:solidFill>
            <a:srgbClr val="D5E2D4"/>
          </a:solidFill>
          <a:ln w="16510">
            <a:solidFill>
              <a:srgbClr val="173F35"/>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deferred-import-title"/>
          <p:cNvSpPr txBox="1"/>
          <p:nvPr/>
        </p:nvSpPr>
        <p:spPr>
          <a:xfrm>
            <a:off x="4498848" y="3712463"/>
            <a:ext cx="3191256"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Import job | DEFERRED</a:t>
            </a:r>
          </a:p>
        </p:txBody>
      </p:sp>
      <p:sp>
        <p:nvSpPr>
          <p:cNvPr id="28" name="deferred-import-body"/>
          <p:cNvSpPr txBox="1"/>
          <p:nvPr/>
        </p:nvSpPr>
        <p:spPr>
          <a:xfrm>
            <a:off x="4498848" y="4059936"/>
            <a:ext cx="3191256" cy="896112"/>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0" i="0">
                <a:solidFill>
                  <a:srgbClr val="183A31"/>
                </a:solidFill>
                <a:latin typeface="Liberation Sans"/>
              </a:rPr>
              <a:t>import-jobs placeholder.</a:t>
            </a:r>
          </a:p>
          <a:p>
            <a:pPr>
              <a:lnSpc>
                <a:spcPct val="102000"/>
              </a:lnSpc>
              <a:spcBef>
                <a:spcPts val="0"/>
              </a:spcBef>
              <a:spcAft>
                <a:spcPts val="0"/>
              </a:spcAft>
            </a:pPr>
            <a:r>
              <a:rPr sz="1800" b="0" i="0">
                <a:solidFill>
                  <a:srgbClr val="183A31"/>
                </a:solidFill>
                <a:latin typeface="Liberation Sans"/>
              </a:rPr>
              <a:t>Limited SQL; Blob quarantine.</a:t>
            </a:r>
          </a:p>
          <a:p>
            <a:pPr>
              <a:lnSpc>
                <a:spcPct val="102000"/>
              </a:lnSpc>
              <a:spcBef>
                <a:spcPts val="0"/>
              </a:spcBef>
              <a:spcAft>
                <a:spcPts val="0"/>
              </a:spcAft>
            </a:pPr>
            <a:r>
              <a:rPr sz="1800" b="0" i="0">
                <a:solidFill>
                  <a:srgbClr val="183A31"/>
                </a:solidFill>
                <a:latin typeface="Liberation Sans"/>
              </a:rPr>
              <a:t>No workbook write-back.</a:t>
            </a:r>
          </a:p>
        </p:txBody>
      </p:sp>
      <p:sp>
        <p:nvSpPr>
          <p:cNvPr id="29" name="deferred-containers-background" descr="Container background; accompanying native text provides content."/>
          <p:cNvSpPr/>
          <p:nvPr/>
        </p:nvSpPr>
        <p:spPr>
          <a:xfrm>
            <a:off x="8275320" y="3639312"/>
            <a:ext cx="3410712" cy="1371600"/>
          </a:xfrm>
          <a:prstGeom prst="roundRect">
            <a:avLst/>
          </a:prstGeom>
          <a:solidFill>
            <a:srgbClr val="D5E2D4"/>
          </a:solidFill>
          <a:ln w="16510">
            <a:solidFill>
              <a:srgbClr val="173F35"/>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deferred-containers-title"/>
          <p:cNvSpPr txBox="1"/>
          <p:nvPr/>
        </p:nvSpPr>
        <p:spPr>
          <a:xfrm>
            <a:off x="8385048" y="3712463"/>
            <a:ext cx="3191256"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Containers | DEFERRED</a:t>
            </a:r>
          </a:p>
        </p:txBody>
      </p:sp>
      <p:sp>
        <p:nvSpPr>
          <p:cNvPr id="31" name="deferred-containers-body"/>
          <p:cNvSpPr txBox="1"/>
          <p:nvPr/>
        </p:nvSpPr>
        <p:spPr>
          <a:xfrm>
            <a:off x="8385048" y="4059936"/>
            <a:ext cx="3191256" cy="896112"/>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0" i="0">
                <a:solidFill>
                  <a:srgbClr val="183A31"/>
                </a:solidFill>
                <a:latin typeface="Liberation Sans"/>
              </a:rPr>
              <a:t>imports / quarantine</a:t>
            </a:r>
          </a:p>
          <a:p>
            <a:pPr>
              <a:lnSpc>
                <a:spcPct val="102000"/>
              </a:lnSpc>
              <a:spcBef>
                <a:spcPts val="0"/>
              </a:spcBef>
              <a:spcAft>
                <a:spcPts val="0"/>
              </a:spcAft>
            </a:pPr>
            <a:r>
              <a:rPr sz="1800" b="0" i="0">
                <a:solidFill>
                  <a:srgbClr val="183A31"/>
                </a:solidFill>
                <a:latin typeface="Liberation Sans"/>
              </a:rPr>
              <a:t>exports / audit-archive</a:t>
            </a:r>
          </a:p>
          <a:p>
            <a:pPr>
              <a:lnSpc>
                <a:spcPct val="102000"/>
              </a:lnSpc>
              <a:spcBef>
                <a:spcPts val="0"/>
              </a:spcBef>
              <a:spcAft>
                <a:spcPts val="0"/>
              </a:spcAft>
            </a:pPr>
            <a:r>
              <a:rPr sz="1800" b="0" i="0">
                <a:solidFill>
                  <a:srgbClr val="183A31"/>
                </a:solidFill>
                <a:latin typeface="Liberation Sans"/>
              </a:rPr>
              <a:t>Current API + SQL: see19.</a:t>
            </a:r>
          </a:p>
        </p:txBody>
      </p:sp>
      <p:sp>
        <p:nvSpPr>
          <p:cNvPr id="32" name="deferred-edge-background" descr="Container background; accompanying native text provides content."/>
          <p:cNvSpPr/>
          <p:nvPr/>
        </p:nvSpPr>
        <p:spPr>
          <a:xfrm>
            <a:off x="502920" y="5084064"/>
            <a:ext cx="5440680" cy="804672"/>
          </a:xfrm>
          <a:prstGeom prst="roundRect">
            <a:avLst/>
          </a:prstGeom>
          <a:solidFill>
            <a:srgbClr val="D5E2D4"/>
          </a:solidFill>
          <a:ln w="16510">
            <a:solidFill>
              <a:srgbClr val="173F35"/>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deferred-edge-title"/>
          <p:cNvSpPr txBox="1"/>
          <p:nvPr/>
        </p:nvSpPr>
        <p:spPr>
          <a:xfrm>
            <a:off x="612648" y="5157216"/>
            <a:ext cx="5221224"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Front Door Premium/WAF | NOT DEPLOYED</a:t>
            </a:r>
          </a:p>
        </p:txBody>
      </p:sp>
      <p:sp>
        <p:nvSpPr>
          <p:cNvPr id="34" name="deferred-edge-body"/>
          <p:cNvSpPr txBox="1"/>
          <p:nvPr/>
        </p:nvSpPr>
        <p:spPr>
          <a:xfrm>
            <a:off x="612648" y="5504688"/>
            <a:ext cx="5221224" cy="329184"/>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0" i="0">
                <a:solidFill>
                  <a:srgbClr val="183A31"/>
                </a:solidFill>
                <a:latin typeface="Liberation Sans"/>
              </a:rPr>
              <a:t>Intended edge only; current ingress direct.</a:t>
            </a:r>
          </a:p>
        </p:txBody>
      </p:sp>
      <p:sp>
        <p:nvSpPr>
          <p:cNvPr id="35" name="deferred-anchor-background" descr="Container background; accompanying native text provides content."/>
          <p:cNvSpPr/>
          <p:nvPr/>
        </p:nvSpPr>
        <p:spPr>
          <a:xfrm>
            <a:off x="6245352" y="5084064"/>
            <a:ext cx="5440680" cy="804672"/>
          </a:xfrm>
          <a:prstGeom prst="roundRect">
            <a:avLst/>
          </a:prstGeom>
          <a:solidFill>
            <a:srgbClr val="D5E2D4"/>
          </a:solidFill>
          <a:ln w="16510">
            <a:solidFill>
              <a:srgbClr val="173F35"/>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deferred-anchor-title"/>
          <p:cNvSpPr txBox="1"/>
          <p:nvPr/>
        </p:nvSpPr>
        <p:spPr>
          <a:xfrm>
            <a:off x="6355080" y="5157216"/>
            <a:ext cx="5221224"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Audit digest | NOT IMPLEMENTED</a:t>
            </a:r>
          </a:p>
        </p:txBody>
      </p:sp>
      <p:sp>
        <p:nvSpPr>
          <p:cNvPr id="37" name="deferred-anchor-body"/>
          <p:cNvSpPr txBox="1"/>
          <p:nvPr/>
        </p:nvSpPr>
        <p:spPr>
          <a:xfrm>
            <a:off x="6355080" y="5504688"/>
            <a:ext cx="5221224" cy="329184"/>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0" i="0">
                <a:solidFill>
                  <a:srgbClr val="183A31"/>
                </a:solidFill>
                <a:latin typeface="Liberation Sans"/>
              </a:rPr>
              <a:t>Unlocked policy is not immutable anchoring.</a:t>
            </a:r>
          </a:p>
        </p:txBody>
      </p:sp>
      <p:sp>
        <p:nvSpPr>
          <p:cNvPr id="38" name="deferred-teams"/>
          <p:cNvSpPr txBox="1"/>
          <p:nvPr/>
        </p:nvSpPr>
        <p:spPr>
          <a:xfrm>
            <a:off x="502920" y="5980176"/>
            <a:ext cx="11183112" cy="320040"/>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CONDITIONAL: ops23 -&gt; Teams Workflows. Never approval, consent or safety response.</a:t>
            </a:r>
          </a:p>
        </p:txBody>
      </p:sp>
      <p:sp>
        <p:nvSpPr>
          <p:cNvPr id="39" name="return-decision-link" descr="Return to decision: slide 18">
            <a:hlinkClick action="ppaction://hlinksldjump" r:id="rId4"/>
          </p:cNvPr>
          <p:cNvSpPr txBox="1"/>
          <p:nvPr/>
        </p:nvSpPr>
        <p:spPr>
          <a:xfrm>
            <a:off x="8275320" y="6364224"/>
            <a:ext cx="2697480" cy="274320"/>
          </a:xfrm>
          <a:prstGeom prst="rect">
            <a:avLst/>
          </a:prstGeom>
          <a:noFill/>
        </p:spPr>
        <p:txBody>
          <a:bodyPr wrap="square" lIns="18288" rIns="18288" tIns="18288" bIns="18288" anchor="t">
            <a:noAutofit/>
          </a:bodyPr>
          <a:lstStyle/>
          <a:p>
            <a:pPr>
              <a:lnSpc>
                <a:spcPct val="102000"/>
              </a:lnSpc>
              <a:spcBef>
                <a:spcPts val="0"/>
              </a:spcBef>
              <a:spcAft>
                <a:spcPts val="0"/>
              </a:spcAft>
            </a:pPr>
            <a:r>
              <a:rPr sz="1600" b="1" i="0">
                <a:solidFill>
                  <a:srgbClr val="173F35"/>
                </a:solidFill>
                <a:latin typeface="Liberation Sans"/>
              </a:rPr>
              <a:t>Return to decision: slide 18</a:t>
            </a:r>
          </a:p>
        </p:txBody>
      </p:sp>
      <p:sp>
        <p:nvSpPr>
          <p:cNvPr id="40" name="actual-runtime-link" descr="Actual runtime: slide 19">
            <a:hlinkClick action="ppaction://hlinksldjump" r:id="rId5"/>
          </p:cNvPr>
          <p:cNvSpPr txBox="1"/>
          <p:nvPr/>
        </p:nvSpPr>
        <p:spPr>
          <a:xfrm>
            <a:off x="502920" y="6364224"/>
            <a:ext cx="3657600" cy="274320"/>
          </a:xfrm>
          <a:prstGeom prst="rect">
            <a:avLst/>
          </a:prstGeom>
          <a:noFill/>
        </p:spPr>
        <p:txBody>
          <a:bodyPr wrap="square" lIns="18288" rIns="18288" tIns="18288" bIns="18288" anchor="t">
            <a:noAutofit/>
          </a:bodyPr>
          <a:lstStyle/>
          <a:p>
            <a:pPr>
              <a:lnSpc>
                <a:spcPct val="102000"/>
              </a:lnSpc>
              <a:spcBef>
                <a:spcPts val="0"/>
              </a:spcBef>
              <a:spcAft>
                <a:spcPts val="0"/>
              </a:spcAft>
            </a:pPr>
            <a:r>
              <a:rPr sz="1600" b="1" i="0">
                <a:solidFill>
                  <a:srgbClr val="173F35"/>
                </a:solidFill>
                <a:latin typeface="Liberation Sans"/>
              </a:rPr>
              <a:t>Actual runtime: slide 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Zava Forward — Visible work, explainable decisions</dc:title>
  <dc:subject>Bounded next-stage proposal; not production approval</dc:subject>
  <dc:creator>AMA project</dc:creator>
  <cp:keywords>Zava Forward, retrofit, council, draft, evidence</cp:keywords>
  <dc:description>generated using python-pptx</dc:description>
  <cp:lastModifiedBy>Steve Canny</cp:lastModifiedBy>
  <cp:revision>1</cp:revision>
  <dcterms:created xsi:type="dcterms:W3CDTF">2013-01-27T09:14:16Z</dcterms:created>
  <dcterms:modified xsi:type="dcterms:W3CDTF">2013-01-27T09:15:58Z</dcterms:modified>
  <cp:category>Executive proposal</cp:category>
</cp:coreProperties>
</file>