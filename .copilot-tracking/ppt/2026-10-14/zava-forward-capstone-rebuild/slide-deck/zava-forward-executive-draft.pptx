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77" r:id="rId2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01 — Back the evidence. Keep the resident promise.</a:t>
            </a:r>
          </a:p>
          <a:p>
            <a:r>
              <a:t>Topic sentinel: request/mission</a:t>
            </a:r>
          </a:p>
          <a:p>
            <a:r>
              <a:t>Message: endorse a bounded next evidence stage, not autonomous rollout.</a:t>
            </a:r>
          </a:p>
          <a:p>
            <a:r>
              <a:t>Status: strategist-recommended proposal; refreshed 14 October 2026.</a:t>
            </a:r>
          </a:p>
          <a:p/>
          <a:p>
            <a:r>
              <a:t>"The outcome is not more agent activity. It is a home handed over</a:t>
            </a:r>
          </a:p>
          <a:p>
            <a:r>
              <a:t>  safely, with the resident's decision respected and the evidence accepted.</a:t>
            </a:r>
          </a:p>
          <a:p>
            <a:r>
              <a:t>  Five bounded service paths now have real technical proof. I recommend</a:t>
            </a:r>
          </a:p>
          <a:p>
            <a:r>
              <a:t>  preparing the next acceptance-and-value proposal, with named owners and</a:t>
            </a:r>
          </a:p>
          <a:p>
            <a:r>
              <a:t>  stop tests. This is not a spending, deployment or production decision."</a:t>
            </a:r>
          </a:p>
          <a:p>
            <a:r>
              <a:t>* Transition: "The original request identifies five genuine pressure points."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02 — Five pressure points. One accepted home.</a:t>
            </a:r>
          </a:p>
          <a:p>
            <a:r>
              <a:t>Topic sentinel: five asks</a:t>
            </a:r>
          </a:p>
          <a:p>
            <a:r>
              <a:t>Message: keep the five requested capabilities accountable to the same endpoint.</a:t>
            </a:r>
          </a:p>
          <a:p>
            <a:r>
              <a:t>Status: strategist-recommended proposal; refreshed 14 October 2026.</a:t>
            </a:r>
          </a:p>
          <a:p/>
          <a:p>
            <a:r>
              <a:t>"You asked for help with prioritisation, assessment, funding,</a:t>
            </a:r>
          </a:p>
          <a:p>
            <a:r>
              <a:t>  coordination and quality. That request remains the spine of the proposal.</a:t>
            </a:r>
          </a:p>
          <a:p>
            <a:r>
              <a:t>  Doubling delivery and reducing bills were ambitions in the original case,</a:t>
            </a:r>
          </a:p>
          <a:p>
            <a:r>
              <a:t>  not outcomes this exercise has established. A better draft does not</a:t>
            </a:r>
          </a:p>
          <a:p>
            <a:r>
              <a:t>  manufacture a survey, a crew, consent or cash."</a:t>
            </a:r>
          </a:p>
          <a:p>
            <a:r>
              <a:t>* Transition: "We challenged what each end-to-end request actually contains."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p>
            <a:r>
              <a:t>Planned allocation: 25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03 — Each request needs rules, people and bounded AI.</a:t>
            </a:r>
          </a:p>
          <a:p>
            <a:r>
              <a:t>Topic sentinel: research reversal</a:t>
            </a:r>
          </a:p>
          <a:p>
            <a:r>
              <a:t>Message: the research changed task allocation, not the resident objective.</a:t>
            </a:r>
          </a:p>
          <a:p>
            <a:r>
              <a:t>Status: strategist-recommended proposal; refreshed 14 October 2026.</a:t>
            </a:r>
          </a:p>
          <a:p/>
          <a:p>
            <a:r>
              <a:t>"Eight sector-informed role-agent perspectives challenged the</a:t>
            </a:r>
          </a:p>
          <a:p>
            <a:r>
              <a:t>  request; they are research instruments, not the company's staff or</a:t>
            </a:r>
          </a:p>
          <a:p>
            <a:r>
              <a:t>  approvers. Each request combines deterministic controls, accountable</a:t>
            </a:r>
          </a:p>
          <a:p>
            <a:r>
              <a:t>  decisions and narrower text/evidence tasks. Richer inputs do not remove</a:t>
            </a:r>
          </a:p>
          <a:p>
            <a:r>
              <a:t>  those boundaries. The binding delivery constraint is still unknown:</a:t>
            </a:r>
          </a:p>
          <a:p>
            <a:r>
              <a:t>  capital, competent capacity, access or quality may dominate coordination."</a:t>
            </a:r>
          </a:p>
          <a:p>
            <a:r>
              <a:t>* Transition: "Three examples explain why that changes the build."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04 — Fix the prerequisite before adding the assist.</a:t>
            </a:r>
          </a:p>
          <a:p>
            <a:r>
              <a:t>Topic sentinel: prerequisite examples</a:t>
            </a:r>
          </a:p>
          <a:p>
            <a:r>
              <a:t>Message: safe assistance depends on controlled inputs and separate decisions.</a:t>
            </a:r>
          </a:p>
          <a:p>
            <a:r>
              <a:t>Status: strategist-recommended proposal; refreshed 14 October 2026.</a:t>
            </a:r>
          </a:p>
          <a:p/>
          <a:p>
            <a:r>
              <a:t>"Ranking weights are policy, not a model's choice. A schedule</a:t>
            </a:r>
          </a:p>
          <a:p>
            <a:r>
              <a:t>  requires competent committed capacity and an informed resident decision.</a:t>
            </a:r>
          </a:p>
          <a:p>
            <a:r>
              <a:t>  A funding pack needs the right evidence, route and Finance review.</a:t>
            </a:r>
          </a:p>
          <a:p>
            <a:r>
              <a:t>  Application, award, claim and cash are different. These research hypotheses</a:t>
            </a:r>
          </a:p>
          <a:p>
            <a:r>
              <a:t>  explain the prerequisite controls; they are not measured company bottlenecks."</a:t>
            </a:r>
          </a:p>
          <a:p>
            <a:r>
              <a:t>* Transition: "The shared foundation makes those prerequisites visible."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05 — Change the handoffs, not the whole company.</a:t>
            </a:r>
          </a:p>
          <a:p>
            <a:r>
              <a:t>Topic sentinel: shared foundation</a:t>
            </a:r>
          </a:p>
          <a:p>
            <a:r>
              <a:t>Message: modernise coordination around existing people and systems.</a:t>
            </a:r>
          </a:p>
          <a:p>
            <a:r>
              <a:t>Status: strategist-recommended proposal; refreshed 14 October 2026.</a:t>
            </a:r>
          </a:p>
          <a:p/>
          <a:p>
            <a:r>
              <a:t>"The proposal is a programme control and evidence layer, not</a:t>
            </a:r>
          </a:p>
          <a:p>
            <a:r>
              <a:t>  replacement of the housing organisation. Keep useful systems, teams and</a:t>
            </a:r>
          </a:p>
          <a:p>
            <a:r>
              <a:t>  suppliers. Introduce an owned case and a controlled transition from source</a:t>
            </a:r>
          </a:p>
          <a:p>
            <a:r>
              <a:t>  spreadsheets to API-fed reporting. Neither the integration nor the reduction</a:t>
            </a:r>
          </a:p>
          <a:p>
            <a:r>
              <a:t>  in duplicate effort is accepted simply because it appears in the design."</a:t>
            </a:r>
          </a:p>
          <a:p>
            <a:r>
              <a:t>* Transition: "A handoff becomes useful when its contract is explicit."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06 — Every handoff needs an owner and a next action.</a:t>
            </a:r>
          </a:p>
          <a:p>
            <a:r>
              <a:t>Topic sentinel: work contract</a:t>
            </a:r>
          </a:p>
          <a:p>
            <a:r>
              <a:t>Message: observable work starts with a work contract, not a dashboard.</a:t>
            </a:r>
          </a:p>
          <a:p>
            <a:r>
              <a:t>Status: strategist-recommended proposal; refreshed 14 October 2026.</a:t>
            </a:r>
          </a:p>
          <a:p/>
          <a:p>
            <a:r>
              <a:t>"The sender retains chase responsibility until the receiver</a:t>
            </a:r>
          </a:p>
          <a:p>
            <a:r>
              <a:t>  accepts. Record the next action, resident-update owner and relevant clocks.</a:t>
            </a:r>
          </a:p>
          <a:p>
            <a:r>
              <a:t>  Material evidence changes reopen dependent reviews, not unrelated sibling</a:t>
            </a:r>
          </a:p>
          <a:p>
            <a:r>
              <a:t>  decisions. Recording itself costs effort; include it in the value test.</a:t>
            </a:r>
          </a:p>
          <a:p>
            <a:r>
              <a:t>  Hazard intake remains independent of routine handoff waiting."</a:t>
            </a:r>
          </a:p>
          <a:p>
            <a:r>
              <a:t>* Transition: "Follow that contract through one home."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07 — One home shows the journey we still need to prove.</a:t>
            </a:r>
          </a:p>
          <a:p>
            <a:r>
              <a:t>Topic sentinel: connected journey</a:t>
            </a:r>
          </a:p>
          <a:p>
            <a:r>
              <a:t>Message: the connected target is broader than the observed service proof.</a:t>
            </a:r>
          </a:p>
          <a:p>
            <a:r>
              <a:t>Status: strategist-recommended proposal; refreshed 14 October 2026.</a:t>
            </a:r>
          </a:p>
          <a:p/>
          <a:p>
            <a:r>
              <a:t>"Imagine one home with conflicting EPC sources. The dependent</a:t>
            </a:r>
          </a:p>
          <a:p>
            <a:r>
              <a:t>  decision waits for a named resolver. Competent assessment and design,</a:t>
            </a:r>
          </a:p>
          <a:p>
            <a:r>
              <a:t>  resident measure choice, funding and capacity precede work release.</a:t>
            </a:r>
          </a:p>
          <a:p>
            <a:r>
              <a:t>  Returned evidence may reveal a defect: an independent authority sends it</a:t>
            </a:r>
          </a:p>
          <a:p>
            <a:r>
              <a:t>  back, then accepts corrected work. Resident handover and financial closure</a:t>
            </a:r>
          </a:p>
          <a:p>
            <a:r>
              <a:t>  are separate. This is the required connected story, not proof those steps</a:t>
            </a:r>
          </a:p>
          <a:p>
            <a:r>
              <a:t>  have all run. The current technical receipt later proves proposal generation</a:t>
            </a:r>
          </a:p>
          <a:p>
            <a:r>
              <a:t>  and durability, not physical delivery or this whole workflow."</a:t>
            </a:r>
          </a:p>
          <a:p>
            <a:r>
              <a:t>* Transition: "The resident and crew make that journey possible."</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65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08 — A resident is not a scheduling variable.</a:t>
            </a:r>
          </a:p>
          <a:p>
            <a:r>
              <a:t>Topic sentinel: dignity/capacity</a:t>
            </a:r>
          </a:p>
          <a:p>
            <a:r>
              <a:t>Message: choice, supported contact and real capacity precede release.</a:t>
            </a:r>
          </a:p>
          <a:p>
            <a:r>
              <a:t>Status: strategist-recommended proposal; refreshed 14 October 2026.</a:t>
            </a:r>
          </a:p>
          <a:p/>
          <a:p>
            <a:r>
              <a:t>"Let us understand what residents and staff need before calling</a:t>
            </a:r>
          </a:p>
          <a:p>
            <a:r>
              <a:t>  a journey usable. No compulsory portal. Disclosed adjustments are not a</a:t>
            </a:r>
          </a:p>
          <a:p>
            <a:r>
              <a:t>  licence to share diagnoses. Staff review communications and own exceptions;</a:t>
            </a:r>
          </a:p>
          <a:p>
            <a:r>
              <a:t>  the service does not automatically send, book or instruct. Missed access</a:t>
            </a:r>
          </a:p>
          <a:p>
            <a:r>
              <a:t>  calls for investigation, not inferred withdrawal or deprioritisation.</a:t>
            </a:r>
          </a:p>
          <a:p>
            <a:r>
              <a:t>  Direct human research and accessibility acceptance remain outstanding."</a:t>
            </a:r>
          </a:p>
          <a:p>
            <a:r>
              <a:t>* Transition: "Trust also needs an explanation another person can inspect."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40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09 — Show the decision trace, not just an AI explanation.</a:t>
            </a:r>
          </a:p>
          <a:p>
            <a:r>
              <a:t>Topic sentinel: decision trace</a:t>
            </a:r>
          </a:p>
          <a:p>
            <a:r>
              <a:t>Message: source, rule, reviewer and change history make a decision inspectable.</a:t>
            </a:r>
          </a:p>
          <a:p>
            <a:r>
              <a:t>Status: strategist-recommended proposal; refreshed 14 October 2026.</a:t>
            </a:r>
          </a:p>
          <a:p/>
          <a:p>
            <a:r>
              <a:t>"A generated explanation cannot substitute for source and approval</a:t>
            </a:r>
          </a:p>
          <a:p>
            <a:r>
              <a:t>  records. Retain the applicable versions, reason, reviewer and timestamp.</a:t>
            </a:r>
          </a:p>
          <a:p>
            <a:r>
              <a:t>  Changed sources invalidate dependent reviews. Legal and professional</a:t>
            </a:r>
          </a:p>
          <a:p>
            <a:r>
              <a:t>  interpretations need accountable review before rules change; the repository</a:t>
            </a:r>
          </a:p>
          <a:p>
            <a:r>
              <a:t>  is dated evidence, not a self-updating legal authority. Current assistant</a:t>
            </a:r>
          </a:p>
          <a:p>
            <a:r>
              <a:t>  citations bind captured categories/metadata, not proof every conclusion is</a:t>
            </a:r>
          </a:p>
          <a:p>
            <a:r>
              <a:t>  supported by a document passage."</a:t>
            </a:r>
          </a:p>
          <a:p>
            <a:r>
              <a:t>* Transition: "The workbench sits beside the systems that supply those facts."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10 — One workbench beside the systems you keep.</a:t>
            </a:r>
          </a:p>
          <a:p>
            <a:r>
              <a:t>Topic sentinel: system context</a:t>
            </a:r>
          </a:p>
          <a:p>
            <a:r>
              <a:t>Message: retain source ownership while connecting case work.</a:t>
            </a:r>
          </a:p>
          <a:p>
            <a:r>
              <a:t>Status: strategist-recommended proposal; refreshed 14 October 2026.</a:t>
            </a:r>
          </a:p>
          <a:p/>
          <a:p>
            <a:r>
              <a:t>"The arrow is from source material into validated intake, not an</a:t>
            </a:r>
          </a:p>
          <a:p>
            <a:r>
              <a:t>  uncontrolled write-back loop. The case connects home, building and package</a:t>
            </a:r>
          </a:p>
          <a:p>
            <a:r>
              <a:t>  context with roles and evidence. Residents and suppliers need supported,</a:t>
            </a:r>
          </a:p>
          <a:p>
            <a:r>
              <a:t>  scoped exchange, not open access to the internal staff workbench.</a:t>
            </a:r>
          </a:p>
          <a:p>
            <a:r>
              <a:t>  Housing/repairs integrations, M365 document channels and import transition</a:t>
            </a:r>
          </a:p>
          <a:p>
            <a:r>
              <a:t>  remain proposals or unverified. An integration picture is not a deployed</a:t>
            </a:r>
          </a:p>
          <a:p>
            <a:r>
              <a:t>  connection receipt."</a:t>
            </a:r>
          </a:p>
          <a:p>
            <a:r>
              <a:t>* Transition: "The API is the authority boundary, not the model."</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11 — Let models propose; keep decisions on the controlled path.</a:t>
            </a:r>
          </a:p>
          <a:p>
            <a:r>
              <a:t>Topic sentinel: control flow</a:t>
            </a:r>
          </a:p>
          <a:p>
            <a:r>
              <a:t>Message: the existing lean runtime preserves a separate human/domain write path.</a:t>
            </a:r>
          </a:p>
          <a:p>
            <a:r>
              <a:t>Status: strategist-recommended proposal; refreshed 14 October 2026.</a:t>
            </a:r>
          </a:p>
          <a:p/>
          <a:p>
            <a:r>
              <a:t>"The current exercise reuses the existing workbench, API, SQL</a:t>
            </a:r>
          </a:p>
          <a:p>
            <a:r>
              <a:t>  and model connection. Calls occur outside case/database locks. Typed</a:t>
            </a:r>
          </a:p>
          <a:p>
            <a:r>
              <a:t>  validation and source permissions surround the model; proposal review only</a:t>
            </a:r>
          </a:p>
          <a:p>
            <a:r>
              <a:t>  changes proposal/audit state. Human source verification must precede</a:t>
            </a:r>
          </a:p>
          <a:p>
            <a:r>
              <a:t>  acceptance, and proposal acceptance still is not work or financial approval.</a:t>
            </a:r>
          </a:p>
          <a:p>
            <a:r>
              <a:t>  The broader proposed queue/private-network/durable-worker estate is not</a:t>
            </a:r>
          </a:p>
          <a:p>
            <a:r>
              <a:t>  this deployment. Manual case work remains available when assistance fails,</a:t>
            </a:r>
          </a:p>
          <a:p>
            <a:r>
              <a:t>  expires or is disabled. Full identity, leakage, restore and role assurance</a:t>
            </a:r>
          </a:p>
          <a:p>
            <a:r>
              <a:t>  are separate evidence gates."</a:t>
            </a:r>
          </a:p>
          <a:p>
            <a:r>
              <a:t>* Transition: "Here is what we can actually substantiate today."</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12 — Five real proposal paths. No delegated decisions.</a:t>
            </a:r>
          </a:p>
          <a:p>
            <a:r>
              <a:t>Topic sentinel: task fit and technical proof</a:t>
            </a:r>
          </a:p>
          <a:p>
            <a:r>
              <a:t>Message: observed operator-service integration is real; human/value acceptance is open.</a:t>
            </a:r>
          </a:p>
          <a:p>
            <a:r>
              <a:t>Status: strategist-recommended proposal; refreshed 14 October 2026.</a:t>
            </a:r>
          </a:p>
          <a:p/>
          <a:p>
            <a:r>
              <a:t>* 0–15: "The hook is evidence assembly without changing the controlled</a:t>
            </a:r>
          </a:p>
          <a:p>
            <a:r>
              <a:t>    case. This is recorded operator-service proof, not a live staff demo."</a:t>
            </a:r>
          </a:p>
          <a:p>
            <a:r>
              <a:t>  * 15–40: point to the five-path receipt and registered names in S10/S11:</a:t>
            </a:r>
          </a:p>
          <a:p>
            <a:r>
              <a:t>    stock, assessment, funding, coordination and quality; all returned</a:t>
            </a:r>
          </a:p>
          <a:p>
            <a:r>
              <a:t>    distinct citation-validated ready proposals from Azure OpenAI standard /</a:t>
            </a:r>
          </a:p>
          <a:p>
            <a:r>
              <a:t>    gpt-4.1-mini-2025-04-14. Show only aggregate/public repository evidence.</a:t>
            </a:r>
          </a:p>
          <a:p>
            <a:r>
              <a:t>  * 40–70: show the receipt's independent SQL/content/restart result.</a:t>
            </a:r>
          </a:p>
          <a:p>
            <a:r>
              <a:t>    "Generation left the controlled domain unchanged; persisted proposal</a:t>
            </a:r>
          </a:p>
          <a:p>
            <a:r>
              <a:t>    contents and usage survived the actual revision restart. The old</a:t>
            </a:r>
          </a:p>
          <a:p>
            <a:r>
              <a:t>    recommendations and audit were deliberately reset before this new</a:t>
            </a:r>
          </a:p>
          <a:p>
            <a:r>
              <a:t>    baseline; this was not an unchanged-history migration."</a:t>
            </a:r>
          </a:p>
          <a:p>
            <a:r>
              <a:t>  * 70–95: "Ready means a valid, unreviewed proposal. It does not mean</a:t>
            </a:r>
          </a:p>
          <a:p>
            <a:r>
              <a:t>    correct, source-verified by a human, accepted or useful. This bypassed</a:t>
            </a:r>
          </a:p>
          <a:p>
            <a:r>
              <a:t>    neither the staff-session gate nor professional decisions: it was</a:t>
            </a:r>
          </a:p>
          <a:p>
            <a:r>
              <a:t>    operator service execution, not staff browser/API acceptance."</a:t>
            </a:r>
          </a:p>
          <a:p>
            <a:r>
              <a:t>  * 95–110: "Five calls prove integration, not savings or autonomy. QA ended;</a:t>
            </a:r>
          </a:p>
          <a:p>
            <a:r>
              <a:t>    normal authority is absent and scans are off. Next are human acceptance</a:t>
            </a:r>
          </a:p>
          <a:p>
            <a:r>
              <a:t>    and a fair value test."</a:t>
            </a:r>
          </a:p>
          <a:p>
            <a:r>
              <a:t>* Recovery: if the local evidence view fails, pivot within 15s:</a:t>
            </a:r>
          </a:p>
          <a:p>
            <a:r>
              <a:t>  "The evidence view is unavailable; this native summary reports the</a:t>
            </a:r>
          </a:p>
          <a:p>
            <a:r>
              <a:t>  recorded receipt, not a live run. The result is five proposal paths and</a:t>
            </a:r>
          </a:p>
          <a:p>
            <a:r>
              <a:t>  durable contents. Staff, semantic and value acceptance remain open."</a:t>
            </a:r>
          </a:p>
          <a:p>
            <a:r>
              <a:t>  Stay inside 110s by shortening the middle walkthrough. Do not retry</a:t>
            </a:r>
          </a:p>
          <a:p>
            <a:r>
              <a:t>  inference, sign in, enable scans, reset data, manufacture source-review</a:t>
            </a:r>
          </a:p>
          <a:p>
            <a:r>
              <a:t>  clicks or display private native receipt/output files.</a:t>
            </a:r>
          </a:p>
          <a:p>
            <a:r>
              <a:t>* Transition: "Now place those bounded capabilities in the whole process."</a:t>
            </a:r>
          </a:p>
          <a:p/>
          <a:p>
            <a:r>
              <a:t>Sources — workspace-relative paths, section and evidence status; as read 14 October 2026:</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110 seconds; not rehearsed.</a:t>
            </a:r>
          </a:p>
          <a:p/>
          <a:p>
            <a:r>
              <a:t>Exact current claim-status oracle:</a:t>
            </a:r>
          </a:p>
          <a:p>
            <a:r>
              <a:t>1. Current documentation/source context is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14 — See cash before optimism.</a:t>
            </a:r>
          </a:p>
          <a:p>
            <a:r>
              <a:t>Topic sentinel: fictional cash</a:t>
            </a:r>
          </a:p>
          <a:p>
            <a:r>
              <a:t>Message: an award or claim is not cash, and fictional economics are not a budget.</a:t>
            </a:r>
          </a:p>
          <a:p>
            <a:r>
              <a:t>Status: strategist-recommended proposal; refreshed 14 October 2026.</a:t>
            </a:r>
          </a:p>
          <a:p/>
          <a:p>
            <a:r>
              <a:t>"These are the selected home-cost fixtures, not a company budget,</a:t>
            </a:r>
          </a:p>
          <a:p>
            <a:r>
              <a:t>  grant allocation, liquidity position or approved scheme calculation.</a:t>
            </a:r>
          </a:p>
          <a:p>
            <a:r>
              <a:t>  Before receipt the gross base cash exposure remains twenty thousand.</a:t>
            </a:r>
          </a:p>
          <a:p>
            <a:r>
              <a:t>  Whole-life technology, integration, training, review, assurance, financing,</a:t>
            </a:r>
          </a:p>
          <a:p>
            <a:r>
              <a:t>  support and exit cost need their own appraisal. Five calls and token limits</a:t>
            </a:r>
          </a:p>
          <a:p>
            <a:r>
              <a:t>  do not establish a currency cap or cost per accepted home. The historical</a:t>
            </a:r>
          </a:p>
          <a:p>
            <a:r>
              <a:t>  exercise budget and scoped #58 override are not today's appropriation."</a:t>
            </a:r>
          </a:p>
          <a:p>
            <a:r>
              <a:t>* Transition: "Affordability also depends on making transition usable."</a:t>
            </a:r>
          </a:p>
          <a:p/>
          <a:p>
            <a:r>
              <a:t>Sources — workspace-relative paths, section and evidence status; as read 14 October 2026:</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S09: infra/README.md, Five-assistant version: current handover. Status: Exact serving/source/model/SQL/restart receipt and authority-off state, 14 October; no fresh cloud inspection in this task.</a:t>
            </a:r>
          </a:p>
          <a:p/>
          <a:p>
            <a:r>
              <a:t>Planned allocation: 50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15 — Make the first change small enough to learn.</a:t>
            </a:r>
          </a:p>
          <a:p>
            <a:r>
              <a:t>Topic sentinel: supported change</a:t>
            </a:r>
          </a:p>
          <a:p>
            <a:r>
              <a:t>Message: supported staged adoption must avoid permanent dual entry.</a:t>
            </a:r>
          </a:p>
          <a:p>
            <a:r>
              <a:t>Status: strategist-recommended proposal; refreshed 14 October 2026.</a:t>
            </a:r>
          </a:p>
          <a:p/>
          <a:p>
            <a:r>
              <a:t>"Programme and workbook owners establish tasks and baseline.</a:t>
            </a:r>
          </a:p>
          <a:p>
            <a:r>
              <a:t>  Data owners reconcile and own quarantine. Team leads support role tasks;</a:t>
            </a:r>
          </a:p>
          <a:p>
            <a:r>
              <a:t>  these walkthroughs are proposed, not a rehearsal already completed.</a:t>
            </a:r>
          </a:p>
          <a:p>
            <a:r>
              <a:t>  Digital and work owners agree exit tests and rollback before changing the</a:t>
            </a:r>
          </a:p>
          <a:p>
            <a:r>
              <a:t>  write path. Excel can then report from the controlled API. Count training,</a:t>
            </a:r>
          </a:p>
          <a:p>
            <a:r>
              <a:t>  recording and transition burden, and test accessible/non-digital routes</a:t>
            </a:r>
          </a:p>
          <a:p>
            <a:r>
              <a:t>  with people rather than declaring a scan score to be acceptance."</a:t>
            </a:r>
          </a:p>
          <a:p>
            <a:r>
              <a:t>* Transition: "The benefit test must distinguish a better process from better AI."</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16 — Prove the programme. Test the AI separately.</a:t>
            </a:r>
          </a:p>
          <a:p>
            <a:r>
              <a:t>Topic sentinel: two comparisons</a:t>
            </a:r>
          </a:p>
          <a:p>
            <a:r>
              <a:t>Message: a fair counterfactual, not a dashboard, establishes incremental value.</a:t>
            </a:r>
          </a:p>
          <a:p>
            <a:r>
              <a:t>Status: strategist-recommended proposal; refreshed 14 October 2026.</a:t>
            </a:r>
          </a:p>
          <a:p/>
          <a:p>
            <a:r>
              <a:t>"Compare changes against an instrumented pre-period and concurrent</a:t>
            </a:r>
          </a:p>
          <a:p>
            <a:r>
              <a:t>  matched delivery, logging shared staff/suppliers and displacement. The</a:t>
            </a:r>
          </a:p>
          <a:p>
            <a:r>
              <a:t>  twelve-month reconstruction is context, not the counterfactual by itself.</a:t>
            </a:r>
          </a:p>
          <a:p>
            <a:r>
              <a:t>  At task level pair the same inputs and count gathering, preparation,</a:t>
            </a:r>
          </a:p>
          <a:p>
            <a:r>
              <a:t>  review, correction, re-review and shifted burden. Proposed 20% cycle-time</a:t>
            </a:r>
          </a:p>
          <a:p>
            <a:r>
              <a:t>  and 25% coordination-effort reductions remain hypotheses, not ratified or</a:t>
            </a:r>
          </a:p>
          <a:p>
            <a:r>
              <a:t>  measured benefits. Cycle time is assessment-to-ready-to-install; accepted</a:t>
            </a:r>
          </a:p>
          <a:p>
            <a:r>
              <a:t>  handover is separate. Freeze definitions/thresholds before measurement;</a:t>
            </a:r>
          </a:p>
          <a:p>
            <a:r>
              <a:t>  keep the simpler path if AI fails value or quality tests."</a:t>
            </a:r>
          </a:p>
          <a:p>
            <a:r>
              <a:t>* Transition: "That tells us what the next gate must ask for."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50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17 — Earn the next gate; do not repeat the last proof.</a:t>
            </a:r>
          </a:p>
          <a:p>
            <a:r>
              <a:t>Topic sentinel: gates</a:t>
            </a:r>
          </a:p>
          <a:p>
            <a:r>
              <a:t>Message: proceed from delivered technical evidence to human and value evidence.</a:t>
            </a:r>
          </a:p>
          <a:p>
            <a:r>
              <a:t>Status: strategist-recommended proposal; refreshed 14 October 2026.</a:t>
            </a:r>
          </a:p>
          <a:p/>
          <a:p>
            <a:r>
              <a:t>"Historical v0.12 exercise approval does not approve the v0.14</a:t>
            </a:r>
          </a:p>
          <a:p>
            <a:r>
              <a:t>  candidate. Confirm requirements and actual delegations. RV-001 requires</a:t>
            </a:r>
          </a:p>
          <a:p>
            <a:r>
              <a:t>  representative staff with real sessions, roles, source verification and</a:t>
            </a:r>
          </a:p>
          <a:p>
            <a:r>
              <a:t>  accessible manual/failure paths. RV-002 requires semantic grading and paired</a:t>
            </a:r>
          </a:p>
          <a:p>
            <a:r>
              <a:t>  human-effort/quality/cost evidence. Expand restart proof to the necessary</a:t>
            </a:r>
          </a:p>
          <a:p>
            <a:r>
              <a:t>  recovery/restore evidence where appropriate. Return with explicit passed,</a:t>
            </a:r>
          </a:p>
          <a:p>
            <a:r>
              <a:t>  failed, blocked and not-run results; the owner then decides within a</a:t>
            </a:r>
          </a:p>
          <a:p>
            <a:r>
              <a:t>  separately scoped authority. Do not reopen delivered technical work merely</a:t>
            </a:r>
          </a:p>
          <a:p>
            <a:r>
              <a:t>  to simulate acceptance."</a:t>
            </a:r>
          </a:p>
          <a:p>
            <a:r>
              <a:t>* Transition: "Here is the decision I ask this council to make."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18 — Endorse the next evidence proposal.</a:t>
            </a:r>
          </a:p>
          <a:p>
            <a:r>
              <a:t>Topic sentinel: decision</a:t>
            </a:r>
          </a:p>
          <a:p>
            <a:r>
              <a:t>Message: make a clear planning-only choice with named responsibilities.</a:t>
            </a:r>
          </a:p>
          <a:p>
            <a:r>
              <a:t>Status: strategist-recommended proposal; refreshed 14 October 2026.</a:t>
            </a:r>
          </a:p>
          <a:p/>
          <a:p>
            <a:r>
              <a:t>"The recommendation is yes to preparing the next bounded</a:t>
            </a:r>
          </a:p>
          <a:p>
            <a:r>
              <a:t>  acceptance-and-value proposal, not yes to autonomous rollout. Confirm</a:t>
            </a:r>
          </a:p>
          <a:p>
            <a:r>
              <a:t>  owners and delegations, require fair alternatives and whole-life costs,</a:t>
            </a:r>
          </a:p>
          <a:p>
            <a:r>
              <a:t>  and agree a return date rather than inventing one. If a critical control</a:t>
            </a:r>
          </a:p>
          <a:p>
            <a:r>
              <a:t>  fails or authority is absent, stop that activity. If AI adds no net value,</a:t>
            </a:r>
          </a:p>
          <a:p>
            <a:r>
              <a:t>  simplify it. We have real service evidence; now let assistance earn its</a:t>
            </a:r>
          </a:p>
          <a:p>
            <a:r>
              <a:t>  place in safe, resident-accepted handovers."</a:t>
            </a:r>
          </a:p>
          <a:p>
            <a:r>
              <a:t>* Transition: "Which gate would you most need resolved before supporting</a:t>
            </a:r>
          </a:p>
          <a:p>
            <a:r>
              <a:t>  the next proposal?" Then listen; use optional appendices only as needed.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19 — Technical challenge: bounded does not mean fully assured.</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Current documentation/source context is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20 — Council challenge: the objections we welcome.</a:t>
            </a:r>
          </a:p>
          <a:p>
            <a:r>
              <a:t>Topic sentinel: council challenge</a:t>
            </a:r>
          </a:p>
          <a:p>
            <a:r>
              <a:t>Message: defend the recommendation without hiding reversal conditions.</a:t>
            </a:r>
          </a:p>
          <a:p>
            <a:r>
              <a:t>Status: strategist-recommended proposal; refreshed 14 October 2026.</a:t>
            </a:r>
          </a:p>
          <a:p/>
          <a:p>
            <a:r>
              <a:t>"Restate the challenge before answering. Excel improvement is a</a:t>
            </a:r>
          </a:p>
          <a:p>
            <a:r>
              <a:t>  fair comparator, not a straw man. Power Apps/Dataverse would be greenfield;</a:t>
            </a:r>
          </a:p>
          <a:p>
            <a:r>
              <a:t>  company tenant/licensing/support fit is unverified. Azure is the exercise</a:t>
            </a:r>
          </a:p>
          <a:p>
            <a:r>
              <a:t>  choice, not proof of the best customer investment. Five proposals prove</a:t>
            </a:r>
          </a:p>
          <a:p>
            <a:r>
              <a:t>  integration, not five approved agents running a service. No new budget is</a:t>
            </a:r>
          </a:p>
          <a:p>
            <a:r>
              <a:t>  approved here; cost includes review and operational burden. Choose the</a:t>
            </a:r>
          </a:p>
          <a:p>
            <a:r>
              <a:t>  simpler path when assistance adds no net value. Unknown answers get an owner</a:t>
            </a:r>
          </a:p>
          <a:p>
            <a:r>
              <a:t>  and evidence route, not a confident guess."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21 — Read the evidence label before the claim.</a:t>
            </a:r>
          </a:p>
          <a:p>
            <a:r>
              <a:t>Topic sentinel: provenance</a:t>
            </a:r>
          </a:p>
          <a:p>
            <a:r>
              <a:t>Message: separate strong technical evidence from the open pitch and adoption gates.</a:t>
            </a:r>
          </a:p>
          <a:p>
            <a:r>
              <a:t>Status: strategist-recommended proposal; refreshed 14 October 2026.</a:t>
            </a:r>
          </a:p>
          <a:p/>
          <a:p>
            <a:r>
              <a:t>"Full source, section, date and status references accompany each</a:t>
            </a:r>
          </a:p>
          <a:p>
            <a:r>
              <a:t>  slide. PRD v0.14 awaits fresh review and amended owner acceptance. Current</a:t>
            </a:r>
          </a:p>
          <a:p>
            <a:r>
              <a:t>  source cabe05c is not the runtime source. The complete rubric informs this</a:t>
            </a:r>
          </a:p>
          <a:p>
            <a:r>
              <a:t>  handover, but slides and plan arithmetic do not prove live presence,</a:t>
            </a:r>
          </a:p>
          <a:p>
            <a:r>
              <a:t>  listening, under-two-minute delivery, Q&amp;A, autonomous reasoning, business</a:t>
            </a:r>
          </a:p>
          <a:p>
            <a:r>
              <a:t>  outcomes or Section D dissemination. No pitch or thought-leadership folder</a:t>
            </a:r>
          </a:p>
          <a:p>
            <a:r>
              <a:t>  was present in the inspected capstone tree. A single separate thought</a:t>
            </a:r>
          </a:p>
          <a:p>
            <a:r>
              <a:t>  leadership submission and masterclass attendance evidence remain owner</a:t>
            </a:r>
          </a:p>
          <a:p>
            <a:r>
              <a:t>  responsibilities; existing deck notes are not submission/dissemination proof."</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r>
              <a:t>S14: docs/capstone/README.md; docs/reference/method/ama-capstone-assessment-guide.md; docs/reference/memory.md. Status: Publication/storage map, complete official guide, owner communication preferences; these are distinct from observed pitch/score evidence.</a:t>
            </a:r>
          </a:p>
          <a:p>
            <a:r>
              <a:t>S15: docs/capstone/deck/zava-forward-executive-draft.pptx; docs/capstone/deck/agents-in-retrofit-process.svg. Status: Existing 22-slide content/relationship-resolved notes and map semantic source, not proof of future operation.</a:t>
            </a:r>
          </a:p>
          <a:p/>
          <a:p>
            <a:r>
              <a:t>Optional appendix, outside the planned 795-second main route.</a:t>
            </a:r>
          </a:p>
          <a:p/>
          <a:p>
            <a:r>
              <a:t>Exact current claim-status oracle:</a:t>
            </a:r>
          </a:p>
          <a:p>
            <a:r>
              <a:t>1. Current documentation/source context is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22 — Compare equivalent routes before selecting a winner.</a:t>
            </a:r>
          </a:p>
          <a:p>
            <a:r>
              <a:t>Topic sentinel: options</a:t>
            </a:r>
          </a:p>
          <a:p>
            <a:r>
              <a:t>Message: production platform choice must earn customer value, not follow the capstone preference.</a:t>
            </a:r>
          </a:p>
          <a:p>
            <a:r>
              <a:t>Status: strategist-recommended proposal; refreshed 14 October 2026.</a:t>
            </a:r>
          </a:p>
          <a:p/>
          <a:p>
            <a:r>
              <a:t>"Compare workflow/evidence, permissions, migration, integration,</a:t>
            </a:r>
          </a:p>
          <a:p>
            <a:r>
              <a:t>  resident access, whole-life cost and readiness on the same journey and</a:t>
            </a:r>
          </a:p>
          <a:p>
            <a:r>
              <a:t>  controls. Include safety hold, withdrawal, missing evidence and failed</a:t>
            </a:r>
          </a:p>
          <a:p>
            <a:r>
              <a:t>  integration. Confirm tenant, workbook quality, skills, licences and</a:t>
            </a:r>
          </a:p>
          <a:p>
            <a:r>
              <a:t>  support; no Dataverse or Dynamics estate is available for assumed reuse.</a:t>
            </a:r>
          </a:p>
          <a:p>
            <a:r>
              <a:t>  The Azure-led hybrid is the provisional exercise direction. Historical</a:t>
            </a:r>
          </a:p>
          <a:p>
            <a:r>
              <a:t>  architect-proposed weights/scores are not customer-approved comparative</a:t>
            </a:r>
          </a:p>
          <a:p>
            <a:r>
              <a:t>  evidence. A safety/privacy/consent/approval failure is a gate, not a score</a:t>
            </a:r>
          </a:p>
          <a:p>
            <a:r>
              <a:t>  that another attractive feature can offset. Select the supportable option</a:t>
            </a:r>
          </a:p>
          <a:p>
            <a:r>
              <a:t>  that meets controls at justified whole-life cost, even if simpler."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Five assists. One controlled journey.</a:t>
            </a:r>
          </a:p>
          <a:p>
            <a:r>
              <a:t>Topic sentinel: map</a:t>
            </a:r>
          </a:p>
          <a:p>
            <a:r>
              <a:t>Message: capabilities prepare evidence; workflow and people retain progression and decisions.</a:t>
            </a:r>
          </a:p>
          <a:p>
            <a:r>
              <a:t>Status: strategist-recommended proposal; refreshed 14 October 2026.</a:t>
            </a:r>
          </a:p>
          <a:p/>
          <a:p>
            <a:r>
              <a:t>"Each column serves a process stage, not an autonomous manager.</a:t>
            </a:r>
          </a:p>
          <a:p>
            <a:r>
              <a:t>  A person may request help under effective authority. A future authorized</a:t>
            </a:r>
          </a:p>
          <a:p>
            <a:r>
              <a:t>  event or scheduled check could create an owned review item after rules</a:t>
            </a:r>
          </a:p>
          <a:p>
            <a:r>
              <a:t>  determine eligibility; scans are currently off. Data owners/Assets,</a:t>
            </a:r>
          </a:p>
          <a:p>
            <a:r>
              <a:t>  competent technical roles, Finance, the resident/Programme/contract</a:t>
            </a:r>
          </a:p>
          <a:p>
            <a:r>
              <a:t>  authority and independent QA retain their respective decisions.</a:t>
            </a:r>
          </a:p>
          <a:p>
            <a:r>
              <a:t>  Funding spans planning through claims and cash. Hazards go directly to</a:t>
            </a:r>
          </a:p>
          <a:p>
            <a:r>
              <a:t>  the human service; neither an empty model result nor a queue delays intake.</a:t>
            </a:r>
          </a:p>
          <a:p>
            <a:r>
              <a:t>  Failure, stale evidence and expired authority preserve controlled state and</a:t>
            </a:r>
          </a:p>
          <a:p>
            <a:r>
              <a:t>  an owned manual path. Fewer gaps and less rework are value hypotheses."</a:t>
            </a:r>
          </a:p>
          <a:p>
            <a:r>
              <a:t>* Transition: "The financial boundary is as important as the technical one."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S15: docs/capstone/deck/zava-forward-executive-draft.pptx; docs/capstone/deck/agents-in-retrofit-process.svg. Status: Existing 22-slide content/relationship-resolved notes and map semantic source, not proof of future operation.</a:t>
            </a:r>
          </a:p>
          <a:p/>
          <a:p>
            <a:r>
              <a:t>Planned allocation: 60 seconds; not rehearsed.</a:t>
            </a:r>
          </a:p>
          <a:p/>
          <a:p>
            <a:r>
              <a:t>FULL MAP TEXT EQUIVALENT — five capabilities, owners, requests and OFF triggers:</a:t>
            </a:r>
          </a:p>
          <a:p/>
          <a:p/>
          <a:p>
            <a:r>
              <a:t>Required result: a full-width, readable, editable PowerPoint process map.</a:t>
            </a:r>
          </a:p>
          <a:p>
            <a:r>
              <a:t>Existing SVG/PNG remain references only. No diagram image, cropped fragments,</a:t>
            </a:r>
          </a:p>
          <a:p>
            <a:r>
              <a:t>single flattened vector, giant paragraph or hidden text layer substitutes for</a:t>
            </a:r>
          </a:p>
          <a:p>
            <a:r>
              <a:t>native elements.</a:t>
            </a:r>
          </a:p>
          <a:p/>
          <a:p>
            <a:r>
              <a:t>Use the canonical widescreen aspect ratio; inspect actual cx/cy rather than</a:t>
            </a:r>
          </a:p>
          <a:p>
            <a:r>
              <a:t>trusting the existing misleading `type="screen4x3"` attribute. It is about</a:t>
            </a:r>
          </a:p>
          <a:p>
            <a:r>
              <a:t>13.333 × 7.5 inches. Values below describe a 13.333 × 7.5 canvas; scale x</a:t>
            </a:r>
          </a:p>
          <a:p>
            <a:r>
              <a:t>coordinates proportionally if preserving the exact existing EMUs. Do not</a:t>
            </a:r>
          </a:p>
          <a:p>
            <a:r>
              <a:t>change the whole deck's aspect ratio accidentally.</a:t>
            </a:r>
          </a:p>
          <a:p/>
          <a:p>
            <a:r>
              <a:t>* Content x = 0.45–12.883. Five columns of width approximately 2.375 with</a:t>
            </a:r>
          </a:p>
          <a:p>
            <a:r>
              <a:t>  0.14 gutters; x positions approximately 0.450, 2.965, 5.479, 7.994, 10.508.</a:t>
            </a:r>
          </a:p>
          <a:p>
            <a:r>
              <a:t>* Title y=0.40, height=0.48, ≥28pt. Short status/subtitle y=0.99,</a:t>
            </a:r>
          </a:p>
          <a:p>
            <a:r>
              <a:t>  height=0.30. Keep logo/footer clear.</a:t>
            </a:r>
          </a:p>
          <a:p>
            <a:r>
              <a:t>* Stage boxes y=1.42, height=0.45, 17–18pt. Short native arrow connectors</a:t>
            </a:r>
          </a:p>
          <a:p>
            <a:r>
              <a:t>  occupy gutters, do not run through owners or imply autonomous release.</a:t>
            </a:r>
          </a:p>
          <a:p>
            <a:r>
              <a:t>* Owner text y=1.98, height=0.72, 16pt, max three compact lines.</a:t>
            </a:r>
          </a:p>
          <a:p>
            <a:r>
              <a:t>* Capability card background y=2.80, height=3.04. Every capability title</a:t>
            </a:r>
          </a:p>
          <a:p>
            <a:r>
              <a:t>  textbox y=2.90, height=0.78, 17pt bold, same insets; reserve this full</a:t>
            </a:r>
          </a:p>
          <a:p>
            <a:r>
              <a:t>  region for all five whether title wraps to one, two or three lines.</a:t>
            </a:r>
          </a:p>
          <a:p>
            <a:r>
              <a:t>* On-request label y=3.77, height=0.27, 16pt; body y=4.10,</a:t>
            </a:r>
          </a:p>
          <a:p>
            <a:r>
              <a:t>  height=0.65, 16pt. Proactive label y=4.83, height=0.27, 16pt;</a:t>
            </a:r>
          </a:p>
          <a:p>
            <a:r>
              <a:t>  body y=5.16, height=0.60, 16pt. Shorten to the copy below if wrapping</a:t>
            </a:r>
          </a:p>
          <a:p>
            <a:r>
              <a:t>  fails; do not shrink, clip or vertically centre. Label itself can say</a:t>
            </a:r>
          </a:p>
          <a:p>
            <a:r>
              <a:t>  "Review trigger • OFF" if needed to fit the column.</a:t>
            </a:r>
          </a:p>
          <a:p>
            <a:r>
              <a:t>* Full-width core band y=6.00, height=0.44, 16pt:</a:t>
            </a:r>
          </a:p>
          <a:p>
            <a:r>
              <a:t>  "Workflow core: rights • versions • gates • human approvals • audit •</a:t>
            </a:r>
          </a:p>
          <a:p>
            <a:r>
              <a:t>  retries • manual recovery". This is deterministic infrastructure, not a</a:t>
            </a:r>
          </a:p>
          <a:p>
            <a:r>
              <a:t>  sixth supervisor agent.</a:t>
            </a:r>
          </a:p>
          <a:p>
            <a:r>
              <a:t>* Boundary lines y=6.53, height≈0.52, 16pt over two short full-width lines:</a:t>
            </a:r>
          </a:p>
          <a:p>
            <a:r>
              <a:t>  "Checks OFF now; future eligibility → named human queue. Funding:</a:t>
            </a:r>
          </a:p>
          <a:p>
            <a:r>
              <a:t>  application ≠ award ≠ claim ≠ cash."</a:t>
            </a:r>
          </a:p>
          <a:p>
            <a:r>
              <a:t>  "Hazard → human service now, never wait for AI. Value remains a hypothesis."</a:t>
            </a:r>
          </a:p>
          <a:p>
            <a:r>
              <a:t>  Source/footer below without collision.</a:t>
            </a:r>
          </a:p>
          <a:p/>
          <a:p>
            <a:r>
              <a:t>| Peer element | Choose homes | Assess &amp; design | Prepare funding | Coordinate works | Verify &amp; hand over |</a:t>
            </a:r>
          </a:p>
          <a:p>
            <a:r>
              <a:t>| --- | --- | --- | --- | --- | --- |</a:t>
            </a:r>
          </a:p>
          <a:p>
            <a:r>
              <a:t>| Capability title | Stock Prioritisation | Assessment Preparation | Grant &amp; Funding Evidence | Works &amp; Resident Coordination | Quality Evidence Review |</a:t>
            </a:r>
          </a:p>
          <a:p>
            <a:r>
              <a:t>| Human owner | Assets: policy; data owners: verify | Assessor + coordinator: independent sign-off | Finance: validate, approve, submit | Resident: choice; Programme: release | Independent quality authority: accept |</a:t>
            </a:r>
          </a:p>
          <a:p>
            <a:r>
              <a:t>| On request body | Explain facts; query conflicts | Prepare sourced survey/design pack | Draft source-linked evidence pack | Draft update; suggest crew slots | Assemble evidence; raise gaps |</a:t>
            </a:r>
          </a:p>
          <a:p>
            <a:r>
              <a:t>| Proactive body, OFF now | Missing/conflicting stock facts | Missing/changed survey or design | Missing inputs or changed terms | Unaccepted handoff; overdue update | Missing/conflicting quality evidence |</a:t>
            </a:r>
          </a:p>
          <a:p/>
          <a:p>
            <a:r>
              <a:t>The on-slide short labels retain all five capabilities; notes list canonical</a:t>
            </a:r>
          </a:p>
          <a:p>
            <a:r>
              <a:t>IDs from S11 and detail source categories/permissions, registered purposes</a:t>
            </a:r>
          </a:p>
          <a:p>
            <a:r>
              <a:t>and synthetic predicates. The diagram expresses the process/design contract;</a:t>
            </a:r>
          </a:p>
          <a:p>
            <a:r>
              <a:t>it does not claim actual broader document analysis or professional assessment</a:t>
            </a:r>
          </a:p>
          <a:p>
            <a:r>
              <a:t>delivery. In particular current sources include permitted metadata/hashes,</a:t>
            </a:r>
          </a:p>
          <a:p>
            <a:r>
              <a:t>not arbitrary document/photo content. Scheduled/event initiation is proposed</a:t>
            </a:r>
          </a:p>
          <a:p>
            <a:r>
              <a:t>or implemented-but-disabled contract behaviour, not observed paid scanning.</a:t>
            </a:r>
          </a:p>
          <a:p>
            <a:r>
              <a:t>Funding's lane spans planning through later claims/cash and is not a gate</a:t>
            </a:r>
          </a:p>
          <a:p>
            <a:r>
              <a:t>that automatically approves work. Programme release also requires current</a:t>
            </a:r>
          </a:p>
          <a:p>
            <a:r>
              <a:t>technical evidence, resident measure choice, funding/budget and committed</a:t>
            </a:r>
          </a:p>
          <a:p>
            <a:r>
              <a:t>competent capacity; contract authority alone instructs suppliers.</a:t>
            </a:r>
          </a:p>
          <a:p/>
          <a:p/>
          <a:p/>
          <a:p>
            <a:r>
              <a:t>Canonical capability identifiers, permitted source categories, registry purposes and synthetic predicates:</a:t>
            </a:r>
          </a:p>
          <a:p>
            <a:r>
              <a:t>REGISTRY = {</a:t>
            </a:r>
          </a:p>
          <a:p>
            <a:r>
              <a:t>    "stock-prioritisation": dict(roles=("Retrofit Coordinator", "Programme Manager"), categories=("home", "survey", "ranking"),</a:t>
            </a:r>
          </a:p>
          <a:p>
            <a:r>
              <a:t>                               purpose="Explain stock facts and prepare a data-owner query"),</a:t>
            </a:r>
          </a:p>
          <a:p>
            <a:r>
              <a:t>    "assessment-preparation": dict(roles=("Retrofit Coordinator", "Programme Manager"), categories=("home", "survey", "measures", "technical", "documents"),</a:t>
            </a:r>
          </a:p>
          <a:p>
            <a:r>
              <a:t>                                  purpose="Prepare a survey/design evidence checklist"),</a:t>
            </a:r>
          </a:p>
          <a:p>
            <a:r>
              <a:t>    "funding-evidence": dict(roles=("Grants and Evidence Officer", "Programme Manager"),</a:t>
            </a:r>
          </a:p>
          <a:p>
            <a:r>
              <a:t>                            categories=("home", "measures", "funding", "finance", "grants", "documents"),</a:t>
            </a:r>
          </a:p>
          <a:p>
            <a:r>
              <a:t>                            purpose="Prepare application/claim evidence gaps"),</a:t>
            </a:r>
          </a:p>
          <a:p>
            <a:r>
              <a:t>    "works-resident-coordination": dict(roles=("Retrofit Coordinator", "Resident Liaison Officer", "Programme Manager"),</a:t>
            </a:r>
          </a:p>
          <a:p>
            <a:r>
              <a:t>                                       categories=("home", "measures", "preferences", "appointments", "handoff", "capacity", "requests"),</a:t>
            </a:r>
          </a:p>
          <a:p>
            <a:r>
              <a:t>                                       purpose="Draft an update or committed-capacity option"),</a:t>
            </a:r>
          </a:p>
          <a:p>
            <a:r>
              <a:t>    "quality-evidence": dict(roles=("Quality Inspector", "Programme Manager"),</a:t>
            </a:r>
          </a:p>
          <a:p>
            <a:r>
              <a:t>                            categories=("home", "measures", "quality", "checklists", "documents"),</a:t>
            </a:r>
          </a:p>
          <a:p>
            <a:r>
              <a:t>                            purpose="Assemble per-measure quality evidence discrepancies"),</a:t>
            </a:r>
          </a:p>
          <a:p>
            <a:r>
              <a:t>}</a:t>
            </a:r>
          </a:p>
          <a:p>
            <a:r>
              <a:t>RULES = {</a:t>
            </a:r>
          </a:p>
          <a:p>
            <a:r>
              <a:t>    "stock-prioritisation": "Missing/unknown home.epc, home.type or home.built; supplied survey.epc/type/built conflicts with home.",</a:t>
            </a:r>
          </a:p>
          <a:p>
            <a:r>
              <a:t>    "assessment-preparation": "Missing Survey/Design metadata/content hash or technical.design_version; relevant permitted source signature changes.",</a:t>
            </a:r>
          </a:p>
          <a:p>
            <a:r>
              <a:t>    "funding-evidence": "Missing measures, funding.route/reference, grants or budget amount; incomplete supplied invoice ref/lines/milestone inputs; claim-phase grant lacks sourced history or hashed Funding evidence metadata; relevant permitted terms/evidence signature changes.",</a:t>
            </a:r>
          </a:p>
          <a:p>
            <a:r>
              <a:t>    "works-resident-coordination": "handoff.state=Offered; past appointment.date with missing/Booked/Planned/No access/Missed outcome; past open service_request.next_update.",</a:t>
            </a:r>
          </a:p>
          <a:p>
            <a:r>
              <a:t>    "quality-evidence": "Missing measures; not exactly one quality record per measure; missing/conflicting checklist item evidence or checklist version mismatch; relevant permitted signature changes.",</a:t>
            </a:r>
          </a:p>
          <a:p>
            <a:r>
              <a:t>}</a:t>
            </a:r>
          </a:p>
          <a:p/>
          <a:p/>
          <a:p>
            <a:r>
              <a:t>Proposal review is separate from domain approval. Programme release additionally requires current technical evidence, resident measure choice, funding/budget and committed competent capacity. Only contract authority instructs suppliers. Failed, stale or expired assistance leaves controlled state unchanged, with an owned manual path. Actual sources include permitted metadata and hashes, not arbitrary document/photo analysis. OFF triggers are not paid scans. The workflow core is deterministic infrastructure, never a sixth supervisor agent.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Back the evidence. Keep the resident promise.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S01 / S02 / S03 / S09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01 / 22</a:t>
            </a:r>
          </a:p>
        </p:txBody>
      </p:sp>
      <p:sp>
        <p:nvSpPr>
          <p:cNvPr id="8" name="resident-scale"/>
          <p:cNvSpPr txBox="1"/>
          <p:nvPr/>
        </p:nvSpPr>
        <p:spPr>
          <a:xfrm>
            <a:off x="502920" y="1938528"/>
            <a:ext cx="6583680" cy="594360"/>
          </a:xfrm>
          <a:prstGeom prst="rect">
            <a:avLst/>
          </a:prstGeom>
          <a:noFill/>
        </p:spPr>
        <p:txBody>
          <a:bodyPr wrap="square" lIns="18288" rIns="18288" tIns="18288" bIns="18288" anchor="t">
            <a:noAutofit/>
          </a:bodyPr>
          <a:lstStyle/>
          <a:p>
            <a:pPr>
              <a:lnSpc>
                <a:spcPct val="108000"/>
              </a:lnSpc>
              <a:spcBef>
                <a:spcPts val="0"/>
              </a:spcBef>
              <a:spcAft>
                <a:spcPts val="500"/>
              </a:spcAft>
            </a:pPr>
            <a:r>
              <a:rPr sz="3800" b="1" i="0">
                <a:solidFill>
                  <a:srgbClr val="F7F2E7"/>
                </a:solidFill>
                <a:latin typeface="Liberation Sans"/>
              </a:rPr>
              <a:t>60,000 homes.</a:t>
            </a:r>
          </a:p>
        </p:txBody>
      </p:sp>
      <p:sp>
        <p:nvSpPr>
          <p:cNvPr id="9" name="resident-outcome"/>
          <p:cNvSpPr txBox="1"/>
          <p:nvPr/>
        </p:nvSpPr>
        <p:spPr>
          <a:xfrm>
            <a:off x="502920" y="2734056"/>
            <a:ext cx="6400800" cy="1280160"/>
          </a:xfrm>
          <a:prstGeom prst="rect">
            <a:avLst/>
          </a:prstGeom>
          <a:noFill/>
        </p:spPr>
        <p:txBody>
          <a:bodyPr wrap="square" lIns="18288" rIns="18288" tIns="18288" bIns="18288" anchor="t">
            <a:noAutofit/>
          </a:bodyPr>
          <a:lstStyle/>
          <a:p>
            <a:pPr>
              <a:lnSpc>
                <a:spcPct val="108000"/>
              </a:lnSpc>
              <a:spcBef>
                <a:spcPts val="0"/>
              </a:spcBef>
              <a:spcAft>
                <a:spcPts val="500"/>
              </a:spcAft>
            </a:pPr>
            <a:r>
              <a:rPr sz="3400" b="0" i="0">
                <a:solidFill>
                  <a:srgbClr val="F7F2E7"/>
                </a:solidFill>
                <a:latin typeface="Liberation Sans"/>
              </a:rPr>
              <a:t>Safe, resident-accepted</a:t>
            </a:r>
          </a:p>
          <a:p>
            <a:pPr>
              <a:lnSpc>
                <a:spcPct val="108000"/>
              </a:lnSpc>
              <a:spcBef>
                <a:spcPts val="0"/>
              </a:spcBef>
              <a:spcAft>
                <a:spcPts val="500"/>
              </a:spcAft>
            </a:pPr>
            <a:r>
              <a:rPr sz="3400" b="0" i="0">
                <a:solidFill>
                  <a:srgbClr val="F7F2E7"/>
                </a:solidFill>
                <a:latin typeface="Liberation Sans"/>
              </a:rPr>
              <a:t>handovers.</a:t>
            </a:r>
          </a:p>
        </p:txBody>
      </p:sp>
      <p:sp>
        <p:nvSpPr>
          <p:cNvPr id="10" name="opening-evidence"/>
          <p:cNvSpPr txBox="1"/>
          <p:nvPr/>
        </p:nvSpPr>
        <p:spPr>
          <a:xfrm>
            <a:off x="502920" y="4681728"/>
            <a:ext cx="6492240" cy="914400"/>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F7F2E7"/>
                </a:solidFill>
                <a:latin typeface="Liberation Sans"/>
              </a:rPr>
              <a:t>Real service proof now.</a:t>
            </a:r>
          </a:p>
          <a:p>
            <a:pPr>
              <a:lnSpc>
                <a:spcPct val="108000"/>
              </a:lnSpc>
              <a:spcBef>
                <a:spcPts val="0"/>
              </a:spcBef>
              <a:spcAft>
                <a:spcPts val="500"/>
              </a:spcAft>
            </a:pPr>
            <a:r>
              <a:rPr sz="2400" b="0" i="0">
                <a:solidFill>
                  <a:srgbClr val="F7F2E7"/>
                </a:solidFill>
                <a:latin typeface="Liberation Sans"/>
              </a:rPr>
              <a:t>Human and value gates next.</a:t>
            </a:r>
          </a:p>
        </p:txBody>
      </p:sp>
      <p:sp>
        <p:nvSpPr>
          <p:cNvPr id="11" name="decision-background"/>
          <p:cNvSpPr/>
          <p:nvPr/>
        </p:nvSpPr>
        <p:spPr>
          <a:xfrm>
            <a:off x="7589520" y="1938528"/>
            <a:ext cx="4096512" cy="3557016"/>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decision-title"/>
          <p:cNvSpPr txBox="1"/>
          <p:nvPr/>
        </p:nvSpPr>
        <p:spPr>
          <a:xfrm>
            <a:off x="7818120" y="2185416"/>
            <a:ext cx="3639312"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TODAY’S DECISION</a:t>
            </a:r>
          </a:p>
        </p:txBody>
      </p:sp>
      <p:sp>
        <p:nvSpPr>
          <p:cNvPr id="13" name="decision-body"/>
          <p:cNvSpPr txBox="1"/>
          <p:nvPr/>
        </p:nvSpPr>
        <p:spPr>
          <a:xfrm>
            <a:off x="7818120" y="3035808"/>
            <a:ext cx="3639312" cy="1645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Endorse the next</a:t>
            </a:r>
          </a:p>
          <a:p>
            <a:pPr>
              <a:lnSpc>
                <a:spcPct val="108000"/>
              </a:lnSpc>
              <a:spcBef>
                <a:spcPts val="0"/>
              </a:spcBef>
              <a:spcAft>
                <a:spcPts val="500"/>
              </a:spcAft>
            </a:pPr>
            <a:r>
              <a:rPr sz="2500" b="1" i="0">
                <a:solidFill>
                  <a:srgbClr val="183A31"/>
                </a:solidFill>
                <a:latin typeface="Liberation Sans"/>
              </a:rPr>
              <a:t>acceptance-and-value</a:t>
            </a:r>
          </a:p>
          <a:p>
            <a:pPr>
              <a:lnSpc>
                <a:spcPct val="108000"/>
              </a:lnSpc>
              <a:spcBef>
                <a:spcPts val="0"/>
              </a:spcBef>
              <a:spcAft>
                <a:spcPts val="500"/>
              </a:spcAft>
            </a:pPr>
            <a:r>
              <a:rPr sz="2500" b="1" i="0">
                <a:solidFill>
                  <a:srgbClr val="183A31"/>
                </a:solidFill>
                <a:latin typeface="Liberation Sans"/>
              </a:rPr>
              <a:t>proposal.</a:t>
            </a:r>
          </a:p>
        </p:txBody>
      </p:sp>
      <p:sp>
        <p:nvSpPr>
          <p:cNvPr id="1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Proposal only — no new spending or production authority.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pressure points. One accepted home.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S01 / S02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02 / 22</a:t>
            </a:r>
          </a:p>
        </p:txBody>
      </p:sp>
      <p:sp>
        <p:nvSpPr>
          <p:cNvPr id="8" name="peer-1-background"/>
          <p:cNvSpPr/>
          <p:nvPr/>
        </p:nvSpPr>
        <p:spPr>
          <a:xfrm>
            <a:off x="502920"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Choose</a:t>
            </a:r>
          </a:p>
          <a:p>
            <a:pPr>
              <a:lnSpc>
                <a:spcPct val="108000"/>
              </a:lnSpc>
              <a:spcBef>
                <a:spcPts val="0"/>
              </a:spcBef>
              <a:spcAft>
                <a:spcPts val="500"/>
              </a:spcAft>
            </a:pPr>
            <a:r>
              <a:rPr sz="2300" b="1" i="0">
                <a:solidFill>
                  <a:srgbClr val="183A31"/>
                </a:solidFill>
                <a:latin typeface="Liberation Sans"/>
              </a:rPr>
              <a:t>homes</a:t>
            </a:r>
          </a:p>
        </p:txBody>
      </p:sp>
      <p:sp>
        <p:nvSpPr>
          <p:cNvPr id="10" name="peer-1-body"/>
          <p:cNvSpPr txBox="1"/>
          <p:nvPr/>
        </p:nvSpPr>
        <p:spPr>
          <a:xfrm>
            <a:off x="667512"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Prioritisation</a:t>
            </a:r>
          </a:p>
        </p:txBody>
      </p:sp>
      <p:sp>
        <p:nvSpPr>
          <p:cNvPr id="11" name="peer-2-background"/>
          <p:cNvSpPr/>
          <p:nvPr/>
        </p:nvSpPr>
        <p:spPr>
          <a:xfrm>
            <a:off x="2779776"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2944368"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Assess &amp;</a:t>
            </a:r>
          </a:p>
          <a:p>
            <a:pPr>
              <a:lnSpc>
                <a:spcPct val="108000"/>
              </a:lnSpc>
              <a:spcBef>
                <a:spcPts val="0"/>
              </a:spcBef>
              <a:spcAft>
                <a:spcPts val="500"/>
              </a:spcAft>
            </a:pPr>
            <a:r>
              <a:rPr sz="2300" b="1" i="0">
                <a:solidFill>
                  <a:srgbClr val="183A31"/>
                </a:solidFill>
                <a:latin typeface="Liberation Sans"/>
              </a:rPr>
              <a:t>design</a:t>
            </a:r>
          </a:p>
        </p:txBody>
      </p:sp>
      <p:sp>
        <p:nvSpPr>
          <p:cNvPr id="13" name="peer-2-body"/>
          <p:cNvSpPr txBox="1"/>
          <p:nvPr/>
        </p:nvSpPr>
        <p:spPr>
          <a:xfrm>
            <a:off x="2944368"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Assessment</a:t>
            </a:r>
          </a:p>
        </p:txBody>
      </p:sp>
      <p:sp>
        <p:nvSpPr>
          <p:cNvPr id="14" name="peer-3-background"/>
          <p:cNvSpPr/>
          <p:nvPr/>
        </p:nvSpPr>
        <p:spPr>
          <a:xfrm>
            <a:off x="5056632"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5221224"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Prepare</a:t>
            </a:r>
          </a:p>
          <a:p>
            <a:pPr>
              <a:lnSpc>
                <a:spcPct val="108000"/>
              </a:lnSpc>
              <a:spcBef>
                <a:spcPts val="0"/>
              </a:spcBef>
              <a:spcAft>
                <a:spcPts val="500"/>
              </a:spcAft>
            </a:pPr>
            <a:r>
              <a:rPr sz="2300" b="1" i="0">
                <a:solidFill>
                  <a:srgbClr val="183A31"/>
                </a:solidFill>
                <a:latin typeface="Liberation Sans"/>
              </a:rPr>
              <a:t>funding</a:t>
            </a:r>
          </a:p>
        </p:txBody>
      </p:sp>
      <p:sp>
        <p:nvSpPr>
          <p:cNvPr id="16" name="peer-3-body"/>
          <p:cNvSpPr txBox="1"/>
          <p:nvPr/>
        </p:nvSpPr>
        <p:spPr>
          <a:xfrm>
            <a:off x="5221224"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Evidence</a:t>
            </a:r>
          </a:p>
        </p:txBody>
      </p:sp>
      <p:sp>
        <p:nvSpPr>
          <p:cNvPr id="17" name="peer-4-background"/>
          <p:cNvSpPr/>
          <p:nvPr/>
        </p:nvSpPr>
        <p:spPr>
          <a:xfrm>
            <a:off x="7333488"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7498080"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Coordinate</a:t>
            </a:r>
          </a:p>
          <a:p>
            <a:pPr>
              <a:lnSpc>
                <a:spcPct val="108000"/>
              </a:lnSpc>
              <a:spcBef>
                <a:spcPts val="0"/>
              </a:spcBef>
              <a:spcAft>
                <a:spcPts val="500"/>
              </a:spcAft>
            </a:pPr>
            <a:r>
              <a:rPr sz="2300" b="1" i="0">
                <a:solidFill>
                  <a:srgbClr val="183A31"/>
                </a:solidFill>
                <a:latin typeface="Liberation Sans"/>
              </a:rPr>
              <a:t>works</a:t>
            </a:r>
          </a:p>
        </p:txBody>
      </p:sp>
      <p:sp>
        <p:nvSpPr>
          <p:cNvPr id="19" name="peer-4-body"/>
          <p:cNvSpPr txBox="1"/>
          <p:nvPr/>
        </p:nvSpPr>
        <p:spPr>
          <a:xfrm>
            <a:off x="7498080"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Delivery</a:t>
            </a:r>
          </a:p>
        </p:txBody>
      </p:sp>
      <p:sp>
        <p:nvSpPr>
          <p:cNvPr id="20" name="peer-5-background"/>
          <p:cNvSpPr/>
          <p:nvPr/>
        </p:nvSpPr>
        <p:spPr>
          <a:xfrm>
            <a:off x="9610344"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eer-5-title"/>
          <p:cNvSpPr txBox="1"/>
          <p:nvPr/>
        </p:nvSpPr>
        <p:spPr>
          <a:xfrm>
            <a:off x="9774936"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Verify &amp;</a:t>
            </a:r>
          </a:p>
          <a:p>
            <a:pPr>
              <a:lnSpc>
                <a:spcPct val="108000"/>
              </a:lnSpc>
              <a:spcBef>
                <a:spcPts val="0"/>
              </a:spcBef>
              <a:spcAft>
                <a:spcPts val="500"/>
              </a:spcAft>
            </a:pPr>
            <a:r>
              <a:rPr sz="2300" b="1" i="0">
                <a:solidFill>
                  <a:srgbClr val="183A31"/>
                </a:solidFill>
                <a:latin typeface="Liberation Sans"/>
              </a:rPr>
              <a:t>hand over</a:t>
            </a:r>
          </a:p>
        </p:txBody>
      </p:sp>
      <p:sp>
        <p:nvSpPr>
          <p:cNvPr id="22" name="peer-5-body"/>
          <p:cNvSpPr txBox="1"/>
          <p:nvPr/>
        </p:nvSpPr>
        <p:spPr>
          <a:xfrm>
            <a:off x="9774936"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Quality</a:t>
            </a:r>
          </a:p>
        </p:txBody>
      </p:sp>
      <p:sp>
        <p:nvSpPr>
          <p:cNvPr id="23" name="outcome"/>
          <p:cNvSpPr txBox="1"/>
          <p:nvPr/>
        </p:nvSpPr>
        <p:spPr>
          <a:xfrm>
            <a:off x="685800" y="4764024"/>
            <a:ext cx="10789920" cy="59436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183A31"/>
                </a:solidFill>
                <a:latin typeface="Liberation Sans"/>
              </a:rPr>
              <a:t>Safe + resident-accepted + evidence-complete</a:t>
            </a:r>
          </a:p>
        </p:txBody>
      </p:sp>
      <p:sp>
        <p:nvSpPr>
          <p:cNvPr id="2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Measure accepted outcomes, not messages or drafts.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Each request needs rules, people and bounded AI.</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S04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03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Rules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Gates, clocks,</a:t>
            </a:r>
          </a:p>
          <a:p>
            <a:pPr>
              <a:lnSpc>
                <a:spcPct val="108000"/>
              </a:lnSpc>
              <a:spcBef>
                <a:spcPts val="0"/>
              </a:spcBef>
              <a:spcAft>
                <a:spcPts val="500"/>
              </a:spcAft>
            </a:pPr>
            <a:r>
              <a:rPr sz="2200" b="0" i="0">
                <a:solidFill>
                  <a:srgbClr val="183A31"/>
                </a:solidFill>
                <a:latin typeface="Liberation Sans"/>
              </a:rPr>
              <a:t>eligibility, versions.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People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Policy, consent,</a:t>
            </a:r>
          </a:p>
          <a:p>
            <a:pPr>
              <a:lnSpc>
                <a:spcPct val="108000"/>
              </a:lnSpc>
              <a:spcBef>
                <a:spcPts val="0"/>
              </a:spcBef>
              <a:spcAft>
                <a:spcPts val="500"/>
              </a:spcAft>
            </a:pPr>
            <a:r>
              <a:rPr sz="2200" b="0" i="0">
                <a:solidFill>
                  <a:srgbClr val="183A31"/>
                </a:solidFill>
                <a:latin typeface="Liberation Sans"/>
              </a:rPr>
              <a:t>professional and</a:t>
            </a:r>
          </a:p>
          <a:p>
            <a:pPr>
              <a:lnSpc>
                <a:spcPct val="108000"/>
              </a:lnSpc>
              <a:spcBef>
                <a:spcPts val="0"/>
              </a:spcBef>
              <a:spcAft>
                <a:spcPts val="500"/>
              </a:spcAft>
            </a:pPr>
            <a:r>
              <a:rPr sz="2200" b="0" i="0">
                <a:solidFill>
                  <a:srgbClr val="183A31"/>
                </a:solidFill>
                <a:latin typeface="Liberation Sans"/>
              </a:rPr>
              <a:t>financial decisions.</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Bounded AI</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Reconcile, prepare,</a:t>
            </a:r>
          </a:p>
          <a:p>
            <a:pPr>
              <a:lnSpc>
                <a:spcPct val="108000"/>
              </a:lnSpc>
              <a:spcBef>
                <a:spcPts val="0"/>
              </a:spcBef>
              <a:spcAft>
                <a:spcPts val="500"/>
              </a:spcAft>
            </a:pPr>
            <a:r>
              <a:rPr sz="2200" b="0" i="0">
                <a:solidFill>
                  <a:srgbClr val="183A31"/>
                </a:solidFill>
                <a:latin typeface="Liberation Sans"/>
              </a:rPr>
              <a:t>draft, flag.</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Eight role-agent research instruments — not employee interviews.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Fix the prerequisite before adding the assist.</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S04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04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Rank homes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Approved policy</a:t>
            </a:r>
          </a:p>
          <a:p>
            <a:pPr>
              <a:lnSpc>
                <a:spcPct val="108000"/>
              </a:lnSpc>
              <a:spcBef>
                <a:spcPts val="0"/>
              </a:spcBef>
              <a:spcAft>
                <a:spcPts val="500"/>
              </a:spcAft>
            </a:pPr>
            <a:r>
              <a:rPr sz="2400" b="0" i="0">
                <a:solidFill>
                  <a:srgbClr val="183A31"/>
                </a:solidFill>
                <a:latin typeface="Liberation Sans"/>
              </a:rPr>
              <a:t>+</a:t>
            </a:r>
          </a:p>
          <a:p>
            <a:pPr>
              <a:lnSpc>
                <a:spcPct val="108000"/>
              </a:lnSpc>
              <a:spcBef>
                <a:spcPts val="0"/>
              </a:spcBef>
              <a:spcAft>
                <a:spcPts val="500"/>
              </a:spcAft>
            </a:pPr>
            <a:r>
              <a:rPr sz="2400" b="0" i="0">
                <a:solidFill>
                  <a:srgbClr val="183A31"/>
                </a:solidFill>
                <a:latin typeface="Liberation Sans"/>
              </a:rPr>
              <a:t>sourced facts.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Offer a slot</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Committed capacity</a:t>
            </a:r>
          </a:p>
          <a:p>
            <a:pPr>
              <a:lnSpc>
                <a:spcPct val="108000"/>
              </a:lnSpc>
              <a:spcBef>
                <a:spcPts val="0"/>
              </a:spcBef>
              <a:spcAft>
                <a:spcPts val="500"/>
              </a:spcAft>
            </a:pPr>
            <a:r>
              <a:rPr sz="2400" b="0" i="0">
                <a:solidFill>
                  <a:srgbClr val="183A31"/>
                </a:solidFill>
                <a:latin typeface="Liberation Sans"/>
              </a:rPr>
              <a:t>+</a:t>
            </a:r>
          </a:p>
          <a:p>
            <a:pPr>
              <a:lnSpc>
                <a:spcPct val="108000"/>
              </a:lnSpc>
              <a:spcBef>
                <a:spcPts val="0"/>
              </a:spcBef>
              <a:spcAft>
                <a:spcPts val="500"/>
              </a:spcAft>
            </a:pPr>
            <a:r>
              <a:rPr sz="2400" b="0" i="0">
                <a:solidFill>
                  <a:srgbClr val="183A31"/>
                </a:solidFill>
                <a:latin typeface="Liberation Sans"/>
              </a:rPr>
              <a:t>resident choice.</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Draft funding</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Accepted evidence</a:t>
            </a:r>
          </a:p>
          <a:p>
            <a:pPr>
              <a:lnSpc>
                <a:spcPct val="108000"/>
              </a:lnSpc>
              <a:spcBef>
                <a:spcPts val="0"/>
              </a:spcBef>
              <a:spcAft>
                <a:spcPts val="500"/>
              </a:spcAft>
            </a:pPr>
            <a:r>
              <a:rPr sz="2400" b="0" i="0">
                <a:solidFill>
                  <a:srgbClr val="183A31"/>
                </a:solidFill>
                <a:latin typeface="Liberation Sans"/>
              </a:rPr>
              <a:t>+</a:t>
            </a:r>
          </a:p>
          <a:p>
            <a:pPr>
              <a:lnSpc>
                <a:spcPct val="108000"/>
              </a:lnSpc>
              <a:spcBef>
                <a:spcPts val="0"/>
              </a:spcBef>
              <a:spcAft>
                <a:spcPts val="500"/>
              </a:spcAft>
            </a:pPr>
            <a:r>
              <a:rPr sz="2400" b="0" i="0">
                <a:solidFill>
                  <a:srgbClr val="183A31"/>
                </a:solidFill>
                <a:latin typeface="Liberation Sans"/>
              </a:rPr>
              <a:t>separate ledger states.</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A slot is not consent. A form is not funding.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Change the handoffs, not the whole company.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S02 / S07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05 / 22</a:t>
            </a:r>
          </a:p>
        </p:txBody>
      </p:sp>
      <p:sp>
        <p:nvSpPr>
          <p:cNvPr id="8" name="peer-1-background"/>
          <p:cNvSpPr/>
          <p:nvPr/>
        </p:nvSpPr>
        <p:spPr>
          <a:xfrm>
            <a:off x="502920"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KEEP</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Teams, suppliers,</a:t>
            </a:r>
          </a:p>
          <a:p>
            <a:pPr>
              <a:lnSpc>
                <a:spcPct val="108000"/>
              </a:lnSpc>
              <a:spcBef>
                <a:spcPts val="0"/>
              </a:spcBef>
              <a:spcAft>
                <a:spcPts val="500"/>
              </a:spcAft>
            </a:pPr>
            <a:r>
              <a:rPr sz="2700" b="0" i="0">
                <a:solidFill>
                  <a:srgbClr val="183A31"/>
                </a:solidFill>
                <a:latin typeface="Liberation Sans"/>
              </a:rPr>
              <a:t>useful systems.</a:t>
            </a:r>
          </a:p>
        </p:txBody>
      </p:sp>
      <p:sp>
        <p:nvSpPr>
          <p:cNvPr id="11" name="peer-2-background"/>
          <p:cNvSpPr/>
          <p:nvPr/>
        </p:nvSpPr>
        <p:spPr>
          <a:xfrm>
            <a:off x="6195059"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ADD</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One case, owned transitions,</a:t>
            </a:r>
          </a:p>
          <a:p>
            <a:pPr>
              <a:lnSpc>
                <a:spcPct val="108000"/>
              </a:lnSpc>
              <a:spcBef>
                <a:spcPts val="0"/>
              </a:spcBef>
              <a:spcAft>
                <a:spcPts val="500"/>
              </a:spcAft>
            </a:pPr>
            <a:r>
              <a:rPr sz="2700" b="0" i="0">
                <a:solidFill>
                  <a:srgbClr val="183A31"/>
                </a:solidFill>
                <a:latin typeface="Liberation Sans"/>
              </a:rPr>
              <a:t>evidence, bounded assistance.</a:t>
            </a:r>
          </a:p>
        </p:txBody>
      </p:sp>
      <p:sp>
        <p:nvSpPr>
          <p:cNvPr id="1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Excel becomes reporting after a controlled transition.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Every handoff needs an owner and a next action.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S06 / S07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06 / 22</a:t>
            </a:r>
          </a:p>
        </p:txBody>
      </p:sp>
      <p:sp>
        <p:nvSpPr>
          <p:cNvPr id="8" name="row-1-peer-1-background"/>
          <p:cNvSpPr/>
          <p:nvPr/>
        </p:nvSpPr>
        <p:spPr>
          <a:xfrm>
            <a:off x="50292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w-1-peer-1-title"/>
          <p:cNvSpPr txBox="1"/>
          <p:nvPr/>
        </p:nvSpPr>
        <p:spPr>
          <a:xfrm>
            <a:off x="66751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Owner + receiver</a:t>
            </a:r>
          </a:p>
        </p:txBody>
      </p:sp>
      <p:sp>
        <p:nvSpPr>
          <p:cNvPr id="10" name="row-1-peer-1-body"/>
          <p:cNvSpPr txBox="1"/>
          <p:nvPr/>
        </p:nvSpPr>
        <p:spPr>
          <a:xfrm>
            <a:off x="66751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Sender chases until accepted.</a:t>
            </a:r>
          </a:p>
        </p:txBody>
      </p:sp>
      <p:sp>
        <p:nvSpPr>
          <p:cNvPr id="11" name="row-1-peer-2-background"/>
          <p:cNvSpPr/>
          <p:nvPr/>
        </p:nvSpPr>
        <p:spPr>
          <a:xfrm>
            <a:off x="429768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w-1-peer-2-title"/>
          <p:cNvSpPr txBox="1"/>
          <p:nvPr/>
        </p:nvSpPr>
        <p:spPr>
          <a:xfrm>
            <a:off x="446227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State</a:t>
            </a:r>
          </a:p>
        </p:txBody>
      </p:sp>
      <p:sp>
        <p:nvSpPr>
          <p:cNvPr id="13" name="row-1-peer-2-body"/>
          <p:cNvSpPr txBox="1"/>
          <p:nvPr/>
        </p:nvSpPr>
        <p:spPr>
          <a:xfrm>
            <a:off x="446227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What is actually true now?</a:t>
            </a:r>
          </a:p>
        </p:txBody>
      </p:sp>
      <p:sp>
        <p:nvSpPr>
          <p:cNvPr id="14" name="row-1-peer-3-background"/>
          <p:cNvSpPr/>
          <p:nvPr/>
        </p:nvSpPr>
        <p:spPr>
          <a:xfrm>
            <a:off x="809244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w-1-peer-3-title"/>
          <p:cNvSpPr txBox="1"/>
          <p:nvPr/>
        </p:nvSpPr>
        <p:spPr>
          <a:xfrm>
            <a:off x="825703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Entry, exit, pause</a:t>
            </a:r>
          </a:p>
        </p:txBody>
      </p:sp>
      <p:sp>
        <p:nvSpPr>
          <p:cNvPr id="16" name="row-1-peer-3-body"/>
          <p:cNvSpPr txBox="1"/>
          <p:nvPr/>
        </p:nvSpPr>
        <p:spPr>
          <a:xfrm>
            <a:off x="825703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Explicit conditions and holds.</a:t>
            </a:r>
          </a:p>
        </p:txBody>
      </p:sp>
      <p:sp>
        <p:nvSpPr>
          <p:cNvPr id="17" name="row-2-peer-1-background"/>
          <p:cNvSpPr/>
          <p:nvPr/>
        </p:nvSpPr>
        <p:spPr>
          <a:xfrm>
            <a:off x="50292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w-2-peer-1-title"/>
          <p:cNvSpPr txBox="1"/>
          <p:nvPr/>
        </p:nvSpPr>
        <p:spPr>
          <a:xfrm>
            <a:off x="66751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Blocker + next action</a:t>
            </a:r>
          </a:p>
        </p:txBody>
      </p:sp>
      <p:sp>
        <p:nvSpPr>
          <p:cNvPr id="19" name="row-2-peer-1-body"/>
          <p:cNvSpPr txBox="1"/>
          <p:nvPr/>
        </p:nvSpPr>
        <p:spPr>
          <a:xfrm>
            <a:off x="667512" y="4480559"/>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Named action and update owner.</a:t>
            </a:r>
          </a:p>
        </p:txBody>
      </p:sp>
      <p:sp>
        <p:nvSpPr>
          <p:cNvPr id="20" name="row-2-peer-2-background"/>
          <p:cNvSpPr/>
          <p:nvPr/>
        </p:nvSpPr>
        <p:spPr>
          <a:xfrm>
            <a:off x="429768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w-2-peer-2-title"/>
          <p:cNvSpPr txBox="1"/>
          <p:nvPr/>
        </p:nvSpPr>
        <p:spPr>
          <a:xfrm>
            <a:off x="446227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Evidence version</a:t>
            </a:r>
          </a:p>
        </p:txBody>
      </p:sp>
      <p:sp>
        <p:nvSpPr>
          <p:cNvPr id="22" name="row-2-peer-2-body"/>
          <p:cNvSpPr txBox="1"/>
          <p:nvPr/>
        </p:nvSpPr>
        <p:spPr>
          <a:xfrm>
            <a:off x="4462272" y="4480559"/>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Reopen dependent reviews.</a:t>
            </a:r>
          </a:p>
        </p:txBody>
      </p:sp>
      <p:sp>
        <p:nvSpPr>
          <p:cNvPr id="23" name="row-2-peer-3-background"/>
          <p:cNvSpPr/>
          <p:nvPr/>
        </p:nvSpPr>
        <p:spPr>
          <a:xfrm>
            <a:off x="809244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w-2-peer-3-title"/>
          <p:cNvSpPr txBox="1"/>
          <p:nvPr/>
        </p:nvSpPr>
        <p:spPr>
          <a:xfrm>
            <a:off x="825703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Decision + reason</a:t>
            </a:r>
          </a:p>
        </p:txBody>
      </p:sp>
      <p:sp>
        <p:nvSpPr>
          <p:cNvPr id="25" name="row-2-peer-3-body"/>
          <p:cNvSpPr txBox="1"/>
          <p:nvPr/>
        </p:nvSpPr>
        <p:spPr>
          <a:xfrm>
            <a:off x="8257032" y="4480559"/>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Authority, rationale, history.</a:t>
            </a:r>
          </a:p>
        </p:txBody>
      </p:sp>
      <p:sp>
        <p:nvSpPr>
          <p:cNvPr id="26"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Sent ≠ accepted. Completed ≠ handed 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home shows the journey we still need to prove.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07 / 22</a:t>
            </a:r>
          </a:p>
        </p:txBody>
      </p:sp>
      <p:sp>
        <p:nvSpPr>
          <p:cNvPr id="8" name="peer-1-background"/>
          <p:cNvSpPr/>
          <p:nvPr/>
        </p:nvSpPr>
        <p:spPr>
          <a:xfrm>
            <a:off x="50292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1  Resolve</a:t>
            </a:r>
          </a:p>
        </p:txBody>
      </p:sp>
      <p:sp>
        <p:nvSpPr>
          <p:cNvPr id="10" name="peer-1-body"/>
          <p:cNvSpPr txBox="1"/>
          <p:nvPr/>
        </p:nvSpPr>
        <p:spPr>
          <a:xfrm>
            <a:off x="66751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Conflicting evidence.</a:t>
            </a:r>
          </a:p>
          <a:p>
            <a:pPr>
              <a:lnSpc>
                <a:spcPct val="108000"/>
              </a:lnSpc>
              <a:spcBef>
                <a:spcPts val="0"/>
              </a:spcBef>
              <a:spcAft>
                <a:spcPts val="500"/>
              </a:spcAft>
            </a:pPr>
            <a:r>
              <a:rPr sz="2200" b="0" i="0">
                <a:solidFill>
                  <a:srgbClr val="183A31"/>
                </a:solidFill>
                <a:latin typeface="Liberation Sans"/>
              </a:rPr>
              <a:t>Named resolver.</a:t>
            </a:r>
          </a:p>
        </p:txBody>
      </p:sp>
      <p:sp>
        <p:nvSpPr>
          <p:cNvPr id="11" name="peer-2-background"/>
          <p:cNvSpPr/>
          <p:nvPr/>
        </p:nvSpPr>
        <p:spPr>
          <a:xfrm>
            <a:off x="334899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2  Agree</a:t>
            </a:r>
          </a:p>
        </p:txBody>
      </p:sp>
      <p:sp>
        <p:nvSpPr>
          <p:cNvPr id="13" name="peer-2-body"/>
          <p:cNvSpPr txBox="1"/>
          <p:nvPr/>
        </p:nvSpPr>
        <p:spPr>
          <a:xfrm>
            <a:off x="351358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Scope, resident choice,</a:t>
            </a:r>
          </a:p>
          <a:p>
            <a:pPr>
              <a:lnSpc>
                <a:spcPct val="108000"/>
              </a:lnSpc>
              <a:spcBef>
                <a:spcPts val="0"/>
              </a:spcBef>
              <a:spcAft>
                <a:spcPts val="500"/>
              </a:spcAft>
            </a:pPr>
            <a:r>
              <a:rPr sz="2200" b="0" i="0">
                <a:solidFill>
                  <a:srgbClr val="183A31"/>
                </a:solidFill>
                <a:latin typeface="Liberation Sans"/>
              </a:rPr>
              <a:t>funding, capacity.</a:t>
            </a:r>
          </a:p>
        </p:txBody>
      </p:sp>
      <p:sp>
        <p:nvSpPr>
          <p:cNvPr id="14" name="peer-3-background"/>
          <p:cNvSpPr/>
          <p:nvPr/>
        </p:nvSpPr>
        <p:spPr>
          <a:xfrm>
            <a:off x="619506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3  Deliver</a:t>
            </a:r>
          </a:p>
        </p:txBody>
      </p:sp>
      <p:sp>
        <p:nvSpPr>
          <p:cNvPr id="16" name="peer-3-body"/>
          <p:cNvSpPr txBox="1"/>
          <p:nvPr/>
        </p:nvSpPr>
        <p:spPr>
          <a:xfrm>
            <a:off x="635965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Inspect work.</a:t>
            </a:r>
          </a:p>
          <a:p>
            <a:pPr>
              <a:lnSpc>
                <a:spcPct val="108000"/>
              </a:lnSpc>
              <a:spcBef>
                <a:spcPts val="0"/>
              </a:spcBef>
              <a:spcAft>
                <a:spcPts val="500"/>
              </a:spcAft>
            </a:pPr>
            <a:r>
              <a:rPr sz="2200" b="0" i="0">
                <a:solidFill>
                  <a:srgbClr val="183A31"/>
                </a:solidFill>
                <a:latin typeface="Liberation Sans"/>
              </a:rPr>
              <a:t>Return defects.</a:t>
            </a:r>
          </a:p>
        </p:txBody>
      </p:sp>
      <p:sp>
        <p:nvSpPr>
          <p:cNvPr id="17" name="peer-4-background"/>
          <p:cNvSpPr/>
          <p:nvPr/>
        </p:nvSpPr>
        <p:spPr>
          <a:xfrm>
            <a:off x="904113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4  Accept</a:t>
            </a:r>
          </a:p>
        </p:txBody>
      </p:sp>
      <p:sp>
        <p:nvSpPr>
          <p:cNvPr id="19" name="peer-4-body"/>
          <p:cNvSpPr txBox="1"/>
          <p:nvPr/>
        </p:nvSpPr>
        <p:spPr>
          <a:xfrm>
            <a:off x="920572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Resident handover.</a:t>
            </a:r>
          </a:p>
          <a:p>
            <a:pPr>
              <a:lnSpc>
                <a:spcPct val="108000"/>
              </a:lnSpc>
              <a:spcBef>
                <a:spcPts val="0"/>
              </a:spcBef>
              <a:spcAft>
                <a:spcPts val="500"/>
              </a:spcAft>
            </a:pPr>
            <a:r>
              <a:rPr sz="2200" b="0" i="0">
                <a:solidFill>
                  <a:srgbClr val="183A31"/>
                </a:solidFill>
                <a:latin typeface="Liberation Sans"/>
              </a:rPr>
              <a:t>Finance closes separately.</a:t>
            </a:r>
          </a:p>
        </p:txBody>
      </p:sp>
      <p:cxnSp>
        <p:nvCxnSpPr>
          <p:cNvPr id="20" name="journey-arrow-1"/>
          <p:cNvCxnSpPr/>
          <p:nvPr/>
        </p:nvCxnSpPr>
        <p:spPr>
          <a:xfrm>
            <a:off x="316611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journey-arrow-2"/>
          <p:cNvCxnSpPr/>
          <p:nvPr/>
        </p:nvCxnSpPr>
        <p:spPr>
          <a:xfrm>
            <a:off x="6012179" y="2834640"/>
            <a:ext cx="164593"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journey-arrow-3"/>
          <p:cNvCxnSpPr/>
          <p:nvPr/>
        </p:nvCxnSpPr>
        <p:spPr>
          <a:xfrm>
            <a:off x="885825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3" name="journey-hold-return-background"/>
          <p:cNvSpPr/>
          <p:nvPr/>
        </p:nvSpPr>
        <p:spPr>
          <a:xfrm>
            <a:off x="502920" y="5038344"/>
            <a:ext cx="11183112" cy="39319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journey-hold-return"/>
          <p:cNvSpPr txBox="1"/>
          <p:nvPr/>
        </p:nvSpPr>
        <p:spPr>
          <a:xfrm>
            <a:off x="667512" y="5102352"/>
            <a:ext cx="10853928" cy="283464"/>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Hold / return → named, competent human owner</a:t>
            </a:r>
          </a:p>
        </p:txBody>
      </p:sp>
      <p:sp>
        <p:nvSpPr>
          <p:cNvPr id="25" name="boundary-background"/>
          <p:cNvSpPr/>
          <p:nvPr/>
        </p:nvSpPr>
        <p:spPr>
          <a:xfrm>
            <a:off x="502920" y="5577840"/>
            <a:ext cx="11183112" cy="64008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boundary-text"/>
          <p:cNvSpPr txBox="1"/>
          <p:nvPr/>
        </p:nvSpPr>
        <p:spPr>
          <a:xfrm>
            <a:off x="667512" y="5669279"/>
            <a:ext cx="10853928" cy="51206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Illustrative exercise journey — not an executed end-to-end customer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A resident is not a scheduling variable.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S06 / S07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08 / 22</a:t>
            </a:r>
          </a:p>
        </p:txBody>
      </p:sp>
      <p:sp>
        <p:nvSpPr>
          <p:cNvPr id="8" name="peer-1-background"/>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Resident</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Clear options.</a:t>
            </a:r>
          </a:p>
          <a:p>
            <a:pPr>
              <a:lnSpc>
                <a:spcPct val="108000"/>
              </a:lnSpc>
              <a:spcBef>
                <a:spcPts val="0"/>
              </a:spcBef>
              <a:spcAft>
                <a:spcPts val="500"/>
              </a:spcAft>
            </a:pPr>
            <a:r>
              <a:rPr sz="2400" b="0" i="0">
                <a:solidFill>
                  <a:srgbClr val="183A31"/>
                </a:solidFill>
                <a:latin typeface="Liberation Sans"/>
              </a:rPr>
              <a:t>Safe phone, letter or assisted route.</a:t>
            </a:r>
          </a:p>
          <a:p>
            <a:pPr>
              <a:lnSpc>
                <a:spcPct val="108000"/>
              </a:lnSpc>
              <a:spcBef>
                <a:spcPts val="0"/>
              </a:spcBef>
              <a:spcAft>
                <a:spcPts val="500"/>
              </a:spcAft>
            </a:pPr>
            <a:r>
              <a:rPr sz="2400" b="0" i="0">
                <a:solidFill>
                  <a:srgbClr val="183A31"/>
                </a:solidFill>
                <a:latin typeface="Liberation Sans"/>
              </a:rPr>
              <a:t>Measure-specific choice.</a:t>
            </a:r>
          </a:p>
        </p:txBody>
      </p:sp>
      <p:sp>
        <p:nvSpPr>
          <p:cNvPr id="11" name="peer-2-background"/>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Delivery</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Committed crew, competence,</a:t>
            </a:r>
          </a:p>
          <a:p>
            <a:pPr>
              <a:lnSpc>
                <a:spcPct val="108000"/>
              </a:lnSpc>
              <a:spcBef>
                <a:spcPts val="0"/>
              </a:spcBef>
              <a:spcAft>
                <a:spcPts val="500"/>
              </a:spcAft>
            </a:pPr>
            <a:r>
              <a:rPr sz="2400" b="0" i="0">
                <a:solidFill>
                  <a:srgbClr val="183A31"/>
                </a:solidFill>
                <a:latin typeface="Liberation Sans"/>
              </a:rPr>
              <a:t>materials and named liaison.</a:t>
            </a:r>
          </a:p>
        </p:txBody>
      </p:sp>
      <p:sp>
        <p:nvSpPr>
          <p:cNvPr id="14" name="boundary-background"/>
          <p:cNvSpPr/>
          <p:nvPr/>
        </p:nvSpPr>
        <p:spPr>
          <a:xfrm>
            <a:off x="502920" y="5431536"/>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522976"/>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Preferences ≠ consent. Silence/no-access ≠ refusal.</a:t>
            </a:r>
          </a:p>
        </p:txBody>
      </p:sp>
      <p:sp>
        <p:nvSpPr>
          <p:cNvPr id="16" name="human-hazard-route"/>
          <p:cNvSpPr txBox="1"/>
          <p:nvPr/>
        </p:nvSpPr>
        <p:spPr>
          <a:xfrm>
            <a:off x="640080" y="6099048"/>
            <a:ext cx="10881360" cy="310896"/>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Human hazard route — never wait for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Show the decision trace, not just an AI explanation.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S07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09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Know</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Source + evidence</a:t>
            </a:r>
          </a:p>
          <a:p>
            <a:pPr>
              <a:lnSpc>
                <a:spcPct val="108000"/>
              </a:lnSpc>
              <a:spcBef>
                <a:spcPts val="0"/>
              </a:spcBef>
              <a:spcAft>
                <a:spcPts val="500"/>
              </a:spcAft>
            </a:pPr>
            <a:r>
              <a:rPr sz="2400" b="0" i="0">
                <a:solidFill>
                  <a:srgbClr val="183A31"/>
                </a:solidFill>
                <a:latin typeface="Liberation Sans"/>
              </a:rPr>
              <a:t>version + unknowns.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Decide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Rule + result +</a:t>
            </a:r>
          </a:p>
          <a:p>
            <a:pPr>
              <a:lnSpc>
                <a:spcPct val="108000"/>
              </a:lnSpc>
              <a:spcBef>
                <a:spcPts val="0"/>
              </a:spcBef>
              <a:spcAft>
                <a:spcPts val="500"/>
              </a:spcAft>
            </a:pPr>
            <a:r>
              <a:rPr sz="2400" b="0" i="0">
                <a:solidFill>
                  <a:srgbClr val="183A31"/>
                </a:solidFill>
                <a:latin typeface="Liberation Sans"/>
              </a:rPr>
              <a:t>reviewer + reason.</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Change</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Authority + dependent</a:t>
            </a:r>
          </a:p>
          <a:p>
            <a:pPr>
              <a:lnSpc>
                <a:spcPct val="108000"/>
              </a:lnSpc>
              <a:spcBef>
                <a:spcPts val="0"/>
              </a:spcBef>
              <a:spcAft>
                <a:spcPts val="500"/>
              </a:spcAft>
            </a:pPr>
            <a:r>
              <a:rPr sz="2400" b="0" i="0">
                <a:solidFill>
                  <a:srgbClr val="183A31"/>
                </a:solidFill>
                <a:latin typeface="Liberation Sans"/>
              </a:rPr>
              <a:t>re-review + preserved</a:t>
            </a:r>
          </a:p>
          <a:p>
            <a:pPr>
              <a:lnSpc>
                <a:spcPct val="108000"/>
              </a:lnSpc>
              <a:spcBef>
                <a:spcPts val="0"/>
              </a:spcBef>
              <a:spcAft>
                <a:spcPts val="500"/>
              </a:spcAft>
            </a:pPr>
            <a:r>
              <a:rPr sz="2400" b="0" i="0">
                <a:solidFill>
                  <a:srgbClr val="183A31"/>
                </a:solidFill>
                <a:latin typeface="Liberation Sans"/>
              </a:rPr>
              <a:t>history.</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New source ≠ approved new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workbench beside the systems you keep.</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S11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10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Existing sources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Housing / repairs</a:t>
            </a:r>
          </a:p>
          <a:p>
            <a:pPr>
              <a:lnSpc>
                <a:spcPct val="108000"/>
              </a:lnSpc>
              <a:spcBef>
                <a:spcPts val="0"/>
              </a:spcBef>
              <a:spcAft>
                <a:spcPts val="500"/>
              </a:spcAft>
            </a:pPr>
            <a:r>
              <a:rPr sz="2100" b="0" i="0">
                <a:solidFill>
                  <a:srgbClr val="183A31"/>
                </a:solidFill>
                <a:latin typeface="Liberation Sans"/>
              </a:rPr>
              <a:t>Documents / spreadsheets</a:t>
            </a:r>
          </a:p>
          <a:p>
            <a:pPr>
              <a:lnSpc>
                <a:spcPct val="108000"/>
              </a:lnSpc>
              <a:spcBef>
                <a:spcPts val="0"/>
              </a:spcBef>
              <a:spcAft>
                <a:spcPts val="500"/>
              </a:spcAft>
            </a:pPr>
            <a:r>
              <a:rPr sz="2100" b="0" i="0">
                <a:solidFill>
                  <a:srgbClr val="183A31"/>
                </a:solidFill>
                <a:latin typeface="Liberation Sans"/>
              </a:rPr>
              <a:t>Source owners retain authority.</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Shared case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Validated intake</a:t>
            </a:r>
          </a:p>
          <a:p>
            <a:pPr>
              <a:lnSpc>
                <a:spcPct val="108000"/>
              </a:lnSpc>
              <a:spcBef>
                <a:spcPts val="0"/>
              </a:spcBef>
              <a:spcAft>
                <a:spcPts val="500"/>
              </a:spcAft>
            </a:pPr>
            <a:r>
              <a:rPr sz="2100" b="0" i="0">
                <a:solidFill>
                  <a:srgbClr val="183A31"/>
                </a:solidFill>
                <a:latin typeface="Liberation Sans"/>
              </a:rPr>
              <a:t>Versions + owned work</a:t>
            </a:r>
          </a:p>
          <a:p>
            <a:pPr>
              <a:lnSpc>
                <a:spcPct val="108000"/>
              </a:lnSpc>
              <a:spcBef>
                <a:spcPts val="0"/>
              </a:spcBef>
              <a:spcAft>
                <a:spcPts val="500"/>
              </a:spcAft>
            </a:pPr>
            <a:r>
              <a:rPr sz="2100" b="0" i="0">
                <a:solidFill>
                  <a:srgbClr val="183A31"/>
                </a:solidFill>
                <a:latin typeface="Liberation Sans"/>
              </a:rPr>
              <a:t>No uncontrolled write-back.</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People + channels</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Role queues</a:t>
            </a:r>
          </a:p>
          <a:p>
            <a:pPr>
              <a:lnSpc>
                <a:spcPct val="108000"/>
              </a:lnSpc>
              <a:spcBef>
                <a:spcPts val="0"/>
              </a:spcBef>
              <a:spcAft>
                <a:spcPts val="500"/>
              </a:spcAft>
            </a:pPr>
            <a:r>
              <a:rPr sz="2100" b="0" i="0">
                <a:solidFill>
                  <a:srgbClr val="183A31"/>
                </a:solidFill>
                <a:latin typeface="Liberation Sans"/>
              </a:rPr>
              <a:t>Supported resident routes</a:t>
            </a:r>
          </a:p>
          <a:p>
            <a:pPr>
              <a:lnSpc>
                <a:spcPct val="108000"/>
              </a:lnSpc>
              <a:spcBef>
                <a:spcPts val="0"/>
              </a:spcBef>
              <a:spcAft>
                <a:spcPts val="500"/>
              </a:spcAft>
            </a:pPr>
            <a:r>
              <a:rPr sz="2100" b="0" i="0">
                <a:solidFill>
                  <a:srgbClr val="183A31"/>
                </a:solidFill>
                <a:latin typeface="Liberation Sans"/>
              </a:rPr>
              <a:t>Scoped supplier exchange.</a:t>
            </a:r>
          </a:p>
        </p:txBody>
      </p:sp>
      <p:cxnSp>
        <p:nvCxnSpPr>
          <p:cNvPr id="17" name="context-proposed-intake"/>
          <p:cNvCxnSpPr/>
          <p:nvPr/>
        </p:nvCxnSpPr>
        <p:spPr>
          <a:xfrm>
            <a:off x="4114800" y="4480560"/>
            <a:ext cx="23774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text-proposed-exchange"/>
          <p:cNvCxnSpPr/>
          <p:nvPr/>
        </p:nvCxnSpPr>
        <p:spPr>
          <a:xfrm>
            <a:off x="7909560" y="4480560"/>
            <a:ext cx="23774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19"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Target context — links proposed, not all delivered. Excel reports.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Let models propose; keep decisions on the controlled path.</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S08 / S10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11 / 22</a:t>
            </a:r>
          </a:p>
        </p:txBody>
      </p:sp>
      <p:sp>
        <p:nvSpPr>
          <p:cNvPr id="8" name="proposal-lane-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PROPOSAL PATH  /  observed operator integration; staff acceptance open</a:t>
            </a:r>
          </a:p>
        </p:txBody>
      </p:sp>
      <p:sp>
        <p:nvSpPr>
          <p:cNvPr id="9" name="proposal-peer-1-background"/>
          <p:cNvSpPr/>
          <p:nvPr/>
        </p:nvSpPr>
        <p:spPr>
          <a:xfrm>
            <a:off x="50292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roposal-peer-1-title"/>
          <p:cNvSpPr txBox="1"/>
          <p:nvPr/>
        </p:nvSpPr>
        <p:spPr>
          <a:xfrm>
            <a:off x="66751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Request → API</a:t>
            </a:r>
          </a:p>
        </p:txBody>
      </p:sp>
      <p:sp>
        <p:nvSpPr>
          <p:cNvPr id="11" name="proposal-peer-1-body"/>
          <p:cNvSpPr txBox="1"/>
          <p:nvPr/>
        </p:nvSpPr>
        <p:spPr>
          <a:xfrm>
            <a:off x="66751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Permitted task.</a:t>
            </a:r>
          </a:p>
        </p:txBody>
      </p:sp>
      <p:sp>
        <p:nvSpPr>
          <p:cNvPr id="12" name="proposal-peer-2-background"/>
          <p:cNvSpPr/>
          <p:nvPr/>
        </p:nvSpPr>
        <p:spPr>
          <a:xfrm>
            <a:off x="429768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roposal-peer-2-title"/>
          <p:cNvSpPr txBox="1"/>
          <p:nvPr/>
        </p:nvSpPr>
        <p:spPr>
          <a:xfrm>
            <a:off x="446227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Snapshot → model</a:t>
            </a:r>
          </a:p>
        </p:txBody>
      </p:sp>
      <p:sp>
        <p:nvSpPr>
          <p:cNvPr id="14" name="proposal-peer-2-body"/>
          <p:cNvSpPr txBox="1"/>
          <p:nvPr/>
        </p:nvSpPr>
        <p:spPr>
          <a:xfrm>
            <a:off x="446227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Bounded proposal.</a:t>
            </a:r>
          </a:p>
        </p:txBody>
      </p:sp>
      <p:sp>
        <p:nvSpPr>
          <p:cNvPr id="15" name="proposal-peer-3-background"/>
          <p:cNvSpPr/>
          <p:nvPr/>
        </p:nvSpPr>
        <p:spPr>
          <a:xfrm>
            <a:off x="809244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roposal-peer-3-title"/>
          <p:cNvSpPr txBox="1"/>
          <p:nvPr/>
        </p:nvSpPr>
        <p:spPr>
          <a:xfrm>
            <a:off x="825703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Human review</a:t>
            </a:r>
          </a:p>
        </p:txBody>
      </p:sp>
      <p:sp>
        <p:nvSpPr>
          <p:cNvPr id="17" name="proposal-peer-3-body"/>
          <p:cNvSpPr txBox="1"/>
          <p:nvPr/>
        </p:nvSpPr>
        <p:spPr>
          <a:xfrm>
            <a:off x="825703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Verify sources first.</a:t>
            </a:r>
          </a:p>
        </p:txBody>
      </p:sp>
      <p:sp>
        <p:nvSpPr>
          <p:cNvPr id="18" name="domain-lane-label"/>
          <p:cNvSpPr txBox="1"/>
          <p:nvPr/>
        </p:nvSpPr>
        <p:spPr>
          <a:xfrm>
            <a:off x="502920" y="4069080"/>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SEPARATE CONTROLLED PATH  /  authority remains with people and rules</a:t>
            </a:r>
          </a:p>
        </p:txBody>
      </p:sp>
      <p:sp>
        <p:nvSpPr>
          <p:cNvPr id="19" name="domain-peer-1-background"/>
          <p:cNvSpPr/>
          <p:nvPr/>
        </p:nvSpPr>
        <p:spPr>
          <a:xfrm>
            <a:off x="50292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domain-peer-1-title"/>
          <p:cNvSpPr txBox="1"/>
          <p:nvPr/>
        </p:nvSpPr>
        <p:spPr>
          <a:xfrm>
            <a:off x="667512" y="4700016"/>
            <a:ext cx="3264408" cy="32918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Authorized action</a:t>
            </a:r>
          </a:p>
        </p:txBody>
      </p:sp>
      <p:sp>
        <p:nvSpPr>
          <p:cNvPr id="21" name="domain-peer-1-body"/>
          <p:cNvSpPr txBox="1"/>
          <p:nvPr/>
        </p:nvSpPr>
        <p:spPr>
          <a:xfrm>
            <a:off x="66751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Effective authority.</a:t>
            </a:r>
          </a:p>
        </p:txBody>
      </p:sp>
      <p:sp>
        <p:nvSpPr>
          <p:cNvPr id="22" name="domain-peer-2-background"/>
          <p:cNvSpPr/>
          <p:nvPr/>
        </p:nvSpPr>
        <p:spPr>
          <a:xfrm>
            <a:off x="429768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domain-peer-2-title"/>
          <p:cNvSpPr txBox="1"/>
          <p:nvPr/>
        </p:nvSpPr>
        <p:spPr>
          <a:xfrm>
            <a:off x="4462272" y="4700016"/>
            <a:ext cx="3264408" cy="32918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Deterministic gates</a:t>
            </a:r>
          </a:p>
        </p:txBody>
      </p:sp>
      <p:sp>
        <p:nvSpPr>
          <p:cNvPr id="24" name="domain-peer-2-body"/>
          <p:cNvSpPr txBox="1"/>
          <p:nvPr/>
        </p:nvSpPr>
        <p:spPr>
          <a:xfrm>
            <a:off x="446227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Holds + evidence.</a:t>
            </a:r>
          </a:p>
        </p:txBody>
      </p:sp>
      <p:sp>
        <p:nvSpPr>
          <p:cNvPr id="25" name="domain-peer-3-background"/>
          <p:cNvSpPr/>
          <p:nvPr/>
        </p:nvSpPr>
        <p:spPr>
          <a:xfrm>
            <a:off x="809244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domain-peer-3-title"/>
          <p:cNvSpPr txBox="1"/>
          <p:nvPr/>
        </p:nvSpPr>
        <p:spPr>
          <a:xfrm>
            <a:off x="8257032" y="4700016"/>
            <a:ext cx="3264408" cy="32918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SQL + audit</a:t>
            </a:r>
          </a:p>
        </p:txBody>
      </p:sp>
      <p:sp>
        <p:nvSpPr>
          <p:cNvPr id="27" name="domain-peer-3-body"/>
          <p:cNvSpPr txBox="1"/>
          <p:nvPr/>
        </p:nvSpPr>
        <p:spPr>
          <a:xfrm>
            <a:off x="825703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Controlled write.</a:t>
            </a:r>
          </a:p>
        </p:txBody>
      </p:sp>
      <p:sp>
        <p:nvSpPr>
          <p:cNvPr id="28" name="boundary-background"/>
          <p:cNvSpPr/>
          <p:nvPr/>
        </p:nvSpPr>
        <p:spPr>
          <a:xfrm>
            <a:off x="502920" y="5870448"/>
            <a:ext cx="11183112" cy="43891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boundary-text"/>
          <p:cNvSpPr txBox="1"/>
          <p:nvPr/>
        </p:nvSpPr>
        <p:spPr>
          <a:xfrm>
            <a:off x="667512" y="5961888"/>
            <a:ext cx="10853928" cy="310896"/>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Model cannot approve, send, book, pay or clear a hold.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real proposal paths. No delegated decisions.</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S08 / S09 / S10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12 / 22</a:t>
            </a:r>
          </a:p>
        </p:txBody>
      </p:sp>
      <p:sp>
        <p:nvSpPr>
          <p:cNvPr id="8" name="peer-1-background"/>
          <p:cNvSpPr/>
          <p:nvPr/>
        </p:nvSpPr>
        <p:spPr>
          <a:xfrm>
            <a:off x="502920" y="1801368"/>
            <a:ext cx="5490972" cy="3749039"/>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1984248"/>
            <a:ext cx="516178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OBSERVED</a:t>
            </a:r>
          </a:p>
        </p:txBody>
      </p:sp>
      <p:sp>
        <p:nvSpPr>
          <p:cNvPr id="10" name="peer-1-body"/>
          <p:cNvSpPr txBox="1"/>
          <p:nvPr/>
        </p:nvSpPr>
        <p:spPr>
          <a:xfrm>
            <a:off x="667512" y="2642615"/>
            <a:ext cx="5161788" cy="2724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5 distinct ready proposals</a:t>
            </a:r>
          </a:p>
          <a:p>
            <a:pPr>
              <a:lnSpc>
                <a:spcPct val="108000"/>
              </a:lnSpc>
              <a:spcBef>
                <a:spcPts val="0"/>
              </a:spcBef>
              <a:spcAft>
                <a:spcPts val="500"/>
              </a:spcAft>
            </a:pPr>
            <a:r>
              <a:rPr sz="2200" b="0" i="0">
                <a:solidFill>
                  <a:srgbClr val="183A31"/>
                </a:solidFill>
                <a:latin typeface="Liberation Sans"/>
              </a:rPr>
              <a:t>5 real calls · 6,884 tokens</a:t>
            </a:r>
          </a:p>
          <a:p>
            <a:pPr>
              <a:lnSpc>
                <a:spcPct val="108000"/>
              </a:lnSpc>
              <a:spcBef>
                <a:spcPts val="0"/>
              </a:spcBef>
              <a:spcAft>
                <a:spcPts val="500"/>
              </a:spcAft>
            </a:pPr>
            <a:r>
              <a:rPr sz="2200" b="0" i="0">
                <a:solidFill>
                  <a:srgbClr val="183A31"/>
                </a:solidFill>
                <a:latin typeface="Liberation Sans"/>
              </a:rPr>
              <a:t>15 ledger events</a:t>
            </a:r>
          </a:p>
          <a:p>
            <a:pPr>
              <a:lnSpc>
                <a:spcPct val="108000"/>
              </a:lnSpc>
              <a:spcBef>
                <a:spcPts val="0"/>
              </a:spcBef>
              <a:spcAft>
                <a:spcPts val="500"/>
              </a:spcAft>
            </a:pPr>
            <a:r>
              <a:rPr sz="2200" b="0" i="0">
                <a:solidFill>
                  <a:srgbClr val="183A31"/>
                </a:solidFill>
                <a:latin typeface="Liberation Sans"/>
              </a:rPr>
              <a:t/>
            </a:r>
          </a:p>
          <a:p>
            <a:pPr>
              <a:lnSpc>
                <a:spcPct val="108000"/>
              </a:lnSpc>
              <a:spcBef>
                <a:spcPts val="0"/>
              </a:spcBef>
              <a:spcAft>
                <a:spcPts val="500"/>
              </a:spcAft>
            </a:pPr>
            <a:r>
              <a:rPr sz="2200" b="0" i="0">
                <a:solidFill>
                  <a:srgbClr val="183A31"/>
                </a:solidFill>
                <a:latin typeface="Liberation Sans"/>
              </a:rPr>
              <a:t>Controlled state unchanged;</a:t>
            </a:r>
          </a:p>
          <a:p>
            <a:pPr>
              <a:lnSpc>
                <a:spcPct val="108000"/>
              </a:lnSpc>
              <a:spcBef>
                <a:spcPts val="0"/>
              </a:spcBef>
              <a:spcAft>
                <a:spcPts val="500"/>
              </a:spcAft>
            </a:pPr>
            <a:r>
              <a:rPr sz="2200" b="0" i="0">
                <a:solidFill>
                  <a:srgbClr val="183A31"/>
                </a:solidFill>
                <a:latin typeface="Liberation Sans"/>
              </a:rPr>
              <a:t>proposal contents survived restart.</a:t>
            </a:r>
          </a:p>
        </p:txBody>
      </p:sp>
      <p:sp>
        <p:nvSpPr>
          <p:cNvPr id="11" name="peer-2-background"/>
          <p:cNvSpPr/>
          <p:nvPr/>
        </p:nvSpPr>
        <p:spPr>
          <a:xfrm>
            <a:off x="6195059" y="1801368"/>
            <a:ext cx="5490972" cy="3749039"/>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1984248"/>
            <a:ext cx="516178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STILL TO PROVE</a:t>
            </a:r>
          </a:p>
        </p:txBody>
      </p:sp>
      <p:sp>
        <p:nvSpPr>
          <p:cNvPr id="13" name="peer-2-body"/>
          <p:cNvSpPr txBox="1"/>
          <p:nvPr/>
        </p:nvSpPr>
        <p:spPr>
          <a:xfrm>
            <a:off x="6359651" y="2642615"/>
            <a:ext cx="5161788" cy="2724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Staff browser/API + roles</a:t>
            </a:r>
          </a:p>
          <a:p>
            <a:pPr>
              <a:lnSpc>
                <a:spcPct val="108000"/>
              </a:lnSpc>
              <a:spcBef>
                <a:spcPts val="0"/>
              </a:spcBef>
              <a:spcAft>
                <a:spcPts val="500"/>
              </a:spcAft>
            </a:pPr>
            <a:r>
              <a:rPr sz="2200" b="0" i="0">
                <a:solidFill>
                  <a:srgbClr val="183A31"/>
                </a:solidFill>
                <a:latin typeface="Liberation Sans"/>
              </a:rPr>
              <a:t>Human source verification</a:t>
            </a:r>
          </a:p>
          <a:p>
            <a:pPr>
              <a:lnSpc>
                <a:spcPct val="108000"/>
              </a:lnSpc>
              <a:spcBef>
                <a:spcPts val="0"/>
              </a:spcBef>
              <a:spcAft>
                <a:spcPts val="500"/>
              </a:spcAft>
            </a:pPr>
            <a:r>
              <a:rPr sz="2200" b="0" i="0">
                <a:solidFill>
                  <a:srgbClr val="183A31"/>
                </a:solidFill>
                <a:latin typeface="Liberation Sans"/>
              </a:rPr>
              <a:t>Semantic correctness + value</a:t>
            </a:r>
          </a:p>
          <a:p>
            <a:pPr>
              <a:lnSpc>
                <a:spcPct val="108000"/>
              </a:lnSpc>
              <a:spcBef>
                <a:spcPts val="0"/>
              </a:spcBef>
              <a:spcAft>
                <a:spcPts val="500"/>
              </a:spcAft>
            </a:pPr>
            <a:r>
              <a:rPr sz="2200" b="0" i="0">
                <a:solidFill>
                  <a:srgbClr val="183A31"/>
                </a:solidFill>
                <a:latin typeface="Liberation Sans"/>
              </a:rPr>
              <a:t/>
            </a:r>
          </a:p>
          <a:p>
            <a:pPr>
              <a:lnSpc>
                <a:spcPct val="108000"/>
              </a:lnSpc>
              <a:spcBef>
                <a:spcPts val="0"/>
              </a:spcBef>
              <a:spcAft>
                <a:spcPts val="500"/>
              </a:spcAft>
            </a:pPr>
            <a:r>
              <a:rPr sz="2200" b="0" i="0">
                <a:solidFill>
                  <a:srgbClr val="183A31"/>
                </a:solidFill>
                <a:latin typeface="Liberation Sans"/>
              </a:rPr>
              <a:t>Current authority absent.</a:t>
            </a:r>
          </a:p>
          <a:p>
            <a:pPr>
              <a:lnSpc>
                <a:spcPct val="108000"/>
              </a:lnSpc>
              <a:spcBef>
                <a:spcPts val="0"/>
              </a:spcBef>
              <a:spcAft>
                <a:spcPts val="500"/>
              </a:spcAft>
            </a:pPr>
            <a:r>
              <a:rPr sz="2200" b="0" i="0">
                <a:solidFill>
                  <a:srgbClr val="183A31"/>
                </a:solidFill>
                <a:latin typeface="Liberation Sans"/>
              </a:rPr>
              <a:t>Proactive OFF; gates OPEN.</a:t>
            </a:r>
          </a:p>
        </p:txBody>
      </p:sp>
      <p:sp>
        <p:nvSpPr>
          <p:cNvPr id="14" name="proof-provenance"/>
          <p:cNvSpPr txBox="1"/>
          <p:nvPr/>
        </p:nvSpPr>
        <p:spPr>
          <a:xfrm>
            <a:off x="621792" y="5705856"/>
            <a:ext cx="1097280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Recorded operator-service proof · 14 October · image05 / e0254cb3 · revision12</a:t>
            </a:r>
          </a:p>
        </p:txBody>
      </p:sp>
      <p:sp>
        <p:nvSpPr>
          <p:cNvPr id="15" name="proof-synthetic-context"/>
          <p:cNvSpPr txBox="1"/>
          <p:nvPr/>
        </p:nvSpPr>
        <p:spPr>
          <a:xfrm>
            <a:off x="621792" y="6099048"/>
            <a:ext cx="10972800" cy="274320"/>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Synthetic baseline: 980 cases / 38 visits / 11 private staff bindings. No identity details.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594360"/>
            <a:ext cx="11183112" cy="457200"/>
          </a:xfrm>
          <a:prstGeom prst="rect">
            <a:avLst/>
          </a:prstGeom>
          <a:noFill/>
        </p:spPr>
        <p:txBody>
          <a:bodyPr wrap="square" lIns="18288" rIns="18288" tIns="18288" bIns="18288" anchor="t">
            <a:noAutofit/>
          </a:bodyPr>
          <a:lstStyle/>
          <a:p>
            <a:pPr>
              <a:lnSpc>
                <a:spcPct val="108000"/>
              </a:lnSpc>
              <a:spcBef>
                <a:spcPts val="0"/>
              </a:spcBef>
              <a:spcAft>
                <a:spcPts val="500"/>
              </a:spcAft>
            </a:pPr>
            <a:r>
              <a:rPr sz="3000" b="1" i="0">
                <a:solidFill>
                  <a:srgbClr val="183A31"/>
                </a:solidFill>
                <a:latin typeface="Liberation Sans"/>
              </a:rPr>
              <a:t>Five assists. One controlled journey.</a:t>
            </a:r>
          </a:p>
        </p:txBody>
      </p:sp>
      <p:sp>
        <p:nvSpPr>
          <p:cNvPr id="6" name="source-footer"/>
          <p:cNvSpPr txBox="1"/>
          <p:nvPr/>
        </p:nvSpPr>
        <p:spPr>
          <a:xfrm>
            <a:off x="502920" y="662940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S07 / S09 / S11 / S15  •  Sources + status in notes</a:t>
            </a:r>
          </a:p>
        </p:txBody>
      </p:sp>
      <p:sp>
        <p:nvSpPr>
          <p:cNvPr id="7" name="page-counter"/>
          <p:cNvSpPr txBox="1"/>
          <p:nvPr/>
        </p:nvSpPr>
        <p:spPr>
          <a:xfrm>
            <a:off x="10972800" y="6611112"/>
            <a:ext cx="713232"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13 / 22</a:t>
            </a:r>
          </a:p>
        </p:txBody>
      </p:sp>
      <p:sp>
        <p:nvSpPr>
          <p:cNvPr id="8" name="map-status"/>
          <p:cNvSpPr txBox="1"/>
          <p:nvPr/>
        </p:nvSpPr>
        <p:spPr>
          <a:xfrm>
            <a:off x="502920" y="1088136"/>
            <a:ext cx="11183112" cy="274320"/>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Workflow controls progression. People retain decisions.  |  Design + implemented contracts; proactive OFF.</a:t>
            </a:r>
          </a:p>
        </p:txBody>
      </p:sp>
      <p:sp>
        <p:nvSpPr>
          <p:cNvPr id="9" name="map-peer-1-stage-background"/>
          <p:cNvSpPr/>
          <p:nvPr/>
        </p:nvSpPr>
        <p:spPr>
          <a:xfrm>
            <a:off x="50292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map-peer-1-stage"/>
          <p:cNvSpPr txBox="1"/>
          <p:nvPr/>
        </p:nvSpPr>
        <p:spPr>
          <a:xfrm>
            <a:off x="548640"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Choose homes</a:t>
            </a:r>
          </a:p>
        </p:txBody>
      </p:sp>
      <p:sp>
        <p:nvSpPr>
          <p:cNvPr id="11" name="map-peer-1-owner"/>
          <p:cNvSpPr txBox="1"/>
          <p:nvPr/>
        </p:nvSpPr>
        <p:spPr>
          <a:xfrm>
            <a:off x="548640"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Assets: policy;</a:t>
            </a:r>
          </a:p>
          <a:p>
            <a:pPr>
              <a:lnSpc>
                <a:spcPct val="108000"/>
              </a:lnSpc>
              <a:spcBef>
                <a:spcPts val="0"/>
              </a:spcBef>
              <a:spcAft>
                <a:spcPts val="500"/>
              </a:spcAft>
            </a:pPr>
            <a:r>
              <a:rPr sz="1600" b="0" i="0">
                <a:solidFill>
                  <a:srgbClr val="183A31"/>
                </a:solidFill>
                <a:latin typeface="Liberation Sans"/>
              </a:rPr>
              <a:t>data owners: verify</a:t>
            </a:r>
          </a:p>
        </p:txBody>
      </p:sp>
      <p:sp>
        <p:nvSpPr>
          <p:cNvPr id="12" name="map-peer-1-capability-background"/>
          <p:cNvSpPr/>
          <p:nvPr/>
        </p:nvSpPr>
        <p:spPr>
          <a:xfrm>
            <a:off x="502920"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map-peer-1-title"/>
          <p:cNvSpPr txBox="1"/>
          <p:nvPr/>
        </p:nvSpPr>
        <p:spPr>
          <a:xfrm>
            <a:off x="594360"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Stock</a:t>
            </a:r>
          </a:p>
          <a:p>
            <a:pPr>
              <a:lnSpc>
                <a:spcPct val="108000"/>
              </a:lnSpc>
              <a:spcBef>
                <a:spcPts val="0"/>
              </a:spcBef>
              <a:spcAft>
                <a:spcPts val="500"/>
              </a:spcAft>
            </a:pPr>
            <a:r>
              <a:rPr sz="1700" b="1" i="0">
                <a:solidFill>
                  <a:srgbClr val="183A31"/>
                </a:solidFill>
                <a:latin typeface="Liberation Sans"/>
              </a:rPr>
              <a:t>Prioritisation</a:t>
            </a:r>
          </a:p>
        </p:txBody>
      </p:sp>
      <p:sp>
        <p:nvSpPr>
          <p:cNvPr id="14" name="map-peer-1-request-label"/>
          <p:cNvSpPr txBox="1"/>
          <p:nvPr/>
        </p:nvSpPr>
        <p:spPr>
          <a:xfrm>
            <a:off x="594360"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15" name="map-peer-1-request-body"/>
          <p:cNvSpPr txBox="1"/>
          <p:nvPr/>
        </p:nvSpPr>
        <p:spPr>
          <a:xfrm>
            <a:off x="594360"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Explain facts;</a:t>
            </a:r>
          </a:p>
          <a:p>
            <a:pPr>
              <a:lnSpc>
                <a:spcPct val="108000"/>
              </a:lnSpc>
              <a:spcBef>
                <a:spcPts val="0"/>
              </a:spcBef>
              <a:spcAft>
                <a:spcPts val="500"/>
              </a:spcAft>
            </a:pPr>
            <a:r>
              <a:rPr sz="1600" b="0" i="0">
                <a:solidFill>
                  <a:srgbClr val="183A31"/>
                </a:solidFill>
                <a:latin typeface="Liberation Sans"/>
              </a:rPr>
              <a:t>query conflicts</a:t>
            </a:r>
          </a:p>
        </p:txBody>
      </p:sp>
      <p:sp>
        <p:nvSpPr>
          <p:cNvPr id="16" name="map-peer-1-proactive-label"/>
          <p:cNvSpPr txBox="1"/>
          <p:nvPr/>
        </p:nvSpPr>
        <p:spPr>
          <a:xfrm>
            <a:off x="594360"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17" name="map-peer-1-proactive-body"/>
          <p:cNvSpPr txBox="1"/>
          <p:nvPr/>
        </p:nvSpPr>
        <p:spPr>
          <a:xfrm>
            <a:off x="594360"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Missing/conflicting</a:t>
            </a:r>
          </a:p>
          <a:p>
            <a:pPr>
              <a:lnSpc>
                <a:spcPct val="108000"/>
              </a:lnSpc>
              <a:spcBef>
                <a:spcPts val="0"/>
              </a:spcBef>
              <a:spcAft>
                <a:spcPts val="500"/>
              </a:spcAft>
            </a:pPr>
            <a:r>
              <a:rPr sz="1600" b="0" i="0">
                <a:solidFill>
                  <a:srgbClr val="183A31"/>
                </a:solidFill>
                <a:latin typeface="Liberation Sans"/>
              </a:rPr>
              <a:t>stock facts</a:t>
            </a:r>
          </a:p>
        </p:txBody>
      </p:sp>
      <p:cxnSp>
        <p:nvCxnSpPr>
          <p:cNvPr id="18" name="map-peer-1-stage-arrow"/>
          <p:cNvCxnSpPr/>
          <p:nvPr/>
        </p:nvCxnSpPr>
        <p:spPr>
          <a:xfrm>
            <a:off x="2653588"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19" name="map-peer-2-stage-background"/>
          <p:cNvSpPr/>
          <p:nvPr/>
        </p:nvSpPr>
        <p:spPr>
          <a:xfrm>
            <a:off x="2763316"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map-peer-2-stage"/>
          <p:cNvSpPr txBox="1"/>
          <p:nvPr/>
        </p:nvSpPr>
        <p:spPr>
          <a:xfrm>
            <a:off x="2809036"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Assess &amp; design</a:t>
            </a:r>
          </a:p>
        </p:txBody>
      </p:sp>
      <p:sp>
        <p:nvSpPr>
          <p:cNvPr id="21" name="map-peer-2-owner"/>
          <p:cNvSpPr txBox="1"/>
          <p:nvPr/>
        </p:nvSpPr>
        <p:spPr>
          <a:xfrm>
            <a:off x="2809036"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Assessor/coordinator:</a:t>
            </a:r>
          </a:p>
          <a:p>
            <a:pPr>
              <a:lnSpc>
                <a:spcPct val="108000"/>
              </a:lnSpc>
              <a:spcBef>
                <a:spcPts val="0"/>
              </a:spcBef>
              <a:spcAft>
                <a:spcPts val="500"/>
              </a:spcAft>
            </a:pPr>
            <a:r>
              <a:rPr sz="1600" b="0" i="0">
                <a:solidFill>
                  <a:srgbClr val="183A31"/>
                </a:solidFill>
                <a:latin typeface="Liberation Sans"/>
              </a:rPr>
              <a:t>independent sign-off</a:t>
            </a:r>
          </a:p>
        </p:txBody>
      </p:sp>
      <p:sp>
        <p:nvSpPr>
          <p:cNvPr id="22" name="map-peer-2-capability-background"/>
          <p:cNvSpPr/>
          <p:nvPr/>
        </p:nvSpPr>
        <p:spPr>
          <a:xfrm>
            <a:off x="2763316"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ap-peer-2-title"/>
          <p:cNvSpPr txBox="1"/>
          <p:nvPr/>
        </p:nvSpPr>
        <p:spPr>
          <a:xfrm>
            <a:off x="2854756"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Assessment</a:t>
            </a:r>
          </a:p>
          <a:p>
            <a:pPr>
              <a:lnSpc>
                <a:spcPct val="108000"/>
              </a:lnSpc>
              <a:spcBef>
                <a:spcPts val="0"/>
              </a:spcBef>
              <a:spcAft>
                <a:spcPts val="500"/>
              </a:spcAft>
            </a:pPr>
            <a:r>
              <a:rPr sz="1700" b="1" i="0">
                <a:solidFill>
                  <a:srgbClr val="183A31"/>
                </a:solidFill>
                <a:latin typeface="Liberation Sans"/>
              </a:rPr>
              <a:t>Preparation</a:t>
            </a:r>
          </a:p>
        </p:txBody>
      </p:sp>
      <p:sp>
        <p:nvSpPr>
          <p:cNvPr id="24" name="map-peer-2-request-label"/>
          <p:cNvSpPr txBox="1"/>
          <p:nvPr/>
        </p:nvSpPr>
        <p:spPr>
          <a:xfrm>
            <a:off x="2854756"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25" name="map-peer-2-request-body"/>
          <p:cNvSpPr txBox="1"/>
          <p:nvPr/>
        </p:nvSpPr>
        <p:spPr>
          <a:xfrm>
            <a:off x="2854756"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Prepare sourced</a:t>
            </a:r>
          </a:p>
          <a:p>
            <a:pPr>
              <a:lnSpc>
                <a:spcPct val="108000"/>
              </a:lnSpc>
              <a:spcBef>
                <a:spcPts val="0"/>
              </a:spcBef>
              <a:spcAft>
                <a:spcPts val="500"/>
              </a:spcAft>
            </a:pPr>
            <a:r>
              <a:rPr sz="1600" b="0" i="0">
                <a:solidFill>
                  <a:srgbClr val="183A31"/>
                </a:solidFill>
                <a:latin typeface="Liberation Sans"/>
              </a:rPr>
              <a:t>survey/design pack</a:t>
            </a:r>
          </a:p>
        </p:txBody>
      </p:sp>
      <p:sp>
        <p:nvSpPr>
          <p:cNvPr id="26" name="map-peer-2-proactive-label"/>
          <p:cNvSpPr txBox="1"/>
          <p:nvPr/>
        </p:nvSpPr>
        <p:spPr>
          <a:xfrm>
            <a:off x="2854756"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27" name="map-peer-2-proactive-body"/>
          <p:cNvSpPr txBox="1"/>
          <p:nvPr/>
        </p:nvSpPr>
        <p:spPr>
          <a:xfrm>
            <a:off x="2854756"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Missing/changed</a:t>
            </a:r>
          </a:p>
          <a:p>
            <a:pPr>
              <a:lnSpc>
                <a:spcPct val="108000"/>
              </a:lnSpc>
              <a:spcBef>
                <a:spcPts val="0"/>
              </a:spcBef>
              <a:spcAft>
                <a:spcPts val="500"/>
              </a:spcAft>
            </a:pPr>
            <a:r>
              <a:rPr sz="1600" b="0" i="0">
                <a:solidFill>
                  <a:srgbClr val="183A31"/>
                </a:solidFill>
                <a:latin typeface="Liberation Sans"/>
              </a:rPr>
              <a:t>survey or design</a:t>
            </a:r>
          </a:p>
        </p:txBody>
      </p:sp>
      <p:cxnSp>
        <p:nvCxnSpPr>
          <p:cNvPr id="28" name="map-peer-2-stage-arrow"/>
          <p:cNvCxnSpPr/>
          <p:nvPr/>
        </p:nvCxnSpPr>
        <p:spPr>
          <a:xfrm>
            <a:off x="4913985"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9" name="map-peer-3-stage-background"/>
          <p:cNvSpPr/>
          <p:nvPr/>
        </p:nvSpPr>
        <p:spPr>
          <a:xfrm>
            <a:off x="5023713"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map-peer-3-stage"/>
          <p:cNvSpPr txBox="1"/>
          <p:nvPr/>
        </p:nvSpPr>
        <p:spPr>
          <a:xfrm>
            <a:off x="5069433"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Prepare funding</a:t>
            </a:r>
          </a:p>
        </p:txBody>
      </p:sp>
      <p:sp>
        <p:nvSpPr>
          <p:cNvPr id="31" name="map-peer-3-owner"/>
          <p:cNvSpPr txBox="1"/>
          <p:nvPr/>
        </p:nvSpPr>
        <p:spPr>
          <a:xfrm>
            <a:off x="5069433"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Finance: validate,</a:t>
            </a:r>
          </a:p>
          <a:p>
            <a:pPr>
              <a:lnSpc>
                <a:spcPct val="108000"/>
              </a:lnSpc>
              <a:spcBef>
                <a:spcPts val="0"/>
              </a:spcBef>
              <a:spcAft>
                <a:spcPts val="500"/>
              </a:spcAft>
            </a:pPr>
            <a:r>
              <a:rPr sz="1600" b="0" i="0">
                <a:solidFill>
                  <a:srgbClr val="183A31"/>
                </a:solidFill>
                <a:latin typeface="Liberation Sans"/>
              </a:rPr>
              <a:t>approve, submit</a:t>
            </a:r>
          </a:p>
        </p:txBody>
      </p:sp>
      <p:sp>
        <p:nvSpPr>
          <p:cNvPr id="32" name="map-peer-3-capability-background"/>
          <p:cNvSpPr/>
          <p:nvPr/>
        </p:nvSpPr>
        <p:spPr>
          <a:xfrm>
            <a:off x="5023713"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map-peer-3-title"/>
          <p:cNvSpPr txBox="1"/>
          <p:nvPr/>
        </p:nvSpPr>
        <p:spPr>
          <a:xfrm>
            <a:off x="5115153"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Grant &amp; Funding</a:t>
            </a:r>
          </a:p>
          <a:p>
            <a:pPr>
              <a:lnSpc>
                <a:spcPct val="108000"/>
              </a:lnSpc>
              <a:spcBef>
                <a:spcPts val="0"/>
              </a:spcBef>
              <a:spcAft>
                <a:spcPts val="500"/>
              </a:spcAft>
            </a:pPr>
            <a:r>
              <a:rPr sz="1700" b="1" i="0">
                <a:solidFill>
                  <a:srgbClr val="183A31"/>
                </a:solidFill>
                <a:latin typeface="Liberation Sans"/>
              </a:rPr>
              <a:t>Evidence</a:t>
            </a:r>
          </a:p>
        </p:txBody>
      </p:sp>
      <p:sp>
        <p:nvSpPr>
          <p:cNvPr id="34" name="map-peer-3-request-label"/>
          <p:cNvSpPr txBox="1"/>
          <p:nvPr/>
        </p:nvSpPr>
        <p:spPr>
          <a:xfrm>
            <a:off x="5115153"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35" name="map-peer-3-request-body"/>
          <p:cNvSpPr txBox="1"/>
          <p:nvPr/>
        </p:nvSpPr>
        <p:spPr>
          <a:xfrm>
            <a:off x="5115153"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Draft source-linked</a:t>
            </a:r>
          </a:p>
          <a:p>
            <a:pPr>
              <a:lnSpc>
                <a:spcPct val="108000"/>
              </a:lnSpc>
              <a:spcBef>
                <a:spcPts val="0"/>
              </a:spcBef>
              <a:spcAft>
                <a:spcPts val="500"/>
              </a:spcAft>
            </a:pPr>
            <a:r>
              <a:rPr sz="1600" b="0" i="0">
                <a:solidFill>
                  <a:srgbClr val="183A31"/>
                </a:solidFill>
                <a:latin typeface="Liberation Sans"/>
              </a:rPr>
              <a:t>evidence pack</a:t>
            </a:r>
          </a:p>
        </p:txBody>
      </p:sp>
      <p:sp>
        <p:nvSpPr>
          <p:cNvPr id="36" name="map-peer-3-proactive-label"/>
          <p:cNvSpPr txBox="1"/>
          <p:nvPr/>
        </p:nvSpPr>
        <p:spPr>
          <a:xfrm>
            <a:off x="5115153"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37" name="map-peer-3-proactive-body"/>
          <p:cNvSpPr txBox="1"/>
          <p:nvPr/>
        </p:nvSpPr>
        <p:spPr>
          <a:xfrm>
            <a:off x="5115153"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 inputs or</a:t>
            </a:r>
          </a:p>
          <a:p>
            <a:pPr>
              <a:lnSpc>
                <a:spcPct val="108000"/>
              </a:lnSpc>
              <a:spcBef>
                <a:spcPts val="0"/>
              </a:spcBef>
              <a:spcAft>
                <a:spcPts val="500"/>
              </a:spcAft>
            </a:pPr>
            <a:r>
              <a:rPr sz="1600" b="0" i="0">
                <a:solidFill>
                  <a:srgbClr val="183A31"/>
                </a:solidFill>
                <a:latin typeface="Liberation Sans"/>
              </a:rPr>
              <a:t>changed terms</a:t>
            </a:r>
          </a:p>
        </p:txBody>
      </p:sp>
      <p:cxnSp>
        <p:nvCxnSpPr>
          <p:cNvPr id="38" name="map-peer-3-stage-arrow"/>
          <p:cNvCxnSpPr/>
          <p:nvPr/>
        </p:nvCxnSpPr>
        <p:spPr>
          <a:xfrm>
            <a:off x="7174382"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39" name="map-peer-4-stage-background"/>
          <p:cNvSpPr/>
          <p:nvPr/>
        </p:nvSpPr>
        <p:spPr>
          <a:xfrm>
            <a:off x="728411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map-peer-4-stage"/>
          <p:cNvSpPr txBox="1"/>
          <p:nvPr/>
        </p:nvSpPr>
        <p:spPr>
          <a:xfrm>
            <a:off x="7329830"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Coordinate works</a:t>
            </a:r>
          </a:p>
        </p:txBody>
      </p:sp>
      <p:sp>
        <p:nvSpPr>
          <p:cNvPr id="41" name="map-peer-4-owner"/>
          <p:cNvSpPr txBox="1"/>
          <p:nvPr/>
        </p:nvSpPr>
        <p:spPr>
          <a:xfrm>
            <a:off x="7329830"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Resident: choice;</a:t>
            </a:r>
          </a:p>
          <a:p>
            <a:pPr>
              <a:lnSpc>
                <a:spcPct val="108000"/>
              </a:lnSpc>
              <a:spcBef>
                <a:spcPts val="0"/>
              </a:spcBef>
              <a:spcAft>
                <a:spcPts val="500"/>
              </a:spcAft>
            </a:pPr>
            <a:r>
              <a:rPr sz="1600" b="0" i="0">
                <a:solidFill>
                  <a:srgbClr val="183A31"/>
                </a:solidFill>
                <a:latin typeface="Liberation Sans"/>
              </a:rPr>
              <a:t>Programme: release</a:t>
            </a:r>
          </a:p>
        </p:txBody>
      </p:sp>
      <p:sp>
        <p:nvSpPr>
          <p:cNvPr id="42" name="map-peer-4-capability-background"/>
          <p:cNvSpPr/>
          <p:nvPr/>
        </p:nvSpPr>
        <p:spPr>
          <a:xfrm>
            <a:off x="7284110"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ap-peer-4-title"/>
          <p:cNvSpPr txBox="1"/>
          <p:nvPr/>
        </p:nvSpPr>
        <p:spPr>
          <a:xfrm>
            <a:off x="7375550"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Works &amp; Resident</a:t>
            </a:r>
          </a:p>
          <a:p>
            <a:pPr>
              <a:lnSpc>
                <a:spcPct val="108000"/>
              </a:lnSpc>
              <a:spcBef>
                <a:spcPts val="0"/>
              </a:spcBef>
              <a:spcAft>
                <a:spcPts val="500"/>
              </a:spcAft>
            </a:pPr>
            <a:r>
              <a:rPr sz="1700" b="1" i="0">
                <a:solidFill>
                  <a:srgbClr val="183A31"/>
                </a:solidFill>
                <a:latin typeface="Liberation Sans"/>
              </a:rPr>
              <a:t>Coordination</a:t>
            </a:r>
          </a:p>
        </p:txBody>
      </p:sp>
      <p:sp>
        <p:nvSpPr>
          <p:cNvPr id="44" name="map-peer-4-request-label"/>
          <p:cNvSpPr txBox="1"/>
          <p:nvPr/>
        </p:nvSpPr>
        <p:spPr>
          <a:xfrm>
            <a:off x="7375550"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45" name="map-peer-4-request-body"/>
          <p:cNvSpPr txBox="1"/>
          <p:nvPr/>
        </p:nvSpPr>
        <p:spPr>
          <a:xfrm>
            <a:off x="7375550"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Draft update;</a:t>
            </a:r>
          </a:p>
          <a:p>
            <a:pPr>
              <a:lnSpc>
                <a:spcPct val="108000"/>
              </a:lnSpc>
              <a:spcBef>
                <a:spcPts val="0"/>
              </a:spcBef>
              <a:spcAft>
                <a:spcPts val="500"/>
              </a:spcAft>
            </a:pPr>
            <a:r>
              <a:rPr sz="1600" b="0" i="0">
                <a:solidFill>
                  <a:srgbClr val="183A31"/>
                </a:solidFill>
                <a:latin typeface="Liberation Sans"/>
              </a:rPr>
              <a:t>suggest crew slots</a:t>
            </a:r>
          </a:p>
        </p:txBody>
      </p:sp>
      <p:sp>
        <p:nvSpPr>
          <p:cNvPr id="46" name="map-peer-4-proactive-label"/>
          <p:cNvSpPr txBox="1"/>
          <p:nvPr/>
        </p:nvSpPr>
        <p:spPr>
          <a:xfrm>
            <a:off x="7375550"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47" name="map-peer-4-proactive-body"/>
          <p:cNvSpPr txBox="1"/>
          <p:nvPr/>
        </p:nvSpPr>
        <p:spPr>
          <a:xfrm>
            <a:off x="7375550"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Unaccepted handoff;</a:t>
            </a:r>
          </a:p>
          <a:p>
            <a:pPr>
              <a:lnSpc>
                <a:spcPct val="108000"/>
              </a:lnSpc>
              <a:spcBef>
                <a:spcPts val="0"/>
              </a:spcBef>
              <a:spcAft>
                <a:spcPts val="500"/>
              </a:spcAft>
            </a:pPr>
            <a:r>
              <a:rPr sz="1600" b="0" i="0">
                <a:solidFill>
                  <a:srgbClr val="183A31"/>
                </a:solidFill>
                <a:latin typeface="Liberation Sans"/>
              </a:rPr>
              <a:t>overdue update</a:t>
            </a:r>
          </a:p>
        </p:txBody>
      </p:sp>
      <p:cxnSp>
        <p:nvCxnSpPr>
          <p:cNvPr id="48" name="map-peer-4-stage-arrow"/>
          <p:cNvCxnSpPr/>
          <p:nvPr/>
        </p:nvCxnSpPr>
        <p:spPr>
          <a:xfrm>
            <a:off x="9434779"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49" name="map-peer-5-stage-background"/>
          <p:cNvSpPr/>
          <p:nvPr/>
        </p:nvSpPr>
        <p:spPr>
          <a:xfrm>
            <a:off x="9544507"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map-peer-5-stage"/>
          <p:cNvSpPr txBox="1"/>
          <p:nvPr/>
        </p:nvSpPr>
        <p:spPr>
          <a:xfrm>
            <a:off x="9590227"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Verify &amp; hand over</a:t>
            </a:r>
          </a:p>
        </p:txBody>
      </p:sp>
      <p:sp>
        <p:nvSpPr>
          <p:cNvPr id="51" name="map-peer-5-owner"/>
          <p:cNvSpPr txBox="1"/>
          <p:nvPr/>
        </p:nvSpPr>
        <p:spPr>
          <a:xfrm>
            <a:off x="9590227"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Independent quality</a:t>
            </a:r>
          </a:p>
          <a:p>
            <a:pPr>
              <a:lnSpc>
                <a:spcPct val="108000"/>
              </a:lnSpc>
              <a:spcBef>
                <a:spcPts val="0"/>
              </a:spcBef>
              <a:spcAft>
                <a:spcPts val="500"/>
              </a:spcAft>
            </a:pPr>
            <a:r>
              <a:rPr sz="1600" b="0" i="0">
                <a:solidFill>
                  <a:srgbClr val="183A31"/>
                </a:solidFill>
                <a:latin typeface="Liberation Sans"/>
              </a:rPr>
              <a:t>authority: accept</a:t>
            </a:r>
          </a:p>
        </p:txBody>
      </p:sp>
      <p:sp>
        <p:nvSpPr>
          <p:cNvPr id="52" name="map-peer-5-capability-background"/>
          <p:cNvSpPr/>
          <p:nvPr/>
        </p:nvSpPr>
        <p:spPr>
          <a:xfrm>
            <a:off x="9544507"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map-peer-5-title"/>
          <p:cNvSpPr txBox="1"/>
          <p:nvPr/>
        </p:nvSpPr>
        <p:spPr>
          <a:xfrm>
            <a:off x="9635947"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Quality Evidence</a:t>
            </a:r>
          </a:p>
          <a:p>
            <a:pPr>
              <a:lnSpc>
                <a:spcPct val="108000"/>
              </a:lnSpc>
              <a:spcBef>
                <a:spcPts val="0"/>
              </a:spcBef>
              <a:spcAft>
                <a:spcPts val="500"/>
              </a:spcAft>
            </a:pPr>
            <a:r>
              <a:rPr sz="1700" b="1" i="0">
                <a:solidFill>
                  <a:srgbClr val="183A31"/>
                </a:solidFill>
                <a:latin typeface="Liberation Sans"/>
              </a:rPr>
              <a:t>Review</a:t>
            </a:r>
          </a:p>
        </p:txBody>
      </p:sp>
      <p:sp>
        <p:nvSpPr>
          <p:cNvPr id="54" name="map-peer-5-request-label"/>
          <p:cNvSpPr txBox="1"/>
          <p:nvPr/>
        </p:nvSpPr>
        <p:spPr>
          <a:xfrm>
            <a:off x="9635947"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55" name="map-peer-5-request-body"/>
          <p:cNvSpPr txBox="1"/>
          <p:nvPr/>
        </p:nvSpPr>
        <p:spPr>
          <a:xfrm>
            <a:off x="9635947"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Assemble evidence;</a:t>
            </a:r>
          </a:p>
          <a:p>
            <a:pPr>
              <a:lnSpc>
                <a:spcPct val="108000"/>
              </a:lnSpc>
              <a:spcBef>
                <a:spcPts val="0"/>
              </a:spcBef>
              <a:spcAft>
                <a:spcPts val="500"/>
              </a:spcAft>
            </a:pPr>
            <a:r>
              <a:rPr sz="1600" b="0" i="0">
                <a:solidFill>
                  <a:srgbClr val="183A31"/>
                </a:solidFill>
                <a:latin typeface="Liberation Sans"/>
              </a:rPr>
              <a:t>raise gaps</a:t>
            </a:r>
          </a:p>
        </p:txBody>
      </p:sp>
      <p:sp>
        <p:nvSpPr>
          <p:cNvPr id="56" name="map-peer-5-proactive-label"/>
          <p:cNvSpPr txBox="1"/>
          <p:nvPr/>
        </p:nvSpPr>
        <p:spPr>
          <a:xfrm>
            <a:off x="9635947"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57" name="map-peer-5-proactive-body"/>
          <p:cNvSpPr txBox="1"/>
          <p:nvPr/>
        </p:nvSpPr>
        <p:spPr>
          <a:xfrm>
            <a:off x="9635947"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Missing/conflicting</a:t>
            </a:r>
          </a:p>
          <a:p>
            <a:pPr>
              <a:lnSpc>
                <a:spcPct val="108000"/>
              </a:lnSpc>
              <a:spcBef>
                <a:spcPts val="0"/>
              </a:spcBef>
              <a:spcAft>
                <a:spcPts val="500"/>
              </a:spcAft>
            </a:pPr>
            <a:r>
              <a:rPr sz="1600" b="0" i="0">
                <a:solidFill>
                  <a:srgbClr val="183A31"/>
                </a:solidFill>
                <a:latin typeface="Liberation Sans"/>
              </a:rPr>
              <a:t>quality evidence</a:t>
            </a:r>
          </a:p>
        </p:txBody>
      </p:sp>
      <p:sp>
        <p:nvSpPr>
          <p:cNvPr id="58" name="map-core-background"/>
          <p:cNvSpPr/>
          <p:nvPr/>
        </p:nvSpPr>
        <p:spPr>
          <a:xfrm>
            <a:off x="502920" y="5477256"/>
            <a:ext cx="11183112" cy="41148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map-core"/>
          <p:cNvSpPr txBox="1"/>
          <p:nvPr/>
        </p:nvSpPr>
        <p:spPr>
          <a:xfrm>
            <a:off x="630936" y="5559552"/>
            <a:ext cx="10927080" cy="283464"/>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F7F2E7"/>
                </a:solidFill>
                <a:latin typeface="Liberation Sans"/>
              </a:rPr>
              <a:t>Workflow core: rights • versions • gates • human approvals • audit • retries • manual recovery</a:t>
            </a:r>
          </a:p>
        </p:txBody>
      </p:sp>
      <p:sp>
        <p:nvSpPr>
          <p:cNvPr id="60" name="map-funding-boundary"/>
          <p:cNvSpPr txBox="1"/>
          <p:nvPr/>
        </p:nvSpPr>
        <p:spPr>
          <a:xfrm>
            <a:off x="502920" y="5980176"/>
            <a:ext cx="11183112" cy="256032"/>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Checks OFF now; future eligibility → named human queue. Funding: application ≠ award ≠ claim ≠ cash.</a:t>
            </a:r>
          </a:p>
        </p:txBody>
      </p:sp>
      <p:sp>
        <p:nvSpPr>
          <p:cNvPr id="61" name="map-hazard-boundary"/>
          <p:cNvSpPr txBox="1"/>
          <p:nvPr/>
        </p:nvSpPr>
        <p:spPr>
          <a:xfrm>
            <a:off x="502920" y="6272784"/>
            <a:ext cx="11183112" cy="246888"/>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Hazard → human service now, never wait for AI. Value remains a hypothesis.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See cash before optimism.</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S03 / S06 / S09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14 / 22</a:t>
            </a:r>
          </a:p>
        </p:txBody>
      </p:sp>
      <p:sp>
        <p:nvSpPr>
          <p:cNvPr id="8" name="fictional-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FICTIONAL EXA-010/015  /  not a workbench price or award</a:t>
            </a:r>
          </a:p>
        </p:txBody>
      </p:sp>
      <p:sp>
        <p:nvSpPr>
          <p:cNvPr id="9" name="gross-background"/>
          <p:cNvSpPr/>
          <p:nvPr/>
        </p:nvSpPr>
        <p:spPr>
          <a:xfrm>
            <a:off x="502920" y="2295144"/>
            <a:ext cx="11183112" cy="1033271"/>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gross-title"/>
          <p:cNvSpPr txBox="1"/>
          <p:nvPr/>
        </p:nvSpPr>
        <p:spPr>
          <a:xfrm>
            <a:off x="731520" y="2487168"/>
            <a:ext cx="5120640"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BEFORE GRANT RECEIPT</a:t>
            </a:r>
          </a:p>
        </p:txBody>
      </p:sp>
      <p:sp>
        <p:nvSpPr>
          <p:cNvPr id="11" name="gross-value"/>
          <p:cNvSpPr txBox="1"/>
          <p:nvPr/>
        </p:nvSpPr>
        <p:spPr>
          <a:xfrm>
            <a:off x="6007608" y="2487168"/>
            <a:ext cx="5449824" cy="54864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F7F2E7"/>
                </a:solidFill>
                <a:latin typeface="Liberation Sans"/>
              </a:rPr>
              <a:t>£20,000 gross base cash</a:t>
            </a:r>
          </a:p>
        </p:txBody>
      </p:sp>
      <p:sp>
        <p:nvSpPr>
          <p:cNvPr id="12" name="peer-1-background"/>
          <p:cNvSpPr/>
          <p:nvPr/>
        </p:nvSpPr>
        <p:spPr>
          <a:xfrm>
            <a:off x="502920"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1-title"/>
          <p:cNvSpPr txBox="1"/>
          <p:nvPr/>
        </p:nvSpPr>
        <p:spPr>
          <a:xfrm>
            <a:off x="667512"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RECEIVED</a:t>
            </a:r>
          </a:p>
        </p:txBody>
      </p:sp>
      <p:sp>
        <p:nvSpPr>
          <p:cNvPr id="14" name="peer-1-body"/>
          <p:cNvSpPr txBox="1"/>
          <p:nvPr/>
        </p:nvSpPr>
        <p:spPr>
          <a:xfrm>
            <a:off x="667512"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£7,500 fictional grant</a:t>
            </a:r>
          </a:p>
          <a:p>
            <a:pPr>
              <a:lnSpc>
                <a:spcPct val="108000"/>
              </a:lnSpc>
              <a:spcBef>
                <a:spcPts val="0"/>
              </a:spcBef>
              <a:spcAft>
                <a:spcPts val="500"/>
              </a:spcAft>
            </a:pPr>
            <a:r>
              <a:rPr sz="2300" b="0" i="0">
                <a:solidFill>
                  <a:srgbClr val="183A31"/>
                </a:solidFill>
                <a:latin typeface="Liberation Sans"/>
              </a:rPr>
              <a:t>→ £12,500 provider base.</a:t>
            </a:r>
          </a:p>
        </p:txBody>
      </p:sp>
      <p:sp>
        <p:nvSpPr>
          <p:cNvPr id="15" name="peer-2-background"/>
          <p:cNvSpPr/>
          <p:nvPr/>
        </p:nvSpPr>
        <p:spPr>
          <a:xfrm>
            <a:off x="6195059"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eer-2-title"/>
          <p:cNvSpPr txBox="1"/>
          <p:nvPr/>
        </p:nvSpPr>
        <p:spPr>
          <a:xfrm>
            <a:off x="6359651"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CONTINGENCY SPENT</a:t>
            </a:r>
          </a:p>
        </p:txBody>
      </p:sp>
      <p:sp>
        <p:nvSpPr>
          <p:cNvPr id="17" name="peer-2-body"/>
          <p:cNvSpPr txBox="1"/>
          <p:nvPr/>
        </p:nvSpPr>
        <p:spPr>
          <a:xfrm>
            <a:off x="6359651"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£22,000 gross exposure</a:t>
            </a:r>
          </a:p>
          <a:p>
            <a:pPr>
              <a:lnSpc>
                <a:spcPct val="108000"/>
              </a:lnSpc>
              <a:spcBef>
                <a:spcPts val="0"/>
              </a:spcBef>
              <a:spcAft>
                <a:spcPts val="500"/>
              </a:spcAft>
            </a:pPr>
            <a:r>
              <a:rPr sz="2300" b="0" i="0">
                <a:solidFill>
                  <a:srgbClr val="183A31"/>
                </a:solidFill>
                <a:latin typeface="Liberation Sans"/>
              </a:rPr>
              <a:t>£14,500 provider exposure.</a:t>
            </a:r>
          </a:p>
        </p:txBody>
      </p:sp>
      <p:sp>
        <p:nvSpPr>
          <p:cNvPr id="18" name="boundary-background"/>
          <p:cNvSpPr/>
          <p:nvPr/>
        </p:nvSpPr>
        <p:spPr>
          <a:xfrm>
            <a:off x="502920" y="569671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undary-text"/>
          <p:cNvSpPr txBox="1"/>
          <p:nvPr/>
        </p:nvSpPr>
        <p:spPr>
          <a:xfrm>
            <a:off x="667512" y="578815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Application ≠ award ≠ claim ≠ cash.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Make the first change small enough to learn.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S10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15 / 22</a:t>
            </a:r>
          </a:p>
        </p:txBody>
      </p:sp>
      <p:sp>
        <p:nvSpPr>
          <p:cNvPr id="8" name="peer-1-background"/>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Co-design</a:t>
            </a:r>
          </a:p>
          <a:p>
            <a:pPr>
              <a:lnSpc>
                <a:spcPct val="108000"/>
              </a:lnSpc>
              <a:spcBef>
                <a:spcPts val="0"/>
              </a:spcBef>
              <a:spcAft>
                <a:spcPts val="500"/>
              </a:spcAft>
            </a:pPr>
            <a:r>
              <a:rPr sz="2200" b="1" i="0">
                <a:solidFill>
                  <a:srgbClr val="183A31"/>
                </a:solidFill>
                <a:latin typeface="Liberation Sans"/>
              </a:rPr>
              <a:t>tasks</a:t>
            </a:r>
          </a:p>
        </p:txBody>
      </p:sp>
      <p:sp>
        <p:nvSpPr>
          <p:cNvPr id="10" name="peer-1-body"/>
          <p:cNvSpPr txBox="1"/>
          <p:nvPr/>
        </p:nvSpPr>
        <p:spPr>
          <a:xfrm>
            <a:off x="66751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Programme +</a:t>
            </a:r>
          </a:p>
          <a:p>
            <a:pPr>
              <a:lnSpc>
                <a:spcPct val="108000"/>
              </a:lnSpc>
              <a:spcBef>
                <a:spcPts val="0"/>
              </a:spcBef>
              <a:spcAft>
                <a:spcPts val="500"/>
              </a:spcAft>
            </a:pPr>
            <a:r>
              <a:rPr sz="2200" b="0" i="0">
                <a:solidFill>
                  <a:srgbClr val="183A31"/>
                </a:solidFill>
                <a:latin typeface="Liberation Sans"/>
              </a:rPr>
              <a:t>workbook owners.</a:t>
            </a:r>
          </a:p>
        </p:txBody>
      </p:sp>
      <p:sp>
        <p:nvSpPr>
          <p:cNvPr id="11" name="peer-2-background"/>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Shadow</a:t>
            </a:r>
          </a:p>
          <a:p>
            <a:pPr>
              <a:lnSpc>
                <a:spcPct val="108000"/>
              </a:lnSpc>
              <a:spcBef>
                <a:spcPts val="0"/>
              </a:spcBef>
              <a:spcAft>
                <a:spcPts val="500"/>
              </a:spcAft>
            </a:pPr>
            <a:r>
              <a:rPr sz="2200" b="1" i="0">
                <a:solidFill>
                  <a:srgbClr val="183A31"/>
                </a:solidFill>
                <a:latin typeface="Liberation Sans"/>
              </a:rPr>
              <a:t>one-way import</a:t>
            </a:r>
          </a:p>
        </p:txBody>
      </p:sp>
      <p:sp>
        <p:nvSpPr>
          <p:cNvPr id="13" name="peer-2-body"/>
          <p:cNvSpPr txBox="1"/>
          <p:nvPr/>
        </p:nvSpPr>
        <p:spPr>
          <a:xfrm>
            <a:off x="351358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Data owners:</a:t>
            </a:r>
          </a:p>
          <a:p>
            <a:pPr>
              <a:lnSpc>
                <a:spcPct val="108000"/>
              </a:lnSpc>
              <a:spcBef>
                <a:spcPts val="0"/>
              </a:spcBef>
              <a:spcAft>
                <a:spcPts val="500"/>
              </a:spcAft>
            </a:pPr>
            <a:r>
              <a:rPr sz="2200" b="0" i="0">
                <a:solidFill>
                  <a:srgbClr val="183A31"/>
                </a:solidFill>
                <a:latin typeface="Liberation Sans"/>
              </a:rPr>
              <a:t>reconcile + quarantine.</a:t>
            </a:r>
          </a:p>
        </p:txBody>
      </p:sp>
      <p:sp>
        <p:nvSpPr>
          <p:cNvPr id="14" name="peer-3-background"/>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Supported task</a:t>
            </a:r>
          </a:p>
          <a:p>
            <a:pPr>
              <a:lnSpc>
                <a:spcPct val="108000"/>
              </a:lnSpc>
              <a:spcBef>
                <a:spcPts val="0"/>
              </a:spcBef>
              <a:spcAft>
                <a:spcPts val="500"/>
              </a:spcAft>
            </a:pPr>
            <a:r>
              <a:rPr sz="2200" b="1" i="0">
                <a:solidFill>
                  <a:srgbClr val="183A31"/>
                </a:solidFill>
                <a:latin typeface="Liberation Sans"/>
              </a:rPr>
              <a:t>walkthroughs</a:t>
            </a:r>
          </a:p>
        </p:txBody>
      </p:sp>
      <p:sp>
        <p:nvSpPr>
          <p:cNvPr id="16" name="peer-3-body"/>
          <p:cNvSpPr txBox="1"/>
          <p:nvPr/>
        </p:nvSpPr>
        <p:spPr>
          <a:xfrm>
            <a:off x="635965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Team leads:</a:t>
            </a:r>
          </a:p>
          <a:p>
            <a:pPr>
              <a:lnSpc>
                <a:spcPct val="108000"/>
              </a:lnSpc>
              <a:spcBef>
                <a:spcPts val="0"/>
              </a:spcBef>
              <a:spcAft>
                <a:spcPts val="500"/>
              </a:spcAft>
            </a:pPr>
            <a:r>
              <a:rPr sz="2200" b="0" i="0">
                <a:solidFill>
                  <a:srgbClr val="183A31"/>
                </a:solidFill>
                <a:latin typeface="Liberation Sans"/>
              </a:rPr>
              <a:t>help + observe.</a:t>
            </a:r>
          </a:p>
        </p:txBody>
      </p:sp>
      <p:sp>
        <p:nvSpPr>
          <p:cNvPr id="17" name="peer-4-background"/>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Controlled switch</a:t>
            </a:r>
          </a:p>
          <a:p>
            <a:pPr>
              <a:lnSpc>
                <a:spcPct val="108000"/>
              </a:lnSpc>
              <a:spcBef>
                <a:spcPts val="0"/>
              </a:spcBef>
              <a:spcAft>
                <a:spcPts val="500"/>
              </a:spcAft>
            </a:pPr>
            <a:r>
              <a:rPr sz="2200" b="1" i="0">
                <a:solidFill>
                  <a:srgbClr val="183A31"/>
                </a:solidFill>
                <a:latin typeface="Liberation Sans"/>
              </a:rPr>
              <a:t>and rollback</a:t>
            </a:r>
          </a:p>
        </p:txBody>
      </p:sp>
      <p:sp>
        <p:nvSpPr>
          <p:cNvPr id="19" name="peer-4-body"/>
          <p:cNvSpPr txBox="1"/>
          <p:nvPr/>
        </p:nvSpPr>
        <p:spPr>
          <a:xfrm>
            <a:off x="920572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Digital + work owners:</a:t>
            </a:r>
          </a:p>
          <a:p>
            <a:pPr>
              <a:lnSpc>
                <a:spcPct val="108000"/>
              </a:lnSpc>
              <a:spcBef>
                <a:spcPts val="0"/>
              </a:spcBef>
              <a:spcAft>
                <a:spcPts val="500"/>
              </a:spcAft>
            </a:pPr>
            <a:r>
              <a:rPr sz="2200" b="0" i="0">
                <a:solidFill>
                  <a:srgbClr val="183A31"/>
                </a:solidFill>
                <a:latin typeface="Liberation Sans"/>
              </a:rPr>
              <a:t>exit tests first.</a:t>
            </a:r>
          </a:p>
        </p:txBody>
      </p:sp>
      <p:sp>
        <p:nvSpPr>
          <p:cNvPr id="20"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Proposed owners. No permanent dual entry. No compulsory portal.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Prove the programme. Test the AI separately.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S07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16 / 22</a:t>
            </a:r>
          </a:p>
        </p:txBody>
      </p:sp>
      <p:sp>
        <p:nvSpPr>
          <p:cNvPr id="8" name="peer-1-background"/>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Programme comparison</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Matched existing teams.</a:t>
            </a:r>
          </a:p>
          <a:p>
            <a:pPr>
              <a:lnSpc>
                <a:spcPct val="108000"/>
              </a:lnSpc>
              <a:spcBef>
                <a:spcPts val="0"/>
              </a:spcBef>
              <a:spcAft>
                <a:spcPts val="500"/>
              </a:spcAft>
            </a:pPr>
            <a:r>
              <a:rPr sz="2400" b="0" i="0">
                <a:solidFill>
                  <a:srgbClr val="183A31"/>
                </a:solidFill>
                <a:latin typeface="Liberation Sans"/>
              </a:rPr>
              <a:t>Frozen cohort; same events.</a:t>
            </a:r>
          </a:p>
          <a:p>
            <a:pPr>
              <a:lnSpc>
                <a:spcPct val="108000"/>
              </a:lnSpc>
              <a:spcBef>
                <a:spcPts val="0"/>
              </a:spcBef>
              <a:spcAft>
                <a:spcPts val="500"/>
              </a:spcAft>
            </a:pPr>
            <a:r>
              <a:rPr sz="2400" b="0" i="0">
                <a:solidFill>
                  <a:srgbClr val="183A31"/>
                </a:solidFill>
                <a:latin typeface="Liberation Sans"/>
              </a:rPr>
              <a:t>Accepted handovers +</a:t>
            </a:r>
          </a:p>
          <a:p>
            <a:pPr>
              <a:lnSpc>
                <a:spcPct val="108000"/>
              </a:lnSpc>
              <a:spcBef>
                <a:spcPts val="0"/>
              </a:spcBef>
              <a:spcAft>
                <a:spcPts val="500"/>
              </a:spcAft>
            </a:pPr>
            <a:r>
              <a:rPr sz="2400" b="0" i="0">
                <a:solidFill>
                  <a:srgbClr val="183A31"/>
                </a:solidFill>
                <a:latin typeface="Liberation Sans"/>
              </a:rPr>
              <a:t>whole-chain cost.</a:t>
            </a:r>
          </a:p>
        </p:txBody>
      </p:sp>
      <p:sp>
        <p:nvSpPr>
          <p:cNvPr id="11" name="peer-2-background"/>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Paired task comparison</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Same inputs: manual/rules</a:t>
            </a:r>
          </a:p>
          <a:p>
            <a:pPr>
              <a:lnSpc>
                <a:spcPct val="108000"/>
              </a:lnSpc>
              <a:spcBef>
                <a:spcPts val="0"/>
              </a:spcBef>
              <a:spcAft>
                <a:spcPts val="500"/>
              </a:spcAft>
            </a:pPr>
            <a:r>
              <a:rPr sz="2400" b="0" i="0">
                <a:solidFill>
                  <a:srgbClr val="183A31"/>
                </a:solidFill>
                <a:latin typeface="Liberation Sans"/>
              </a:rPr>
              <a:t>versus assistance.</a:t>
            </a:r>
          </a:p>
          <a:p>
            <a:pPr>
              <a:lnSpc>
                <a:spcPct val="108000"/>
              </a:lnSpc>
              <a:spcBef>
                <a:spcPts val="0"/>
              </a:spcBef>
              <a:spcAft>
                <a:spcPts val="500"/>
              </a:spcAft>
            </a:pPr>
            <a:r>
              <a:rPr sz="2400" b="0" i="0">
                <a:solidFill>
                  <a:srgbClr val="183A31"/>
                </a:solidFill>
                <a:latin typeface="Liberation Sans"/>
              </a:rPr>
              <a:t>Quality, net human effort,</a:t>
            </a:r>
          </a:p>
          <a:p>
            <a:pPr>
              <a:lnSpc>
                <a:spcPct val="108000"/>
              </a:lnSpc>
              <a:spcBef>
                <a:spcPts val="0"/>
              </a:spcBef>
              <a:spcAft>
                <a:spcPts val="500"/>
              </a:spcAft>
            </a:pPr>
            <a:r>
              <a:rPr sz="2400" b="0" i="0">
                <a:solidFill>
                  <a:srgbClr val="183A31"/>
                </a:solidFill>
                <a:latin typeface="Liberation Sans"/>
              </a:rPr>
              <a:t>latency and cost.</a:t>
            </a:r>
          </a:p>
        </p:txBody>
      </p:sp>
      <p:sp>
        <p:nvSpPr>
          <p:cNvPr id="1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Include unfinished/withdrawn homes. Protect safety, choice, quality, equity + cash.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Earn the next gate; do not repeat the last proof.</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S09 / S10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17 / 22</a:t>
            </a:r>
          </a:p>
        </p:txBody>
      </p:sp>
      <p:sp>
        <p:nvSpPr>
          <p:cNvPr id="8" name="peer-1-background"/>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1  Confirm</a:t>
            </a:r>
          </a:p>
        </p:txBody>
      </p:sp>
      <p:sp>
        <p:nvSpPr>
          <p:cNvPr id="10" name="peer-1-body"/>
          <p:cNvSpPr txBox="1"/>
          <p:nvPr/>
        </p:nvSpPr>
        <p:spPr>
          <a:xfrm>
            <a:off x="66751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Requirements,</a:t>
            </a:r>
          </a:p>
          <a:p>
            <a:pPr>
              <a:lnSpc>
                <a:spcPct val="108000"/>
              </a:lnSpc>
              <a:spcBef>
                <a:spcPts val="0"/>
              </a:spcBef>
              <a:spcAft>
                <a:spcPts val="500"/>
              </a:spcAft>
            </a:pPr>
            <a:r>
              <a:rPr sz="2300" b="0" i="0">
                <a:solidFill>
                  <a:srgbClr val="183A31"/>
                </a:solidFill>
                <a:latin typeface="Liberation Sans"/>
              </a:rPr>
              <a:t>owners, authority.</a:t>
            </a:r>
          </a:p>
        </p:txBody>
      </p:sp>
      <p:sp>
        <p:nvSpPr>
          <p:cNvPr id="11" name="peer-2-background"/>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2  Accept</a:t>
            </a:r>
          </a:p>
        </p:txBody>
      </p:sp>
      <p:sp>
        <p:nvSpPr>
          <p:cNvPr id="13" name="peer-2-body"/>
          <p:cNvSpPr txBox="1"/>
          <p:nvPr/>
        </p:nvSpPr>
        <p:spPr>
          <a:xfrm>
            <a:off x="351358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Real staff/session,</a:t>
            </a:r>
          </a:p>
          <a:p>
            <a:pPr>
              <a:lnSpc>
                <a:spcPct val="108000"/>
              </a:lnSpc>
              <a:spcBef>
                <a:spcPts val="0"/>
              </a:spcBef>
              <a:spcAft>
                <a:spcPts val="500"/>
              </a:spcAft>
            </a:pPr>
            <a:r>
              <a:rPr sz="2300" b="0" i="0">
                <a:solidFill>
                  <a:srgbClr val="183A31"/>
                </a:solidFill>
                <a:latin typeface="Liberation Sans"/>
              </a:rPr>
              <a:t>source review, roles,</a:t>
            </a:r>
          </a:p>
          <a:p>
            <a:pPr>
              <a:lnSpc>
                <a:spcPct val="108000"/>
              </a:lnSpc>
              <a:spcBef>
                <a:spcPts val="0"/>
              </a:spcBef>
              <a:spcAft>
                <a:spcPts val="500"/>
              </a:spcAft>
            </a:pPr>
            <a:r>
              <a:rPr sz="2300" b="0" i="0">
                <a:solidFill>
                  <a:srgbClr val="183A31"/>
                </a:solidFill>
                <a:latin typeface="Liberation Sans"/>
              </a:rPr>
              <a:t>accessibility.</a:t>
            </a:r>
          </a:p>
        </p:txBody>
      </p:sp>
      <p:sp>
        <p:nvSpPr>
          <p:cNvPr id="14" name="peer-3-background"/>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3  Compare</a:t>
            </a:r>
          </a:p>
        </p:txBody>
      </p:sp>
      <p:sp>
        <p:nvSpPr>
          <p:cNvPr id="16" name="peer-3-body"/>
          <p:cNvSpPr txBox="1"/>
          <p:nvPr/>
        </p:nvSpPr>
        <p:spPr>
          <a:xfrm>
            <a:off x="635965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Semantics, net effort,</a:t>
            </a:r>
          </a:p>
          <a:p>
            <a:pPr>
              <a:lnSpc>
                <a:spcPct val="108000"/>
              </a:lnSpc>
              <a:spcBef>
                <a:spcPts val="0"/>
              </a:spcBef>
              <a:spcAft>
                <a:spcPts val="500"/>
              </a:spcAft>
            </a:pPr>
            <a:r>
              <a:rPr sz="2300" b="0" i="0">
                <a:solidFill>
                  <a:srgbClr val="183A31"/>
                </a:solidFill>
                <a:latin typeface="Liberation Sans"/>
              </a:rPr>
              <a:t>cost, recovery.</a:t>
            </a:r>
          </a:p>
        </p:txBody>
      </p:sp>
      <p:sp>
        <p:nvSpPr>
          <p:cNvPr id="17" name="peer-4-background"/>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4  Decide</a:t>
            </a:r>
          </a:p>
        </p:txBody>
      </p:sp>
      <p:sp>
        <p:nvSpPr>
          <p:cNvPr id="19" name="peer-4-body"/>
          <p:cNvSpPr txBox="1"/>
          <p:nvPr/>
        </p:nvSpPr>
        <p:spPr>
          <a:xfrm>
            <a:off x="920572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Continue,</a:t>
            </a:r>
          </a:p>
          <a:p>
            <a:pPr>
              <a:lnSpc>
                <a:spcPct val="108000"/>
              </a:lnSpc>
              <a:spcBef>
                <a:spcPts val="0"/>
              </a:spcBef>
              <a:spcAft>
                <a:spcPts val="500"/>
              </a:spcAft>
            </a:pPr>
            <a:r>
              <a:rPr sz="2300" b="0" i="0">
                <a:solidFill>
                  <a:srgbClr val="183A31"/>
                </a:solidFill>
                <a:latin typeface="Liberation Sans"/>
              </a:rPr>
              <a:t>simplify or stop.</a:t>
            </a:r>
          </a:p>
        </p:txBody>
      </p:sp>
      <p:sp>
        <p:nvSpPr>
          <p:cNvPr id="20"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Recorded operator proof is an input — not production approval.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Endorse the next evidence proposal.</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S02 / S03 / S07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18 / 22</a:t>
            </a:r>
          </a:p>
        </p:txBody>
      </p:sp>
      <p:sp>
        <p:nvSpPr>
          <p:cNvPr id="8" name="peer-1-background"/>
          <p:cNvSpPr/>
          <p:nvPr/>
        </p:nvSpPr>
        <p:spPr>
          <a:xfrm>
            <a:off x="502920" y="1847088"/>
            <a:ext cx="359359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CEO / Assets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Sponsor +</a:t>
            </a:r>
          </a:p>
          <a:p>
            <a:pPr>
              <a:lnSpc>
                <a:spcPct val="108000"/>
              </a:lnSpc>
              <a:spcBef>
                <a:spcPts val="0"/>
              </a:spcBef>
              <a:spcAft>
                <a:spcPts val="500"/>
              </a:spcAft>
            </a:pPr>
            <a:r>
              <a:rPr sz="2400" b="0" i="0">
                <a:solidFill>
                  <a:srgbClr val="183A31"/>
                </a:solidFill>
                <a:latin typeface="Liberation Sans"/>
              </a:rPr>
              <a:t>accountable owners.</a:t>
            </a:r>
          </a:p>
        </p:txBody>
      </p:sp>
      <p:sp>
        <p:nvSpPr>
          <p:cNvPr id="11" name="peer-2-background"/>
          <p:cNvSpPr/>
          <p:nvPr/>
        </p:nvSpPr>
        <p:spPr>
          <a:xfrm>
            <a:off x="4297680" y="1847088"/>
            <a:ext cx="359359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CIO / Programme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Human, permission</a:t>
            </a:r>
          </a:p>
          <a:p>
            <a:pPr>
              <a:lnSpc>
                <a:spcPct val="108000"/>
              </a:lnSpc>
              <a:spcBef>
                <a:spcPts val="0"/>
              </a:spcBef>
              <a:spcAft>
                <a:spcPts val="500"/>
              </a:spcAft>
            </a:pPr>
            <a:r>
              <a:rPr sz="2400" b="0" i="0">
                <a:solidFill>
                  <a:srgbClr val="183A31"/>
                </a:solidFill>
                <a:latin typeface="Liberation Sans"/>
              </a:rPr>
              <a:t>and recovery evidence.</a:t>
            </a:r>
          </a:p>
        </p:txBody>
      </p:sp>
      <p:sp>
        <p:nvSpPr>
          <p:cNvPr id="14" name="peer-3-background"/>
          <p:cNvSpPr/>
          <p:nvPr/>
        </p:nvSpPr>
        <p:spPr>
          <a:xfrm>
            <a:off x="8092440" y="1847088"/>
            <a:ext cx="359359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CFO</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Whole-life affordability</a:t>
            </a:r>
          </a:p>
          <a:p>
            <a:pPr marL="228600" indent="-228600">
              <a:lnSpc>
                <a:spcPct val="108000"/>
              </a:lnSpc>
              <a:spcBef>
                <a:spcPts val="0"/>
              </a:spcBef>
              <a:spcAft>
                <a:spcPts val="500"/>
              </a:spcAft>
              <a:buChar char="•"/>
            </a:pPr>
            <a:r>
              <a:rPr sz="2400" b="0" i="0">
                <a:solidFill>
                  <a:srgbClr val="183A31"/>
                </a:solidFill>
                <a:latin typeface="Liberation Sans"/>
              </a:rPr>
              <a:t>scoped authority review.</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Agree the return date and stop tests.</a:t>
            </a:r>
          </a:p>
        </p:txBody>
      </p:sp>
      <p:sp>
        <p:nvSpPr>
          <p:cNvPr id="19" name="closing-boundary"/>
          <p:cNvSpPr txBox="1"/>
          <p:nvPr/>
        </p:nvSpPr>
        <p:spPr>
          <a:xfrm>
            <a:off x="658368" y="6217920"/>
            <a:ext cx="10881360" cy="246888"/>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F7F2E7"/>
                </a:solidFill>
                <a:latin typeface="Liberation Sans"/>
              </a:rPr>
              <a:t>No new procurement, spending, rollout or production authority.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Technical challenge: bounded does not mean fully assured.</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S08 / S11 / S12 / S13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19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600" b="1" i="0">
                <a:solidFill>
                  <a:srgbClr val="183A31"/>
                </a:solidFill>
                <a:latin typeface="Liberation Sans"/>
              </a:rPr>
              <a:t>State</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Versions, fenced attempts,</a:t>
            </a:r>
          </a:p>
          <a:p>
            <a:pPr>
              <a:lnSpc>
                <a:spcPct val="108000"/>
              </a:lnSpc>
              <a:spcBef>
                <a:spcPts val="0"/>
              </a:spcBef>
              <a:spcAft>
                <a:spcPts val="500"/>
              </a:spcAft>
            </a:pPr>
            <a:r>
              <a:rPr sz="2200" b="0" i="0">
                <a:solidFill>
                  <a:srgbClr val="183A31"/>
                </a:solidFill>
                <a:latin typeface="Liberation Sans"/>
              </a:rPr>
              <a:t>reservations.</a:t>
            </a:r>
          </a:p>
          <a:p>
            <a:pPr>
              <a:lnSpc>
                <a:spcPct val="108000"/>
              </a:lnSpc>
              <a:spcBef>
                <a:spcPts val="0"/>
              </a:spcBef>
              <a:spcAft>
                <a:spcPts val="500"/>
              </a:spcAft>
            </a:pPr>
            <a:r>
              <a:rPr sz="2200" b="0" i="0">
                <a:solidFill>
                  <a:srgbClr val="183A31"/>
                </a:solidFill>
                <a:latin typeface="Liberation Sans"/>
              </a:rPr>
              <a:t>Content restart observed.</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600" b="1" i="0">
                <a:solidFill>
                  <a:srgbClr val="183A31"/>
                </a:solidFill>
                <a:latin typeface="Liberation Sans"/>
              </a:rPr>
              <a:t>Trust</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Permitted sources,</a:t>
            </a:r>
          </a:p>
          <a:p>
            <a:pPr>
              <a:lnSpc>
                <a:spcPct val="108000"/>
              </a:lnSpc>
              <a:spcBef>
                <a:spcPts val="0"/>
              </a:spcBef>
              <a:spcAft>
                <a:spcPts val="500"/>
              </a:spcAft>
            </a:pPr>
            <a:r>
              <a:rPr sz="2200" b="0" i="0">
                <a:solidFill>
                  <a:srgbClr val="183A31"/>
                </a:solidFill>
                <a:latin typeface="Liberation Sans"/>
              </a:rPr>
              <a:t>current role checks,</a:t>
            </a:r>
          </a:p>
          <a:p>
            <a:pPr>
              <a:lnSpc>
                <a:spcPct val="108000"/>
              </a:lnSpc>
              <a:spcBef>
                <a:spcPts val="0"/>
              </a:spcBef>
              <a:spcAft>
                <a:spcPts val="500"/>
              </a:spcAft>
            </a:pPr>
            <a:r>
              <a:rPr sz="2200" b="0" i="0">
                <a:solidFill>
                  <a:srgbClr val="183A31"/>
                </a:solidFill>
                <a:latin typeface="Liberation Sans"/>
              </a:rPr>
              <a:t>independent review.</a:t>
            </a:r>
          </a:p>
          <a:p>
            <a:pPr>
              <a:lnSpc>
                <a:spcPct val="108000"/>
              </a:lnSpc>
              <a:spcBef>
                <a:spcPts val="0"/>
              </a:spcBef>
              <a:spcAft>
                <a:spcPts val="500"/>
              </a:spcAft>
            </a:pPr>
            <a:r>
              <a:rPr sz="2200" b="0" i="0">
                <a:solidFill>
                  <a:srgbClr val="183A31"/>
                </a:solidFill>
                <a:latin typeface="Liberation Sans"/>
              </a:rPr>
              <a:t>Real-session assurance open.</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600" b="1" i="0">
                <a:solidFill>
                  <a:srgbClr val="183A31"/>
                </a:solidFill>
                <a:latin typeface="Liberation Sans"/>
              </a:rPr>
              <a:t>Operate</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Owned manual path.</a:t>
            </a:r>
          </a:p>
          <a:p>
            <a:pPr>
              <a:lnSpc>
                <a:spcPct val="108000"/>
              </a:lnSpc>
              <a:spcBef>
                <a:spcPts val="0"/>
              </a:spcBef>
              <a:spcAft>
                <a:spcPts val="500"/>
              </a:spcAft>
            </a:pPr>
            <a:r>
              <a:rPr sz="2200" b="0" i="0">
                <a:solidFill>
                  <a:srgbClr val="183A31"/>
                </a:solidFill>
                <a:latin typeface="Liberation Sans"/>
              </a:rPr>
              <a:t>Performance, restore,</a:t>
            </a:r>
          </a:p>
          <a:p>
            <a:pPr>
              <a:lnSpc>
                <a:spcPct val="108000"/>
              </a:lnSpc>
              <a:spcBef>
                <a:spcPts val="0"/>
              </a:spcBef>
              <a:spcAft>
                <a:spcPts val="500"/>
              </a:spcAft>
            </a:pPr>
            <a:r>
              <a:rPr sz="2200" b="0" i="0">
                <a:solidFill>
                  <a:srgbClr val="183A31"/>
                </a:solidFill>
                <a:latin typeface="Liberation Sans"/>
              </a:rPr>
              <a:t>quality and unit cost open.</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Decision 1 is separate from the five new GPT proposal calls.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Council challenge: the objections we welcome.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S03 / S05 / S07 / S09 / S10 / S11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20 / 22</a:t>
            </a:r>
          </a:p>
        </p:txBody>
      </p:sp>
      <p:sp>
        <p:nvSpPr>
          <p:cNvPr id="8" name="qa-row-1-peer-1-background"/>
          <p:cNvSpPr/>
          <p:nvPr/>
        </p:nvSpPr>
        <p:spPr>
          <a:xfrm>
            <a:off x="502920"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qa-row-1-peer-1-title"/>
          <p:cNvSpPr txBox="1"/>
          <p:nvPr/>
        </p:nvSpPr>
        <p:spPr>
          <a:xfrm>
            <a:off x="667512"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improve Excel?</a:t>
            </a:r>
          </a:p>
        </p:txBody>
      </p:sp>
      <p:sp>
        <p:nvSpPr>
          <p:cNvPr id="10" name="qa-row-1-peer-1-body"/>
          <p:cNvSpPr txBox="1"/>
          <p:nvPr/>
        </p:nvSpPr>
        <p:spPr>
          <a:xfrm>
            <a:off x="667512" y="2697479"/>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Test equal scope and controls.</a:t>
            </a:r>
          </a:p>
        </p:txBody>
      </p:sp>
      <p:sp>
        <p:nvSpPr>
          <p:cNvPr id="11" name="qa-row-1-peer-2-background"/>
          <p:cNvSpPr/>
          <p:nvPr/>
        </p:nvSpPr>
        <p:spPr>
          <a:xfrm>
            <a:off x="6195059"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qa-row-1-peer-2-title"/>
          <p:cNvSpPr txBox="1"/>
          <p:nvPr/>
        </p:nvSpPr>
        <p:spPr>
          <a:xfrm>
            <a:off x="6359651"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launch now?</a:t>
            </a:r>
          </a:p>
        </p:txBody>
      </p:sp>
      <p:sp>
        <p:nvSpPr>
          <p:cNvPr id="13" name="qa-row-1-peer-2-body"/>
          <p:cNvSpPr txBox="1"/>
          <p:nvPr/>
        </p:nvSpPr>
        <p:spPr>
          <a:xfrm>
            <a:off x="6359651" y="2697479"/>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Human, semantic and value gates open.</a:t>
            </a:r>
          </a:p>
        </p:txBody>
      </p:sp>
      <p:sp>
        <p:nvSpPr>
          <p:cNvPr id="14" name="qa-row-2-peer-1-background"/>
          <p:cNvSpPr/>
          <p:nvPr/>
        </p:nvSpPr>
        <p:spPr>
          <a:xfrm>
            <a:off x="502920"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qa-row-2-peer-1-title"/>
          <p:cNvSpPr txBox="1"/>
          <p:nvPr/>
        </p:nvSpPr>
        <p:spPr>
          <a:xfrm>
            <a:off x="667512"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budget?</a:t>
            </a:r>
          </a:p>
        </p:txBody>
      </p:sp>
      <p:sp>
        <p:nvSpPr>
          <p:cNvPr id="16" name="qa-row-2-peer-1-body"/>
          <p:cNvSpPr txBox="1"/>
          <p:nvPr/>
        </p:nvSpPr>
        <p:spPr>
          <a:xfrm>
            <a:off x="667512" y="4553712"/>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No new commitment; whole-life appraisal.</a:t>
            </a:r>
          </a:p>
        </p:txBody>
      </p:sp>
      <p:sp>
        <p:nvSpPr>
          <p:cNvPr id="17" name="qa-row-2-peer-2-background"/>
          <p:cNvSpPr/>
          <p:nvPr/>
        </p:nvSpPr>
        <p:spPr>
          <a:xfrm>
            <a:off x="6195059"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qa-row-2-peer-2-title"/>
          <p:cNvSpPr txBox="1"/>
          <p:nvPr/>
        </p:nvSpPr>
        <p:spPr>
          <a:xfrm>
            <a:off x="6359651"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if AI fails?</a:t>
            </a:r>
          </a:p>
        </p:txBody>
      </p:sp>
      <p:sp>
        <p:nvSpPr>
          <p:cNvPr id="19" name="qa-row-2-peer-2-body"/>
          <p:cNvSpPr txBox="1"/>
          <p:nvPr/>
        </p:nvSpPr>
        <p:spPr>
          <a:xfrm>
            <a:off x="6359651" y="4553712"/>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Manual workflow remains; simplify.</a:t>
            </a:r>
          </a:p>
        </p:txBody>
      </p:sp>
      <p:sp>
        <p:nvSpPr>
          <p:cNvPr id="20"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Unknown answers get an owner and evidence route, not a confident guess.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Read the evidence label before the claim.</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S01 / S02 / S03 / S04 / S05 / S06 / S07 / S08 / S09 / S10 / S11 / S12 / S13 / S14 / S15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21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Request + research</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Request ≠ result.</a:t>
            </a:r>
          </a:p>
          <a:p>
            <a:pPr>
              <a:lnSpc>
                <a:spcPct val="108000"/>
              </a:lnSpc>
              <a:spcBef>
                <a:spcPts val="0"/>
              </a:spcBef>
              <a:spcAft>
                <a:spcPts val="500"/>
              </a:spcAft>
            </a:pPr>
            <a:r>
              <a:rPr sz="2300" b="0" i="0">
                <a:solidFill>
                  <a:srgbClr val="183A31"/>
                </a:solidFill>
                <a:latin typeface="Liberation Sans"/>
              </a:rPr>
              <a:t>Research instruments</a:t>
            </a:r>
          </a:p>
          <a:p>
            <a:pPr>
              <a:lnSpc>
                <a:spcPct val="108000"/>
              </a:lnSpc>
              <a:spcBef>
                <a:spcPts val="0"/>
              </a:spcBef>
              <a:spcAft>
                <a:spcPts val="500"/>
              </a:spcAft>
            </a:pPr>
            <a:r>
              <a:rPr sz="2300" b="0" i="0">
                <a:solidFill>
                  <a:srgbClr val="183A31"/>
                </a:solidFill>
                <a:latin typeface="Liberation Sans"/>
              </a:rPr>
              <a:t>≠ residents.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Exercise fixtures</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Fixtures ≠ company</a:t>
            </a:r>
          </a:p>
          <a:p>
            <a:pPr>
              <a:lnSpc>
                <a:spcPct val="108000"/>
              </a:lnSpc>
              <a:spcBef>
                <a:spcPts val="0"/>
              </a:spcBef>
              <a:spcAft>
                <a:spcPts val="500"/>
              </a:spcAft>
            </a:pPr>
            <a:r>
              <a:rPr sz="2300" b="0" i="0">
                <a:solidFill>
                  <a:srgbClr val="183A31"/>
                </a:solidFill>
                <a:latin typeface="Liberation Sans"/>
              </a:rPr>
              <a:t>performance or budgets.</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Observed proof</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Operator proof ≠ human,</a:t>
            </a:r>
          </a:p>
          <a:p>
            <a:pPr>
              <a:lnSpc>
                <a:spcPct val="108000"/>
              </a:lnSpc>
              <a:spcBef>
                <a:spcPts val="0"/>
              </a:spcBef>
              <a:spcAft>
                <a:spcPts val="500"/>
              </a:spcAft>
            </a:pPr>
            <a:r>
              <a:rPr sz="2300" b="0" i="0">
                <a:solidFill>
                  <a:srgbClr val="183A31"/>
                </a:solidFill>
                <a:latin typeface="Liberation Sans"/>
              </a:rPr>
              <a:t>semantic or value</a:t>
            </a:r>
          </a:p>
          <a:p>
            <a:pPr>
              <a:lnSpc>
                <a:spcPct val="108000"/>
              </a:lnSpc>
              <a:spcBef>
                <a:spcPts val="0"/>
              </a:spcBef>
              <a:spcAft>
                <a:spcPts val="500"/>
              </a:spcAft>
            </a:pPr>
            <a:r>
              <a:rPr sz="2300" b="0" i="0">
                <a:solidFill>
                  <a:srgbClr val="183A31"/>
                </a:solidFill>
                <a:latin typeface="Liberation Sans"/>
              </a:rPr>
              <a:t>acceptance.</a:t>
            </a:r>
          </a:p>
        </p:txBody>
      </p:sp>
      <p:sp>
        <p:nvSpPr>
          <p:cNvPr id="17" name="boundary-background"/>
          <p:cNvSpPr/>
          <p:nvPr/>
        </p:nvSpPr>
        <p:spPr>
          <a:xfrm>
            <a:off x="502920" y="551383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60527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As at 14 October. Legal currentness not refreshed.</a:t>
            </a:r>
          </a:p>
        </p:txBody>
      </p:sp>
      <p:sp>
        <p:nvSpPr>
          <p:cNvPr id="19" name="assessment-open"/>
          <p:cNvSpPr txBox="1"/>
          <p:nvPr/>
        </p:nvSpPr>
        <p:spPr>
          <a:xfrm>
            <a:off x="649224" y="6181344"/>
            <a:ext cx="10881360" cy="29260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Live pitch, rehearsal and thought-leadership evidence still required.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5"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6"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8"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Compare equivalent routes before selecting a winner.</a:t>
            </a:r>
          </a:p>
        </p:txBody>
      </p:sp>
      <p:sp>
        <p:nvSpPr>
          <p:cNvPr id="9"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S03 / S07 / S12  •  Sources + status in notes</a:t>
            </a:r>
          </a:p>
        </p:txBody>
      </p:sp>
      <p:sp>
        <p:nvSpPr>
          <p:cNvPr id="10"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22 / 22</a:t>
            </a:r>
          </a:p>
        </p:txBody>
      </p:sp>
      <p:sp>
        <p:nvSpPr>
          <p:cNvPr id="11" name="option-1-header-background"/>
          <p:cNvSpPr/>
          <p:nvPr/>
        </p:nvSpPr>
        <p:spPr>
          <a:xfrm>
            <a:off x="3154680"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ption-peer-1-title"/>
          <p:cNvSpPr txBox="1"/>
          <p:nvPr/>
        </p:nvSpPr>
        <p:spPr>
          <a:xfrm>
            <a:off x="3273552" y="1956816"/>
            <a:ext cx="2496312"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Improve current</a:t>
            </a:r>
          </a:p>
          <a:p>
            <a:pPr>
              <a:lnSpc>
                <a:spcPct val="108000"/>
              </a:lnSpc>
              <a:spcBef>
                <a:spcPts val="0"/>
              </a:spcBef>
              <a:spcAft>
                <a:spcPts val="500"/>
              </a:spcAft>
            </a:pPr>
            <a:r>
              <a:rPr sz="2100" b="1" i="0">
                <a:solidFill>
                  <a:srgbClr val="F7F2E7"/>
                </a:solidFill>
                <a:latin typeface="Liberation Sans"/>
              </a:rPr>
              <a:t>workflow</a:t>
            </a:r>
          </a:p>
        </p:txBody>
      </p:sp>
      <p:sp>
        <p:nvSpPr>
          <p:cNvPr id="13" name="option-2-header-background"/>
          <p:cNvSpPr/>
          <p:nvPr/>
        </p:nvSpPr>
        <p:spPr>
          <a:xfrm>
            <a:off x="6053328"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ption-peer-2-title"/>
          <p:cNvSpPr txBox="1"/>
          <p:nvPr/>
        </p:nvSpPr>
        <p:spPr>
          <a:xfrm>
            <a:off x="6172200" y="1956816"/>
            <a:ext cx="2496312"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Greenfield</a:t>
            </a:r>
          </a:p>
          <a:p>
            <a:pPr>
              <a:lnSpc>
                <a:spcPct val="108000"/>
              </a:lnSpc>
              <a:spcBef>
                <a:spcPts val="0"/>
              </a:spcBef>
              <a:spcAft>
                <a:spcPts val="500"/>
              </a:spcAft>
            </a:pPr>
            <a:r>
              <a:rPr sz="2100" b="1" i="0">
                <a:solidFill>
                  <a:srgbClr val="F7F2E7"/>
                </a:solidFill>
                <a:latin typeface="Liberation Sans"/>
              </a:rPr>
              <a:t>business platform</a:t>
            </a:r>
          </a:p>
        </p:txBody>
      </p:sp>
      <p:sp>
        <p:nvSpPr>
          <p:cNvPr id="15" name="option-3-header-background"/>
          <p:cNvSpPr/>
          <p:nvPr/>
        </p:nvSpPr>
        <p:spPr>
          <a:xfrm>
            <a:off x="8951976"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ption-peer-3-title"/>
          <p:cNvSpPr txBox="1"/>
          <p:nvPr/>
        </p:nvSpPr>
        <p:spPr>
          <a:xfrm>
            <a:off x="9070848" y="1956816"/>
            <a:ext cx="2496312"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Azure-led</a:t>
            </a:r>
          </a:p>
          <a:p>
            <a:pPr>
              <a:lnSpc>
                <a:spcPct val="108000"/>
              </a:lnSpc>
              <a:spcBef>
                <a:spcPts val="0"/>
              </a:spcBef>
              <a:spcAft>
                <a:spcPts val="500"/>
              </a:spcAft>
            </a:pPr>
            <a:r>
              <a:rPr sz="2100" b="1" i="0">
                <a:solidFill>
                  <a:srgbClr val="F7F2E7"/>
                </a:solidFill>
                <a:latin typeface="Liberation Sans"/>
              </a:rPr>
              <a:t>hybrid</a:t>
            </a:r>
          </a:p>
        </p:txBody>
      </p:sp>
      <p:sp>
        <p:nvSpPr>
          <p:cNvPr id="17" name="option-row-1-label"/>
          <p:cNvSpPr txBox="1"/>
          <p:nvPr/>
        </p:nvSpPr>
        <p:spPr>
          <a:xfrm>
            <a:off x="502920" y="3017520"/>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Mandatory controls</a:t>
            </a:r>
          </a:p>
        </p:txBody>
      </p:sp>
      <p:sp>
        <p:nvSpPr>
          <p:cNvPr id="18" name="option-1-row-1-background"/>
          <p:cNvSpPr/>
          <p:nvPr/>
        </p:nvSpPr>
        <p:spPr>
          <a:xfrm>
            <a:off x="3154680"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ption-row-1-peer-1-body"/>
          <p:cNvSpPr txBox="1"/>
          <p:nvPr/>
        </p:nvSpPr>
        <p:spPr>
          <a:xfrm>
            <a:off x="3273552"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0" name="option-2-row-1-background"/>
          <p:cNvSpPr/>
          <p:nvPr/>
        </p:nvSpPr>
        <p:spPr>
          <a:xfrm>
            <a:off x="6053328"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ption-row-1-peer-2-body"/>
          <p:cNvSpPr txBox="1"/>
          <p:nvPr/>
        </p:nvSpPr>
        <p:spPr>
          <a:xfrm>
            <a:off x="6172200"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2" name="option-3-row-1-background"/>
          <p:cNvSpPr/>
          <p:nvPr/>
        </p:nvSpPr>
        <p:spPr>
          <a:xfrm>
            <a:off x="8951976"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ption-row-1-peer-3-body"/>
          <p:cNvSpPr txBox="1"/>
          <p:nvPr/>
        </p:nvSpPr>
        <p:spPr>
          <a:xfrm>
            <a:off x="9070848"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4" name="option-row-2-label"/>
          <p:cNvSpPr txBox="1"/>
          <p:nvPr/>
        </p:nvSpPr>
        <p:spPr>
          <a:xfrm>
            <a:off x="502920" y="3602736"/>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Transition + access</a:t>
            </a:r>
          </a:p>
        </p:txBody>
      </p:sp>
      <p:sp>
        <p:nvSpPr>
          <p:cNvPr id="25" name="option-1-row-2-background"/>
          <p:cNvSpPr/>
          <p:nvPr/>
        </p:nvSpPr>
        <p:spPr>
          <a:xfrm>
            <a:off x="3154680"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ption-row-2-peer-1-body"/>
          <p:cNvSpPr txBox="1"/>
          <p:nvPr/>
        </p:nvSpPr>
        <p:spPr>
          <a:xfrm>
            <a:off x="3273552"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7" name="option-2-row-2-background"/>
          <p:cNvSpPr/>
          <p:nvPr/>
        </p:nvSpPr>
        <p:spPr>
          <a:xfrm>
            <a:off x="6053328"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ption-row-2-peer-2-body"/>
          <p:cNvSpPr txBox="1"/>
          <p:nvPr/>
        </p:nvSpPr>
        <p:spPr>
          <a:xfrm>
            <a:off x="6172200"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9" name="option-3-row-2-background"/>
          <p:cNvSpPr/>
          <p:nvPr/>
        </p:nvSpPr>
        <p:spPr>
          <a:xfrm>
            <a:off x="8951976"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ption-row-2-peer-3-body"/>
          <p:cNvSpPr txBox="1"/>
          <p:nvPr/>
        </p:nvSpPr>
        <p:spPr>
          <a:xfrm>
            <a:off x="9070848"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1" name="option-row-3-label"/>
          <p:cNvSpPr txBox="1"/>
          <p:nvPr/>
        </p:nvSpPr>
        <p:spPr>
          <a:xfrm>
            <a:off x="502920" y="4187952"/>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Support + recovery</a:t>
            </a:r>
          </a:p>
        </p:txBody>
      </p:sp>
      <p:sp>
        <p:nvSpPr>
          <p:cNvPr id="32" name="option-1-row-3-background"/>
          <p:cNvSpPr/>
          <p:nvPr/>
        </p:nvSpPr>
        <p:spPr>
          <a:xfrm>
            <a:off x="3154680"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ption-row-3-peer-1-body"/>
          <p:cNvSpPr txBox="1"/>
          <p:nvPr/>
        </p:nvSpPr>
        <p:spPr>
          <a:xfrm>
            <a:off x="3273552"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4" name="option-2-row-3-background"/>
          <p:cNvSpPr/>
          <p:nvPr/>
        </p:nvSpPr>
        <p:spPr>
          <a:xfrm>
            <a:off x="6053328"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ption-row-3-peer-2-body"/>
          <p:cNvSpPr txBox="1"/>
          <p:nvPr/>
        </p:nvSpPr>
        <p:spPr>
          <a:xfrm>
            <a:off x="6172200"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6" name="option-3-row-3-background"/>
          <p:cNvSpPr/>
          <p:nvPr/>
        </p:nvSpPr>
        <p:spPr>
          <a:xfrm>
            <a:off x="8951976"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ption-row-3-peer-3-body"/>
          <p:cNvSpPr txBox="1"/>
          <p:nvPr/>
        </p:nvSpPr>
        <p:spPr>
          <a:xfrm>
            <a:off x="9070848"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8" name="option-row-4-label"/>
          <p:cNvSpPr txBox="1"/>
          <p:nvPr/>
        </p:nvSpPr>
        <p:spPr>
          <a:xfrm>
            <a:off x="502920" y="4773168"/>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Whole-life cost</a:t>
            </a:r>
          </a:p>
        </p:txBody>
      </p:sp>
      <p:sp>
        <p:nvSpPr>
          <p:cNvPr id="39" name="option-1-row-4-background"/>
          <p:cNvSpPr/>
          <p:nvPr/>
        </p:nvSpPr>
        <p:spPr>
          <a:xfrm>
            <a:off x="3154680"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ption-row-4-peer-1-body"/>
          <p:cNvSpPr txBox="1"/>
          <p:nvPr/>
        </p:nvSpPr>
        <p:spPr>
          <a:xfrm>
            <a:off x="3273552"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1" name="option-2-row-4-background"/>
          <p:cNvSpPr/>
          <p:nvPr/>
        </p:nvSpPr>
        <p:spPr>
          <a:xfrm>
            <a:off x="6053328"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ption-row-4-peer-2-body"/>
          <p:cNvSpPr txBox="1"/>
          <p:nvPr/>
        </p:nvSpPr>
        <p:spPr>
          <a:xfrm>
            <a:off x="6172200"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3" name="option-3-row-4-background"/>
          <p:cNvSpPr/>
          <p:nvPr/>
        </p:nvSpPr>
        <p:spPr>
          <a:xfrm>
            <a:off x="8951976"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ption-row-4-peer-3-body"/>
          <p:cNvSpPr txBox="1"/>
          <p:nvPr/>
        </p:nvSpPr>
        <p:spPr>
          <a:xfrm>
            <a:off x="9070848"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5" name="boundary-background"/>
          <p:cNvSpPr/>
          <p:nvPr/>
        </p:nvSpPr>
        <p:spPr>
          <a:xfrm>
            <a:off x="502920" y="5678424"/>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boundary-text"/>
          <p:cNvSpPr txBox="1"/>
          <p:nvPr/>
        </p:nvSpPr>
        <p:spPr>
          <a:xfrm>
            <a:off x="667512" y="5769864"/>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Equivalent-scope evidence still needed — no winner scored.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Forward — Visible work, explainable decisions</dc:title>
  <dc:subject>Bounded next-stage proposal; not production approval</dc:subject>
  <dc:creator>AMA project</dc:creator>
  <cp:keywords>Zava Forward,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