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1" d="100"/>
          <a:sy n="71" d="100"/>
        </p:scale>
        <p:origin x="464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9666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00:00-00:45 (45 seconds). Total presentation: 20 minutes.</a:t>
            </a:r>
          </a:p>
          <a:p>
            <a:endParaRPr/>
          </a:p>
          <a:p>
            <a:r>
              <a:t>Open with the outcome, not the technology. Proper Warm is about making the</a:t>
            </a:r>
          </a:p>
          <a:p>
            <a:r>
              <a:t>route from an investment decision to a better home more dependable. For</a:t>
            </a:r>
          </a:p>
          <a:p>
            <a:r>
              <a:t>residents, the outcome is a home that is safe, comfortable and usable. For</a:t>
            </a:r>
          </a:p>
          <a:p>
            <a:r>
              <a:t>this executive team, it is confidence that money, people and suppliers are</a:t>
            </a:r>
          </a:p>
          <a:p>
            <a:r>
              <a:t>producing accepted outcomes rather than activity that still needs rework.</a:t>
            </a:r>
          </a:p>
          <a:p>
            <a:endParaRPr/>
          </a:p>
          <a:p>
            <a:r>
              <a:t>First, we will establish what the fictional case asked for and the</a:t>
            </a:r>
          </a:p>
          <a:p>
            <a:r>
              <a:t>clarifications that emerged from the team discussion. We will then begin the</a:t>
            </a:r>
          </a:p>
          <a:p>
            <a:r>
              <a:t>business presentation with one resident journey before moving through the</a:t>
            </a:r>
          </a:p>
          <a:p>
            <a:r>
              <a:t>operating model, value and decision.</a:t>
            </a:r>
          </a:p>
          <a:p>
            <a:endParaRPr/>
          </a:p>
          <a:p>
            <a:r>
              <a:t>This is a fictional association and a draft proposition. The programme name</a:t>
            </a:r>
          </a:p>
          <a:p>
            <a:r>
              <a:t>is a working identity, not cleared for resident-facing use. Do not present</a:t>
            </a:r>
          </a:p>
          <a:p>
            <a:r>
              <a:t>the design as established corporate branding.</a:t>
            </a:r>
          </a:p>
          <a:p>
            <a:endParaRPr/>
          </a:p>
          <a:p>
            <a:r>
              <a:t>TRANSITION: Before the story begins, be clear about the case we were asked</a:t>
            </a:r>
          </a:p>
          <a:p>
            <a:r>
              <a:t>to solve.</a:t>
            </a:r>
          </a:p>
          <a:p>
            <a:endParaRPr/>
          </a:p>
          <a:p>
            <a:r>
              <a:t>SOURCE: docs\brds\agentic-retrofit-programme-brd.md, Executive Summary and</a:t>
            </a:r>
          </a:p>
          <a:p>
            <a:r>
              <a:t>CXO Value Proposition (11 September 2026). All subsequent BRD references</a:t>
            </a:r>
          </a:p>
          <a:p>
            <a:r>
              <a:t>identify sections or requirement IDs in this document. The original case</a:t>
            </a:r>
          </a:p>
          <a:p>
            <a:r>
              <a:t>study and executive addendum remain separate source documents.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00:45-02:00 (75 seconds).</a:t>
            </a:r>
          </a:p>
          <a:p>
            <a:endParaRPr/>
          </a:p>
          <a:p>
            <a:r>
              <a:t>This is the case as it arrived, before challenge or redesign. Proper North</a:t>
            </a:r>
          </a:p>
          <a:p>
            <a:r>
              <a:t>Homes is fictional. The case describes sixty thousand homes, spreadsheet-led</a:t>
            </a:r>
          </a:p>
          <a:p>
            <a:r>
              <a:t>coordination, delivery behind plan, statutory safety obligations and a</a:t>
            </a:r>
          </a:p>
          <a:p>
            <a:r>
              <a:t>proposed 2030 energy ambition.</a:t>
            </a:r>
          </a:p>
          <a:p>
            <a:endParaRPr/>
          </a:p>
          <a:p>
            <a:r>
              <a:t>It also arrives with a preferred answer: five collaborating agents intended</a:t>
            </a:r>
          </a:p>
          <a:p>
            <a:r>
              <a:t>to prioritise homes, draft assessments and grants, coordinate contractors and</a:t>
            </a:r>
          </a:p>
          <a:p>
            <a:r>
              <a:t>residents, and verify quality. The expected outcomes include doubled delivery,</a:t>
            </a:r>
          </a:p>
          <a:p>
            <a:r>
              <a:t>forty million pounds of grant capture and lower energy bills.</a:t>
            </a:r>
          </a:p>
          <a:p>
            <a:endParaRPr/>
          </a:p>
          <a:p>
            <a:r>
              <a:t>Those statements combine four different things: fictional context, a proposed</a:t>
            </a:r>
          </a:p>
          <a:p>
            <a:r>
              <a:t>technology design, planning assumptions and claimed benefits. They should not</a:t>
            </a:r>
          </a:p>
          <a:p>
            <a:r>
              <a:t>be given the same evidence status. The need to improve delivery is credible;</a:t>
            </a:r>
          </a:p>
          <a:p>
            <a:r>
              <a:t>the answer, baseline and quantified value are not yet proven.</a:t>
            </a:r>
          </a:p>
          <a:p>
            <a:endParaRPr/>
          </a:p>
          <a:p>
            <a:r>
              <a:t>ANIMATION CUES: The fictional context is visible first. Click once to reveal</a:t>
            </a:r>
          </a:p>
          <a:p>
            <a:r>
              <a:t>the delivery pressure, then once for the requested five-agent answer. The</a:t>
            </a:r>
          </a:p>
          <a:p>
            <a:r>
              <a:t>final click reveals the evidence challenge. Do not imply that the requested</a:t>
            </a:r>
          </a:p>
          <a:p>
            <a:r>
              <a:t>outcomes have already been validated.</a:t>
            </a:r>
          </a:p>
          <a:p>
            <a:endParaRPr/>
          </a:p>
          <a:p>
            <a:r>
              <a:t>TRANSITION: The team discussion did not reject the ambition. It changed what</a:t>
            </a:r>
          </a:p>
          <a:p>
            <a:r>
              <a:t>would count as a responsible solution and approval request.</a:t>
            </a:r>
          </a:p>
          <a:p>
            <a:endParaRPr/>
          </a:p>
          <a:p>
            <a:r>
              <a:t>SOURCE: Original Case Study 48; BRD, Source Context and Original Request.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02:00-03:30 (90 seconds).</a:t>
            </a:r>
          </a:p>
          <a:p>
            <a:endParaRPr/>
          </a:p>
          <a:p>
            <a:r>
              <a:t>The discussion produced four material clarifications.</a:t>
            </a:r>
          </a:p>
          <a:p>
            <a:endParaRPr/>
          </a:p>
          <a:p>
            <a:r>
              <a:t>First, success is not the number of agents, tasks or installation starts. It</a:t>
            </a:r>
          </a:p>
          <a:p>
            <a:r>
              <a:t>is safe, resident-accepted and evidence-complete handover.</a:t>
            </a:r>
          </a:p>
          <a:p>
            <a:endParaRPr/>
          </a:p>
          <a:p>
            <a:r>
              <a:t>Second, mandatory controls and approvals remain deterministic and human-owned.</a:t>
            </a:r>
          </a:p>
          <a:p>
            <a:r>
              <a:t>AI may recommend, draft, reconcile and flag. It must not diagnose hazards,</a:t>
            </a:r>
          </a:p>
          <a:p>
            <a:r>
              <a:t>infer consent, commit capital, award contracts, submit claims or accept work.</a:t>
            </a:r>
          </a:p>
          <a:p>
            <a:endParaRPr/>
          </a:p>
          <a:p>
            <a:r>
              <a:t>Third, the underlying retrofit capital case must be separated from the</a:t>
            </a:r>
          </a:p>
          <a:p>
            <a:r>
              <a:t>incremental technology case. Only improvement over a credible alternative</a:t>
            </a:r>
          </a:p>
          <a:p>
            <a:r>
              <a:t>counts as technology value.</a:t>
            </a:r>
          </a:p>
          <a:p>
            <a:endParaRPr/>
          </a:p>
          <a:p>
            <a:r>
              <a:t>Fourth, the decision today is not full rollout. It is a capped readiness</a:t>
            </a:r>
          </a:p>
          <a:p>
            <a:r>
              <a:t>stage, followed only by separately approved shadow and live pilots.</a:t>
            </a:r>
          </a:p>
          <a:p>
            <a:endParaRPr/>
          </a:p>
          <a:p>
            <a:r>
              <a:t>Keep three qualifications visible throughout: the forty-million-pound funding</a:t>
            </a:r>
          </a:p>
          <a:p>
            <a:r>
              <a:t>opportunity is unsecured, sector figures are planning benchmarks rather than</a:t>
            </a:r>
          </a:p>
          <a:p>
            <a:r>
              <a:t>company facts, and warmer or healthier homes do not guarantee every bill</a:t>
            </a:r>
          </a:p>
          <a:p>
            <a:r>
              <a:t>will fall.</a:t>
            </a:r>
          </a:p>
          <a:p>
            <a:endParaRPr/>
          </a:p>
          <a:p>
            <a:r>
              <a:t>TRANSITION: With those rules established, the business presentation starts</a:t>
            </a:r>
          </a:p>
          <a:p>
            <a:r>
              <a:t>with the resident experience. This is the hook for the story.</a:t>
            </a:r>
          </a:p>
          <a:p>
            <a:endParaRPr/>
          </a:p>
          <a:p>
            <a:r>
              <a:t>SOURCE: Case Study 48 Addendum, Executive Assessment and What We Are</a:t>
            </a:r>
          </a:p>
          <a:p>
            <a:r>
              <a:t>Challenging; BRD, Executive Summary and Evidence Classification.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03:30-04:55 (85 seconds).</a:t>
            </a:r>
          </a:p>
          <a:p>
            <a:endParaRPr/>
          </a:p>
          <a:p>
            <a:r>
              <a:t>HOOK: One home can be complete in every system and still be unfinished for</a:t>
            </a:r>
          </a:p>
          <a:p>
            <a:r>
              <a:t>the resident.</a:t>
            </a:r>
          </a:p>
          <a:p>
            <a:endParaRPr/>
          </a:p>
          <a:p>
            <a:r>
              <a:t>Invite the audience to imagine one home entering the programme. These are</a:t>
            </a:r>
          </a:p>
          <a:p>
            <a:r>
              <a:t>illustrative questions, not quotations from resident research. A resident</a:t>
            </a:r>
          </a:p>
          <a:p>
            <a:r>
              <a:t>wants to understand the proposed work, decide what is right for their home,</a:t>
            </a:r>
          </a:p>
          <a:p>
            <a:r>
              <a:t>organise access and know who will help afterwards.</a:t>
            </a:r>
          </a:p>
          <a:p>
            <a:endParaRPr/>
          </a:p>
          <a:p>
            <a:r>
              <a:t>Internally, those questions cross housing, assessment, finance, procurement,</a:t>
            </a:r>
          </a:p>
          <a:p>
            <a:r>
              <a:t>contractor and quality responsibilities. Each team can complete its own task</a:t>
            </a:r>
          </a:p>
          <a:p>
            <a:r>
              <a:t>while the overall journey still stalls. A survey can be complete while a</a:t>
            </a:r>
          </a:p>
          <a:p>
            <a:r>
              <a:t>design remains unresolved. A contractor can report completion while the</a:t>
            </a:r>
          </a:p>
          <a:p>
            <a:r>
              <a:t>resident still lacks usable guidance or a defect remains open.</a:t>
            </a:r>
          </a:p>
          <a:p>
            <a:endParaRPr/>
          </a:p>
          <a:p>
            <a:r>
              <a:t>The business problem is therefore not simply the number of spreadsheets.</a:t>
            </a:r>
          </a:p>
          <a:p>
            <a:r>
              <a:t>It is the possibility that nobody has a reliable view of what this particular</a:t>
            </a:r>
          </a:p>
          <a:p>
            <a:r>
              <a:t>home needs next, who is accountable and whether it is safe to proceed.</a:t>
            </a:r>
          </a:p>
          <a:p>
            <a:r>
              <a:t>Repeated contact and uncertain appointments are potential consequences to</a:t>
            </a:r>
          </a:p>
          <a:p>
            <a:r>
              <a:t>investigate, not established findings about this fictional provider.</a:t>
            </a:r>
          </a:p>
          <a:p>
            <a:endParaRPr/>
          </a:p>
          <a:p>
            <a:r>
              <a:t>ANIMATION CUES: The title and first journey stage are visible. Click once for</a:t>
            </a:r>
          </a:p>
          <a:p>
            <a:r>
              <a:t>Decide, once for Prepare and once for Live with it. Click again to reveal the</a:t>
            </a:r>
          </a:p>
          <a:p>
            <a:r>
              <a:t>internal teams; make the contrast that the resident sees one journey. The</a:t>
            </a:r>
          </a:p>
          <a:p>
            <a:r>
              <a:t>final click reveals the uncertainty statement. Pause before saying it.</a:t>
            </a:r>
          </a:p>
          <a:p>
            <a:endParaRPr/>
          </a:p>
          <a:p>
            <a:r>
              <a:t>Pause briefly: which handoff would the executive team most want confidence</a:t>
            </a:r>
          </a:p>
          <a:p>
            <a:r>
              <a:t>in? Use the question to make the problem concrete, not to open a long debate.</a:t>
            </a:r>
          </a:p>
          <a:p>
            <a:endParaRPr/>
          </a:p>
          <a:p>
            <a:r>
              <a:t>TRANSITION: Now multiply this need for a dependable journey across the</a:t>
            </a:r>
          </a:p>
          <a:p>
            <a:r>
              <a:t>portfolio, while being honest about what we do and do not know.</a:t>
            </a:r>
          </a:p>
          <a:p>
            <a:endParaRPr/>
          </a:p>
          <a:p>
            <a:r>
              <a:t>SOURCE: BRD, Problem Statement; BR-011 through BR-020; BR-036 and BR-051.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04:55-06:15 (80 seconds).</a:t>
            </a:r>
          </a:p>
          <a:p>
            <a:endParaRPr/>
          </a:p>
          <a:p>
            <a:r>
              <a:t>The case describes sixty thousand homes. That is fictional operating context,</a:t>
            </a:r>
          </a:p>
          <a:p>
            <a:r>
              <a:t>not a verified customer dataset. Applying the sector planning benchmark of</a:t>
            </a:r>
          </a:p>
          <a:p>
            <a:r>
              <a:t>twenty-six percent below EPC C produces fifteen thousand six hundred homes.</a:t>
            </a:r>
          </a:p>
          <a:p>
            <a:r>
              <a:t>Dividing that by four full delivery years produces three thousand nine</a:t>
            </a:r>
          </a:p>
          <a:p>
            <a:r>
              <a:t>hundred accepted completions annually.</a:t>
            </a:r>
          </a:p>
          <a:p>
            <a:endParaRPr/>
          </a:p>
          <a:p>
            <a:r>
              <a:t>The arithmetic is useful for seeing the scale, but it is not an executable</a:t>
            </a:r>
          </a:p>
          <a:p>
            <a:r>
              <a:t>programme. We still need the address-level energy and condition baseline,</a:t>
            </a:r>
          </a:p>
          <a:p>
            <a:r>
              <a:t>actual accepted throughput, property mix, mobilisation period and capacity.</a:t>
            </a:r>
          </a:p>
          <a:p>
            <a:r>
              <a:t>Doubling an unknown delivery baseline is not a credible promise.</a:t>
            </a:r>
          </a:p>
          <a:p>
            <a:endParaRPr/>
          </a:p>
          <a:p>
            <a:r>
              <a:t>There is real urgency without manufacturing certainty. The BRD records</a:t>
            </a:r>
          </a:p>
          <a:p>
            <a:r>
              <a:t>current hazard duties and forthcoming regulatory phases as at 11 September</a:t>
            </a:r>
          </a:p>
          <a:p>
            <a:r>
              <a:t>2026, and treats EPC C by 2030 as proposed rather than an in-force deadline.</a:t>
            </a:r>
          </a:p>
          <a:p>
            <a:r>
              <a:t>It also records Wave 3 grant spend by March 2028 and delivery to September</a:t>
            </a:r>
          </a:p>
          <a:p>
            <a:r>
              <a:t>2028, but no award to this association is evidenced. These conditions require</a:t>
            </a:r>
          </a:p>
          <a:p>
            <a:r>
              <a:t>current official verification before decisions.</a:t>
            </a:r>
          </a:p>
          <a:p>
            <a:endParaRPr/>
          </a:p>
          <a:p>
            <a:r>
              <a:t>The executive choice is not whether to care about speed. It is whether we</a:t>
            </a:r>
          </a:p>
          <a:p>
            <a:r>
              <a:t>have a trustworthy basis for deciding where and how to accelerate.</a:t>
            </a:r>
          </a:p>
          <a:p>
            <a:endParaRPr/>
          </a:p>
          <a:p>
            <a:r>
              <a:t>ANIMATION CUES: Begin with the portfolio size. Click to introduce the</a:t>
            </a:r>
          </a:p>
          <a:p>
            <a:r>
              <a:t>below-EPC-C scenario with its qualification, then click to introduce the</a:t>
            </a:r>
          </a:p>
          <a:p>
            <a:r>
              <a:t>annual trajectory with its qualification. Never reveal a number separately</a:t>
            </a:r>
          </a:p>
          <a:p>
            <a:r>
              <a:t>from the label that explains its evidence status. The final click reveals</a:t>
            </a:r>
          </a:p>
          <a:p>
            <a:r>
              <a:t>the current-duty statement.</a:t>
            </a:r>
          </a:p>
          <a:p>
            <a:endParaRPr/>
          </a:p>
          <a:p>
            <a:r>
              <a:t>TRANSITION: To create that basis, we must find the real constraint rather</a:t>
            </a:r>
          </a:p>
          <a:p>
            <a:r>
              <a:t>than assume that AI can remove every source of delay.</a:t>
            </a:r>
          </a:p>
          <a:p>
            <a:endParaRPr/>
          </a:p>
          <a:p>
            <a:r>
              <a:t>SOURCE: BRD, OBJ-01/02, Provisional Sector Benchmark Pack, Regulatory Timing.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06:15-07:55 (100 seconds).</a:t>
            </a:r>
          </a:p>
          <a:p>
            <a:endParaRPr/>
          </a:p>
          <a:p>
            <a:r>
              <a:t>The tempting answer is to put an agent on every spreadsheet. That may improve</a:t>
            </a:r>
          </a:p>
          <a:p>
            <a:r>
              <a:t>administration, but the next home still needs reliable property information,</a:t>
            </a:r>
          </a:p>
          <a:p>
            <a:r>
              <a:t>competent professional input, an available supplier, appropriate resident</a:t>
            </a:r>
          </a:p>
          <a:p>
            <a:r>
              <a:t>arrangements and funding the association can afford.</a:t>
            </a:r>
          </a:p>
          <a:p>
            <a:endParaRPr/>
          </a:p>
          <a:p>
            <a:r>
              <a:t>If design capacity is the constraint, generating more survey packs can grow</a:t>
            </a:r>
          </a:p>
          <a:p>
            <a:r>
              <a:t>the queue rather than increase accepted outcomes. If supplier capacity is</a:t>
            </a:r>
          </a:p>
          <a:p>
            <a:r>
              <a:t>unavailable, a faster scheduling recommendation does not create a crew.</a:t>
            </a:r>
          </a:p>
          <a:p>
            <a:r>
              <a:t>If a resident needs an adjustment, optimisation cannot wish that need away.</a:t>
            </a:r>
          </a:p>
          <a:p>
            <a:r>
              <a:t>These are examples of why we need evidence about the bottleneck, not claims</a:t>
            </a:r>
          </a:p>
          <a:p>
            <a:r>
              <a:t>that these exact failures have been observed at Proper North Homes.</a:t>
            </a:r>
          </a:p>
          <a:p>
            <a:endParaRPr/>
          </a:p>
          <a:p>
            <a:r>
              <a:t>Our first intervention is therefore a readiness exercise. Measure time at</a:t>
            </a:r>
          </a:p>
          <a:p>
            <a:r>
              <a:t>each stage, why work waits, how often evidence is rejected and how much</a:t>
            </a:r>
          </a:p>
          <a:p>
            <a:r>
              <a:t>effort is spent correcting or chasing it. Compare process redesign,</a:t>
            </a:r>
          </a:p>
          <a:p>
            <a:r>
              <a:t>configuration of existing systems, conventional workflow and bounded AI.</a:t>
            </a:r>
          </a:p>
          <a:p>
            <a:endParaRPr/>
          </a:p>
          <a:p>
            <a:r>
              <a:t>This is not a reason to abandon technology. It is how we direct technology</a:t>
            </a:r>
          </a:p>
          <a:p>
            <a:r>
              <a:t>at a constraint it can actually relieve. The proposition should release</a:t>
            </a:r>
          </a:p>
          <a:p>
            <a:r>
              <a:t>scarce specialist time for judgement, not replace professional competence.</a:t>
            </a:r>
          </a:p>
          <a:p>
            <a:endParaRPr/>
          </a:p>
          <a:p>
            <a:r>
              <a:t>Ask the executive team to hold one test in mind: will this change increase</a:t>
            </a:r>
          </a:p>
          <a:p>
            <a:r>
              <a:t>accepted outcomes, or merely move the backlog to another team?</a:t>
            </a:r>
          </a:p>
          <a:p>
            <a:endParaRPr/>
          </a:p>
          <a:p>
            <a:r>
              <a:t>TRANSITION: The answer we propose is a dependable operating model, with</a:t>
            </a:r>
          </a:p>
          <a:p>
            <a:r>
              <a:t>technology supporting the next safe step.</a:t>
            </a:r>
          </a:p>
          <a:p>
            <a:endParaRPr/>
          </a:p>
          <a:p>
            <a:r>
              <a:t>SOURCE: BRD, Executive Summary, BR-022, BR-043, BR-044 and trade-offs.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07:55-09:15 (80 seconds).</a:t>
            </a:r>
          </a:p>
          <a:p>
            <a:endParaRPr/>
          </a:p>
          <a:p>
            <a:r>
              <a:t>Here is the solution in business language. For each home, establish the</a:t>
            </a:r>
          </a:p>
          <a:p>
            <a:r>
              <a:t>evidence, make accountability explicit and identify the next safe step.</a:t>
            </a:r>
          </a:p>
          <a:p>
            <a:r>
              <a:t>Across the portfolio, show executives where work is progressing, where it</a:t>
            </a:r>
          </a:p>
          <a:p>
            <a:r>
              <a:t>is held and what decision or resource would unblock it.</a:t>
            </a:r>
          </a:p>
          <a:p>
            <a:endParaRPr/>
          </a:p>
          <a:p>
            <a:r>
              <a:t>The BRD calls the enabling capability a portfolio control plane. Think of</a:t>
            </a:r>
          </a:p>
          <a:p>
            <a:r>
              <a:t>that as a shared workflow and evidence layer joining the existing asset,</a:t>
            </a:r>
          </a:p>
          <a:p>
            <a:r>
              <a:t>housing, repairs, finance and contractor services. It is not a proposal to</a:t>
            </a:r>
          </a:p>
          <a:p>
            <a:r>
              <a:t>replace all of those systems.</a:t>
            </a:r>
          </a:p>
          <a:p>
            <a:endParaRPr/>
          </a:p>
          <a:p>
            <a:r>
              <a:t>Rules enforce mandatory gates. People retain decisions about safety,</a:t>
            </a:r>
          </a:p>
          <a:p>
            <a:r>
              <a:t>technical approval, resident agreement, investment, contracts, grants and</a:t>
            </a:r>
          </a:p>
          <a:p>
            <a:r>
              <a:t>quality. Bounded AI can prepare sourced drafts, reconcile information and</a:t>
            </a:r>
          </a:p>
          <a:p>
            <a:r>
              <a:t>identify anomalies. It does not become a new accountable executive or a</a:t>
            </a:r>
          </a:p>
          <a:p>
            <a:r>
              <a:t>substitute for a competent professional.</a:t>
            </a:r>
          </a:p>
          <a:p>
            <a:endParaRPr/>
          </a:p>
          <a:p>
            <a:r>
              <a:t>ANIMATION CUES: Reveal the proposition in three beats: trusted evidence,</a:t>
            </a:r>
          </a:p>
          <a:p>
            <a:r>
              <a:t>named owners, then the next safe step. Reveal each heading and its question</a:t>
            </a:r>
          </a:p>
          <a:p>
            <a:r>
              <a:t>together. The last click reveals the boundary statement about connecting</a:t>
            </a:r>
          </a:p>
          <a:p>
            <a:r>
              <a:t>existing services and using AI only where it earns its place.</a:t>
            </a:r>
          </a:p>
          <a:p>
            <a:endParaRPr/>
          </a:p>
          <a:p>
            <a:r>
              <a:t>This is deliberately a business view. We will use a later architecture</a:t>
            </a:r>
          </a:p>
          <a:p>
            <a:r>
              <a:t>section to explain how the integration and controls work. Today the test is</a:t>
            </a:r>
          </a:p>
          <a:p>
            <a:r>
              <a:t>whether this operating model addresses the business problem.</a:t>
            </a:r>
          </a:p>
          <a:p>
            <a:endParaRPr/>
          </a:p>
          <a:p>
            <a:r>
              <a:t>TRANSITION: What changes in the day-to-day work of the programme team?</a:t>
            </a:r>
          </a:p>
          <a:p>
            <a:endParaRPr/>
          </a:p>
          <a:p>
            <a:r>
              <a:t>SOURCE: BRD, Operating Model and Authority; BR-043 through BR-048.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09:15-10:50 (95 seconds).</a:t>
            </a:r>
          </a:p>
          <a:p>
            <a:endParaRPr/>
          </a:p>
          <a:p>
            <a:r>
              <a:t>Return to our illustrative home. Instead of a coordinator searching several</a:t>
            </a:r>
          </a:p>
          <a:p>
            <a:r>
              <a:t>records for the current version, the proposed service assembles a sourced</a:t>
            </a:r>
          </a:p>
          <a:p>
            <a:r>
              <a:t>pack and shows what is missing. Instead of another message asking who owns</a:t>
            </a:r>
          </a:p>
          <a:p>
            <a:r>
              <a:t>the next step, the exception has a named recipient and a required decision.</a:t>
            </a:r>
          </a:p>
          <a:p>
            <a:endParaRPr/>
          </a:p>
          <a:p>
            <a:r>
              <a:t>Suppose the proposed design changes. The workflow must invalidate the</a:t>
            </a:r>
          </a:p>
          <a:p>
            <a:r>
              <a:t>affected downstream approvals. The resident may need updated information</a:t>
            </a:r>
          </a:p>
          <a:p>
            <a:r>
              <a:t>and a renewed decision; funding and supplier arrangements may need review.</a:t>
            </a:r>
          </a:p>
          <a:p>
            <a:r>
              <a:t>The system must not keep the installation date simply because that makes</a:t>
            </a:r>
          </a:p>
          <a:p>
            <a:r>
              <a:t>the dashboard look better.</a:t>
            </a:r>
          </a:p>
          <a:p>
            <a:endParaRPr/>
          </a:p>
          <a:p>
            <a:r>
              <a:t>The opportunity is to reduce administrative effort and make professional</a:t>
            </a:r>
          </a:p>
          <a:p>
            <a:r>
              <a:t>review more focused. We are not yet claiming a particular saving. The pilot</a:t>
            </a:r>
          </a:p>
          <a:p>
            <a:r>
              <a:t>has to count the effort to review AI drafts, handle false flags and maintain</a:t>
            </a:r>
          </a:p>
          <a:p>
            <a:r>
              <a:t>controls as well as the time it removes.</a:t>
            </a:r>
          </a:p>
          <a:p>
            <a:endParaRPr/>
          </a:p>
          <a:p>
            <a:r>
              <a:t>The right-hand side is the proposed future experience, not a description of</a:t>
            </a:r>
          </a:p>
          <a:p>
            <a:r>
              <a:t>a deployed product. It provides a concrete scenario for a later demo:</a:t>
            </a:r>
          </a:p>
          <a:p>
            <a:r>
              <a:t>evidence arrives, an exception is identified, a person decides and the</a:t>
            </a:r>
          </a:p>
          <a:p>
            <a:r>
              <a:t>property state updates with an audit trail.</a:t>
            </a:r>
          </a:p>
          <a:p>
            <a:endParaRPr/>
          </a:p>
          <a:p>
            <a:r>
              <a:t>ANIMATION CUES: Keep the current-state panel visible. Click once to reveal</a:t>
            </a:r>
          </a:p>
          <a:p>
            <a:r>
              <a:t>the complete future-state panel as a single contrast, not line by line.</a:t>
            </a:r>
          </a:p>
          <a:p>
            <a:r>
              <a:t>Click again for the missing-approval statement.</a:t>
            </a:r>
          </a:p>
          <a:p>
            <a:endParaRPr/>
          </a:p>
          <a:p>
            <a:r>
              <a:t>TRANSITION: A more efficient team is valuable only if the resident also</a:t>
            </a:r>
          </a:p>
          <a:p>
            <a:r>
              <a:t>experiences a more dependable service.</a:t>
            </a:r>
          </a:p>
          <a:p>
            <a:endParaRPr/>
          </a:p>
          <a:p>
            <a:r>
              <a:t>SOURCE: BRD, Future-State Lifecycle; BR-008, BR-017 through BR-019,</a:t>
            </a:r>
          </a:p>
          <a:p>
            <a:r>
              <a:t>BR-041, BR-046 and BR-049.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10:50-12:25 (95 seconds).</a:t>
            </a:r>
          </a:p>
          <a:p>
            <a:endParaRPr/>
          </a:p>
          <a:p>
            <a:r>
              <a:t>The four questions from the opening now become four service commitments to</a:t>
            </a:r>
          </a:p>
          <a:p>
            <a:r>
              <a:t>validate. Clear choices means property-specific, accessible information,</a:t>
            </a:r>
          </a:p>
          <a:p>
            <a:r>
              <a:t>not an automated campaign designed to maximise acceptance. Silence or survey</a:t>
            </a:r>
          </a:p>
          <a:p>
            <a:r>
              <a:t>access is not agreement to installation.</a:t>
            </a:r>
          </a:p>
          <a:p>
            <a:endParaRPr/>
          </a:p>
          <a:p>
            <a:r>
              <a:t>Reliable appointments mean supplier capacity has been confirmed, necessary</a:t>
            </a:r>
          </a:p>
          <a:p>
            <a:r>
              <a:t>adjustments are understood and the resident receives honest updates.</a:t>
            </a:r>
          </a:p>
          <a:p>
            <a:r>
              <a:t>An incomplete appointment must not automatically become resident refusal.</a:t>
            </a:r>
          </a:p>
          <a:p>
            <a:endParaRPr/>
          </a:p>
          <a:p>
            <a:r>
              <a:t>A usable home means more than a contractor reporting a finished job.</a:t>
            </a:r>
          </a:p>
          <a:p>
            <a:r>
              <a:t>It includes competent quality acceptance, accessible operating guidance and</a:t>
            </a:r>
          </a:p>
          <a:p>
            <a:r>
              <a:t>aftercare. A person who can help means an accountable route to challenge a</a:t>
            </a:r>
          </a:p>
          <a:p>
            <a:r>
              <a:t>decision, report a defect or make a complaint without losing other services.</a:t>
            </a:r>
          </a:p>
          <a:p>
            <a:endParaRPr/>
          </a:p>
          <a:p>
            <a:r>
              <a:t>Energy outcomes need equal care. A household that previously under-heated</a:t>
            </a:r>
          </a:p>
          <a:p>
            <a:r>
              <a:t>its home may choose greater comfort rather than lower consumption. Tariffs,</a:t>
            </a:r>
          </a:p>
          <a:p>
            <a:r>
              <a:t>weather, occupancy and the measure itself affect bills. We should measure</a:t>
            </a:r>
          </a:p>
          <a:p>
            <a:r>
              <a:t>comfort, affordability and adverse outcomes instead of promising universal</a:t>
            </a:r>
          </a:p>
          <a:p>
            <a:r>
              <a:t>savings.</a:t>
            </a:r>
          </a:p>
          <a:p>
            <a:endParaRPr/>
          </a:p>
          <a:p>
            <a:r>
              <a:t>These are proposed standards, not claims that residents have validated the</a:t>
            </a:r>
          </a:p>
          <a:p>
            <a:r>
              <a:t>service. Representative digital and non-digital journey testing is a</a:t>
            </a:r>
          </a:p>
          <a:p>
            <a:r>
              <a:t>condition of live use.</a:t>
            </a:r>
          </a:p>
          <a:p>
            <a:endParaRPr/>
          </a:p>
          <a:p>
            <a:r>
              <a:t>TRANSITION: The same discipline we apply to resident promises must apply to</a:t>
            </a:r>
          </a:p>
          <a:p>
            <a:r>
              <a:t>the financial story.</a:t>
            </a:r>
          </a:p>
          <a:p>
            <a:endParaRPr/>
          </a:p>
          <a:p>
            <a:r>
              <a:t>SOURCE: BRD, BR-011 through BR-020, BR-036, BR-037, BR-051,</a:t>
            </a:r>
          </a:p>
          <a:p>
            <a:r>
              <a:t>Pilot Evaluation and CXO Value Proposition.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12:25-14:15 (110 seconds).</a:t>
            </a:r>
          </a:p>
          <a:p>
            <a:endParaRPr/>
          </a:p>
          <a:p>
            <a:r>
              <a:t>This slide establishes scale and financial discipline, not an investment</a:t>
            </a:r>
          </a:p>
          <a:p>
            <a:r>
              <a:t>return. The provisional cohort of fifteen thousand six hundred homes at</a:t>
            </a:r>
          </a:p>
          <a:p>
            <a:r>
              <a:t>twenty thousand pounds each gives three hundred and twelve million pounds.</a:t>
            </a:r>
          </a:p>
          <a:p>
            <a:r>
              <a:t>Those inputs require company and archetype validation.</a:t>
            </a:r>
          </a:p>
          <a:p>
            <a:endParaRPr/>
          </a:p>
          <a:p>
            <a:r>
              <a:t>If the entire cohort qualified for the ordinary full-cap scenario of seven</a:t>
            </a:r>
          </a:p>
          <a:p>
            <a:r>
              <a:t>thousand five hundred pounds per home, the illustrated grant ceiling is one</a:t>
            </a:r>
          </a:p>
          <a:p>
            <a:r>
              <a:t>hundred and seventeen million pounds. The provider balance is still one</a:t>
            </a:r>
          </a:p>
          <a:p>
            <a:r>
              <a:t>hundred and ninety-five million on the same cost basis.</a:t>
            </a:r>
          </a:p>
          <a:p>
            <a:endParaRPr/>
          </a:p>
          <a:p>
            <a:r>
              <a:t>Neither the ceiling nor the forty-million-pound opportunity in the original</a:t>
            </a:r>
          </a:p>
          <a:p>
            <a:r>
              <a:t>request is an award. They must not be added together. If only forty million</a:t>
            </a:r>
          </a:p>
          <a:p>
            <a:r>
              <a:t>were ultimately received against this full programme cost, the balance would</a:t>
            </a:r>
          </a:p>
          <a:p>
            <a:r>
              <a:t>be two hundred and seventy-two million. Actual eligibility, scheme averaging</a:t>
            </a:r>
          </a:p>
          <a:p>
            <a:r>
              <a:t>rules, allocation, claims and receipt timing govern the funding case.</a:t>
            </a:r>
          </a:p>
          <a:p>
            <a:endParaRPr/>
          </a:p>
          <a:p>
            <a:r>
              <a:t>The cost input is called fully loaded, but its inclusions are not yet clear.</a:t>
            </a:r>
          </a:p>
          <a:p>
            <a:r>
              <a:t>We must map them before adding technology, overhead, financing, enabling</a:t>
            </a:r>
          </a:p>
          <a:p>
            <a:r>
              <a:t>work or contingency, otherwise we could double count costs.</a:t>
            </a:r>
          </a:p>
          <a:p>
            <a:endParaRPr/>
          </a:p>
          <a:p>
            <a:r>
              <a:t>The solution's financial contribution is more disciplined capital allocation,</a:t>
            </a:r>
          </a:p>
          <a:p>
            <a:r>
              <a:t>less avoidable expenditure and better conversion of eligible awards into</a:t>
            </a:r>
          </a:p>
          <a:p>
            <a:r>
              <a:t>compliant claims and cash. It does not fund the works by itself. Monthly</a:t>
            </a:r>
          </a:p>
          <a:p>
            <a:r>
              <a:t>liquidity, match funding and covenant headroom remain executive controls.</a:t>
            </a:r>
          </a:p>
          <a:p>
            <a:endParaRPr/>
          </a:p>
          <a:p>
            <a:r>
              <a:t>ANIMATION CUES: Start with gross programme cost and the calculation. Click</a:t>
            </a:r>
          </a:p>
          <a:p>
            <a:r>
              <a:t>once to reveal the grant ceiling with its qualification, then click again</a:t>
            </a:r>
          </a:p>
          <a:p>
            <a:r>
              <a:t>to reveal the provider balance with its qualification. The final click</a:t>
            </a:r>
          </a:p>
          <a:p>
            <a:r>
              <a:t>reveals the warning that the separate GBP 40 million opportunity is</a:t>
            </a:r>
          </a:p>
          <a:p>
            <a:r>
              <a:t>unverified.</a:t>
            </a:r>
          </a:p>
          <a:p>
            <a:endParaRPr/>
          </a:p>
          <a:p>
            <a:r>
              <a:t>TRANSITION: To make a credible technology investment case, separate this</a:t>
            </a:r>
          </a:p>
          <a:p>
            <a:r>
              <a:t>underlying capital programme from the incremental value of the new service.</a:t>
            </a:r>
          </a:p>
          <a:p>
            <a:endParaRPr/>
          </a:p>
          <a:p>
            <a:r>
              <a:t>SOURCE: BRD, BR-025 through BR-031; Illustrative Economics and Review Qualifications.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14:15-15:45 (90 seconds).</a:t>
            </a:r>
          </a:p>
          <a:p>
            <a:endParaRPr/>
          </a:p>
          <a:p>
            <a:r>
              <a:t>These are four outcome categories the executive team can own and test.</a:t>
            </a:r>
          </a:p>
          <a:p>
            <a:r>
              <a:t>Programme leadership measures whether coordination effort and cycle time</a:t>
            </a:r>
          </a:p>
          <a:p>
            <a:r>
              <a:t>fall. Finance measures attributable avoided expenditure, eligible grant</a:t>
            </a:r>
          </a:p>
          <a:p>
            <a:r>
              <a:t>conversion and cash exposure. Resident leadership measures lived outcomes.</a:t>
            </a:r>
          </a:p>
          <a:p>
            <a:r>
              <a:t>Assets and quality leadership measure accepted work and defects.</a:t>
            </a:r>
          </a:p>
          <a:p>
            <a:endParaRPr/>
          </a:p>
          <a:p>
            <a:r>
              <a:t>The key phrase is attributable improvement. The association would obtain</a:t>
            </a:r>
          </a:p>
          <a:p>
            <a:r>
              <a:t>some benefits from retrofit even without new technology. We cannot claim</a:t>
            </a:r>
          </a:p>
          <a:p>
            <a:r>
              <a:t>the whole capital programme as the return on an AI investment.</a:t>
            </a:r>
          </a:p>
          <a:p>
            <a:endParaRPr/>
          </a:p>
          <a:p>
            <a:r>
              <a:t>Likewise, staff time released is capacity until a budget owner confirms</a:t>
            </a:r>
          </a:p>
          <a:p>
            <a:r>
              <a:t>that expenditure will reduce. Grant already assumed in the plan is not a</a:t>
            </a:r>
          </a:p>
          <a:p>
            <a:r>
              <a:t>new benefit; receiving it earlier is a timing improvement. Resident savings</a:t>
            </a:r>
          </a:p>
          <a:p>
            <a:r>
              <a:t>are resident value, not landlord cash. Better governance matters, but we</a:t>
            </a:r>
          </a:p>
          <a:p>
            <a:r>
              <a:t>should not invent a large borrowing-capacity benefit without a treasury model.</a:t>
            </a:r>
          </a:p>
          <a:p>
            <a:endParaRPr/>
          </a:p>
          <a:p>
            <a:r>
              <a:t>Compare the selected option with process improvement and conventional</a:t>
            </a:r>
          </a:p>
          <a:p>
            <a:r>
              <a:t>workflow. Include integration, data remediation, licences, support, training,</a:t>
            </a:r>
          </a:p>
          <a:p>
            <a:r>
              <a:t>human review, assurance and exit costs. If AI does not add value, choose the</a:t>
            </a:r>
          </a:p>
          <a:p>
            <a:r>
              <a:t>simpler option while retaining the stronger operating controls.</a:t>
            </a:r>
          </a:p>
          <a:p>
            <a:endParaRPr/>
          </a:p>
          <a:p>
            <a:r>
              <a:t>TRANSITION: That is why we propose staged proof rather than one large</a:t>
            </a:r>
          </a:p>
          <a:p>
            <a:r>
              <a:t>transformation commitment.</a:t>
            </a:r>
          </a:p>
          <a:p>
            <a:endParaRPr/>
          </a:p>
          <a:p>
            <a:r>
              <a:t>SOURCE: BRD, CXO Value Proposition, Separate Investment Cases and Attribution,</a:t>
            </a:r>
          </a:p>
          <a:p>
            <a:r>
              <a:t>Benefits Validation Register, BR-029, BR-043 and BR-049.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15:45-17:15 (90 seconds).</a:t>
            </a:r>
          </a:p>
          <a:p>
            <a:endParaRPr/>
          </a:p>
          <a:p>
            <a:r>
              <a:t>The initial step is deliberately small enough to make a better decision:</a:t>
            </a:r>
          </a:p>
          <a:p>
            <a:r>
              <a:t>establish readiness. The proposed six-to-eight-week period validates the</a:t>
            </a:r>
          </a:p>
          <a:p>
            <a:r>
              <a:t>cohort, bottlenecks, people, suppliers, funding and technology options. The</a:t>
            </a:r>
          </a:p>
          <a:p>
            <a:r>
              <a:t>actual scope, cost ceiling and schedule require approval.</a:t>
            </a:r>
          </a:p>
          <a:p>
            <a:endParaRPr/>
          </a:p>
          <a:p>
            <a:r>
              <a:t>Shadow mode then tests recommendations, drafts and exceptions without live</a:t>
            </a:r>
          </a:p>
          <a:p>
            <a:r>
              <a:t>commitments or resident contact. It gives us a chance to compare AI with</a:t>
            </a:r>
          </a:p>
          <a:p>
            <a:r>
              <a:t>simpler workflow and to examine errors before they affect delivery.</a:t>
            </a:r>
          </a:p>
          <a:p>
            <a:endParaRPr/>
          </a:p>
          <a:p>
            <a:r>
              <a:t>The live pilot is proposed for one locality and a small number of understood</a:t>
            </a:r>
          </a:p>
          <a:p>
            <a:r>
              <a:t>archetypes, with a retained cross-functional team and ring-fenced supplier</a:t>
            </a:r>
          </a:p>
          <a:p>
            <a:r>
              <a:t>and quality capacity. Its indicative six-to-nine-month duration is not a</a:t>
            </a:r>
          </a:p>
          <a:p>
            <a:r>
              <a:t>promise that procurement and mobilisation can be compressed into that time.</a:t>
            </a:r>
          </a:p>
          <a:p>
            <a:r>
              <a:t>Readiness must resolve the actual critical path.</a:t>
            </a:r>
          </a:p>
          <a:p>
            <a:endParaRPr/>
          </a:p>
          <a:p>
            <a:r>
              <a:t>Only then do we repeat schemes and release further investment in tranches.</a:t>
            </a:r>
          </a:p>
          <a:p>
            <a:r>
              <a:t>Every phase has independent control-owner evidence, and acceleration beyond</a:t>
            </a:r>
          </a:p>
          <a:p>
            <a:r>
              <a:t>the approved annual plan requires Board approval.</a:t>
            </a:r>
          </a:p>
          <a:p>
            <a:endParaRPr/>
          </a:p>
          <a:p>
            <a:r>
              <a:t>Current hazard response and eligible grant activity continue throughout.</a:t>
            </a:r>
          </a:p>
          <a:p>
            <a:r>
              <a:t>The digital programme must not become a reason to postpone existing duties.</a:t>
            </a:r>
          </a:p>
          <a:p>
            <a:endParaRPr/>
          </a:p>
          <a:p>
            <a:r>
              <a:t>ANIMATION CUES: Readiness is visible first. Click once for shadow mode, once</a:t>
            </a:r>
          </a:p>
          <a:p>
            <a:r>
              <a:t>for the bounded live pilot, once for repeat schemes and once for selective</a:t>
            </a:r>
          </a:p>
          <a:p>
            <a:r>
              <a:t>scale. Reveal each phase number, heading and description together. The final</a:t>
            </a:r>
          </a:p>
          <a:p>
            <a:r>
              <a:t>click reveals the evidence-and-approval statement.</a:t>
            </a:r>
          </a:p>
          <a:p>
            <a:endParaRPr/>
          </a:p>
          <a:p>
            <a:r>
              <a:t>TRANSITION: What evidence should cause this executive team to say yes, pause</a:t>
            </a:r>
          </a:p>
          <a:p>
            <a:r>
              <a:t>or choose a different option?</a:t>
            </a:r>
          </a:p>
          <a:p>
            <a:endParaRPr/>
          </a:p>
          <a:p>
            <a:r>
              <a:t>SOURCE: BRD, Delivery Phases and Approval Gates, BR-030, BR-047, BR-050,</a:t>
            </a:r>
          </a:p>
          <a:p>
            <a:r>
              <a:t>Validation and Approval Criteria.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17:15-18:40 (85 seconds).</a:t>
            </a:r>
          </a:p>
          <a:p>
            <a:endParaRPr/>
          </a:p>
          <a:p>
            <a:r>
              <a:t>These are proposed pilot targets, not a sales guarantee. The BRD proposes</a:t>
            </a:r>
          </a:p>
          <a:p>
            <a:r>
              <a:t>eighty to one hundred candidate homes and at least fifty accepted handovers,</a:t>
            </a:r>
          </a:p>
          <a:p>
            <a:r>
              <a:t>a twenty-percent reduction in assessment-to-ready-to-install time and a</a:t>
            </a:r>
          </a:p>
          <a:p>
            <a:r>
              <a:t>twenty-five-percent reduction in coordination effort per accepted home.</a:t>
            </a:r>
          </a:p>
          <a:p>
            <a:endParaRPr/>
          </a:p>
          <a:p>
            <a:r>
              <a:t>Before testing, agree the baseline, comparison cohort, definitions and</a:t>
            </a:r>
          </a:p>
          <a:p>
            <a:r>
              <a:t>thresholds. Count the human time needed to review drafts and manage</a:t>
            </a:r>
          </a:p>
          <a:p>
            <a:r>
              <a:t>exceptions. Keep paused, incomplete, excluded and reopened cases visible;</a:t>
            </a:r>
          </a:p>
          <a:p>
            <a:r>
              <a:t>otherwise the apparent improvement could just reflect cherry-picking.</a:t>
            </a:r>
          </a:p>
          <a:p>
            <a:endParaRPr/>
          </a:p>
          <a:p>
            <a:r>
              <a:t>An accepted handover means the relevant approvals, resident decision or</a:t>
            </a:r>
          </a:p>
          <a:p>
            <a:r>
              <a:t>separately authorised lawful process, physical and documentary quality,</a:t>
            </a:r>
          </a:p>
          <a:p>
            <a:r>
              <a:t>defect controls and accessible handover are satisfied. It is not simply</a:t>
            </a:r>
          </a:p>
          <a:p>
            <a:r>
              <a:t>a contractor's completion notification. Energy outcomes are separate.</a:t>
            </a:r>
          </a:p>
          <a:p>
            <a:endParaRPr/>
          </a:p>
          <a:p>
            <a:r>
              <a:t>The guardrails are non-negotiable. No unauthorised starts, no autonomous</a:t>
            </a:r>
          </a:p>
          <a:p>
            <a:r>
              <a:t>controlled approvals and no unresolved safety-critical or material defects</a:t>
            </a:r>
          </a:p>
          <a:p>
            <a:r>
              <a:t>at handover. Test critical exceptions before live use and retain independent</a:t>
            </a:r>
          </a:p>
          <a:p>
            <a:r>
              <a:t>assurance. Fifty successful handovers cannot establish zero live risk.</a:t>
            </a:r>
          </a:p>
          <a:p>
            <a:endParaRPr/>
          </a:p>
          <a:p>
            <a:r>
              <a:t>Also disclose what the pilot cannot yet prove, particularly seasonal comfort</a:t>
            </a:r>
          </a:p>
          <a:p>
            <a:r>
              <a:t>and energy outcomes. A failure of the AI value case should stop expansion or</a:t>
            </a:r>
          </a:p>
          <a:p>
            <a:r>
              <a:t>lead to a conventional workflow option, not weaker acceptance criteria.</a:t>
            </a:r>
          </a:p>
          <a:p>
            <a:endParaRPr/>
          </a:p>
          <a:p>
            <a:r>
              <a:t>ANIMATION CUES: Keep the non-negotiable safeguard visible from the start.</a:t>
            </a:r>
          </a:p>
          <a:p>
            <a:r>
              <a:t>Reveal all three proposed targets together on one click so efficiency never</a:t>
            </a:r>
          </a:p>
          <a:p>
            <a:r>
              <a:t>appears before the conditions that govern it. Click once more for the</a:t>
            </a:r>
          </a:p>
          <a:p>
            <a:r>
              <a:t>baseline and completeness reminder.</a:t>
            </a:r>
          </a:p>
          <a:p>
            <a:endParaRPr/>
          </a:p>
          <a:p>
            <a:r>
              <a:t>TRANSITION: That brings us to the decision we recommend today.</a:t>
            </a:r>
          </a:p>
          <a:p>
            <a:endParaRPr/>
          </a:p>
          <a:p>
            <a:r>
              <a:t>SOURCE: BRD, OBJ-02, OBJ-11, OBJ-12; Pilot Evaluation; BR-049/050.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TIMING: 18:40-20:00 (80 seconds).</a:t>
            </a:r>
          </a:p>
          <a:p>
            <a:endParaRPr/>
          </a:p>
          <a:p>
            <a:r>
              <a:t>Close with a proportionate decision. Authorise a capped readiness stage,</a:t>
            </a:r>
          </a:p>
          <a:p>
            <a:r>
              <a:t>subject to agreeing the budget, boundaries and delegated authority. We do</a:t>
            </a:r>
          </a:p>
          <a:p>
            <a:r>
              <a:t>not have a validated price or return figure to ask this team to accept today.</a:t>
            </a:r>
          </a:p>
          <a:p>
            <a:endParaRPr/>
          </a:p>
          <a:p>
            <a:r>
              <a:t>Name the Executive Director of Assets as sponsor, supported by the Chief</a:t>
            </a:r>
          </a:p>
          <a:p>
            <a:r>
              <a:t>Executive, with Finance, Safety, Programme, Resident Engagement, Procurement,</a:t>
            </a:r>
          </a:p>
          <a:p>
            <a:r>
              <a:t>Digital and data-protection ownership. Return with validated constraints,</a:t>
            </a:r>
          </a:p>
          <a:p>
            <a:r>
              <a:t>options, economics and the proposed shadow and live-pilot gates.</a:t>
            </a:r>
          </a:p>
          <a:p>
            <a:endParaRPr/>
          </a:p>
          <a:p>
            <a:r>
              <a:t>We are not seeking approval for a five-agent portfolio rollout, recognition</a:t>
            </a:r>
          </a:p>
          <a:p>
            <a:r>
              <a:t>of forty million pounds as secured grant or acceleration beyond the approved</a:t>
            </a:r>
          </a:p>
          <a:p>
            <a:r>
              <a:t>capital plan.</a:t>
            </a:r>
          </a:p>
          <a:p>
            <a:endParaRPr/>
          </a:p>
          <a:p>
            <a:r>
              <a:t>End on the promise we can responsibly make about the approach: start with</a:t>
            </a:r>
          </a:p>
          <a:p>
            <a:r>
              <a:t>the resident outcome, make evidence and accountability visible, and earn the</a:t>
            </a:r>
          </a:p>
          <a:p>
            <a:r>
              <a:t>right to scale.</a:t>
            </a:r>
          </a:p>
          <a:p>
            <a:endParaRPr/>
          </a:p>
          <a:p>
            <a:r>
              <a:t>ANIMATION CUES: Reveal the decision in three clicks: Authorise, Assign and</a:t>
            </a:r>
          </a:p>
          <a:p>
            <a:r>
              <a:t>Return. Reveal each verb with its complete statement. The final click reveals</a:t>
            </a:r>
          </a:p>
          <a:p>
            <a:r>
              <a:t>the handoff to architecture and the property-journey demo.</a:t>
            </a:r>
          </a:p>
          <a:p>
            <a:endParaRPr/>
          </a:p>
          <a:p>
            <a:r>
              <a:t>HANDOFF FOR LATER EXTENSION: Append the architecture section after this</a:t>
            </a:r>
          </a:p>
          <a:p>
            <a:r>
              <a:t>introduction, explaining systems of record, workflow gates, human approval,</a:t>
            </a:r>
          </a:p>
          <a:p>
            <a:r>
              <a:t>bounded AI and continuity. Follow it with a demo of the illustrative home:</a:t>
            </a:r>
          </a:p>
          <a:p>
            <a:r>
              <a:t>evidence arrives, an exception is raised, an accountable person decides,</a:t>
            </a:r>
          </a:p>
          <a:p>
            <a:r>
              <a:t>resident arrangements are checked and the next safe step is recorded.</a:t>
            </a:r>
          </a:p>
          <a:p>
            <a:r>
              <a:t>These later sections are not included or counted in the twenty minutes.</a:t>
            </a:r>
          </a:p>
          <a:p>
            <a:endParaRPr/>
          </a:p>
          <a:p>
            <a:r>
              <a:t>SOURCE: BRD, Executive Summary; Validation and Approval Criteria; BR-050.</a:t>
            </a:r>
          </a:p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4864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76D6C5"/>
                </a:solidFill>
                <a:latin typeface="Segoe UI"/>
              </a:rPr>
              <a:t>PROPER WARM  /  PROPER NORTH HOMES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417320"/>
            <a:ext cx="1078992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300" b="1" i="0">
                <a:solidFill>
                  <a:srgbClr val="FFFFFF"/>
                </a:solidFill>
                <a:latin typeface="Segoe UI"/>
              </a:rPr>
              <a:t>Warmer homes.</a:t>
            </a:r>
          </a:p>
          <a:p>
            <a:r>
              <a:rPr sz="4300" b="1" i="0">
                <a:solidFill>
                  <a:srgbClr val="FFFFFF"/>
                </a:solidFill>
                <a:latin typeface="Segoe UI"/>
              </a:rPr>
              <a:t>Greater delivery confidence.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3566160"/>
            <a:ext cx="6675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B9D4D6"/>
                </a:solidFill>
                <a:latin typeface="Segoe UI"/>
              </a:rPr>
              <a:t>A safer path from approved investment</a:t>
            </a:r>
          </a:p>
          <a:p>
            <a:r>
              <a:rPr sz="2400" b="0" i="0">
                <a:solidFill>
                  <a:srgbClr val="B9D4D6"/>
                </a:solidFill>
                <a:latin typeface="Segoe UI"/>
              </a:rPr>
              <a:t>to resident-ready outcomes.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092440" y="3657600"/>
            <a:ext cx="914400" cy="1783080"/>
          </a:xfrm>
          <a:prstGeom prst="rect">
            <a:avLst/>
          </a:prstGeom>
          <a:solidFill>
            <a:srgbClr val="225264"/>
          </a:solidFill>
          <a:ln w="12700">
            <a:solidFill>
              <a:srgbClr val="225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326880" y="3246120"/>
            <a:ext cx="914400" cy="2194560"/>
          </a:xfrm>
          <a:prstGeom prst="rect">
            <a:avLst/>
          </a:prstGeom>
          <a:solidFill>
            <a:srgbClr val="28716F"/>
          </a:solidFill>
          <a:ln w="12700">
            <a:solidFill>
              <a:srgbClr val="2871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10561320" y="4023360"/>
            <a:ext cx="914400" cy="1417320"/>
          </a:xfrm>
          <a:prstGeom prst="rect">
            <a:avLst/>
          </a:prstGeom>
          <a:solidFill>
            <a:srgbClr val="76D6C5"/>
          </a:solidFill>
          <a:ln w="12700">
            <a:solidFill>
              <a:srgbClr val="76D6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21040" y="4069080"/>
            <a:ext cx="411480" cy="365760"/>
          </a:xfrm>
          <a:prstGeom prst="rect">
            <a:avLst/>
          </a:prstGeom>
          <a:solidFill>
            <a:srgbClr val="F0C67B"/>
          </a:solidFill>
          <a:ln w="12700">
            <a:solidFill>
              <a:srgbClr val="F0C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55480" y="3657600"/>
            <a:ext cx="411480" cy="365760"/>
          </a:xfrm>
          <a:prstGeom prst="rect">
            <a:avLst/>
          </a:prstGeom>
          <a:solidFill>
            <a:srgbClr val="F0C67B"/>
          </a:solidFill>
          <a:ln w="12700">
            <a:solidFill>
              <a:srgbClr val="F0C6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789920" y="4434840"/>
            <a:ext cx="411480" cy="365760"/>
          </a:xfrm>
          <a:prstGeom prst="rect">
            <a:avLst/>
          </a:prstGeom>
          <a:solidFill>
            <a:srgbClr val="142B3B"/>
          </a:solidFill>
          <a:ln w="12700">
            <a:solidFill>
              <a:srgbClr val="14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58368" y="5120640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FFFFFF"/>
                </a:solidFill>
                <a:latin typeface="Segoe UI"/>
              </a:rPr>
              <a:t>Executive introduction  |  20 minutes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B9D4D6"/>
                </a:solidFill>
                <a:latin typeface="Segoe UI"/>
              </a:rPr>
              <a:t>Fictional case study  |  Draft for discussion  |  11 September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9D4D6"/>
                </a:solidFill>
                <a:latin typeface="Segoe U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INTRODUCTION  |  THE CASE WE WERE ASKED TO SOLVE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The case combines a real business need</a:t>
            </a:r>
          </a:p>
          <a:p>
            <a:r>
              <a:rPr sz="3400" b="1" i="0">
                <a:solidFill>
                  <a:srgbClr val="142B3B"/>
                </a:solidFill>
                <a:latin typeface="Segoe UI"/>
              </a:rPr>
              <a:t>with an unproven answer.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14600"/>
            <a:ext cx="3337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434840" y="2514600"/>
            <a:ext cx="3337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183879" y="2514600"/>
            <a:ext cx="333756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THE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274320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THE PRESSURE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2743200"/>
            <a:ext cx="2880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THE REQUESTED ANSWER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42B3B"/>
                </a:solidFill>
                <a:latin typeface="Segoe UI"/>
              </a:rPr>
              <a:t>A fictional northern</a:t>
            </a:r>
          </a:p>
          <a:p>
            <a:r>
              <a:rPr sz="2100" b="0" i="0">
                <a:solidFill>
                  <a:srgbClr val="142B3B"/>
                </a:solidFill>
                <a:latin typeface="Segoe UI"/>
              </a:rPr>
              <a:t>housing association</a:t>
            </a:r>
          </a:p>
          <a:p>
            <a:r>
              <a:rPr sz="2100" b="0" i="0">
                <a:solidFill>
                  <a:srgbClr val="142B3B"/>
                </a:solidFill>
                <a:latin typeface="Segoe UI"/>
              </a:rPr>
              <a:t>with 60,000 homes.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246120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42B3B"/>
                </a:solidFill>
                <a:latin typeface="Segoe UI"/>
              </a:rPr>
              <a:t>Delivery behind plan,</a:t>
            </a:r>
          </a:p>
          <a:p>
            <a:r>
              <a:rPr sz="2100" b="0" i="0">
                <a:solidFill>
                  <a:srgbClr val="142B3B"/>
                </a:solidFill>
                <a:latin typeface="Segoe UI"/>
              </a:rPr>
              <a:t>with safety, funding</a:t>
            </a:r>
          </a:p>
          <a:p>
            <a:r>
              <a:rPr sz="2100" b="0" i="0">
                <a:solidFill>
                  <a:srgbClr val="142B3B"/>
                </a:solidFill>
                <a:latin typeface="Segoe UI"/>
              </a:rPr>
              <a:t>and 2030 urgency.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0" y="3246120"/>
            <a:ext cx="2880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42B3B"/>
                </a:solidFill>
                <a:latin typeface="Segoe UI"/>
              </a:rPr>
              <a:t>Five-agent design;</a:t>
            </a:r>
          </a:p>
          <a:p>
            <a:r>
              <a:rPr sz="2100" b="0" i="0">
                <a:solidFill>
                  <a:srgbClr val="142B3B"/>
                </a:solidFill>
                <a:latin typeface="Segoe UI"/>
              </a:rPr>
              <a:t>double delivery;</a:t>
            </a:r>
          </a:p>
          <a:p>
            <a:r>
              <a:rPr sz="2100" b="0" i="0">
                <a:solidFill>
                  <a:srgbClr val="142B3B"/>
                </a:solidFill>
                <a:latin typeface="Segoe UI"/>
              </a:rPr>
              <a:t>GBP 40m and lower bills.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074920"/>
            <a:ext cx="10835640" cy="658368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96112" y="5193792"/>
            <a:ext cx="10378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1" i="0">
                <a:solidFill>
                  <a:srgbClr val="142B3B"/>
                </a:solidFill>
                <a:latin typeface="Segoe UI"/>
              </a:rPr>
              <a:t>The need is credible. The proposed answer and quantified value are not yet proven.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Original case preserved as the request, not treated as validated company evidence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/>
      <p:bldP spid="11" grpId="0"/>
      <p:bldP spid="12" grpId="0"/>
      <p:bldP spid="13" grpId="0" animBg="1"/>
      <p:bldP spid="1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INTRODUCTION  |  WHAT THE DISCUSSION CLARIFIED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We challenged the answer</a:t>
            </a:r>
          </a:p>
          <a:p>
            <a:r>
              <a:rPr sz="3400" b="1" i="0">
                <a:solidFill>
                  <a:srgbClr val="142B3B"/>
                </a:solidFill>
                <a:latin typeface="Segoe UI"/>
              </a:rPr>
              <a:t>before selling the solution.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48840"/>
            <a:ext cx="5257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63640" y="2148840"/>
            <a:ext cx="5257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3611880"/>
            <a:ext cx="5257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3611880"/>
            <a:ext cx="5257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OUTCOME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31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AUTHORITY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VALUE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7947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DECISION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14600" y="22677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Accepted, evidence-complete</a:t>
            </a:r>
          </a:p>
          <a:p>
            <a:r>
              <a:rPr sz="1800" b="0" i="0">
                <a:solidFill>
                  <a:srgbClr val="142B3B"/>
                </a:solidFill>
                <a:latin typeface="Segoe UI"/>
              </a:rPr>
              <a:t>handovers; not agent activity.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92440" y="2267712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AI assists. Named people</a:t>
            </a:r>
          </a:p>
          <a:p>
            <a:r>
              <a:rPr sz="1800" b="0" i="0">
                <a:solidFill>
                  <a:srgbClr val="142B3B"/>
                </a:solidFill>
                <a:latin typeface="Segoe UI"/>
              </a:rPr>
              <a:t>retain approval.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14600" y="37947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Separate retrofit capital</a:t>
            </a:r>
          </a:p>
          <a:p>
            <a:r>
              <a:rPr sz="1800" b="0" i="0">
                <a:solidFill>
                  <a:srgbClr val="142B3B"/>
                </a:solidFill>
                <a:latin typeface="Segoe UI"/>
              </a:rPr>
              <a:t>from technology value.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3794760"/>
            <a:ext cx="3154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Readiness and gated pilot;</a:t>
            </a:r>
          </a:p>
          <a:p>
            <a:r>
              <a:rPr sz="1800" b="0" i="0">
                <a:solidFill>
                  <a:srgbClr val="142B3B"/>
                </a:solidFill>
                <a:latin typeface="Segoe UI"/>
              </a:rPr>
              <a:t>not portfolio rollout.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5166360"/>
            <a:ext cx="10835640" cy="594360"/>
          </a:xfrm>
          <a:prstGeom prst="rect">
            <a:avLst/>
          </a:prstGeom>
          <a:solidFill>
            <a:srgbClr val="142B3B"/>
          </a:solidFill>
          <a:ln w="12700">
            <a:solidFill>
              <a:srgbClr val="14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25780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Segoe UI"/>
              </a:rPr>
              <a:t>GBP 40m unverified  |  Sector benchmarks, not company facts  |  Bills may not fall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These clarifications are the rules for reading the business presentation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BUSINESS PRESENTATION  |  THE HOOK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 i="0">
                <a:solidFill>
                  <a:srgbClr val="142B3B"/>
                </a:solidFill>
                <a:latin typeface="Segoe UI"/>
              </a:rPr>
              <a:t>One home can be complete in every system</a:t>
            </a:r>
          </a:p>
          <a:p>
            <a:r>
              <a:rPr sz="3200" b="1" i="0">
                <a:solidFill>
                  <a:srgbClr val="142B3B"/>
                </a:solidFill>
                <a:latin typeface="Segoe UI"/>
              </a:rPr>
              <a:t>and unfinished for the resident.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5603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474720" y="25603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263640" y="25603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052560" y="2560320"/>
            <a:ext cx="24688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76D67"/>
                </a:solidFill>
                <a:latin typeface="Segoe UI"/>
              </a:rPr>
              <a:t>Understand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0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76D67"/>
                </a:solidFill>
                <a:latin typeface="Segoe UI"/>
              </a:rPr>
              <a:t>Decide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6520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76D67"/>
                </a:solidFill>
                <a:latin typeface="Segoe UI"/>
              </a:rP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2743200"/>
            <a:ext cx="2103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76D67"/>
                </a:solidFill>
                <a:latin typeface="Segoe UI"/>
              </a:rPr>
              <a:t>Live with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What will change?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3337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What are my choices?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3337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Who is coming,</a:t>
            </a:r>
          </a:p>
          <a:p>
            <a:r>
              <a:rPr sz="1800" b="0" i="0">
                <a:solidFill>
                  <a:srgbClr val="142B3B"/>
                </a:solidFill>
                <a:latin typeface="Segoe UI"/>
              </a:rPr>
              <a:t>and when?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333756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142B3B"/>
                </a:solidFill>
                <a:latin typeface="Segoe UI"/>
              </a:rPr>
              <a:t>Who helps if it</a:t>
            </a:r>
          </a:p>
          <a:p>
            <a:r>
              <a:rPr sz="1800" b="0" i="0">
                <a:solidFill>
                  <a:srgbClr val="142B3B"/>
                </a:solidFill>
                <a:latin typeface="Segoe UI"/>
              </a:rPr>
              <a:t>does not work?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5720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42B3B"/>
                </a:solidFill>
                <a:latin typeface="Segoe UI"/>
              </a:rPr>
              <a:t>Behind the journey: housing, surveyors, finance, contractors and quality teams.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80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 i="0">
                <a:solidFill>
                  <a:srgbClr val="142B3B"/>
                </a:solidFill>
                <a:latin typeface="Segoe UI"/>
              </a:rPr>
              <a:t>When ownership is unclear, the resident inherits the uncertainty.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Illustrative journey, not resident testimony  |  BRD: resident service and handoffs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9" grpId="0"/>
      <p:bldP spid="10" grpId="0"/>
      <p:bldP spid="11" grpId="0"/>
      <p:bldP spid="13" grpId="0"/>
      <p:bldP spid="14" grpId="0"/>
      <p:bldP spid="15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THE CASE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The ambition is clear.</a:t>
            </a:r>
          </a:p>
          <a:p>
            <a:r>
              <a:rPr sz="3400" b="1" i="0">
                <a:solidFill>
                  <a:srgbClr val="142B3B"/>
                </a:solidFill>
                <a:latin typeface="Segoe UI"/>
              </a:rPr>
              <a:t>The delivery baseline is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3337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900" b="1" i="0">
                <a:solidFill>
                  <a:srgbClr val="142B3B"/>
                </a:solidFill>
                <a:latin typeface="Segoe UI"/>
              </a:rPr>
              <a:t>60,000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560320"/>
            <a:ext cx="3337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900" b="1" i="0">
                <a:solidFill>
                  <a:srgbClr val="176D67"/>
                </a:solidFill>
                <a:latin typeface="Segoe UI"/>
              </a:rPr>
              <a:t>15,600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2560320"/>
            <a:ext cx="333756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900" b="1" i="0">
                <a:solidFill>
                  <a:srgbClr val="176D67"/>
                </a:solidFill>
                <a:latin typeface="Segoe UI"/>
              </a:rPr>
              <a:t>3,900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204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homes in the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5204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homes below EPC C</a:t>
            </a:r>
          </a:p>
          <a:p>
            <a:r>
              <a:rPr sz="2200" b="0" i="0">
                <a:solidFill>
                  <a:srgbClr val="142B3B"/>
                </a:solidFill>
                <a:latin typeface="Segoe UI"/>
              </a:rPr>
              <a:t>in the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520440"/>
            <a:ext cx="32004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accepted completions</a:t>
            </a:r>
          </a:p>
          <a:p>
            <a:r>
              <a:rPr sz="2200" b="0" i="0">
                <a:solidFill>
                  <a:srgbClr val="142B3B"/>
                </a:solidFill>
                <a:latin typeface="Segoe UI"/>
              </a:rPr>
              <a:t>per full delivery year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B606C"/>
                </a:solidFill>
                <a:latin typeface="Segoe UI"/>
              </a:rPr>
              <a:t>Stated fictional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B606C"/>
                </a:solidFill>
                <a:latin typeface="Segoe UI"/>
              </a:rPr>
              <a:t>26% sector benchmark;</a:t>
            </a:r>
          </a:p>
          <a:p>
            <a:r>
              <a:rPr sz="1500" b="0" i="0">
                <a:solidFill>
                  <a:srgbClr val="4B606C"/>
                </a:solidFill>
                <a:latin typeface="Segoe UI"/>
              </a:rPr>
              <a:t>not verified company 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4348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 i="0">
                <a:solidFill>
                  <a:srgbClr val="4B606C"/>
                </a:solidFill>
                <a:latin typeface="Segoe UI"/>
              </a:rPr>
              <a:t>Four-year arithmetic;</a:t>
            </a:r>
          </a:p>
          <a:p>
            <a:r>
              <a:rPr sz="1500" b="0" i="0">
                <a:solidFill>
                  <a:srgbClr val="4B606C"/>
                </a:solidFill>
                <a:latin typeface="Segoe UI"/>
              </a:rPr>
              <a:t>not current throughput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5800" y="5166360"/>
            <a:ext cx="10835640" cy="59436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521208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42B3B"/>
                </a:solidFill>
                <a:latin typeface="Segoe UI"/>
              </a:rPr>
              <a:t>Current safety duties cannot wait for a new digital platform.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Planning scenario, not a delivery commitment  |  BRD: objectives and regulatory timing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8" grpId="0"/>
      <p:bldP spid="9" grpId="0"/>
      <p:bldP spid="11" grpId="0"/>
      <p:bldP spid="12" grpId="0"/>
      <p:bldP spid="13" grpId="0" animBg="1"/>
      <p:bldP spid="1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CHALLENGE THE TECHNOLOGY-FIRST ANSWER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Faster administration is not</a:t>
            </a:r>
          </a:p>
          <a:p>
            <a:r>
              <a:rPr sz="3400" b="1" i="0">
                <a:solidFill>
                  <a:srgbClr val="142B3B"/>
                </a:solidFill>
                <a:latin typeface="Segoe UI"/>
              </a:rPr>
              <a:t>necessarily faster retrofit.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142B3B"/>
                </a:solidFill>
                <a:latin typeface="Segoe UI"/>
              </a:rPr>
              <a:t>The programme moves only when every critical constraint is ready.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3108960"/>
            <a:ext cx="1920240" cy="123444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907792" y="3108960"/>
            <a:ext cx="1920240" cy="123444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129784" y="3108960"/>
            <a:ext cx="1920240" cy="123444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51775" y="3108960"/>
            <a:ext cx="1920240" cy="123444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9573768" y="3108960"/>
            <a:ext cx="1920240" cy="123444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04672" y="3337560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Property</a:t>
            </a:r>
          </a:p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26664" y="3337560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Competent</a:t>
            </a:r>
          </a:p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people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656" y="3337560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Committed</a:t>
            </a:r>
          </a:p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suppliers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3337560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Resident</a:t>
            </a:r>
          </a:p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readiness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3337560"/>
            <a:ext cx="1682496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Affordable</a:t>
            </a:r>
          </a:p>
          <a:p>
            <a:pPr algn="ctr"/>
            <a:r>
              <a:rPr sz="2100" b="1" i="0">
                <a:solidFill>
                  <a:srgbClr val="142B3B"/>
                </a:solidFill>
                <a:latin typeface="Segoe UI"/>
              </a:rPr>
              <a:t>funding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846320"/>
            <a:ext cx="10789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AI can reduce evidence chasing.</a:t>
            </a:r>
          </a:p>
          <a:p>
            <a:r>
              <a:rPr sz="2200" b="0" i="0">
                <a:solidFill>
                  <a:srgbClr val="142B3B"/>
                </a:solidFill>
                <a:latin typeface="Segoe UI"/>
              </a:rPr>
              <a:t>It cannot create an installation crew or approve a resident's choice.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First decision: establish the binding constraint  |  BRD: BR-022, BR-043 and BR-044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6D6C5"/>
                </a:solidFill>
                <a:latin typeface="Segoe UI"/>
              </a:rPr>
              <a:t>THE PROPOSITION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Segoe UI"/>
              </a:rPr>
              <a:t>One governed journey.</a:t>
            </a:r>
          </a:p>
          <a:p>
            <a:r>
              <a:rPr sz="3400" b="1" i="0">
                <a:solidFill>
                  <a:srgbClr val="FFFFFF"/>
                </a:solidFill>
                <a:latin typeface="Segoe UI"/>
              </a:rPr>
              <a:t>Not five autonomous decision-makers.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606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76D6C5"/>
                </a:solidFill>
                <a:latin typeface="Segoe UI"/>
              </a:rPr>
              <a:t>Trusted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606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76D6C5"/>
                </a:solidFill>
                <a:latin typeface="Segoe UI"/>
              </a:rPr>
              <a:t>Named owners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26060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76D6C5"/>
                </a:solidFill>
                <a:latin typeface="Segoe UI"/>
              </a:rPr>
              <a:t>Next safe step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4290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Segoe UI"/>
              </a:rPr>
              <a:t>What is known?</a:t>
            </a:r>
          </a:p>
          <a:p>
            <a:r>
              <a:rPr sz="2400" b="0" i="0">
                <a:solidFill>
                  <a:srgbClr val="FFFFFF"/>
                </a:solidFill>
                <a:latin typeface="Segoe UI"/>
              </a:rPr>
              <a:t>What is missing?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34840" y="34290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Segoe UI"/>
              </a:rPr>
              <a:t>Who decides?</a:t>
            </a:r>
          </a:p>
          <a:p>
            <a:r>
              <a:rPr sz="2400" b="0" i="0">
                <a:solidFill>
                  <a:srgbClr val="FFFFFF"/>
                </a:solidFill>
                <a:latin typeface="Segoe UI"/>
              </a:rPr>
              <a:t>Who owns the gap?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83879" y="342900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Segoe UI"/>
              </a:rPr>
              <a:t>Proceed, pause</a:t>
            </a:r>
          </a:p>
          <a:p>
            <a:r>
              <a:rPr sz="2400" b="0" i="0">
                <a:solidFill>
                  <a:srgbClr val="FFFFFF"/>
                </a:solidFill>
                <a:latin typeface="Segoe UI"/>
              </a:rPr>
              <a:t>or resolve?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892040"/>
            <a:ext cx="10835640" cy="731520"/>
          </a:xfrm>
          <a:prstGeom prst="rect">
            <a:avLst/>
          </a:prstGeom>
          <a:solidFill>
            <a:srgbClr val="225264"/>
          </a:solidFill>
          <a:ln w="12700">
            <a:solidFill>
              <a:srgbClr val="225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02920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FFFFFF"/>
                </a:solidFill>
                <a:latin typeface="Segoe UI"/>
              </a:rPr>
              <a:t>Connect existing services. Use AI only where it earns its place.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B9D4D6"/>
                </a:solidFill>
                <a:latin typeface="Segoe UI"/>
              </a:rPr>
              <a:t>A governed retrofit delivery service  |  BRD: operating model and authority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9D4D6"/>
                </a:solidFill>
                <a:latin typeface="Segoe UI"/>
              </a:rPr>
              <a:t>07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A WORKING DAY, REIMAGINED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Remove avoidable waiting.</a:t>
            </a:r>
          </a:p>
          <a:p>
            <a:r>
              <a:rPr sz="3400" b="1" i="0">
                <a:solidFill>
                  <a:srgbClr val="142B3B"/>
                </a:solidFill>
                <a:latin typeface="Segoe UI"/>
              </a:rPr>
              <a:t>Keep accountable judgement.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423160"/>
            <a:ext cx="5257800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63640" y="2423160"/>
            <a:ext cx="5257800" cy="251460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260604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4B606C"/>
                </a:solidFill>
                <a:latin typeface="Segoe UI"/>
              </a:rPr>
              <a:t>FROM: CHASING STATUS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606040"/>
            <a:ext cx="4709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176D67"/>
                </a:solidFill>
                <a:latin typeface="Segoe UI"/>
              </a:rPr>
              <a:t>TO: RESOLVING THE NEXT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142B3B"/>
                </a:solidFill>
                <a:latin typeface="Segoe UI"/>
              </a:rPr>
              <a:t>Find the latest evidence.</a:t>
            </a:r>
          </a:p>
          <a:p>
            <a:r>
              <a:rPr sz="2300" b="0" i="0">
                <a:solidFill>
                  <a:srgbClr val="142B3B"/>
                </a:solidFill>
                <a:latin typeface="Segoe UI"/>
              </a:rPr>
              <a:t>Ask who owns the gap.</a:t>
            </a:r>
          </a:p>
          <a:p>
            <a:r>
              <a:rPr sz="2300" b="0" i="0">
                <a:solidFill>
                  <a:srgbClr val="142B3B"/>
                </a:solidFill>
                <a:latin typeface="Segoe UI"/>
              </a:rPr>
              <a:t>Reconcile the report again.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32918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0" i="0">
                <a:solidFill>
                  <a:srgbClr val="142B3B"/>
                </a:solidFill>
                <a:latin typeface="Segoe UI"/>
              </a:rPr>
              <a:t>Review sourced evidence.</a:t>
            </a:r>
          </a:p>
          <a:p>
            <a:r>
              <a:rPr sz="2300" b="0" i="0">
                <a:solidFill>
                  <a:srgbClr val="142B3B"/>
                </a:solidFill>
                <a:latin typeface="Segoe UI"/>
              </a:rPr>
              <a:t>Resolve the named exception.</a:t>
            </a:r>
          </a:p>
          <a:p>
            <a:r>
              <a:rPr sz="2300" b="0" i="0">
                <a:solidFill>
                  <a:srgbClr val="142B3B"/>
                </a:solidFill>
                <a:latin typeface="Segoe UI"/>
              </a:rPr>
              <a:t>Report outcomes and holds.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52578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42B3B"/>
                </a:solidFill>
                <a:latin typeface="Segoe UI"/>
              </a:rPr>
              <a:t>A missing approval creates a hold and a human task, not an AI guess.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Illustrative workflow improvement, not measured results  |  BRD: BR-017/019, BR-041 and BR-046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WHAT BETTER SHOULD FEEL LIKE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Resident trust is a delivery outcome.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240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76D67"/>
                </a:solidFill>
                <a:latin typeface="Segoe U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63640" y="224028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76D67"/>
                </a:solidFill>
                <a:latin typeface="Segoe UI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794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76D67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63640" y="379476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76D67"/>
                </a:solidFill>
                <a:latin typeface="Segoe U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224028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2B3B"/>
                </a:solidFill>
                <a:latin typeface="Segoe UI"/>
              </a:rPr>
              <a:t>Clear choices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224028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2B3B"/>
                </a:solidFill>
                <a:latin typeface="Segoe UI"/>
              </a:rPr>
              <a:t>Reliable appointments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79476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2B3B"/>
                </a:solidFill>
                <a:latin typeface="Segoe UI"/>
              </a:rPr>
              <a:t>A usable home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794760"/>
            <a:ext cx="4160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2B3B"/>
                </a:solidFill>
                <a:latin typeface="Segoe UI"/>
              </a:rPr>
              <a:t>A person who can help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3464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4B606C"/>
                </a:solidFill>
                <a:latin typeface="Segoe UI"/>
              </a:rPr>
              <a:t>Accessible information and time</a:t>
            </a:r>
          </a:p>
          <a:p>
            <a:r>
              <a:rPr sz="1900" b="0" i="0">
                <a:solidFill>
                  <a:srgbClr val="4B606C"/>
                </a:solidFill>
                <a:latin typeface="Segoe UI"/>
              </a:rPr>
              <a:t>to consider discretionary measures.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83464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4B606C"/>
                </a:solidFill>
                <a:latin typeface="Segoe UI"/>
              </a:rPr>
              <a:t>Real capacity, agreed adjustments</a:t>
            </a:r>
          </a:p>
          <a:p>
            <a:r>
              <a:rPr sz="1900" b="0" i="0">
                <a:solidFill>
                  <a:srgbClr val="4B606C"/>
                </a:solidFill>
                <a:latin typeface="Segoe UI"/>
              </a:rPr>
              <a:t>and honest updates.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38912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4B606C"/>
                </a:solidFill>
                <a:latin typeface="Segoe UI"/>
              </a:rPr>
              <a:t>Quality checks, practical handover</a:t>
            </a:r>
          </a:p>
          <a:p>
            <a:r>
              <a:rPr sz="1900" b="0" i="0">
                <a:solidFill>
                  <a:srgbClr val="4B606C"/>
                </a:solidFill>
                <a:latin typeface="Segoe UI"/>
              </a:rPr>
              <a:t>and follow-up on comfort.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86600" y="4389120"/>
            <a:ext cx="4160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4B606C"/>
                </a:solidFill>
                <a:latin typeface="Segoe UI"/>
              </a:rPr>
              <a:t>Human review, aftercare and</a:t>
            </a:r>
          </a:p>
          <a:p>
            <a:r>
              <a:rPr sz="1900" b="0" i="0">
                <a:solidFill>
                  <a:srgbClr val="4B606C"/>
                </a:solidFill>
                <a:latin typeface="Segoe UI"/>
              </a:rPr>
              <a:t>complaint routes without detriment.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406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142B3B"/>
                </a:solidFill>
                <a:latin typeface="Segoe UI"/>
              </a:rPr>
              <a:t>Measure comfort and affordability. Do not promise every bill will fall.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Proposed resident outcomes; direct research still required  |  BRD: BR-011 to BR-020, BR-036/037, BR-051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ILLUSTRATIVE ECONOMICS, NOT A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The financial case starts with</a:t>
            </a:r>
          </a:p>
          <a:p>
            <a:r>
              <a:rPr sz="3400" b="1" i="0">
                <a:solidFill>
                  <a:srgbClr val="142B3B"/>
                </a:solidFill>
                <a:latin typeface="Segoe UI"/>
              </a:rPr>
              <a:t>capital discipline.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42316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500" b="1" i="0">
                <a:solidFill>
                  <a:srgbClr val="142B3B"/>
                </a:solidFill>
                <a:latin typeface="Segoe UI"/>
              </a:rPr>
              <a:t>GBP 312m gross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487168"/>
            <a:ext cx="48006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800" b="0" i="0">
                <a:solidFill>
                  <a:srgbClr val="4B606C"/>
                </a:solidFill>
                <a:latin typeface="Segoe UI"/>
              </a:rPr>
              <a:t>15,600 homes x GBP 20,000</a:t>
            </a:r>
          </a:p>
          <a:p>
            <a:pPr algn="r"/>
            <a:r>
              <a:rPr sz="1800" b="0" i="0">
                <a:solidFill>
                  <a:srgbClr val="4B606C"/>
                </a:solidFill>
                <a:latin typeface="Segoe UI"/>
              </a:rPr>
              <a:t>Cost inclusions require validation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85800" y="3337560"/>
            <a:ext cx="3950208" cy="640080"/>
          </a:xfrm>
          <a:prstGeom prst="rect">
            <a:avLst/>
          </a:prstGeom>
          <a:solidFill>
            <a:srgbClr val="176D67"/>
          </a:solidFill>
          <a:ln w="12700">
            <a:solidFill>
              <a:srgbClr val="176D6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937760" y="3337560"/>
            <a:ext cx="6583680" cy="640080"/>
          </a:xfrm>
          <a:prstGeom prst="rect">
            <a:avLst/>
          </a:prstGeom>
          <a:solidFill>
            <a:srgbClr val="D8B376"/>
          </a:solidFill>
          <a:ln w="12700">
            <a:solidFill>
              <a:srgbClr val="D8B3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76D67"/>
                </a:solidFill>
                <a:latin typeface="Segoe UI"/>
              </a:rPr>
              <a:t>GBP 117m grant ceiling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4251960"/>
            <a:ext cx="6492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 i="0">
                <a:solidFill>
                  <a:srgbClr val="142B3B"/>
                </a:solidFill>
                <a:latin typeface="Segoe UI"/>
              </a:rPr>
              <a:t>GBP 195m provider balance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8463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4B606C"/>
                </a:solidFill>
                <a:latin typeface="Segoe UI"/>
              </a:rPr>
              <a:t>Full-cap scenario only.</a:t>
            </a:r>
          </a:p>
          <a:p>
            <a:r>
              <a:rPr sz="1700" b="0" i="0">
                <a:solidFill>
                  <a:srgbClr val="4B606C"/>
                </a:solidFill>
                <a:latin typeface="Segoe UI"/>
              </a:rPr>
              <a:t>Not an allocation or entitlement.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4846320"/>
            <a:ext cx="6492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0" i="0">
                <a:solidFill>
                  <a:srgbClr val="4B606C"/>
                </a:solidFill>
                <a:latin typeface="Segoe UI"/>
              </a:rPr>
              <a:t>Even at that ceiling, provider funding is substantial.</a:t>
            </a:r>
          </a:p>
          <a:p>
            <a:r>
              <a:rPr sz="1700" b="0" i="0">
                <a:solidFill>
                  <a:srgbClr val="4B606C"/>
                </a:solidFill>
                <a:latin typeface="Segoe UI"/>
              </a:rPr>
              <a:t>Cash timing and headroom still govern delivery.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623560"/>
            <a:ext cx="10835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 i="0">
                <a:solidFill>
                  <a:srgbClr val="142B3B"/>
                </a:solidFill>
                <a:latin typeface="Segoe UI"/>
              </a:rPr>
              <a:t>The separate GBP 40m opportunity is unverified. Do not add it to the ceiling.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All figures use provisional inputs; GBP 7,500 ordinary cap  |  BRD: illustrative economics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/>
      <p:bldP spid="9" grpId="0"/>
      <p:bldP spid="10" grpId="0"/>
      <p:bldP spid="11" grpId="0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FOUR OUTCOMES THE EXECUTIVE TEAM CAN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Value must be earned, not assumed.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85800" y="2194560"/>
            <a:ext cx="5257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263640" y="2194560"/>
            <a:ext cx="5257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85800" y="3840480"/>
            <a:ext cx="5257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263640" y="3840480"/>
            <a:ext cx="52578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3591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CAPACITY RELEASED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5915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CAPITAL BETTER CONTROLLED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05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RESIDENT OUTCOMES IMPROVED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40050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 i="0">
                <a:solidFill>
                  <a:srgbClr val="176D67"/>
                </a:solidFill>
                <a:latin typeface="Segoe UI"/>
              </a:rPr>
              <a:t>QUALITY MADE VISIBLE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78892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42B3B"/>
                </a:solidFill>
                <a:latin typeface="Segoe UI"/>
              </a:rPr>
              <a:t>Less chasing.</a:t>
            </a:r>
          </a:p>
          <a:p>
            <a:r>
              <a:rPr sz="2000" b="0" i="0">
                <a:solidFill>
                  <a:srgbClr val="142B3B"/>
                </a:solidFill>
                <a:latin typeface="Segoe UI"/>
              </a:rPr>
              <a:t>More professional judgement.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78892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42B3B"/>
                </a:solidFill>
                <a:latin typeface="Segoe UI"/>
              </a:rPr>
              <a:t>Fewer avoidable costs.</a:t>
            </a:r>
          </a:p>
          <a:p>
            <a:r>
              <a:rPr sz="2000" b="0" i="0">
                <a:solidFill>
                  <a:srgbClr val="142B3B"/>
                </a:solidFill>
                <a:latin typeface="Segoe UI"/>
              </a:rPr>
              <a:t>Clearer cash exposure.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43484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42B3B"/>
                </a:solidFill>
                <a:latin typeface="Segoe UI"/>
              </a:rPr>
              <a:t>Reliable service.</a:t>
            </a:r>
          </a:p>
          <a:p>
            <a:r>
              <a:rPr sz="2000" b="0" i="0">
                <a:solidFill>
                  <a:srgbClr val="142B3B"/>
                </a:solidFill>
                <a:latin typeface="Segoe UI"/>
              </a:rPr>
              <a:t>Comfort and affordability.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4434840"/>
            <a:ext cx="4709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 i="0">
                <a:solidFill>
                  <a:srgbClr val="142B3B"/>
                </a:solidFill>
                <a:latin typeface="Segoe UI"/>
              </a:rPr>
              <a:t>Accepted work.</a:t>
            </a:r>
          </a:p>
          <a:p>
            <a:r>
              <a:rPr sz="2000" b="0" i="0">
                <a:solidFill>
                  <a:srgbClr val="142B3B"/>
                </a:solidFill>
                <a:latin typeface="Segoe UI"/>
              </a:rPr>
              <a:t>Earlier defect containment.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48640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42B3B"/>
                </a:solidFill>
                <a:latin typeface="Segoe UI"/>
              </a:rPr>
              <a:t>Value = attributable improvement over a credible alternative, net of all added costs.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Value hypotheses, not realised benefits  |  BRD: benefits register and separate investment cases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STAGED COMMITMENT, NOT A BIG-BANG 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300" b="1" i="0">
                <a:solidFill>
                  <a:srgbClr val="142B3B"/>
                </a:solidFill>
                <a:latin typeface="Segoe UI"/>
              </a:rPr>
              <a:t>Prove the model before committing to scale.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77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6D67"/>
                </a:solidFill>
                <a:latin typeface="Segoe UI"/>
              </a:rPr>
              <a:t>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07792" y="2377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6D67"/>
                </a:solidFill>
                <a:latin typeface="Segoe U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9784" y="2377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6D67"/>
                </a:solidFill>
                <a:latin typeface="Segoe U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51775" y="2377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6D67"/>
                </a:solidFill>
                <a:latin typeface="Segoe U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73768" y="2377440"/>
            <a:ext cx="19202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 i="0">
                <a:solidFill>
                  <a:srgbClr val="176D67"/>
                </a:solidFill>
                <a:latin typeface="Segoe U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42B3B"/>
                </a:solidFill>
                <a:latin typeface="Segoe UI"/>
              </a:rPr>
              <a:t>Establish</a:t>
            </a:r>
          </a:p>
          <a:p>
            <a:r>
              <a:rPr sz="2100" b="1" i="0">
                <a:solidFill>
                  <a:srgbClr val="142B3B"/>
                </a:solidFill>
                <a:latin typeface="Segoe UI"/>
              </a:rPr>
              <a:t>readiness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07792" y="3108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42B3B"/>
                </a:solidFill>
                <a:latin typeface="Segoe UI"/>
              </a:rPr>
              <a:t>Shadow</a:t>
            </a:r>
          </a:p>
          <a:p>
            <a:r>
              <a:rPr sz="2100" b="1" i="0">
                <a:solidFill>
                  <a:srgbClr val="142B3B"/>
                </a:solidFill>
                <a:latin typeface="Segoe UI"/>
              </a:rPr>
              <a:t>mode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9784" y="3108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42B3B"/>
                </a:solidFill>
                <a:latin typeface="Segoe UI"/>
              </a:rPr>
              <a:t>Bounded</a:t>
            </a:r>
          </a:p>
          <a:p>
            <a:r>
              <a:rPr sz="2100" b="1" i="0">
                <a:solidFill>
                  <a:srgbClr val="142B3B"/>
                </a:solidFill>
                <a:latin typeface="Segoe UI"/>
              </a:rPr>
              <a:t>live pilot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51775" y="3108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42B3B"/>
                </a:solidFill>
                <a:latin typeface="Segoe UI"/>
              </a:rPr>
              <a:t>Repeat</a:t>
            </a:r>
          </a:p>
          <a:p>
            <a:r>
              <a:rPr sz="2100" b="1" i="0">
                <a:solidFill>
                  <a:srgbClr val="142B3B"/>
                </a:solidFill>
                <a:latin typeface="Segoe UI"/>
              </a:rPr>
              <a:t>schemes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73768" y="310896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1" i="0">
                <a:solidFill>
                  <a:srgbClr val="142B3B"/>
                </a:solidFill>
                <a:latin typeface="Segoe UI"/>
              </a:rPr>
              <a:t>Selective</a:t>
            </a:r>
          </a:p>
          <a:p>
            <a:r>
              <a:rPr sz="2100" b="1" i="0">
                <a:solidFill>
                  <a:srgbClr val="142B3B"/>
                </a:solidFill>
                <a:latin typeface="Segoe UI"/>
              </a:rPr>
              <a:t>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B606C"/>
                </a:solidFill>
                <a:latin typeface="Segoe UI"/>
              </a:rPr>
              <a:t>6-8 weeks</a:t>
            </a:r>
          </a:p>
          <a:p>
            <a:r>
              <a:rPr sz="1800" b="0" i="0">
                <a:solidFill>
                  <a:srgbClr val="4B606C"/>
                </a:solidFill>
                <a:latin typeface="Segoe UI"/>
              </a:rPr>
              <a:t>proposed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B606C"/>
                </a:solidFill>
                <a:latin typeface="Segoe UI"/>
              </a:rPr>
              <a:t>No live actions.</a:t>
            </a:r>
          </a:p>
          <a:p>
            <a:r>
              <a:rPr sz="1800" b="0" i="0">
                <a:solidFill>
                  <a:srgbClr val="4B606C"/>
                </a:solidFill>
                <a:latin typeface="Segoe UI"/>
              </a:rPr>
              <a:t>Test options.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9784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B606C"/>
                </a:solidFill>
                <a:latin typeface="Segoe UI"/>
              </a:rPr>
              <a:t>6-9 months</a:t>
            </a:r>
          </a:p>
          <a:p>
            <a:r>
              <a:rPr sz="1800" b="0" i="0">
                <a:solidFill>
                  <a:srgbClr val="4B606C"/>
                </a:solidFill>
                <a:latin typeface="Segoe UI"/>
              </a:rPr>
              <a:t>proposed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51775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B606C"/>
                </a:solidFill>
                <a:latin typeface="Segoe UI"/>
              </a:rPr>
              <a:t>By archetype</a:t>
            </a:r>
          </a:p>
          <a:p>
            <a:r>
              <a:rPr sz="1800" b="0" i="0">
                <a:solidFill>
                  <a:srgbClr val="4B606C"/>
                </a:solidFill>
                <a:latin typeface="Segoe UI"/>
              </a:rPr>
              <a:t>or geography.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73768" y="4114800"/>
            <a:ext cx="1920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4B606C"/>
                </a:solidFill>
                <a:latin typeface="Segoe UI"/>
              </a:rPr>
              <a:t>Release the</a:t>
            </a:r>
          </a:p>
          <a:p>
            <a:r>
              <a:rPr sz="1800" b="0" i="0">
                <a:solidFill>
                  <a:srgbClr val="4B606C"/>
                </a:solidFill>
                <a:latin typeface="Segoe UI"/>
              </a:rPr>
              <a:t>next tranche.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" y="5303520"/>
            <a:ext cx="10835640" cy="594360"/>
          </a:xfrm>
          <a:prstGeom prst="rect">
            <a:avLst/>
          </a:prstGeom>
          <a:solidFill>
            <a:srgbClr val="DFEBE6"/>
          </a:solidFill>
          <a:ln w="12700">
            <a:solidFill>
              <a:srgbClr val="DFE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68680" y="5376672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142B3B"/>
                </a:solidFill>
                <a:latin typeface="Segoe UI"/>
              </a:rPr>
              <a:t>Every step needs evidence and named approval. Calendar progress is not permission.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Indicative phases and durations; ratify during readiness  |  BRD: delivery gates and BR-050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12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4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4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10" grpId="0"/>
      <p:bldP spid="11" grpId="0"/>
      <p:bldP spid="12" grpId="0"/>
      <p:bldP spid="13" grpId="0"/>
      <p:bldP spid="15" grpId="0"/>
      <p:bldP spid="16" grpId="0"/>
      <p:bldP spid="17" grpId="0"/>
      <p:bldP spid="18" grpId="0"/>
      <p:bldP spid="19" grpId="0" animBg="1"/>
      <p:bldP spid="2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3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176D67"/>
                </a:solidFill>
                <a:latin typeface="Segoe UI"/>
              </a:rPr>
              <a:t>PROPOSED PILOT SCORECARD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142B3B"/>
                </a:solidFill>
                <a:latin typeface="Segoe UI"/>
              </a:rPr>
              <a:t>Scale only when the evidence supports it.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331720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900" b="1" i="0">
                <a:solidFill>
                  <a:srgbClr val="176D67"/>
                </a:solidFill>
                <a:latin typeface="Segoe UI"/>
              </a:rPr>
              <a:t>50+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331720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900" b="1" i="0">
                <a:solidFill>
                  <a:srgbClr val="176D67"/>
                </a:solidFill>
                <a:latin typeface="Segoe UI"/>
              </a:rPr>
              <a:t>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183879" y="2331720"/>
            <a:ext cx="3291840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900" b="1" i="0">
                <a:solidFill>
                  <a:srgbClr val="176D67"/>
                </a:solidFill>
                <a:latin typeface="Segoe UI"/>
              </a:rPr>
              <a:t>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337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accepted handovers</a:t>
            </a:r>
          </a:p>
          <a:p>
            <a:r>
              <a:rPr sz="2200" b="0" i="0">
                <a:solidFill>
                  <a:srgbClr val="142B3B"/>
                </a:solidFill>
                <a:latin typeface="Segoe UI"/>
              </a:rPr>
              <a:t>from 80-100 candidates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3337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lower assessment-to-</a:t>
            </a:r>
          </a:p>
          <a:p>
            <a:r>
              <a:rPr sz="2200" b="0" i="0">
                <a:solidFill>
                  <a:srgbClr val="142B3B"/>
                </a:solidFill>
                <a:latin typeface="Segoe UI"/>
              </a:rPr>
              <a:t>ready-to-install time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337560"/>
            <a:ext cx="3200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0" i="0">
                <a:solidFill>
                  <a:srgbClr val="142B3B"/>
                </a:solidFill>
                <a:latin typeface="Segoe UI"/>
              </a:rPr>
              <a:t>less coordination effort</a:t>
            </a:r>
          </a:p>
          <a:p>
            <a:r>
              <a:rPr sz="2200" b="0" i="0">
                <a:solidFill>
                  <a:srgbClr val="142B3B"/>
                </a:solidFill>
                <a:latin typeface="Segoe UI"/>
              </a:rPr>
              <a:t>per accepted home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4526280"/>
            <a:ext cx="10835640" cy="822960"/>
          </a:xfrm>
          <a:prstGeom prst="rect">
            <a:avLst/>
          </a:prstGeom>
          <a:solidFill>
            <a:srgbClr val="142B3B"/>
          </a:solidFill>
          <a:ln w="12700">
            <a:solidFill>
              <a:srgbClr val="142B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4663440"/>
            <a:ext cx="10424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300" b="1" i="0">
                <a:solidFill>
                  <a:srgbClr val="FFFFFF"/>
                </a:solidFill>
                <a:latin typeface="Segoe UI"/>
              </a:rPr>
              <a:t>Safety, resident rights and affordability are non-negotiable.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557784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900" b="0" i="0">
                <a:solidFill>
                  <a:srgbClr val="4B606C"/>
                </a:solidFill>
                <a:latin typeface="Segoe UI"/>
              </a:rPr>
              <a:t>Ratify targets and baselines first. Count review effort, defects and incomplete cases.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4B606C"/>
                </a:solidFill>
                <a:latin typeface="Segoe UI"/>
              </a:rPr>
              <a:t>Targets, not forecasts or proof of safety  |  BRD: OBJ-02, OBJ-11/12 and pilot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4B606C"/>
                </a:solidFill>
                <a:latin typeface="Segoe UI"/>
              </a:rPr>
              <a:t>13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4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2B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76D6C5"/>
                </a:solidFill>
                <a:latin typeface="Segoe UI"/>
              </a:rPr>
              <a:t>THE DECISION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FFFFFF"/>
                </a:solidFill>
                <a:latin typeface="Segoe UI"/>
              </a:rPr>
              <a:t>Approve the next</a:t>
            </a:r>
          </a:p>
          <a:p>
            <a:r>
              <a:rPr sz="3800" b="1" i="0">
                <a:solidFill>
                  <a:srgbClr val="FFFFFF"/>
                </a:solidFill>
                <a:latin typeface="Segoe UI"/>
              </a:rPr>
              <a:t>evidence-building step.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5603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76D6C5"/>
                </a:solidFill>
                <a:latin typeface="Segoe UI"/>
              </a:rPr>
              <a:t>AUTHORISE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333756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76D6C5"/>
                </a:solidFill>
                <a:latin typeface="Segoe UI"/>
              </a:rPr>
              <a:t>ASSIGN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4114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i="0">
                <a:solidFill>
                  <a:srgbClr val="76D6C5"/>
                </a:solidFill>
                <a:latin typeface="Segoe UI"/>
              </a:rPr>
              <a:t>RETURN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51460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Segoe UI"/>
              </a:rPr>
              <a:t>A capped readiness stage; agree its budget and boundaries.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26080" y="329184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Segoe UI"/>
              </a:rPr>
              <a:t>An asset sponsor and accountable cross-functional owners.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4069080"/>
            <a:ext cx="8321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0" i="0">
                <a:solidFill>
                  <a:srgbClr val="FFFFFF"/>
                </a:solidFill>
                <a:latin typeface="Segoe UI"/>
              </a:rPr>
              <a:t>With validated options, economics and a gated pilot case.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" y="5212080"/>
            <a:ext cx="10835640" cy="594360"/>
          </a:xfrm>
          <a:prstGeom prst="rect">
            <a:avLst/>
          </a:prstGeom>
          <a:solidFill>
            <a:srgbClr val="225264"/>
          </a:solidFill>
          <a:ln w="12700">
            <a:solidFill>
              <a:srgbClr val="2252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5303520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100" b="0" i="0">
                <a:solidFill>
                  <a:srgbClr val="FFFFFF"/>
                </a:solidFill>
                <a:latin typeface="Segoe UI"/>
              </a:rPr>
              <a:t>Next: how the architecture enables this service, then a property-journey demo.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126480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0">
                <a:solidFill>
                  <a:srgbClr val="B9D4D6"/>
                </a:solidFill>
                <a:latin typeface="Segoe UI"/>
              </a:rPr>
              <a:t>No full rollout, secured-grant assumption or capital acceleration approval today  |  BRD: approval gates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0" y="61264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B9D4D6"/>
                </a:solidFill>
                <a:latin typeface="Segoe UI"/>
              </a:rPr>
              <a:t>14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4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  <p:bldP spid="9" grpId="0"/>
      <p:bldP spid="10" grpId="0" animBg="1"/>
      <p:bldP spid="11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4920</Words>
  <Application>Microsoft Office PowerPoint</Application>
  <PresentationFormat>Widescreen</PresentationFormat>
  <Paragraphs>669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Proper Warm | Warmer homes. Greater delivery confidence.</dc:title>
  <dc:subject>20-minute case introduction and executive business presentation</dc:subject>
  <dc:creator>AMA Research Team</dc:creator>
  <cp:keywords>Proper North Homes, retrofit, business value, executive introduction</cp:keywords>
  <dc:description>generated using python-pptx</dc:description>
  <cp:lastModifiedBy>Juan Manuel Servera Bondroit</cp:lastModifiedBy>
  <cp:revision>2</cp:revision>
  <dcterms:created xsi:type="dcterms:W3CDTF">2013-01-27T09:14:16Z</dcterms:created>
  <dcterms:modified xsi:type="dcterms:W3CDTF">2026-09-11T13:25:57Z</dcterms:modified>
  <cp:category>Executive proposal - fictional case study</cp:category>
</cp:coreProperties>
</file>