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have the story so far to show you, and four decisions I want your challenge</a:t>
            </a:r>
          </a:p>
          <a:p>
            <a:r>
              <a:t>on. The short version: the brief asks for five agents; two weeks of evidence</a:t>
            </a:r>
          </a:p>
          <a:p>
            <a:r>
              <a:t>says the value is real, but end-to-end agents are not the way to get it. One of</a:t>
            </a:r>
          </a:p>
          <a:p>
            <a:r>
              <a:t>the four decisions is whether that reframing will read as refusing the brief.</a:t>
            </a:r>
          </a:p>
          <a:p/>
          <a:p>
            <a:r>
              <a:t>The title is the story in one line. The brief asks me to build five agents. The</a:t>
            </a:r>
          </a:p>
          <a:p>
            <a:r>
              <a:t>work so far turned that into a different question: what business value do the</a:t>
            </a:r>
          </a:p>
          <a:p>
            <a:r>
              <a:t>people behind those agents actually expect, and what is the smallest thing that</a:t>
            </a:r>
          </a:p>
          <a:p>
            <a:r>
              <a:t>delivers it safely?</a:t>
            </a:r>
          </a:p>
          <a:p/>
          <a:p>
            <a:r>
              <a:t>I will cover five strands in order: research, role agents, BRD iterations, a</a:t>
            </a:r>
          </a:p>
          <a:p>
            <a:r>
              <a:t>design thinking challenge of the five agents, and a BRD quality review. Then</a:t>
            </a:r>
          </a:p>
          <a:p>
            <a:r>
              <a:t>the challenges, how the repository holds the evidence, and my questions for you.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is a one-page solution request. It names five agents with autonomy</a:t>
            </a:r>
          </a:p>
          <a:p>
            <a:r>
              <a:t>levels, a business case, and outcomes such as doubling delivery and capturing</a:t>
            </a:r>
          </a:p>
          <a:p>
            <a:r>
              <a:t>GBP 40 million of grants.</a:t>
            </a:r>
          </a:p>
          <a:p/>
          <a:p>
            <a:r>
              <a:t>What it does not give is everything an architect needs to justify a design: what</a:t>
            </a:r>
          </a:p>
          <a:p>
            <a:r>
              <a:t>kind of organisation this is, what the current throughput and data look like,</a:t>
            </a:r>
          </a:p>
          <a:p>
            <a:r>
              <a:t>which regulations are in force versus proposed, and whether the grant money is</a:t>
            </a:r>
          </a:p>
          <a:p>
            <a:r>
              <a:t>real. Above all, it names the solution before the problem: each agent is</a:t>
            </a:r>
          </a:p>
          <a:p>
            <a:r>
              <a:t>described by a single "owns end-to-end" line.</a:t>
            </a:r>
          </a:p>
          <a:p/>
          <a:p>
            <a:r>
              <a:t>So I set myself one working question for the whole research phase: what business</a:t>
            </a:r>
          </a:p>
          <a:p>
            <a:r>
              <a:t>problem would make these agents worth building? Everything that follows is how I</a:t>
            </a:r>
          </a:p>
          <a:p>
            <a:r>
              <a:t>tried to answer it without inventing facts about the company.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backbone of the story. The five strands were not a straight line;</a:t>
            </a:r>
          </a:p>
          <a:p>
            <a:r>
              <a:t>each loop produced questions that sent me back into research.</a:t>
            </a:r>
          </a:p>
          <a:p/>
          <a:p>
            <a:r>
              <a:t>Research built the context. The role agents let me ask questions the brief could</a:t>
            </a:r>
          </a:p>
          <a:p>
            <a:r>
              <a:t>not answer. The BRD was rewritten ten times as research and role answers came</a:t>
            </a:r>
          </a:p>
          <a:p>
            <a:r>
              <a:t>in. The design thinking session on 26 September was the turning point: instead</a:t>
            </a:r>
          </a:p>
          <a:p>
            <a:r>
              <a:t>of refining five agents, I asked what value each request implied, and tested an</a:t>
            </a:r>
          </a:p>
          <a:p>
            <a:r>
              <a:t>early control plane hypothesis agent by agent. The quality review then made the</a:t>
            </a:r>
          </a:p>
          <a:p>
            <a:r>
              <a:t>requirements traceable and showed where targets are still missing.</a:t>
            </a:r>
          </a:p>
          <a:p/>
          <a:p>
            <a:r>
              <a:t>The important habit: nothing stayed in chat history. Every finding was filed back</a:t>
            </a:r>
          </a:p>
          <a:p>
            <a:r>
              <a:t>into the addendum, the BRD or the knowledge base, and logged.</a:t>
            </a:r>
          </a:p>
          <a:p/>
          <a:p>
            <a:r>
              <a:t>Loop 4, on 26 September, is the turning point. Everything before it built the</a:t>
            </a:r>
          </a:p>
          <a:p>
            <a:r>
              <a:t>case; everything after it made the case testable.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came out of the research phase.</a:t>
            </a:r>
          </a:p>
          <a:p/>
          <a:p>
            <a:r>
              <a:t>First, the company. The brief does not say what kind of organisation this is. I</a:t>
            </a:r>
          </a:p>
          <a:p>
            <a:r>
              <a:t>built a housing association primer and a modelled customer profile from sector</a:t>
            </a:r>
          </a:p>
          <a:p>
            <a:r>
              <a:t>medians. On 26 September I confirmed it is a not-for-profit, which changes how</a:t>
            </a:r>
          </a:p>
          <a:p>
            <a:r>
              <a:t>every role thinks about surplus, stewardship and value for money. Its exact legal</a:t>
            </a:r>
          </a:p>
          <a:p>
            <a:r>
              <a:t>form is still unknown, and I have not assumed charitable status.</a:t>
            </a:r>
          </a:p>
          <a:p/>
          <a:p>
            <a:r>
              <a:t>Second, the numbers. Sector benchmarks suggest about 26 percent of stock is below</a:t>
            </a:r>
          </a:p>
          <a:p>
            <a:r>
              <a:t>EPC C, roughly 15,600 homes. That implies about 3,900 accepted completions a year</a:t>
            </a:r>
          </a:p>
          <a:p>
            <a:r>
              <a:t>and a gross programme of about GBP 312 million. These are planning estimates,</a:t>
            </a:r>
          </a:p>
          <a:p>
            <a:r>
              <a:t>not company facts.</a:t>
            </a:r>
          </a:p>
          <a:p/>
          <a:p>
            <a:r>
              <a:t>Third, regulation. I downloaded 16 official documents so every regulatory claim</a:t>
            </a:r>
          </a:p>
          <a:p>
            <a:r>
              <a:t>has a dated local source.</a:t>
            </a:r>
          </a:p>
          <a:p/>
          <a:p>
            <a:r>
              <a:t>The research also corrected two claims in the brief. The GBP 40 million is an</a:t>
            </a:r>
          </a:p>
          <a:p>
            <a:r>
              <a:t>opportunity, not an award, and would cover at most about 5,333 homes at the grant</a:t>
            </a:r>
          </a:p>
          <a:p>
            <a:r>
              <a:t>cap. Grants are capped and need co-funding, so more grant means more of our own</a:t>
            </a:r>
          </a:p>
          <a:p>
            <a:r>
              <a:t>spend: the addendum illustration is about GBP 66.7 million of provider funding</a:t>
            </a:r>
          </a:p>
          <a:p>
            <a:r>
              <a:t>against the GBP 40 million, as an estimate. Grant capture cannot pay for the</a:t>
            </a:r>
          </a:p>
          <a:p>
            <a:r>
              <a:t>technology on its own. And the brief calls EPC C by 2030 a consultation proposal;</a:t>
            </a:r>
          </a:p>
          <a:p>
            <a:r>
              <a:t>the local snapshot shows a final policy position, which I could not yet evidence</a:t>
            </a:r>
          </a:p>
          <a:p>
            <a:r>
              <a:t>as commenced law.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describes a company that does not exist, so there is nobody to</a:t>
            </a:r>
          </a:p>
          <a:p>
            <a:r>
              <a:t>interview. I created eight role agents, one per perspective that owns part of a</a:t>
            </a:r>
          </a:p>
          <a:p>
            <a:r>
              <a:t>retrofit programme: the asset executive, finance, the programme manager, building</a:t>
            </a:r>
          </a:p>
          <a:p>
            <a:r>
              <a:t>safety, resident engagement, procurement, data and performance, and a frontline</a:t>
            </a:r>
          </a:p>
          <a:p>
            <a:r>
              <a:t>housing officer.</a:t>
            </a:r>
          </a:p>
          <a:p/>
          <a:p>
            <a:r>
              <a:t>The key design choice was to treat them as research instruments, not as</a:t>
            </a:r>
          </a:p>
          <a:p>
            <a:r>
              <a:t>simulated employees. They are anchored to the case, the addendum and the company</a:t>
            </a:r>
          </a:p>
          <a:p>
            <a:r>
              <a:t>research, and they must label every answer as a case fact, a sector hypothesis or</a:t>
            </a:r>
          </a:p>
          <a:p>
            <a:r>
              <a:t>an unknown. That stops an articulate answer from becoming a fake company fact.</a:t>
            </a:r>
          </a:p>
          <a:p/>
          <a:p>
            <a:r>
              <a:t>Their most useful output was not an answer but a question: each role named the</a:t>
            </a:r>
          </a:p>
          <a:p>
            <a:r>
              <a:t>one question that would change its answer most. Those questions are now the</a:t>
            </a:r>
          </a:p>
          <a:p>
            <a:r>
              <a:t>discovery agenda for the real company.</a:t>
            </a:r>
          </a:p>
          <a:p/>
          <a:p>
            <a:r>
              <a:t>Here is one exchange. I asked, in effect, whether a grant-drafting agent would add</a:t>
            </a:r>
          </a:p>
          <a:p>
            <a:r>
              <a:t>value. The finance role answered with a regulatory fact from the local snapshot:</a:t>
            </a:r>
          </a:p>
          <a:p>
            <a:r>
              <a:t>in Greater Manchester and the West Midlands, Wave 3 money is allocated by formula</a:t>
            </a:r>
          </a:p>
          <a:p>
            <a:r>
              <a:t>through integrated settlements, not by competitive bid. Whether Proper North Homes</a:t>
            </a:r>
          </a:p>
          <a:p>
            <a:r>
              <a:t>operates there is unknown. So the value of drafting depends on the funding route,</a:t>
            </a:r>
          </a:p>
          <a:p>
            <a:r>
              <a:t>and the BRD now requires every scheme to record an evidenced funding route before</a:t>
            </a:r>
          </a:p>
          <a:p>
            <a:r>
              <a:t>any bid work starts.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honest origin of the turning point. The doubt about five agents</a:t>
            </a:r>
          </a:p>
          <a:p>
            <a:r>
              <a:t>did not appear on 26 September. It built up across two weeks.</a:t>
            </a:r>
          </a:p>
          <a:p/>
          <a:p>
            <a:r>
              <a:t>On 11 September, my first addendum already said that "agentic" is an</a:t>
            </a:r>
          </a:p>
          <a:p>
            <a:r>
              <a:t>implementation option, not the business outcome, and proposed a portfolio control</a:t>
            </a:r>
          </a:p>
          <a:p>
            <a:r>
              <a:t>plane. On 19 September the BRD gained a cross-functional challenge to the</a:t>
            </a:r>
          </a:p>
          <a:p>
            <a:r>
              <a:t>five-agent request, and the Warm Homes Social Housing Fund annex added real grant</a:t>
            </a:r>
          </a:p>
          <a:p>
            <a:r>
              <a:t>conditions. On 20 September I added regulatory context and reviewed the open</a:t>
            </a:r>
          </a:p>
          <a:p>
            <a:r>
              <a:t>decisions. On 25 September the modelled customer profile arrived and the</a:t>
            </a:r>
          </a:p>
          <a:p>
            <a:r>
              <a:t>knowledge base was restructured.</a:t>
            </a:r>
          </a:p>
          <a:p/>
          <a:p>
            <a:r>
              <a:t>What I did not have was evidence for each agent. On 26 September I challenged</a:t>
            </a:r>
          </a:p>
          <a:p>
            <a:r>
              <a:t>each request with all eight role agents, which added ten new requirements, BR-059</a:t>
            </a:r>
          </a:p>
          <a:p>
            <a:r>
              <a:t>to BR-068, and eight open decisions.</a:t>
            </a:r>
          </a:p>
          <a:p/>
          <a:p>
            <a:r>
              <a:t>Across all of this the BRD went through ten revisions, each the same pass:</a:t>
            </a:r>
          </a:p>
          <a:p>
            <a:r>
              <a:t>research, ask the role agents, rewrite the requirements, and log what changed and</a:t>
            </a:r>
          </a:p>
          <a:p>
            <a:r>
              <a:t>why.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turning point. I had suspected since 11 September that a control</a:t>
            </a:r>
          </a:p>
          <a:p>
            <a:r>
              <a:t>plane mattered more than agents; it was in the first addendum. What I did not</a:t>
            </a:r>
          </a:p>
          <a:p>
            <a:r>
              <a:t>have was evidence for each agent.</a:t>
            </a:r>
          </a:p>
          <a:p/>
          <a:p>
            <a:r>
              <a:t>So in the design thinking session on 26 September I stopped treating the five</a:t>
            </a:r>
          </a:p>
          <a:p>
            <a:r>
              <a:t>agents as a specification and treated each "owns end-to-end" line as the business</a:t>
            </a:r>
          </a:p>
          <a:p>
            <a:r>
              <a:t>telling us what value it expects. Stock prioritisation really means defensible</a:t>
            </a:r>
          </a:p>
          <a:p>
            <a:r>
              <a:t>capital allocation. Grant and funding really means turning delivered homes into</a:t>
            </a:r>
          </a:p>
          <a:p>
            <a:r>
              <a:t>grant cash without clawback. Quality verification really means never paying for</a:t>
            </a:r>
          </a:p>
          <a:p>
            <a:r>
              <a:t>defective work. The "after" question at the top paraphrases the addendum's</a:t>
            </a:r>
          </a:p>
          <a:p>
            <a:r>
              <a:t>strategic proposition.</a:t>
            </a:r>
          </a:p>
          <a:p/>
          <a:p>
            <a:r>
              <a:t>I then asked all eight role agents, in parallel, what the real problem was, what</a:t>
            </a:r>
          </a:p>
          <a:p>
            <a:r>
              <a:t>cheaper alternatives existed, and where an agent would fit. The answer was</a:t>
            </a:r>
          </a:p>
          <a:p>
            <a:r>
              <a:t>unanimous: none of the five should be built as an end-to-end agent. Each request</a:t>
            </a:r>
          </a:p>
          <a:p>
            <a:r>
              <a:t>bundles deterministic control work, accountable human decisions, and a small</a:t>
            </a:r>
          </a:p>
          <a:p>
            <a:r>
              <a:t>amount of work where bounded AI genuinely helps. The most memorable row is</a:t>
            </a:r>
          </a:p>
          <a:p>
            <a:r>
              <a:t>quality verification: every role said the real risk is the reverse, that a pack</a:t>
            </a:r>
          </a:p>
          <a:p>
            <a:r>
              <a:t>with no flags gets read as proof of quality.</a:t>
            </a:r>
          </a:p>
          <a:p/>
          <a:p>
            <a:r>
              <a:t>One caveat before you ask: the role agents read my addendum, so their agreement</a:t>
            </a:r>
          </a:p>
          <a:p>
            <a:r>
              <a:t>is a sector-informed hypothesis, not validation. The questions they raised are</a:t>
            </a:r>
          </a:p>
          <a:p>
            <a:r>
              <a:t>how we validate it with the real company.</a:t>
            </a:r>
          </a:p>
          <a:p/>
          <a:p>
            <a:r>
              <a:t>The underlying problem is missing shared records and undefined lifecycle states.</a:t>
            </a:r>
          </a:p>
          <a:p>
            <a:r>
              <a:t>A lack of intelligence is not the problem.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challenge confirmed and sharpened the control plane I had proposed on 11</a:t>
            </a:r>
          </a:p>
          <a:p>
            <a:r>
              <a:t>September. What changed on 26 September is that every layer now traces to a role</a:t>
            </a:r>
          </a:p>
          <a:p>
            <a:r>
              <a:t>verdict, ten new BRD rows (BR-059 to BR-068) and five bounded AI candidates, each</a:t>
            </a:r>
          </a:p>
          <a:p>
            <a:r>
              <a:t>with a comparator and a stop criterion.</a:t>
            </a:r>
          </a:p>
          <a:p/>
          <a:p>
            <a:r>
              <a:t>Read the stack from the bottom. The foundation is a portfolio control plane: a</a:t>
            </a:r>
          </a:p>
          <a:p>
            <a:r>
              <a:t>deterministic layer with a property master keyed on UPRN, lifecycle gates and</a:t>
            </a:r>
          </a:p>
          <a:p>
            <a:r>
              <a:t>statutory clocks, a hazard case record, a resident decision record, a capacity</a:t>
            </a:r>
          </a:p>
          <a:p>
            <a:r>
              <a:t>register, a grant ledger and a defect register. Every one of the five requested</a:t>
            </a:r>
          </a:p>
          <a:p>
            <a:r>
              <a:t>agents depended on these records, and they deliver value without any AI.</a:t>
            </a:r>
          </a:p>
          <a:p/>
          <a:p>
            <a:r>
              <a:t>On top sit five bounded AI capabilities that came up across several roles. All of</a:t>
            </a:r>
          </a:p>
          <a:p>
            <a:r>
              <a:t>them recommend, draft or raise flags. None needs end-to-end ownership, and each</a:t>
            </a:r>
          </a:p>
          <a:p>
            <a:r>
              <a:t>must beat a non-agent comparator in shadow testing before it goes live. They are</a:t>
            </a:r>
          </a:p>
          <a:p>
            <a:r>
              <a:t>candidates for shadow testing, not tested yet.</a:t>
            </a:r>
          </a:p>
          <a:p/>
          <a:p>
            <a:r>
              <a:t>At the top, accountable people keep every decision that carries legal,</a:t>
            </a:r>
          </a:p>
          <a:p>
            <a:r>
              <a:t>professional or resident authority.</a:t>
            </a:r>
          </a:p>
          <a:p/>
          <a:p>
            <a:r>
              <a:t>That changes the ask to the board: not a five-agent rollout, but a capped</a:t>
            </a:r>
          </a:p>
          <a:p>
            <a:r>
              <a:t>readiness stage and gated pilots in one delivery cell.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last step so far was a formal BRD quality review. The first run failed hard:</a:t>
            </a:r>
          </a:p>
          <a:p>
            <a:r>
              <a:t>the BRD used legacy BR and OBJ identifiers, so the reviewer measured zero percent</a:t>
            </a:r>
          </a:p>
          <a:p>
            <a:r>
              <a:t>coverage from functional requirements to acceptance criteria and to business</a:t>
            </a:r>
          </a:p>
          <a:p>
            <a:r>
              <a:t>goals.</a:t>
            </a:r>
          </a:p>
          <a:p/>
          <a:p>
            <a:r>
              <a:t>I relabelled the whole document to a canonical taxonomy: 12 business goals, 41</a:t>
            </a:r>
          </a:p>
          <a:p>
            <a:r>
              <a:t>functional requirements, 73 acceptance criteria, 9 non-functional requirements</a:t>
            </a:r>
          </a:p>
          <a:p>
            <a:r>
              <a:t>grouped by ISO 25010, 6 imposed constraints and 23 business rules. Four compound</a:t>
            </a:r>
          </a:p>
          <a:p>
            <a:r>
              <a:t>rows were split, and a legacy map keeps every old reference valid. Coverage went</a:t>
            </a:r>
          </a:p>
          <a:p>
            <a:r>
              <a:t>from zero to one hundred percent. The 0 percent was an identifier-format problem,</a:t>
            </a:r>
          </a:p>
          <a:p>
            <a:r>
              <a:t>not missing requirements. Relabelling fixed traceability. It did not fix</a:t>
            </a:r>
          </a:p>
          <a:p>
            <a:r>
              <a:t>measurability.</a:t>
            </a:r>
          </a:p>
          <a:p/>
          <a:p>
            <a:r>
              <a:t>The review also extracted new structure: FR-022 was split into a functional</a:t>
            </a:r>
          </a:p>
          <a:p>
            <a:r>
              <a:t>requirement and a business rule, and CON-004 was flagged for Legal because its</a:t>
            </a:r>
          </a:p>
          <a:p>
            <a:r>
              <a:t>source sits outside the local corpus.</a:t>
            </a:r>
          </a:p>
          <a:p/>
          <a:p>
            <a:r>
              <a:t>The rerun still fails, and I think that is the right result. Seven business goals</a:t>
            </a:r>
          </a:p>
          <a:p>
            <a:r>
              <a:t>have no numeric target because the targets depend on company data or board</a:t>
            </a:r>
          </a:p>
          <a:p>
            <a:r>
              <a:t>decisions. I chose to leave the gate failing rather than invent numbers. I would</a:t>
            </a:r>
          </a:p>
          <a:p>
            <a:r>
              <a:t>like your view on that choice.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writing was not the hard part. Keeping the evidence honest was.</a:t>
            </a:r>
          </a:p>
          <a:p/>
          <a:p>
            <a:r>
              <a:t>The company is fictional, so every number about it is modelled and labelled as an</a:t>
            </a:r>
          </a:p>
          <a:p>
            <a:r>
              <a:t>estimate. The role agents are persuasive, which is a risk, and they read my own</a:t>
            </a:r>
          </a:p>
          <a:p>
            <a:r>
              <a:t>addendum, so they share my framing. Where they disagree, such as on L4 autonomy</a:t>
            </a:r>
          </a:p>
          <a:p>
            <a:r>
              <a:t>for quality flags, I keep the divergence open instead of smoothing it over.</a:t>
            </a:r>
          </a:p>
          <a:p>
            <a:r>
              <a:t>Sources disagree too, for example on interest cover, and I found and corrected a</a:t>
            </a:r>
          </a:p>
          <a:p>
            <a:r>
              <a:t>superseded fuel poverty measure. Regulation moves: Awaab's Law Phase 2 is planned</a:t>
            </a:r>
          </a:p>
          <a:p>
            <a:r>
              <a:t>from 30 November 2026, and EPC C is final policy but not commenced law. I flag</a:t>
            </a:r>
          </a:p>
          <a:p>
            <a:r>
              <a:t>those rather than silently choose.</a:t>
            </a:r>
          </a:p>
          <a:p/>
          <a:p>
            <a:r>
              <a:t>There is also sheer volume: some legal texts are over a megabyte, so I search by</a:t>
            </a:r>
          </a:p>
          <a:p>
            <a:r>
              <a:t>provision rather than reading end to end.</a:t>
            </a:r>
          </a:p>
          <a:p/>
          <a:p>
            <a:r>
              <a:t>If I started again tomorrow, I would change three things. I would start the log</a:t>
            </a:r>
          </a:p>
          <a:p>
            <a:r>
              <a:t>on day one; earlier entries had to be rebuilt from Git. I would use canonical</a:t>
            </a:r>
          </a:p>
          <a:p>
            <a:r>
              <a:t>requirement identifiers from the first draft; the first quality run scored zero</a:t>
            </a:r>
          </a:p>
          <a:p>
            <a:r>
              <a:t>only because of legacy identifiers. And I would run the value challenge earlier,</a:t>
            </a:r>
          </a:p>
          <a:p>
            <a:r>
              <a:t>and once without the addendum, to test whether the roles were primed by my own</a:t>
            </a:r>
          </a:p>
          <a:p>
            <a:r>
              <a:t>framing.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how I kept a two-week research effort from turning into a pile of</a:t>
            </a:r>
          </a:p>
          <a:p>
            <a:r>
              <a:t>documents.</a:t>
            </a:r>
          </a:p>
          <a:p/>
          <a:p>
            <a:r>
              <a:t>On the left are the problem documents. The original case study is never edited,</a:t>
            </a:r>
          </a:p>
          <a:p>
            <a:r>
              <a:t>so the request is always visible. The addendum evolves with every finding, and</a:t>
            </a:r>
          </a:p>
          <a:p>
            <a:r>
              <a:t>the BRD carries the requirements with stable identifiers.</a:t>
            </a:r>
          </a:p>
          <a:p/>
          <a:p>
            <a:r>
              <a:t>In the middle is the knowledge base, organised on Andrej Karpathy's LLM Wiki</a:t>
            </a:r>
          </a:p>
          <a:p>
            <a:r>
              <a:t>pattern. An index routes any task to the right files. Regulatory sources are</a:t>
            </a:r>
          </a:p>
          <a:p>
            <a:r>
              <a:t>dated and immutable. Syntheses carry citations. Memory holds my own context and is</a:t>
            </a:r>
          </a:p>
          <a:p>
            <a:r>
              <a:t>explicitly not evidence. The log is append-only and records every ingest,</a:t>
            </a:r>
          </a:p>
          <a:p>
            <a:r>
              <a:t>correction and contradiction. The schema, the repository instructions, tells every</a:t>
            </a:r>
          </a:p>
          <a:p>
            <a:r>
              <a:t>agent how to use all of this.</a:t>
            </a:r>
          </a:p>
          <a:p/>
          <a:p>
            <a:r>
              <a:t>On the right is the working evidence: the tracking folders for each workflow, and</a:t>
            </a:r>
          </a:p>
          <a:p>
            <a:r>
              <a:t>Git history. Together they mean the next session, human or agent, starts from</a:t>
            </a:r>
          </a:p>
          <a:p>
            <a:r>
              <a:t>what we already know instead of rediscovering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reason for all the structure. Any decision in the addendum can</a:t>
            </a:r>
          </a:p>
          <a:p>
            <a:r>
              <a:t>be walked back to its evidence, and this is a real chain you can open.</a:t>
            </a:r>
          </a:p>
          <a:p/>
          <a:p>
            <a:r>
              <a:t>The decision: the addendum recommends a capped readiness and pilot stage, not a</a:t>
            </a:r>
          </a:p>
          <a:p>
            <a:r>
              <a:t>five-agent rollout, and stock prioritisation is not built as an end-to-end agent.</a:t>
            </a:r>
          </a:p>
          <a:p>
            <a:r>
              <a:t>The evidence: in the agent request challenge, the roles said eligibility is a</a:t>
            </a:r>
          </a:p>
          <a:p>
            <a:r>
              <a:t>rules question, not a judgement for an agent. The requirement: FR-026, legacy</a:t>
            </a:r>
          </a:p>
          <a:p>
            <a:r>
              <a:t>BR-059, requires a deterministic pass, fail or unknown eligibility result, tested</a:t>
            </a:r>
          </a:p>
          <a:p>
            <a:r>
              <a:t>by AC-039 and constrained by CON-005. The source: the Warm Homes Social Housing</a:t>
            </a:r>
          </a:p>
          <a:p>
            <a:r>
              <a:t>Fund Wave 3 technical annex, page 3, footnote 1, which says that being in scope</a:t>
            </a:r>
          </a:p>
          <a:p>
            <a:r>
              <a:t>does not by itself mean eligible, retrieved on 19 September. The change record:</a:t>
            </a:r>
          </a:p>
          <a:p>
            <a:r>
              <a:t>the 26 September log entries and the commits that added and relabelled the rows.</a:t>
            </a:r>
          </a:p>
          <a:p/>
          <a:p>
            <a:r>
              <a:t>To justify a decision, follow the chain. To challenge it, change one piece of</a:t>
            </a:r>
          </a:p>
          <a:p>
            <a:r>
              <a:t>evidence, for example a real throughput figure from the company, and the chain</a:t>
            </a:r>
          </a:p>
          <a:p>
            <a:r>
              <a:t>shows which requirements, rules and decisions have to move.</a:t>
            </a:r>
          </a:p>
          <a:p/>
          <a:p>
            <a:r>
              <a:t>Every claim also carries an evidence class, so nobody mistakes a sector</a:t>
            </a:r>
          </a:p>
          <a:p>
            <a:r>
              <a:t>hypothesis for a company fact.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four places I would most value your challenge.</a:t>
            </a:r>
          </a:p>
          <a:p/>
          <a:p>
            <a:r>
              <a:t>First, will the panel read a control plane plus bounded AI as a stronger answer,</a:t>
            </a:r>
          </a:p>
          <a:p>
            <a:r>
              <a:t>or as refusing the brief?</a:t>
            </a:r>
          </a:p>
          <a:p/>
          <a:p>
            <a:r>
              <a:t>Second, how much business depth versus architecture depth should the capstone</a:t>
            </a:r>
          </a:p>
          <a:p>
            <a:r>
              <a:t>show?</a:t>
            </a:r>
          </a:p>
          <a:p/>
          <a:p>
            <a:r>
              <a:t>Third, should the BRD keep failing where targets need company data, or should I</a:t>
            </a:r>
          </a:p>
          <a:p>
            <a:r>
              <a:t>propose clearly labelled illustrative targets?</a:t>
            </a:r>
          </a:p>
          <a:p/>
          <a:p>
            <a:r>
              <a:t>Fourth, of the open divergences between the role agents, which should I resolve</a:t>
            </a:r>
          </a:p>
          <a:p>
            <a:r>
              <a:t>first?</a:t>
            </a:r>
          </a:p>
          <a:p/>
          <a:p>
            <a:r>
              <a:t>On the right is what comes next on the 85-day plan, which finishes the committed</a:t>
            </a:r>
          </a:p>
          <a:p>
            <a:r>
              <a:t>work on 5 December with a week of margin: the high- and medium-level</a:t>
            </a:r>
          </a:p>
          <a:p>
            <a:r>
              <a:t>architecture, a shadow comparison of typed decision models, an optional bounded</a:t>
            </a:r>
          </a:p>
          <a:p>
            <a:r>
              <a:t>demo with a static fallback, and CEO, CIO and CFO versions of the pitch. There is</a:t>
            </a:r>
          </a:p>
          <a:p>
            <a:r>
              <a:t>still no real resident or staff evidence; the role agents' questions are the</a:t>
            </a:r>
          </a:p>
          <a:p>
            <a:r>
              <a:t>discovery agenda.</a:t>
            </a:r>
          </a:p>
          <a:p/>
          <a:p>
            <a:r>
              <a:t>And one question on the story itself: where did it lose you?</a:t>
            </a:r>
          </a:p>
          <a:p/>
          <a:p>
            <a:r>
              <a:t>Those are my questions. Which one would you take first?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spc="100">
                <a:solidFill>
                  <a:srgbClr val="7FD1C7"/>
                </a:solidFill>
                <a:latin typeface="Segoe UI"/>
              </a:rPr>
              <a:t>AMA CASE STUDY 48  |  MENTOR SESSION 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22960" y="201168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FFFFFF"/>
                </a:solidFill>
                <a:latin typeface="Segoe UI"/>
              </a:rPr>
              <a:t>From "build five agents" to</a:t>
            </a:r>
          </a:p>
          <a:p>
            <a:r>
              <a:rPr sz="3800" b="1" i="0">
                <a:solidFill>
                  <a:srgbClr val="FFFFFF"/>
                </a:solidFill>
                <a:latin typeface="Segoe UI"/>
              </a:rPr>
              <a:t>"what value do they really need?"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BCCCDC"/>
                </a:solidFill>
                <a:latin typeface="Segoe UI"/>
              </a:rPr>
              <a:t>How I filled the gaps in the Proper Warm case, 10 to 26 September 2026</a:t>
            </a:r>
          </a:p>
        </p:txBody>
      </p:sp>
      <p:sp>
        <p:nvSpPr>
          <p:cNvPr id="5" name="Rule"/>
          <p:cNvSpPr/>
          <p:nvPr/>
        </p:nvSpPr>
        <p:spPr>
          <a:xfrm>
            <a:off x="822960" y="4846320"/>
            <a:ext cx="1463040" cy="54864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trands"/>
          <p:cNvSpPr txBox="1"/>
          <p:nvPr/>
        </p:nvSpPr>
        <p:spPr>
          <a:xfrm>
            <a:off x="822960" y="5175504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D9E2EC"/>
                </a:solidFill>
                <a:latin typeface="Segoe UI"/>
              </a:rPr>
              <a:t>Today: the story so far, then four decisions I would value your challenge 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The case names five agents but not the problem they solve</a:t>
            </a:r>
          </a:p>
        </p:txBody>
      </p:sp>
      <p:sp>
        <p:nvSpPr>
          <p:cNvPr id="3" name="Request"/>
          <p:cNvSpPr/>
          <p:nvPr/>
        </p:nvSpPr>
        <p:spPr>
          <a:xfrm>
            <a:off x="548640" y="1508760"/>
            <a:ext cx="5396331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THE REQUEST (ORIGINAL CASE STUDY)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A housing association with 60,000 homes in the North of England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Every home to EPC C by 2030, while meeting Awaab's Law damp and mould timescales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A small team on spreadsheets, far behind plan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Five agents, from L2 recommend to L4 autonomous flags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Promised: double delivery, GBP 40m of grants, lower energy bills</a:t>
            </a:r>
          </a:p>
        </p:txBody>
      </p:sp>
      <p:sp>
        <p:nvSpPr>
          <p:cNvPr id="4" name="Gaps"/>
          <p:cNvSpPr/>
          <p:nvPr/>
        </p:nvSpPr>
        <p:spPr>
          <a:xfrm>
            <a:off x="6246723" y="1508760"/>
            <a:ext cx="5396331" cy="347472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B83A2E"/>
                </a:solidFill>
                <a:latin typeface="Segoe UI"/>
              </a:rPr>
              <a:t>WHAT THE DOCUMENT DOES NOT TELL US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What kind of organisation it is, and who decides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Current throughput, backlog and data quality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Which rules apply today, which are proposals, and from when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Whether the GBP 40m is awarded or only available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500" b="0" i="0">
                <a:solidFill>
                  <a:srgbClr val="243B53"/>
                </a:solidFill>
                <a:latin typeface="Segoe UI"/>
              </a:rPr>
              <a:t>The problem: it names the solution first; each agent gets one "owns end-to-end" line</a:t>
            </a:r>
          </a:p>
        </p:txBody>
      </p:sp>
      <p:sp>
        <p:nvSpPr>
          <p:cNvPr id="5" name="Takeaway"/>
          <p:cNvSpPr/>
          <p:nvPr/>
        </p:nvSpPr>
        <p:spPr>
          <a:xfrm>
            <a:off x="548640" y="530352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My working question: what business problem would make these agents worth building?</a:t>
            </a:r>
          </a:p>
        </p:txBody>
      </p:sp>
      <p:sp>
        <p:nvSpPr>
          <p:cNvPr id="6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Source: docs/case_study_48_original.md (10 Sep 2026). Gaps identified during research, 11 to 25 Sep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Five loops, not a line: each finding sent me back to research</a:t>
            </a:r>
          </a:p>
        </p:txBody>
      </p:sp>
      <p:sp>
        <p:nvSpPr>
          <p:cNvPr id="3" name="Step 1"/>
          <p:cNvSpPr/>
          <p:nvPr/>
        </p:nvSpPr>
        <p:spPr>
          <a:xfrm>
            <a:off x="548640" y="1554480"/>
            <a:ext cx="2036003" cy="640080"/>
          </a:xfrm>
          <a:prstGeom prst="homePlate">
            <a:avLst/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  Research</a:t>
            </a:r>
          </a:p>
        </p:txBody>
      </p:sp>
      <p:sp>
        <p:nvSpPr>
          <p:cNvPr id="4" name="Step 1 detail"/>
          <p:cNvSpPr/>
          <p:nvPr/>
        </p:nvSpPr>
        <p:spPr>
          <a:xfrm>
            <a:off x="548640" y="2423160"/>
            <a:ext cx="2036003" cy="260604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B625B"/>
                </a:solidFill>
                <a:latin typeface="Segoe UI"/>
              </a:rPr>
              <a:t>11 TO 25 SEP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43B53"/>
                </a:solidFill>
                <a:latin typeface="Segoe UI"/>
              </a:rPr>
              <a:t>Company, sector statistics, comparators and 16 official regulatory documents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27D98"/>
                </a:solidFill>
                <a:latin typeface="Segoe UI"/>
              </a:rPr>
              <a:t>OUTPUT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Primer, customer profile, regulatory register</a:t>
            </a:r>
          </a:p>
        </p:txBody>
      </p:sp>
      <p:sp>
        <p:nvSpPr>
          <p:cNvPr id="5" name="Step 2"/>
          <p:cNvSpPr/>
          <p:nvPr/>
        </p:nvSpPr>
        <p:spPr>
          <a:xfrm>
            <a:off x="2813243" y="1554480"/>
            <a:ext cx="2036003" cy="640080"/>
          </a:xfrm>
          <a:prstGeom prst="homePlate">
            <a:avLst/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  Role agents</a:t>
            </a:r>
          </a:p>
        </p:txBody>
      </p:sp>
      <p:sp>
        <p:nvSpPr>
          <p:cNvPr id="6" name="Step 2 detail"/>
          <p:cNvSpPr/>
          <p:nvPr/>
        </p:nvSpPr>
        <p:spPr>
          <a:xfrm>
            <a:off x="2813243" y="2423160"/>
            <a:ext cx="2036003" cy="260604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B625B"/>
                </a:solidFill>
                <a:latin typeface="Segoe UI"/>
              </a:rPr>
              <a:t>FROM 11 SEP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43B53"/>
                </a:solidFill>
                <a:latin typeface="Segoe UI"/>
              </a:rPr>
              <a:t>Eight Proper North Homes perspectives to ask what the case never says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27D98"/>
                </a:solidFill>
                <a:latin typeface="Segoe UI"/>
              </a:rPr>
              <a:t>OUTPUT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8 company-* agents and their questions</a:t>
            </a:r>
          </a:p>
        </p:txBody>
      </p:sp>
      <p:sp>
        <p:nvSpPr>
          <p:cNvPr id="7" name="Step 3"/>
          <p:cNvSpPr/>
          <p:nvPr/>
        </p:nvSpPr>
        <p:spPr>
          <a:xfrm>
            <a:off x="5077846" y="1554480"/>
            <a:ext cx="2036003" cy="640080"/>
          </a:xfrm>
          <a:prstGeom prst="homePlate">
            <a:avLst/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  BRD iterations</a:t>
            </a:r>
          </a:p>
        </p:txBody>
      </p:sp>
      <p:sp>
        <p:nvSpPr>
          <p:cNvPr id="8" name="Step 3 detail"/>
          <p:cNvSpPr/>
          <p:nvPr/>
        </p:nvSpPr>
        <p:spPr>
          <a:xfrm>
            <a:off x="5077846" y="2423160"/>
            <a:ext cx="2036003" cy="260604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D5FB8"/>
                </a:solidFill>
                <a:latin typeface="Segoe UI"/>
              </a:rPr>
              <a:t>11 TO 26 SEP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43B53"/>
                </a:solidFill>
                <a:latin typeface="Segoe UI"/>
              </a:rPr>
              <a:t>Ten revisions, with new research and role answers between each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27D98"/>
                </a:solidFill>
                <a:latin typeface="Segoe UI"/>
              </a:rPr>
              <a:t>OUTPUT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BRD v0.2.0</a:t>
            </a:r>
          </a:p>
        </p:txBody>
      </p:sp>
      <p:sp>
        <p:nvSpPr>
          <p:cNvPr id="9" name="Step 4"/>
          <p:cNvSpPr/>
          <p:nvPr/>
        </p:nvSpPr>
        <p:spPr>
          <a:xfrm>
            <a:off x="7342449" y="1554480"/>
            <a:ext cx="2036003" cy="640080"/>
          </a:xfrm>
          <a:prstGeom prst="homePlate">
            <a:avLst/>
          </a:prstGeom>
          <a:solidFill>
            <a:srgbClr val="B83A2E"/>
          </a:solidFill>
          <a:ln w="12700">
            <a:solidFill>
              <a:srgbClr val="B8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  Design thinking</a:t>
            </a:r>
          </a:p>
        </p:txBody>
      </p:sp>
      <p:sp>
        <p:nvSpPr>
          <p:cNvPr id="10" name="Step 4 detail"/>
          <p:cNvSpPr/>
          <p:nvPr/>
        </p:nvSpPr>
        <p:spPr>
          <a:xfrm>
            <a:off x="7342449" y="2423160"/>
            <a:ext cx="2036003" cy="260604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B83A2E"/>
                </a:solidFill>
                <a:latin typeface="Segoe UI"/>
              </a:rPr>
              <a:t>26 SEP | TURNING POINT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43B53"/>
                </a:solidFill>
                <a:latin typeface="Segoe UI"/>
              </a:rPr>
              <a:t>Read each agent's "owns end-to-end" line as the value behind it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27D98"/>
                </a:solidFill>
                <a:latin typeface="Segoe UI"/>
              </a:rPr>
              <a:t>OUTPUT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agent-request-challenge.md</a:t>
            </a:r>
          </a:p>
        </p:txBody>
      </p:sp>
      <p:sp>
        <p:nvSpPr>
          <p:cNvPr id="11" name="Step 5"/>
          <p:cNvSpPr/>
          <p:nvPr/>
        </p:nvSpPr>
        <p:spPr>
          <a:xfrm>
            <a:off x="9607052" y="1554480"/>
            <a:ext cx="2036003" cy="640080"/>
          </a:xfrm>
          <a:prstGeom prst="rect">
            <a:avLst/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5  Quality review</a:t>
            </a:r>
          </a:p>
        </p:txBody>
      </p:sp>
      <p:sp>
        <p:nvSpPr>
          <p:cNvPr id="12" name="Step 5 detail"/>
          <p:cNvSpPr/>
          <p:nvPr/>
        </p:nvSpPr>
        <p:spPr>
          <a:xfrm>
            <a:off x="9607052" y="2423160"/>
            <a:ext cx="2036003" cy="260604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D5FB8"/>
                </a:solidFill>
                <a:latin typeface="Segoe UI"/>
              </a:rPr>
              <a:t>26 SEP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243B53"/>
                </a:solidFill>
                <a:latin typeface="Segoe UI"/>
              </a:rPr>
              <a:t>Canonical goals, FR, AC, NFR, constraints and rules, with coverage checks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627D98"/>
                </a:solidFill>
                <a:latin typeface="Segoe UI"/>
              </a:rPr>
              <a:t>OUTPUT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Quality report, canonical IDs</a:t>
            </a:r>
          </a:p>
        </p:txBody>
      </p:sp>
      <p:sp>
        <p:nvSpPr>
          <p:cNvPr id="13" name="Takeaway"/>
          <p:cNvSpPr/>
          <p:nvPr/>
        </p:nvSpPr>
        <p:spPr>
          <a:xfrm>
            <a:off x="548640" y="530352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Every loop sent me back to research and filed its findings in the addendum, the BRD and the log</a:t>
            </a:r>
          </a:p>
        </p:txBody>
      </p:sp>
      <p:sp>
        <p:nvSpPr>
          <p:cNvPr id="14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git log (32 commits, 10 to 26 Sep 2026); docs/reference/log.md; docs/brds/agentic-retrofit-programme-brd.md history.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Research filled three gaps and corrected two claims in the brief</a:t>
            </a:r>
          </a:p>
        </p:txBody>
      </p:sp>
      <p:sp>
        <p:nvSpPr>
          <p:cNvPr id="3" name="Research 1"/>
          <p:cNvSpPr/>
          <p:nvPr/>
        </p:nvSpPr>
        <p:spPr>
          <a:xfrm>
            <a:off x="548640" y="1508760"/>
            <a:ext cx="3515258" cy="315468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0B625B"/>
                </a:solidFill>
                <a:latin typeface="Segoe UI"/>
              </a:rPr>
              <a:t>COMPANY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0B625B"/>
                </a:solidFill>
                <a:latin typeface="Segoe UI"/>
              </a:rPr>
              <a:t>Not-for-profit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Proper North Homes: owner-confirmed not-for-profit, 26 Sep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Legal form, registration and charitable status still unknown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Modelled customer profile from sector medians, labelled as estimates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Housing association primer to understand the customer</a:t>
            </a:r>
          </a:p>
        </p:txBody>
      </p:sp>
      <p:sp>
        <p:nvSpPr>
          <p:cNvPr id="4" name="Research 2"/>
          <p:cNvSpPr/>
          <p:nvPr/>
        </p:nvSpPr>
        <p:spPr>
          <a:xfrm>
            <a:off x="4338218" y="1508760"/>
            <a:ext cx="3515258" cy="315468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D5FB8"/>
                </a:solidFill>
                <a:latin typeface="Segoe UI"/>
              </a:rPr>
              <a:t>SECTOR BASELINE (ESTIMATE)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D5FB8"/>
                </a:solidFill>
                <a:latin typeface="Segoe UI"/>
              </a:rPr>
              <a:t>c. 15,600 homes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26% of stock estimated below EPC C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3,900 accepted completions a year for a four-year path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About GBP 312m gross at GBP 20k per home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At most 5,333 homes at the GBP 7,500 grant cap</a:t>
            </a:r>
          </a:p>
        </p:txBody>
      </p:sp>
      <p:sp>
        <p:nvSpPr>
          <p:cNvPr id="5" name="Research 3"/>
          <p:cNvSpPr/>
          <p:nvPr/>
        </p:nvSpPr>
        <p:spPr>
          <a:xfrm>
            <a:off x="8127796" y="1508760"/>
            <a:ext cx="3515258" cy="315468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83A2E"/>
                </a:solidFill>
                <a:latin typeface="Segoe UI"/>
              </a:rPr>
              <a:t>REGULATION</a:t>
            </a:r>
          </a:p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B83A2E"/>
                </a:solidFill>
                <a:latin typeface="Segoe UI"/>
              </a:rPr>
              <a:t>16 documents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Retrieved 19 Sep: social housing, energy efficiency, retrofit and funding, data protection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Awaab's Law Phase 1 in force since 27 Oct 2025; Phase 2 planned from 30 Nov 2026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Every regulatory claim cites a dated local snapshot</a:t>
            </a:r>
          </a:p>
        </p:txBody>
      </p:sp>
      <p:sp>
        <p:nvSpPr>
          <p:cNvPr id="6" name="Corrections"/>
          <p:cNvSpPr/>
          <p:nvPr/>
        </p:nvSpPr>
        <p:spPr>
          <a:xfrm>
            <a:off x="548640" y="493776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83A2E"/>
                </a:solidFill>
                <a:latin typeface="Segoe UI"/>
              </a:rPr>
              <a:t>TWO CORRECTIONS TO THE BRIEF</a:t>
            </a:r>
          </a:p>
          <a:p>
            <a:pPr algn="l" marL="228600" indent="-228600">
              <a:spcAft>
                <a:spcPts val="0"/>
              </a:spcAft>
              <a:buChar char="•"/>
            </a:pPr>
            <a:r>
              <a:rPr sz="1400" b="1" i="0">
                <a:solidFill>
                  <a:srgbClr val="102A43"/>
                </a:solidFill>
                <a:latin typeface="Segoe UI"/>
              </a:rPr>
              <a:t>The GBP 40m is an opportunity, not an award</a:t>
            </a:r>
          </a:p>
          <a:p>
            <a:pPr algn="l" marL="228600" indent="-228600">
              <a:spcAft>
                <a:spcPts val="0"/>
              </a:spcAft>
              <a:buChar char="•"/>
            </a:pPr>
            <a:r>
              <a:rPr sz="1400" b="1" i="0">
                <a:solidFill>
                  <a:srgbClr val="102A43"/>
                </a:solidFill>
                <a:latin typeface="Segoe UI"/>
              </a:rPr>
              <a:t>EPC C by 2030 is final SRS MEES policy, not a consultation, but not yet evidenced as commenced law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company-profile-research.md; housing-association-primer.md; uk-social-housing-baseline-research.md; regulatory/README.md. Benchmarks are not company 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Eight role agents stood in for the company I cannot interview</a:t>
            </a:r>
          </a:p>
        </p:txBody>
      </p:sp>
      <p:sp>
        <p:nvSpPr>
          <p:cNvPr id="3" name="Role 1"/>
          <p:cNvSpPr/>
          <p:nvPr/>
        </p:nvSpPr>
        <p:spPr>
          <a:xfrm>
            <a:off x="548640" y="15087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Executive Director of Assets</a:t>
            </a:r>
          </a:p>
        </p:txBody>
      </p:sp>
      <p:sp>
        <p:nvSpPr>
          <p:cNvPr id="4" name="Role 2"/>
          <p:cNvSpPr/>
          <p:nvPr/>
        </p:nvSpPr>
        <p:spPr>
          <a:xfrm>
            <a:off x="3474720" y="150876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Finance, Capital and Grants</a:t>
            </a:r>
          </a:p>
        </p:txBody>
      </p:sp>
      <p:sp>
        <p:nvSpPr>
          <p:cNvPr id="5" name="Role 3"/>
          <p:cNvSpPr/>
          <p:nvPr/>
        </p:nvSpPr>
        <p:spPr>
          <a:xfrm>
            <a:off x="548640" y="2075688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Retrofit Programme Manager</a:t>
            </a:r>
          </a:p>
        </p:txBody>
      </p:sp>
      <p:sp>
        <p:nvSpPr>
          <p:cNvPr id="6" name="Role 4"/>
          <p:cNvSpPr/>
          <p:nvPr/>
        </p:nvSpPr>
        <p:spPr>
          <a:xfrm>
            <a:off x="3474720" y="2075688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Building Safety and Compliance</a:t>
            </a:r>
          </a:p>
        </p:txBody>
      </p:sp>
      <p:sp>
        <p:nvSpPr>
          <p:cNvPr id="7" name="Role 5"/>
          <p:cNvSpPr/>
          <p:nvPr/>
        </p:nvSpPr>
        <p:spPr>
          <a:xfrm>
            <a:off x="548640" y="2642615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Resident Engagement and Insight</a:t>
            </a:r>
          </a:p>
        </p:txBody>
      </p:sp>
      <p:sp>
        <p:nvSpPr>
          <p:cNvPr id="8" name="Role 6"/>
          <p:cNvSpPr/>
          <p:nvPr/>
        </p:nvSpPr>
        <p:spPr>
          <a:xfrm>
            <a:off x="3474720" y="2642615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Procurement and Contracts</a:t>
            </a:r>
          </a:p>
        </p:txBody>
      </p:sp>
      <p:sp>
        <p:nvSpPr>
          <p:cNvPr id="9" name="Role 7"/>
          <p:cNvSpPr/>
          <p:nvPr/>
        </p:nvSpPr>
        <p:spPr>
          <a:xfrm>
            <a:off x="548640" y="3209544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Data and Performance Lead</a:t>
            </a:r>
          </a:p>
        </p:txBody>
      </p:sp>
      <p:sp>
        <p:nvSpPr>
          <p:cNvPr id="10" name="Role 8"/>
          <p:cNvSpPr/>
          <p:nvPr/>
        </p:nvSpPr>
        <p:spPr>
          <a:xfrm>
            <a:off x="3474720" y="3209544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B99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102A43"/>
                </a:solidFill>
                <a:latin typeface="Segoe UI"/>
              </a:rPr>
              <a:t>Neighbourhood Housing Officer</a:t>
            </a:r>
          </a:p>
        </p:txBody>
      </p:sp>
      <p:sp>
        <p:nvSpPr>
          <p:cNvPr id="11" name="Rules"/>
          <p:cNvSpPr/>
          <p:nvPr/>
        </p:nvSpPr>
        <p:spPr>
          <a:xfrm>
            <a:off x="6446520" y="1508760"/>
            <a:ext cx="5196535" cy="2157984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B625B"/>
                </a:solidFill>
                <a:latin typeface="Segoe UI"/>
              </a:rPr>
              <a:t>RULES THAT KEEP THEM HONEST</a:t>
            </a:r>
          </a:p>
          <a:p>
            <a:pPr algn="l" marL="228600" indent="-228600">
              <a:spcAft>
                <a:spcPts val="3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Anchored to the case, the addendum and the company research</a:t>
            </a:r>
          </a:p>
          <a:p>
            <a:pPr algn="l" marL="228600" indent="-228600">
              <a:spcAft>
                <a:spcPts val="3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Every answer labelled: case fact, sector hypothesis or unknown</a:t>
            </a:r>
          </a:p>
          <a:p>
            <a:pPr algn="l" marL="228600" indent="-228600">
              <a:spcAft>
                <a:spcPts val="3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One focused question at a time, within the role's decision rights</a:t>
            </a:r>
          </a:p>
          <a:p>
            <a:pPr algn="l" marL="228600" indent="-228600">
              <a:spcAft>
                <a:spcPts val="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Research instruments, not simulated employees</a:t>
            </a:r>
          </a:p>
        </p:txBody>
      </p:sp>
      <p:sp>
        <p:nvSpPr>
          <p:cNvPr id="12" name="Exchange head"/>
          <p:cNvSpPr txBox="1"/>
          <p:nvPr/>
        </p:nvSpPr>
        <p:spPr>
          <a:xfrm>
            <a:off x="548640" y="3941063"/>
            <a:ext cx="11094415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00" b="1" i="0">
                <a:solidFill>
                  <a:srgbClr val="B83A2E"/>
                </a:solidFill>
                <a:latin typeface="Segoe UI"/>
              </a:rPr>
              <a:t>ONE REAL EXCHANGE: GRANT AND FUNDING</a:t>
            </a:r>
          </a:p>
        </p:txBody>
      </p:sp>
      <p:sp>
        <p:nvSpPr>
          <p:cNvPr id="13" name="Exchange 1"/>
          <p:cNvSpPr/>
          <p:nvPr/>
        </p:nvSpPr>
        <p:spPr>
          <a:xfrm>
            <a:off x="548640" y="4489704"/>
            <a:ext cx="2499283" cy="1362456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02A43"/>
                </a:solidFill>
                <a:latin typeface="Segoe UI"/>
              </a:rPr>
              <a:t>QUESTION TO FINANCE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Would a grant-drafting agent add value?</a:t>
            </a:r>
          </a:p>
        </p:txBody>
      </p:sp>
      <p:sp>
        <p:nvSpPr>
          <p:cNvPr id="14" name="Exchange arrow 1"/>
          <p:cNvSpPr/>
          <p:nvPr/>
        </p:nvSpPr>
        <p:spPr>
          <a:xfrm>
            <a:off x="3102787" y="5029200"/>
            <a:ext cx="256032" cy="27432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change 2"/>
          <p:cNvSpPr/>
          <p:nvPr/>
        </p:nvSpPr>
        <p:spPr>
          <a:xfrm>
            <a:off x="3413683" y="4489704"/>
            <a:ext cx="2499283" cy="1362456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B625B"/>
                </a:solidFill>
                <a:latin typeface="Segoe UI"/>
              </a:rPr>
              <a:t>REGULATORY FACT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WH:SHF Wave 3 is formula-allocated in Greater Manchester and the West Midlands, not bid for</a:t>
            </a:r>
          </a:p>
        </p:txBody>
      </p:sp>
      <p:sp>
        <p:nvSpPr>
          <p:cNvPr id="16" name="Exchange arrow 2"/>
          <p:cNvSpPr/>
          <p:nvPr/>
        </p:nvSpPr>
        <p:spPr>
          <a:xfrm>
            <a:off x="5967831" y="5029200"/>
            <a:ext cx="256032" cy="27432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change 3"/>
          <p:cNvSpPr/>
          <p:nvPr/>
        </p:nvSpPr>
        <p:spPr>
          <a:xfrm>
            <a:off x="6278727" y="4489704"/>
            <a:ext cx="2499283" cy="1362456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486581"/>
                </a:solidFill>
                <a:latin typeface="Segoe UI"/>
              </a:rPr>
              <a:t>UNKNOWN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Whether Proper North Homes operates in either area</a:t>
            </a:r>
          </a:p>
        </p:txBody>
      </p:sp>
      <p:sp>
        <p:nvSpPr>
          <p:cNvPr id="18" name="Exchange arrow 3"/>
          <p:cNvSpPr/>
          <p:nvPr/>
        </p:nvSpPr>
        <p:spPr>
          <a:xfrm>
            <a:off x="8832875" y="5029200"/>
            <a:ext cx="256032" cy="27432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xchange 4"/>
          <p:cNvSpPr/>
          <p:nvPr/>
        </p:nvSpPr>
        <p:spPr>
          <a:xfrm>
            <a:off x="9143771" y="4489704"/>
            <a:ext cx="2499283" cy="1362456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1D5FB8"/>
                </a:solidFill>
                <a:latin typeface="Segoe UI"/>
              </a:rPr>
              <a:t>EFFECT ON THE BRD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FR-027: every scheme records an evidenced funding route; unknown blocks bid work</a:t>
            </a:r>
          </a:p>
        </p:txBody>
      </p:sp>
      <p:sp>
        <p:nvSpPr>
          <p:cNvPr id="20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.github/agents/company-*.agent.md; agent-request-challenge.md (Grant and Funding); WH:SHF technical annex (Page 3, Page 5 Table 3), retrieved 19 Sep 2026. Question paraphrased.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The case against five agents built up across two weeks</a:t>
            </a:r>
          </a:p>
        </p:txBody>
      </p:sp>
      <p:cxnSp>
        <p:nvCxnSpPr>
          <p:cNvPr id="3" name="Timeline"/>
          <p:cNvCxnSpPr/>
          <p:nvPr/>
        </p:nvCxnSpPr>
        <p:spPr>
          <a:xfrm>
            <a:off x="1600200" y="2514600"/>
            <a:ext cx="9006840" cy="0"/>
          </a:xfrm>
          <a:prstGeom prst="line">
            <a:avLst/>
          </a:prstGeom>
          <a:ln w="38100">
            <a:solidFill>
              <a:srgbClr val="9FB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ate 1"/>
          <p:cNvSpPr txBox="1"/>
          <p:nvPr/>
        </p:nvSpPr>
        <p:spPr>
          <a:xfrm>
            <a:off x="54864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B625B"/>
                </a:solidFill>
                <a:latin typeface="Segoe UI"/>
              </a:rPr>
              <a:t>11 SEP</a:t>
            </a:r>
          </a:p>
        </p:txBody>
      </p:sp>
      <p:sp>
        <p:nvSpPr>
          <p:cNvPr id="5" name="Dot 1"/>
          <p:cNvSpPr/>
          <p:nvPr/>
        </p:nvSpPr>
        <p:spPr>
          <a:xfrm>
            <a:off x="1417320" y="2331720"/>
            <a:ext cx="365760" cy="365760"/>
          </a:xfrm>
          <a:prstGeom prst="ellipse">
            <a:avLst/>
          </a:prstGeom>
          <a:solidFill>
            <a:srgbClr val="0B62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nge 1"/>
          <p:cNvSpPr txBox="1"/>
          <p:nvPr/>
        </p:nvSpPr>
        <p:spPr>
          <a:xfrm>
            <a:off x="548640" y="297180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43B53"/>
                </a:solidFill>
                <a:latin typeface="Segoe UI"/>
              </a:rPr>
              <a:t>Addendum proposes a control plane: "agentic is an implementation option"</a:t>
            </a:r>
          </a:p>
        </p:txBody>
      </p:sp>
      <p:sp>
        <p:nvSpPr>
          <p:cNvPr id="7" name="Date 2"/>
          <p:cNvSpPr txBox="1"/>
          <p:nvPr/>
        </p:nvSpPr>
        <p:spPr>
          <a:xfrm>
            <a:off x="280035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D5FB8"/>
                </a:solidFill>
                <a:latin typeface="Segoe UI"/>
              </a:rPr>
              <a:t>19 SEP</a:t>
            </a:r>
          </a:p>
        </p:txBody>
      </p:sp>
      <p:sp>
        <p:nvSpPr>
          <p:cNvPr id="8" name="Dot 2"/>
          <p:cNvSpPr/>
          <p:nvPr/>
        </p:nvSpPr>
        <p:spPr>
          <a:xfrm>
            <a:off x="3669030" y="2331720"/>
            <a:ext cx="365760" cy="365760"/>
          </a:xfrm>
          <a:prstGeom prst="ellipse">
            <a:avLst/>
          </a:prstGeom>
          <a:solidFill>
            <a:srgbClr val="1D5FB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ange 2"/>
          <p:cNvSpPr txBox="1"/>
          <p:nvPr/>
        </p:nvSpPr>
        <p:spPr>
          <a:xfrm>
            <a:off x="2800350" y="297180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43B53"/>
                </a:solidFill>
                <a:latin typeface="Segoe UI"/>
              </a:rPr>
              <a:t>BRD adds a cross-functional challenge to the five-agent request</a:t>
            </a:r>
          </a:p>
        </p:txBody>
      </p:sp>
      <p:sp>
        <p:nvSpPr>
          <p:cNvPr id="10" name="Date 3"/>
          <p:cNvSpPr txBox="1"/>
          <p:nvPr/>
        </p:nvSpPr>
        <p:spPr>
          <a:xfrm>
            <a:off x="505206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B625B"/>
                </a:solidFill>
                <a:latin typeface="Segoe UI"/>
              </a:rPr>
              <a:t>20 SEP</a:t>
            </a:r>
          </a:p>
        </p:txBody>
      </p:sp>
      <p:sp>
        <p:nvSpPr>
          <p:cNvPr id="11" name="Dot 3"/>
          <p:cNvSpPr/>
          <p:nvPr/>
        </p:nvSpPr>
        <p:spPr>
          <a:xfrm>
            <a:off x="5920740" y="2331720"/>
            <a:ext cx="365760" cy="365760"/>
          </a:xfrm>
          <a:prstGeom prst="ellipse">
            <a:avLst/>
          </a:prstGeom>
          <a:solidFill>
            <a:srgbClr val="0B625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ange 3"/>
          <p:cNvSpPr txBox="1"/>
          <p:nvPr/>
        </p:nvSpPr>
        <p:spPr>
          <a:xfrm>
            <a:off x="5052060" y="297180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43B53"/>
                </a:solidFill>
                <a:latin typeface="Segoe UI"/>
              </a:rPr>
              <a:t>Regulatory context; TypeSafe review of open decisions</a:t>
            </a:r>
          </a:p>
        </p:txBody>
      </p:sp>
      <p:sp>
        <p:nvSpPr>
          <p:cNvPr id="13" name="Date 4"/>
          <p:cNvSpPr txBox="1"/>
          <p:nvPr/>
        </p:nvSpPr>
        <p:spPr>
          <a:xfrm>
            <a:off x="7303769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D5FB8"/>
                </a:solidFill>
                <a:latin typeface="Segoe UI"/>
              </a:rPr>
              <a:t>25 SEP</a:t>
            </a:r>
          </a:p>
        </p:txBody>
      </p:sp>
      <p:sp>
        <p:nvSpPr>
          <p:cNvPr id="14" name="Dot 4"/>
          <p:cNvSpPr/>
          <p:nvPr/>
        </p:nvSpPr>
        <p:spPr>
          <a:xfrm>
            <a:off x="8172450" y="2331720"/>
            <a:ext cx="365760" cy="365760"/>
          </a:xfrm>
          <a:prstGeom prst="ellipse">
            <a:avLst/>
          </a:prstGeom>
          <a:solidFill>
            <a:srgbClr val="1D5FB8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ange 4"/>
          <p:cNvSpPr txBox="1"/>
          <p:nvPr/>
        </p:nvSpPr>
        <p:spPr>
          <a:xfrm>
            <a:off x="7303769" y="297180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43B53"/>
                </a:solidFill>
                <a:latin typeface="Segoe UI"/>
              </a:rPr>
              <a:t>Modelled customer profile; knowledge base restructure</a:t>
            </a:r>
          </a:p>
        </p:txBody>
      </p:sp>
      <p:sp>
        <p:nvSpPr>
          <p:cNvPr id="16" name="Date 5"/>
          <p:cNvSpPr txBox="1"/>
          <p:nvPr/>
        </p:nvSpPr>
        <p:spPr>
          <a:xfrm>
            <a:off x="9555480" y="16459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B83A2E"/>
                </a:solidFill>
                <a:latin typeface="Segoe UI"/>
              </a:rPr>
              <a:t>26 SEP</a:t>
            </a:r>
          </a:p>
        </p:txBody>
      </p:sp>
      <p:sp>
        <p:nvSpPr>
          <p:cNvPr id="17" name="Dot 5"/>
          <p:cNvSpPr/>
          <p:nvPr/>
        </p:nvSpPr>
        <p:spPr>
          <a:xfrm>
            <a:off x="10424160" y="2331720"/>
            <a:ext cx="365760" cy="365760"/>
          </a:xfrm>
          <a:prstGeom prst="ellipse">
            <a:avLst/>
          </a:prstGeom>
          <a:solidFill>
            <a:srgbClr val="B83A2E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nge 5"/>
          <p:cNvSpPr txBox="1"/>
          <p:nvPr/>
        </p:nvSpPr>
        <p:spPr>
          <a:xfrm>
            <a:off x="9555480" y="2971800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43B53"/>
                </a:solidFill>
                <a:latin typeface="Segoe UI"/>
              </a:rPr>
              <a:t>Role challenge of each agent adds ten BRD rows</a:t>
            </a:r>
          </a:p>
        </p:txBody>
      </p:sp>
      <p:sp>
        <p:nvSpPr>
          <p:cNvPr id="19" name="Doubt"/>
          <p:cNvSpPr/>
          <p:nvPr/>
        </p:nvSpPr>
        <p:spPr>
          <a:xfrm>
            <a:off x="548640" y="4526280"/>
            <a:ext cx="11094415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28016" bIns="9144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B83A2E"/>
                </a:solidFill>
                <a:latin typeface="Segoe UI"/>
              </a:rPr>
              <a:t>The doubt came first; 26 Sep turned it from my opinion into evidence for each agent.</a:t>
            </a:r>
          </a:p>
        </p:txBody>
      </p:sp>
      <p:sp>
        <p:nvSpPr>
          <p:cNvPr id="20" name="Takeaway"/>
          <p:cNvSpPr/>
          <p:nvPr/>
        </p:nvSpPr>
        <p:spPr>
          <a:xfrm>
            <a:off x="548640" y="530352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Ten BRD revisions, each the same pass: research, ask the role agents, rewrite, log what and why</a:t>
            </a:r>
          </a:p>
        </p:txBody>
      </p:sp>
      <p:sp>
        <p:nvSpPr>
          <p:cNvPr id="21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git log, 11 to 26 Sep 2026 (dc6561a, 6bbb392, f1c185a, a72f231, 3db359c); docs/reference/log.md.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Each request states a value; none needs an end-to-end agent</a:t>
            </a:r>
          </a:p>
        </p:txBody>
      </p:sp>
      <p:sp>
        <p:nvSpPr>
          <p:cNvPr id="3" name="Before"/>
          <p:cNvSpPr/>
          <p:nvPr/>
        </p:nvSpPr>
        <p:spPr>
          <a:xfrm>
            <a:off x="548640" y="1417320"/>
            <a:ext cx="3566160" cy="68580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91440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83A2E"/>
                </a:solidFill>
                <a:latin typeface="Segoe UI"/>
              </a:rPr>
              <a:t>BEFORE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How do we build five agents to double delivery?</a:t>
            </a:r>
          </a:p>
        </p:txBody>
      </p:sp>
      <p:sp>
        <p:nvSpPr>
          <p:cNvPr id="4" name="After"/>
          <p:cNvSpPr/>
          <p:nvPr/>
        </p:nvSpPr>
        <p:spPr>
          <a:xfrm>
            <a:off x="4297679" y="1417320"/>
            <a:ext cx="7345375" cy="68580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91440"/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B625B"/>
                </a:solidFill>
                <a:latin typeface="Segoe UI"/>
              </a:rPr>
              <a:t>AFTER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02A43"/>
                </a:solidFill>
                <a:latin typeface="Segoe UI"/>
              </a:rPr>
              <a:t>What shared records and gates let a small team deliver more safe, accepted, grant-claimable homes, and where does bounded AI beat a checklist?</a:t>
            </a:r>
          </a:p>
        </p:txBody>
      </p:sp>
      <p:graphicFrame>
        <p:nvGraphicFramePr>
          <p:cNvPr id="5" name="Challenge table"/>
          <p:cNvGraphicFramePr>
            <a:graphicFrameLocks noGrp="1"/>
          </p:cNvGraphicFramePr>
          <p:nvPr/>
        </p:nvGraphicFramePr>
        <p:xfrm>
          <a:off x="548640" y="2377440"/>
          <a:ext cx="1109441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2331720"/>
                <a:gridCol w="3246120"/>
                <a:gridCol w="3367735"/>
              </a:tblGrid>
              <a:tr h="45720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"/>
                        </a:rPr>
                        <a:t>Requested agent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"/>
                        </a:rPr>
                        <a:t>Value the request implies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"/>
                        </a:rPr>
                        <a:t>Real problem found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"/>
                        </a:rPr>
                        <a:t>What to build instead</a:t>
                      </a:r>
                    </a:p>
                  </a:txBody>
                  <a:tcPr>
                    <a:solidFill>
                      <a:srgbClr val="102A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02A43"/>
                          </a:solidFill>
                          <a:latin typeface="Segoe UI"/>
                        </a:rPr>
                        <a:t>Stock Prioritisation (L2)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625B"/>
                          </a:solidFill>
                          <a:latin typeface="Segoe UI"/>
                        </a:rPr>
                        <a:t>Defensible capital allocation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Fragmented stock, EPC and hazard data; no approved cohort policy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Versioned scoring and eligibility rules; AI reconciles and explains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02A43"/>
                          </a:solidFill>
                          <a:latin typeface="Segoe UI"/>
                        </a:rPr>
                        <a:t>Assessment (L3)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625B"/>
                          </a:solidFill>
                          <a:latin typeface="Segoe UI"/>
                        </a:rPr>
                        <a:t>More homes ready for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Assessor capacity, fragmented data and rework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Sourced evidence record; AI pre-fills facts and checks completeness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02A43"/>
                          </a:solidFill>
                          <a:latin typeface="Segoe UI"/>
                        </a:rPr>
                        <a:t>Grant and Funding (L3)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625B"/>
                          </a:solidFill>
                          <a:latin typeface="Segoe UI"/>
                        </a:rPr>
                        <a:t>Grant cash without clawback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No evidenced award; reporting is a data problem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Four-state grant ledger first; AI drafts from evidence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02A43"/>
                          </a:solidFill>
                          <a:latin typeface="Segoe UI"/>
                        </a:rPr>
                        <a:t>Contractor and Resident (L3)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625B"/>
                          </a:solidFill>
                          <a:latin typeface="Segoe UI"/>
                        </a:rPr>
                        <a:t>Capacity meets resident readiness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No-access logged as refusal; frontline context lost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Deterministic decision record; AI drafts, routes, suggests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102A43"/>
                          </a:solidFill>
                          <a:latin typeface="Segoe UI"/>
                        </a:rPr>
                        <a:t>Quality Verification (L4)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B625B"/>
                          </a:solidFill>
                          <a:latin typeface="Segoe UI"/>
                        </a:rPr>
                        <a:t>No payment for defective 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Late detection of systemic defects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43B53"/>
                          </a:solidFill>
                          <a:latin typeface="Segoe UI"/>
                        </a:rPr>
                        <a:t>Evidence schedule and defect register; AI flags, never clears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akeaway"/>
          <p:cNvSpPr/>
          <p:nvPr/>
        </p:nvSpPr>
        <p:spPr>
          <a:xfrm>
            <a:off x="548640" y="5394960"/>
            <a:ext cx="11094415" cy="457200"/>
          </a:xfrm>
          <a:prstGeom prst="roundRect">
            <a:avLst>
              <a:gd name="adj" fmla="val 12000"/>
            </a:avLst>
          </a:prstGeom>
          <a:solidFill>
            <a:srgbClr val="B83A2E"/>
          </a:solidFill>
          <a:ln w="12700">
            <a:solidFill>
              <a:srgbClr val="B8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Verdict of all eight roles: build none of the five as an end-to-end agent. The gap is shared records, not intelligence.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Source: agent-request-challenge.md (26 Sep 2026). Roles read the case, addendum and BRD: verdicts are sector-informed hypotheses, not validation.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What we really need: a control plane first, then bounded AI</a:t>
            </a:r>
          </a:p>
        </p:txBody>
      </p:sp>
      <p:sp>
        <p:nvSpPr>
          <p:cNvPr id="3" name="Layer 1 label"/>
          <p:cNvSpPr/>
          <p:nvPr/>
        </p:nvSpPr>
        <p:spPr>
          <a:xfrm>
            <a:off x="548640" y="1508760"/>
            <a:ext cx="1920240" cy="105156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Accountable people</a:t>
            </a:r>
          </a:p>
        </p:txBody>
      </p:sp>
      <p:sp>
        <p:nvSpPr>
          <p:cNvPr id="4" name="Layer 1 body"/>
          <p:cNvSpPr/>
          <p:nvPr/>
        </p:nvSpPr>
        <p:spPr>
          <a:xfrm>
            <a:off x="2651760" y="150876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E6EFFB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Safety, professional sign-off, resident consent, investment, procurement, grant submission, payment and quality acceptance</a:t>
            </a:r>
          </a:p>
        </p:txBody>
      </p:sp>
      <p:sp>
        <p:nvSpPr>
          <p:cNvPr id="5" name="Layer 2 label"/>
          <p:cNvSpPr/>
          <p:nvPr/>
        </p:nvSpPr>
        <p:spPr>
          <a:xfrm>
            <a:off x="548640" y="2834639"/>
            <a:ext cx="1920240" cy="1051560"/>
          </a:xfrm>
          <a:prstGeom prst="roundRect">
            <a:avLst>
              <a:gd name="adj" fmla="val 12000"/>
            </a:avLst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Bounded AI</a:t>
            </a:r>
          </a:p>
        </p:txBody>
      </p:sp>
      <p:sp>
        <p:nvSpPr>
          <p:cNvPr id="6" name="Layer 2 body"/>
          <p:cNvSpPr/>
          <p:nvPr/>
        </p:nvSpPr>
        <p:spPr>
          <a:xfrm>
            <a:off x="2651760" y="2834639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Five candidates for shadow testing: reconcile records, read evidence against checklists, draft from controlled records, route messages, raise-only signal scans</a:t>
            </a:r>
          </a:p>
        </p:txBody>
      </p:sp>
      <p:sp>
        <p:nvSpPr>
          <p:cNvPr id="7" name="Layer 3 label"/>
          <p:cNvSpPr/>
          <p:nvPr/>
        </p:nvSpPr>
        <p:spPr>
          <a:xfrm>
            <a:off x="548640" y="4160520"/>
            <a:ext cx="1920240" cy="1051560"/>
          </a:xfrm>
          <a:prstGeom prst="roundRect">
            <a:avLst>
              <a:gd name="adj" fmla="val 12000"/>
            </a:avLst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Control plane</a:t>
            </a:r>
          </a:p>
        </p:txBody>
      </p:sp>
      <p:sp>
        <p:nvSpPr>
          <p:cNvPr id="8" name="Layer 3 body"/>
          <p:cNvSpPr/>
          <p:nvPr/>
        </p:nvSpPr>
        <p:spPr>
          <a:xfrm>
            <a:off x="2651760" y="416052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Property master (UPRN), lifecycle gates and clocks, hazard case record, resident decision record, capacity register, grant ledger, defect register</a:t>
            </a:r>
          </a:p>
        </p:txBody>
      </p:sp>
      <p:sp>
        <p:nvSpPr>
          <p:cNvPr id="9" name="Ask"/>
          <p:cNvSpPr/>
          <p:nvPr/>
        </p:nvSpPr>
        <p:spPr>
          <a:xfrm>
            <a:off x="7863840" y="1508760"/>
            <a:ext cx="3779215" cy="3703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B83A2E"/>
                </a:solidFill>
                <a:latin typeface="Segoe UI"/>
              </a:rPr>
              <a:t>THE ASK TO THE BOARD CHANGES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627D98"/>
                </a:solidFill>
                <a:latin typeface="Segoe UI"/>
              </a:rPr>
              <a:t>From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Five end-to-end agents, portfolio-wide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627D98"/>
                </a:solidFill>
                <a:latin typeface="Segoe UI"/>
              </a:rPr>
              <a:t>To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102A43"/>
                </a:solidFill>
                <a:latin typeface="Segoe UI"/>
              </a:rPr>
              <a:t>A capped readiness stage, then gated shadow and live pilots in one delivery cell</a:t>
            </a:r>
          </a:p>
          <a:p>
            <a:pPr algn="l" marL="228600" indent="-228600">
              <a:spcAft>
                <a:spcPts val="60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Every AI module needs a non-agent comparator and a stop criterion</a:t>
            </a:r>
          </a:p>
          <a:p>
            <a:pPr algn="l" marL="228600" indent="-228600">
              <a:spcAft>
                <a:spcPts val="0"/>
              </a:spcAft>
              <a:buChar char="•"/>
            </a:pPr>
            <a:r>
              <a:rPr sz="1300" b="0" i="0">
                <a:solidFill>
                  <a:srgbClr val="243B53"/>
                </a:solidFill>
                <a:latin typeface="Segoe UI"/>
              </a:rPr>
              <a:t>Every layer traces to a role verdict and to BRD rows BR-059 to BR-068</a:t>
            </a:r>
          </a:p>
        </p:txBody>
      </p:sp>
      <p:sp>
        <p:nvSpPr>
          <p:cNvPr id="10" name="Takeaway"/>
          <p:cNvSpPr/>
          <p:nvPr/>
        </p:nvSpPr>
        <p:spPr>
          <a:xfrm>
            <a:off x="548640" y="5486400"/>
            <a:ext cx="11094415" cy="36576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"Agentic" is an implementation option, not the business outcome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case_study_48_addendum.md (Solution Proposal); agent-request-challenge.md (Cross-Cutting Findings); BRD Document Status (26 Sep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Relabelling fixed traceability; the gate still fails on targets</a:t>
            </a:r>
          </a:p>
        </p:txBody>
      </p:sp>
      <p:sp>
        <p:nvSpPr>
          <p:cNvPr id="3" name="Stat 1"/>
          <p:cNvSpPr/>
          <p:nvPr/>
        </p:nvSpPr>
        <p:spPr>
          <a:xfrm>
            <a:off x="548640" y="1554480"/>
            <a:ext cx="1005840" cy="731520"/>
          </a:xfrm>
          <a:prstGeom prst="roundRect">
            <a:avLst>
              <a:gd name="adj" fmla="val 12000"/>
            </a:avLst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4" name="Stat 1 label"/>
          <p:cNvSpPr txBox="1"/>
          <p:nvPr/>
        </p:nvSpPr>
        <p:spPr>
          <a:xfrm>
            <a:off x="1645919" y="15544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243B53"/>
                </a:solidFill>
                <a:latin typeface="Segoe UI"/>
              </a:rPr>
              <a:t>Business goals (BG)</a:t>
            </a:r>
          </a:p>
        </p:txBody>
      </p:sp>
      <p:sp>
        <p:nvSpPr>
          <p:cNvPr id="5" name="Stat 2"/>
          <p:cNvSpPr/>
          <p:nvPr/>
        </p:nvSpPr>
        <p:spPr>
          <a:xfrm>
            <a:off x="3429000" y="1554480"/>
            <a:ext cx="1005840" cy="731520"/>
          </a:xfrm>
          <a:prstGeom prst="roundRect">
            <a:avLst>
              <a:gd name="adj" fmla="val 12000"/>
            </a:avLst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41</a:t>
            </a:r>
          </a:p>
        </p:txBody>
      </p:sp>
      <p:sp>
        <p:nvSpPr>
          <p:cNvPr id="6" name="Stat 2 label"/>
          <p:cNvSpPr txBox="1"/>
          <p:nvPr/>
        </p:nvSpPr>
        <p:spPr>
          <a:xfrm>
            <a:off x="4526280" y="155448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243B53"/>
                </a:solidFill>
                <a:latin typeface="Segoe UI"/>
              </a:rPr>
              <a:t>Functional requirements (FR)</a:t>
            </a:r>
          </a:p>
        </p:txBody>
      </p:sp>
      <p:sp>
        <p:nvSpPr>
          <p:cNvPr id="7" name="Stat 3"/>
          <p:cNvSpPr/>
          <p:nvPr/>
        </p:nvSpPr>
        <p:spPr>
          <a:xfrm>
            <a:off x="548640" y="2560320"/>
            <a:ext cx="1005840" cy="731520"/>
          </a:xfrm>
          <a:prstGeom prst="roundRect">
            <a:avLst>
              <a:gd name="adj" fmla="val 12000"/>
            </a:avLst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73</a:t>
            </a:r>
          </a:p>
        </p:txBody>
      </p:sp>
      <p:sp>
        <p:nvSpPr>
          <p:cNvPr id="8" name="Stat 3 label"/>
          <p:cNvSpPr txBox="1"/>
          <p:nvPr/>
        </p:nvSpPr>
        <p:spPr>
          <a:xfrm>
            <a:off x="1645919" y="256032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243B53"/>
                </a:solidFill>
                <a:latin typeface="Segoe UI"/>
              </a:rPr>
              <a:t>Acceptance criteria (AC)</a:t>
            </a:r>
          </a:p>
        </p:txBody>
      </p:sp>
      <p:sp>
        <p:nvSpPr>
          <p:cNvPr id="9" name="Stat 4"/>
          <p:cNvSpPr/>
          <p:nvPr/>
        </p:nvSpPr>
        <p:spPr>
          <a:xfrm>
            <a:off x="3429000" y="2560320"/>
            <a:ext cx="1005840" cy="731520"/>
          </a:xfrm>
          <a:prstGeom prst="roundRect">
            <a:avLst>
              <a:gd name="adj" fmla="val 12000"/>
            </a:avLst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0" name="Stat 4 label"/>
          <p:cNvSpPr txBox="1"/>
          <p:nvPr/>
        </p:nvSpPr>
        <p:spPr>
          <a:xfrm>
            <a:off x="4526280" y="256032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243B53"/>
                </a:solidFill>
                <a:latin typeface="Segoe UI"/>
              </a:rPr>
              <a:t>Non-functional (NFR, ISO/IEC 25010)</a:t>
            </a:r>
          </a:p>
        </p:txBody>
      </p:sp>
      <p:sp>
        <p:nvSpPr>
          <p:cNvPr id="11" name="Stat 5"/>
          <p:cNvSpPr/>
          <p:nvPr/>
        </p:nvSpPr>
        <p:spPr>
          <a:xfrm>
            <a:off x="548640" y="3566160"/>
            <a:ext cx="1005840" cy="731520"/>
          </a:xfrm>
          <a:prstGeom prst="roundRect">
            <a:avLst>
              <a:gd name="adj" fmla="val 12000"/>
            </a:avLst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2" name="Stat 5 label"/>
          <p:cNvSpPr txBox="1"/>
          <p:nvPr/>
        </p:nvSpPr>
        <p:spPr>
          <a:xfrm>
            <a:off x="1645919" y="356616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243B53"/>
                </a:solidFill>
                <a:latin typeface="Segoe UI"/>
              </a:rPr>
              <a:t>Imposed constraints (CON)</a:t>
            </a:r>
          </a:p>
        </p:txBody>
      </p:sp>
      <p:sp>
        <p:nvSpPr>
          <p:cNvPr id="13" name="Stat 6"/>
          <p:cNvSpPr/>
          <p:nvPr/>
        </p:nvSpPr>
        <p:spPr>
          <a:xfrm>
            <a:off x="3429000" y="3566160"/>
            <a:ext cx="1005840" cy="731520"/>
          </a:xfrm>
          <a:prstGeom prst="roundRect">
            <a:avLst>
              <a:gd name="adj" fmla="val 12000"/>
            </a:avLst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600" b="1" i="0">
                <a:solidFill>
                  <a:srgbClr val="FFFFFF"/>
                </a:solidFill>
                <a:latin typeface="Segoe UI"/>
              </a:rPr>
              <a:t>23</a:t>
            </a:r>
          </a:p>
        </p:txBody>
      </p:sp>
      <p:sp>
        <p:nvSpPr>
          <p:cNvPr id="14" name="Stat 6 label"/>
          <p:cNvSpPr txBox="1"/>
          <p:nvPr/>
        </p:nvSpPr>
        <p:spPr>
          <a:xfrm>
            <a:off x="4526280" y="3566160"/>
            <a:ext cx="1645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 i="0">
                <a:solidFill>
                  <a:srgbClr val="243B53"/>
                </a:solidFill>
                <a:latin typeface="Segoe UI"/>
              </a:rPr>
              <a:t>Business rules (RULE)</a:t>
            </a:r>
          </a:p>
        </p:txBody>
      </p:sp>
      <p:sp>
        <p:nvSpPr>
          <p:cNvPr id="15" name="Before"/>
          <p:cNvSpPr/>
          <p:nvPr/>
        </p:nvSpPr>
        <p:spPr>
          <a:xfrm>
            <a:off x="548640" y="475488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B83A2E"/>
          </a:solidFill>
          <a:ln w="12700">
            <a:solidFill>
              <a:srgbClr val="B8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0%</a:t>
            </a:r>
          </a:p>
        </p:txBody>
      </p:sp>
      <p:sp>
        <p:nvSpPr>
          <p:cNvPr id="16" name="Arrow"/>
          <p:cNvSpPr/>
          <p:nvPr/>
        </p:nvSpPr>
        <p:spPr>
          <a:xfrm>
            <a:off x="1920240" y="4937760"/>
            <a:ext cx="640080" cy="36576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fter"/>
          <p:cNvSpPr/>
          <p:nvPr/>
        </p:nvSpPr>
        <p:spPr>
          <a:xfrm>
            <a:off x="2743200" y="475488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100%</a:t>
            </a:r>
          </a:p>
        </p:txBody>
      </p:sp>
      <p:sp>
        <p:nvSpPr>
          <p:cNvPr id="18" name="Coverage label"/>
          <p:cNvSpPr txBox="1"/>
          <p:nvPr/>
        </p:nvSpPr>
        <p:spPr>
          <a:xfrm>
            <a:off x="4069080" y="4754880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 i="0">
                <a:solidFill>
                  <a:srgbClr val="243B53"/>
                </a:solidFill>
                <a:latin typeface="Segoe UI"/>
              </a:rPr>
              <a:t>ID traceability: FR-to-AC and FR-to-BG</a:t>
            </a:r>
          </a:p>
        </p:txBody>
      </p:sp>
      <p:sp>
        <p:nvSpPr>
          <p:cNvPr id="19" name="Still fail"/>
          <p:cNvSpPr/>
          <p:nvPr/>
        </p:nvSpPr>
        <p:spPr>
          <a:xfrm>
            <a:off x="6400800" y="1508760"/>
            <a:ext cx="5242255" cy="3977639"/>
          </a:xfrm>
          <a:prstGeom prst="roundRect">
            <a:avLst>
              <a:gd name="adj" fmla="val 6000"/>
            </a:avLst>
          </a:prstGeom>
          <a:solidFill>
            <a:srgbClr val="FDF4DC"/>
          </a:solidFill>
          <a:ln w="12700">
            <a:solidFill>
              <a:srgbClr val="F0DC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B83A2E"/>
                </a:solidFill>
                <a:latin typeface="Segoe UI"/>
              </a:rPr>
              <a:t>STILL FAIL, ON PURPOSE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Relabel: 68 BR and 12 OBJ rows mapped, four compound rows split, no meaning changed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Extracted: FR-022 split into FR-022 and RULE-023; CON-004 sent to Legal to validate its source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Seven business goals still have no numeric target; NFR-009 thresholds need owner decisions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Targets need company data or board decisions (OD-01, OD-08, OD-09 and others)</a:t>
            </a:r>
          </a:p>
          <a:p>
            <a:pPr algn="l" marL="228600" indent="-228600">
              <a:spcAft>
                <a:spcPts val="8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Advisory: rewrite AC as Given/When/Then before PRD handoff</a:t>
            </a:r>
          </a:p>
          <a:p>
            <a:pPr algn="l" marL="228600" indent="-228600">
              <a:spcAft>
                <a:spcPts val="0"/>
              </a:spcAft>
              <a:buChar char="•"/>
            </a:pPr>
            <a:r>
              <a:rPr sz="1400" b="1" i="0">
                <a:solidFill>
                  <a:srgbClr val="102A43"/>
                </a:solidFill>
                <a:latin typeface="Segoe UI"/>
              </a:rPr>
              <a:t>I did not invent targets to pass the gate</a:t>
            </a:r>
          </a:p>
        </p:txBody>
      </p:sp>
      <p:sp>
        <p:nvSpPr>
          <p:cNvPr id="20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BRD v0.2.0 frontmatter and Requirements Traceability; .copilot-tracking/brd-sessions/agentic-retrofit-programme.quality-report.yml; log.md (26 Sep 2026).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Keeping evidence honest was hard; here is what I would change</a:t>
            </a:r>
          </a:p>
        </p:txBody>
      </p:sp>
      <p:sp>
        <p:nvSpPr>
          <p:cNvPr id="3" name="Challenges head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00" b="1" i="0">
                <a:solidFill>
                  <a:srgbClr val="0B625B"/>
                </a:solidFill>
                <a:latin typeface="Segoe UI"/>
              </a:rPr>
              <a:t>CHALLENGES</a:t>
            </a:r>
          </a:p>
        </p:txBody>
      </p:sp>
      <p:sp>
        <p:nvSpPr>
          <p:cNvPr id="4" name="Lessons head"/>
          <p:cNvSpPr txBox="1"/>
          <p:nvPr/>
        </p:nvSpPr>
        <p:spPr>
          <a:xfrm>
            <a:off x="548640" y="3840480"/>
            <a:ext cx="11094415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200" b="1" i="0">
                <a:solidFill>
                  <a:srgbClr val="1D5FB8"/>
                </a:solidFill>
                <a:latin typeface="Segoe UI"/>
              </a:rPr>
              <a:t>WHAT I WOULD DO DIFFERENTLY</a:t>
            </a:r>
          </a:p>
        </p:txBody>
      </p:sp>
      <p:sp>
        <p:nvSpPr>
          <p:cNvPr id="5" name="Challenge 1"/>
          <p:cNvSpPr/>
          <p:nvPr/>
        </p:nvSpPr>
        <p:spPr>
          <a:xfrm>
            <a:off x="548640" y="196596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25B"/>
                </a:solidFill>
                <a:latin typeface="Segoe UI"/>
              </a:rPr>
              <a:t>No company data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The company is fictional. I modelled tenure, residents and finances from sector medians and labelled every value as an estimate.</a:t>
            </a:r>
          </a:p>
        </p:txBody>
      </p:sp>
      <p:sp>
        <p:nvSpPr>
          <p:cNvPr id="6" name="Challenge 2"/>
          <p:cNvSpPr/>
          <p:nvPr/>
        </p:nvSpPr>
        <p:spPr>
          <a:xfrm>
            <a:off x="4338218" y="196596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25B"/>
                </a:solidFill>
                <a:latin typeface="Segoe UI"/>
              </a:rPr>
              <a:t>Agents that sound certain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Role answers are hypotheses, and the roles share my framing. Divergences stay open: L4 quality flags, L3 digital booking.</a:t>
            </a:r>
          </a:p>
        </p:txBody>
      </p:sp>
      <p:sp>
        <p:nvSpPr>
          <p:cNvPr id="7" name="Challenge 3"/>
          <p:cNvSpPr/>
          <p:nvPr/>
        </p:nvSpPr>
        <p:spPr>
          <a:xfrm>
            <a:off x="8127796" y="1965960"/>
            <a:ext cx="3515258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25B"/>
                </a:solidFill>
                <a:latin typeface="Segoe UI"/>
              </a:rPr>
              <a:t>Sources that disagree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Interest cover 91% or 87%; fuel poverty corrected from 10.0% to 11.6%; EPC C final policy, not commenced law. Flagged, not resolved.</a:t>
            </a:r>
          </a:p>
        </p:txBody>
      </p:sp>
      <p:sp>
        <p:nvSpPr>
          <p:cNvPr id="8" name="Challenge 4"/>
          <p:cNvSpPr/>
          <p:nvPr/>
        </p:nvSpPr>
        <p:spPr>
          <a:xfrm>
            <a:off x="548640" y="4389120"/>
            <a:ext cx="3515258" cy="1463040"/>
          </a:xfrm>
          <a:prstGeom prst="roundRect">
            <a:avLst>
              <a:gd name="adj" fmla="val 6000"/>
            </a:avLst>
          </a:prstGeom>
          <a:solidFill>
            <a:srgbClr val="E6EFFB"/>
          </a:solidFill>
          <a:ln w="12700">
            <a:solidFill>
              <a:srgbClr val="C7D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D5FB8"/>
                </a:solidFill>
                <a:latin typeface="Segoe UI"/>
              </a:rPr>
              <a:t>Start the log on day one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Log entries before 25 Sep had to be reconstructed from Git history.</a:t>
            </a:r>
          </a:p>
        </p:txBody>
      </p:sp>
      <p:sp>
        <p:nvSpPr>
          <p:cNvPr id="9" name="Challenge 5"/>
          <p:cNvSpPr/>
          <p:nvPr/>
        </p:nvSpPr>
        <p:spPr>
          <a:xfrm>
            <a:off x="4338218" y="4389120"/>
            <a:ext cx="3515258" cy="1463040"/>
          </a:xfrm>
          <a:prstGeom prst="roundRect">
            <a:avLst>
              <a:gd name="adj" fmla="val 6000"/>
            </a:avLst>
          </a:prstGeom>
          <a:solidFill>
            <a:srgbClr val="E6EFFB"/>
          </a:solidFill>
          <a:ln w="12700">
            <a:solidFill>
              <a:srgbClr val="C7D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D5FB8"/>
                </a:solidFill>
                <a:latin typeface="Segoe UI"/>
              </a:rPr>
              <a:t>Canonical IDs from the first draft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The first quality run scored 0% only because of legacy IDs; relabelling cost a full pass.</a:t>
            </a:r>
          </a:p>
        </p:txBody>
      </p:sp>
      <p:sp>
        <p:nvSpPr>
          <p:cNvPr id="10" name="Challenge 6"/>
          <p:cNvSpPr/>
          <p:nvPr/>
        </p:nvSpPr>
        <p:spPr>
          <a:xfrm>
            <a:off x="8127796" y="4389120"/>
            <a:ext cx="3515258" cy="1463040"/>
          </a:xfrm>
          <a:prstGeom prst="roundRect">
            <a:avLst>
              <a:gd name="adj" fmla="val 6000"/>
            </a:avLst>
          </a:prstGeom>
          <a:solidFill>
            <a:srgbClr val="E6EFFB"/>
          </a:solidFill>
          <a:ln w="12700">
            <a:solidFill>
              <a:srgbClr val="C7D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D5FB8"/>
                </a:solidFill>
                <a:latin typeface="Segoe UI"/>
              </a:rPr>
              <a:t>Run the value challenge earlier, and blind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It came after eight BRD revisions, and the roles could read my addendum. One pass without it would test for priming.</a:t>
            </a:r>
          </a:p>
        </p:txBody>
      </p:sp>
      <p:sp>
        <p:nvSpPr>
          <p:cNvPr id="11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docs/reference/log.md (Conventions; corrections, 25 to 26 Sep 2026); agent-request-challenge.md (Divergences, Limitations); git log.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The repo works as a second brain, so knowledge compounds</a:t>
            </a:r>
          </a:p>
        </p:txBody>
      </p:sp>
      <p:sp>
        <p:nvSpPr>
          <p:cNvPr id="3" name="Col A head"/>
          <p:cNvSpPr txBox="1"/>
          <p:nvPr/>
        </p:nvSpPr>
        <p:spPr>
          <a:xfrm>
            <a:off x="548640" y="14173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B83A2E"/>
                </a:solidFill>
                <a:latin typeface="Segoe UI"/>
              </a:rPr>
              <a:t>PROBLEM DOCUMENTS</a:t>
            </a:r>
          </a:p>
        </p:txBody>
      </p:sp>
      <p:sp>
        <p:nvSpPr>
          <p:cNvPr id="4" name="Problem 1"/>
          <p:cNvSpPr/>
          <p:nvPr/>
        </p:nvSpPr>
        <p:spPr>
          <a:xfrm>
            <a:off x="548640" y="2011680"/>
            <a:ext cx="2743200" cy="86868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Original case study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Segoe UI"/>
              </a:rPr>
              <a:t>Immutable record of the request</a:t>
            </a:r>
          </a:p>
        </p:txBody>
      </p:sp>
      <p:sp>
        <p:nvSpPr>
          <p:cNvPr id="5" name="Problem 2"/>
          <p:cNvSpPr/>
          <p:nvPr/>
        </p:nvSpPr>
        <p:spPr>
          <a:xfrm>
            <a:off x="548640" y="3154680"/>
            <a:ext cx="2743200" cy="86868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Addendum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Segoe UI"/>
              </a:rPr>
              <a:t>Evolving assessment and proposal</a:t>
            </a:r>
          </a:p>
        </p:txBody>
      </p:sp>
      <p:sp>
        <p:nvSpPr>
          <p:cNvPr id="6" name="Problem 3"/>
          <p:cNvSpPr/>
          <p:nvPr/>
        </p:nvSpPr>
        <p:spPr>
          <a:xfrm>
            <a:off x="548640" y="4297680"/>
            <a:ext cx="2743200" cy="86868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BRD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Segoe UI"/>
              </a:rPr>
              <a:t>Requirements with stable IDs</a:t>
            </a:r>
          </a:p>
        </p:txBody>
      </p:sp>
      <p:sp>
        <p:nvSpPr>
          <p:cNvPr id="7" name="Col B head"/>
          <p:cNvSpPr txBox="1"/>
          <p:nvPr/>
        </p:nvSpPr>
        <p:spPr>
          <a:xfrm>
            <a:off x="356616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B625B"/>
                </a:solidFill>
                <a:latin typeface="Segoe UI"/>
              </a:rPr>
              <a:t>DOCS/REFERENCE: THE KNOWLEDGE BASE</a:t>
            </a:r>
          </a:p>
        </p:txBody>
      </p:sp>
      <p:sp>
        <p:nvSpPr>
          <p:cNvPr id="8" name="KB 1"/>
          <p:cNvSpPr/>
          <p:nvPr/>
        </p:nvSpPr>
        <p:spPr>
          <a:xfrm>
            <a:off x="3566160" y="2011680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Index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README task routing</a:t>
            </a:r>
          </a:p>
        </p:txBody>
      </p:sp>
      <p:sp>
        <p:nvSpPr>
          <p:cNvPr id="9" name="KB 2"/>
          <p:cNvSpPr/>
          <p:nvPr/>
        </p:nvSpPr>
        <p:spPr>
          <a:xfrm>
            <a:off x="6263640" y="2011680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Sources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Immutable dated snapshots</a:t>
            </a:r>
          </a:p>
        </p:txBody>
      </p:sp>
      <p:sp>
        <p:nvSpPr>
          <p:cNvPr id="10" name="KB 3"/>
          <p:cNvSpPr/>
          <p:nvPr/>
        </p:nvSpPr>
        <p:spPr>
          <a:xfrm>
            <a:off x="3566160" y="2880360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Syntheses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Cited sector and company research</a:t>
            </a:r>
          </a:p>
        </p:txBody>
      </p:sp>
      <p:sp>
        <p:nvSpPr>
          <p:cNvPr id="11" name="KB 4"/>
          <p:cNvSpPr/>
          <p:nvPr/>
        </p:nvSpPr>
        <p:spPr>
          <a:xfrm>
            <a:off x="6263640" y="2880360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Method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AMA training and prompts</a:t>
            </a:r>
          </a:p>
        </p:txBody>
      </p:sp>
      <p:sp>
        <p:nvSpPr>
          <p:cNvPr id="12" name="KB 5"/>
          <p:cNvSpPr/>
          <p:nvPr/>
        </p:nvSpPr>
        <p:spPr>
          <a:xfrm>
            <a:off x="3566160" y="3749039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Resources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Industry Hub findings</a:t>
            </a:r>
          </a:p>
        </p:txBody>
      </p:sp>
      <p:sp>
        <p:nvSpPr>
          <p:cNvPr id="13" name="KB 6"/>
          <p:cNvSpPr/>
          <p:nvPr/>
        </p:nvSpPr>
        <p:spPr>
          <a:xfrm>
            <a:off x="6263640" y="3749039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Memory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Owner context, not evidence</a:t>
            </a:r>
          </a:p>
        </p:txBody>
      </p:sp>
      <p:sp>
        <p:nvSpPr>
          <p:cNvPr id="14" name="KB 7"/>
          <p:cNvSpPr/>
          <p:nvPr/>
        </p:nvSpPr>
        <p:spPr>
          <a:xfrm>
            <a:off x="3566160" y="4617720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Log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Append-only changes and contradictions</a:t>
            </a:r>
          </a:p>
        </p:txBody>
      </p:sp>
      <p:sp>
        <p:nvSpPr>
          <p:cNvPr id="15" name="KB 8"/>
          <p:cNvSpPr/>
          <p:nvPr/>
        </p:nvSpPr>
        <p:spPr>
          <a:xfrm>
            <a:off x="6263640" y="4617720"/>
            <a:ext cx="2423160" cy="59436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28016" bIns="91440"/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Schema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43B53"/>
                </a:solidFill>
                <a:latin typeface="Segoe UI"/>
              </a:rPr>
              <a:t>copilot-instructions rules</a:t>
            </a:r>
          </a:p>
        </p:txBody>
      </p:sp>
      <p:sp>
        <p:nvSpPr>
          <p:cNvPr id="16" name="Col C head"/>
          <p:cNvSpPr txBox="1"/>
          <p:nvPr/>
        </p:nvSpPr>
        <p:spPr>
          <a:xfrm>
            <a:off x="8961120" y="1417320"/>
            <a:ext cx="2681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1D5FB8"/>
                </a:solidFill>
                <a:latin typeface="Segoe UI"/>
              </a:rPr>
              <a:t>WORKING EVIDENCE</a:t>
            </a:r>
          </a:p>
        </p:txBody>
      </p:sp>
      <p:sp>
        <p:nvSpPr>
          <p:cNvPr id="17" name="Tracking"/>
          <p:cNvSpPr/>
          <p:nvPr/>
        </p:nvSpPr>
        <p:spPr>
          <a:xfrm>
            <a:off x="8961120" y="2011680"/>
            <a:ext cx="2681935" cy="1463040"/>
          </a:xfrm>
          <a:prstGeom prst="roundRect">
            <a:avLst>
              <a:gd name="adj" fmla="val 6000"/>
            </a:avLst>
          </a:prstGeom>
          <a:solidFill>
            <a:srgbClr val="E6EFFB"/>
          </a:solidFill>
          <a:ln w="12700">
            <a:solidFill>
              <a:srgbClr val="C7D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.copilot-tracking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Segoe UI"/>
              </a:rPr>
              <a:t>Plans, research, changes, reviews and BRD session state for every workflow</a:t>
            </a:r>
          </a:p>
        </p:txBody>
      </p:sp>
      <p:sp>
        <p:nvSpPr>
          <p:cNvPr id="18" name="Git"/>
          <p:cNvSpPr/>
          <p:nvPr/>
        </p:nvSpPr>
        <p:spPr>
          <a:xfrm>
            <a:off x="8961120" y="3749039"/>
            <a:ext cx="2681935" cy="1463040"/>
          </a:xfrm>
          <a:prstGeom prst="roundRect">
            <a:avLst>
              <a:gd name="adj" fmla="val 6000"/>
            </a:avLst>
          </a:prstGeom>
          <a:solidFill>
            <a:srgbClr val="E6EFFB"/>
          </a:solidFill>
          <a:ln w="12700">
            <a:solidFill>
              <a:srgbClr val="C7D9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02A43"/>
                </a:solidFill>
                <a:latin typeface="Segoe UI"/>
              </a:rPr>
              <a:t>Git history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43B53"/>
                </a:solidFill>
                <a:latin typeface="Segoe UI"/>
              </a:rPr>
              <a:t>32 commits and PR #1; most messages say what changed and why</a:t>
            </a:r>
          </a:p>
        </p:txBody>
      </p:sp>
      <p:sp>
        <p:nvSpPr>
          <p:cNvPr id="19" name="Takeaway"/>
          <p:cNvSpPr/>
          <p:nvPr/>
        </p:nvSpPr>
        <p:spPr>
          <a:xfrm>
            <a:off x="548640" y="5486400"/>
            <a:ext cx="11094415" cy="36576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Pattern: Karpathy's LLM Wiki. Immutable sources, maintained syntheses, read the index first, log every change</a:t>
            </a:r>
          </a:p>
        </p:txBody>
      </p:sp>
      <p:sp>
        <p:nvSpPr>
          <p:cNvPr id="20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docs/reference/README.md (Layers, Task Routing); .github/copilot-instructions.md; docs/reference/log.md.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One real chain, from a decision down to its dated source</a:t>
            </a:r>
          </a:p>
        </p:txBody>
      </p:sp>
      <p:sp>
        <p:nvSpPr>
          <p:cNvPr id="3" name="Chain 1 head"/>
          <p:cNvSpPr/>
          <p:nvPr/>
        </p:nvSpPr>
        <p:spPr>
          <a:xfrm>
            <a:off x="548640" y="1554480"/>
            <a:ext cx="1889699" cy="502920"/>
          </a:xfrm>
          <a:prstGeom prst="roundRect">
            <a:avLst>
              <a:gd name="adj" fmla="val 12000"/>
            </a:avLst>
          </a:prstGeom>
          <a:solidFill>
            <a:srgbClr val="B83A2E"/>
          </a:solidFill>
          <a:ln w="12700">
            <a:solidFill>
              <a:srgbClr val="B8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Decision</a:t>
            </a:r>
          </a:p>
        </p:txBody>
      </p:sp>
      <p:sp>
        <p:nvSpPr>
          <p:cNvPr id="4" name="Chain 1 body"/>
          <p:cNvSpPr/>
          <p:nvPr/>
        </p:nvSpPr>
        <p:spPr>
          <a:xfrm>
            <a:off x="548640" y="2331720"/>
            <a:ext cx="1889699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Addendum: approve a capped pilot, not a five-agent rollout; no end-to-end Stock Prioritisation agent</a:t>
            </a:r>
          </a:p>
        </p:txBody>
      </p:sp>
      <p:sp>
        <p:nvSpPr>
          <p:cNvPr id="5" name="Chain arrow 1"/>
          <p:cNvSpPr/>
          <p:nvPr/>
        </p:nvSpPr>
        <p:spPr>
          <a:xfrm>
            <a:off x="2502347" y="1673352"/>
            <a:ext cx="283464" cy="27432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in 2 head"/>
          <p:cNvSpPr/>
          <p:nvPr/>
        </p:nvSpPr>
        <p:spPr>
          <a:xfrm>
            <a:off x="2849819" y="1554480"/>
            <a:ext cx="1889699" cy="502920"/>
          </a:xfrm>
          <a:prstGeom prst="roundRect">
            <a:avLst>
              <a:gd name="adj" fmla="val 12000"/>
            </a:avLst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Evidence</a:t>
            </a:r>
          </a:p>
        </p:txBody>
      </p:sp>
      <p:sp>
        <p:nvSpPr>
          <p:cNvPr id="7" name="Chain 2 body"/>
          <p:cNvSpPr/>
          <p:nvPr/>
        </p:nvSpPr>
        <p:spPr>
          <a:xfrm>
            <a:off x="2849819" y="2331720"/>
            <a:ext cx="1889699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Agent Request Challenge, Stock Prioritisation: "eligibility is a rules question"</a:t>
            </a:r>
          </a:p>
        </p:txBody>
      </p:sp>
      <p:sp>
        <p:nvSpPr>
          <p:cNvPr id="8" name="Chain arrow 2"/>
          <p:cNvSpPr/>
          <p:nvPr/>
        </p:nvSpPr>
        <p:spPr>
          <a:xfrm>
            <a:off x="4803526" y="1673352"/>
            <a:ext cx="283464" cy="27432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ain 3 head"/>
          <p:cNvSpPr/>
          <p:nvPr/>
        </p:nvSpPr>
        <p:spPr>
          <a:xfrm>
            <a:off x="5150998" y="1554480"/>
            <a:ext cx="1889699" cy="502920"/>
          </a:xfrm>
          <a:prstGeom prst="roundRect">
            <a:avLst>
              <a:gd name="adj" fmla="val 12000"/>
            </a:avLst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Requirement</a:t>
            </a:r>
          </a:p>
        </p:txBody>
      </p:sp>
      <p:sp>
        <p:nvSpPr>
          <p:cNvPr id="10" name="Chain 3 body"/>
          <p:cNvSpPr/>
          <p:nvPr/>
        </p:nvSpPr>
        <p:spPr>
          <a:xfrm>
            <a:off x="5150998" y="2331720"/>
            <a:ext cx="1889699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FR-026, AC-039 and CON-005: deterministic pass, fail or unknown eligibility</a:t>
            </a:r>
          </a:p>
        </p:txBody>
      </p:sp>
      <p:sp>
        <p:nvSpPr>
          <p:cNvPr id="11" name="Chain arrow 3"/>
          <p:cNvSpPr/>
          <p:nvPr/>
        </p:nvSpPr>
        <p:spPr>
          <a:xfrm>
            <a:off x="7104705" y="1673352"/>
            <a:ext cx="283464" cy="27432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ain 4 head"/>
          <p:cNvSpPr/>
          <p:nvPr/>
        </p:nvSpPr>
        <p:spPr>
          <a:xfrm>
            <a:off x="7452177" y="1554480"/>
            <a:ext cx="1889699" cy="50292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Source</a:t>
            </a:r>
          </a:p>
        </p:txBody>
      </p:sp>
      <p:sp>
        <p:nvSpPr>
          <p:cNvPr id="13" name="Chain 4 body"/>
          <p:cNvSpPr/>
          <p:nvPr/>
        </p:nvSpPr>
        <p:spPr>
          <a:xfrm>
            <a:off x="7452177" y="2331720"/>
            <a:ext cx="1889699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WH:SHF Wave 3 technical annex, Page 3 footnote 1; retrieved 19 Sep 2026</a:t>
            </a:r>
          </a:p>
        </p:txBody>
      </p:sp>
      <p:sp>
        <p:nvSpPr>
          <p:cNvPr id="14" name="Chain arrow 4"/>
          <p:cNvSpPr/>
          <p:nvPr/>
        </p:nvSpPr>
        <p:spPr>
          <a:xfrm>
            <a:off x="9405884" y="1673352"/>
            <a:ext cx="283464" cy="274320"/>
          </a:xfrm>
          <a:prstGeom prst="rightArrow">
            <a:avLst/>
          </a:prstGeom>
          <a:solidFill>
            <a:srgbClr val="9FB3C8"/>
          </a:solidFill>
          <a:ln w="12700">
            <a:solidFill>
              <a:srgbClr val="9FB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ain 5 head"/>
          <p:cNvSpPr/>
          <p:nvPr/>
        </p:nvSpPr>
        <p:spPr>
          <a:xfrm>
            <a:off x="9753356" y="1554480"/>
            <a:ext cx="1889699" cy="502920"/>
          </a:xfrm>
          <a:prstGeom prst="roundRect">
            <a:avLst>
              <a:gd name="adj" fmla="val 12000"/>
            </a:avLst>
          </a:prstGeom>
          <a:solidFill>
            <a:srgbClr val="486581"/>
          </a:solidFill>
          <a:ln w="12700">
            <a:solidFill>
              <a:srgbClr val="4865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Change record</a:t>
            </a:r>
          </a:p>
        </p:txBody>
      </p:sp>
      <p:sp>
        <p:nvSpPr>
          <p:cNvPr id="16" name="Chain 5 body"/>
          <p:cNvSpPr/>
          <p:nvPr/>
        </p:nvSpPr>
        <p:spPr>
          <a:xfrm>
            <a:off x="9753356" y="2331720"/>
            <a:ext cx="1889699" cy="160020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log.md, 26 Sep entries; commits a72f231, 3db359c and c3e423a</a:t>
            </a:r>
          </a:p>
        </p:txBody>
      </p:sp>
      <p:sp>
        <p:nvSpPr>
          <p:cNvPr id="17" name="Justify"/>
          <p:cNvSpPr/>
          <p:nvPr/>
        </p:nvSpPr>
        <p:spPr>
          <a:xfrm>
            <a:off x="548640" y="4206240"/>
            <a:ext cx="5396331" cy="868680"/>
          </a:xfrm>
          <a:prstGeom prst="roundRect">
            <a:avLst>
              <a:gd name="adj" fmla="val 6000"/>
            </a:avLst>
          </a:prstGeom>
          <a:solidFill>
            <a:srgbClr val="E3F4F1"/>
          </a:solidFill>
          <a:ln w="12700">
            <a:solidFill>
              <a:srgbClr val="B7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B625B"/>
                </a:solidFill>
                <a:latin typeface="Segoe UI"/>
              </a:rPr>
              <a:t>To justify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Follow the chain from the decision down to the dated source.</a:t>
            </a:r>
          </a:p>
        </p:txBody>
      </p:sp>
      <p:sp>
        <p:nvSpPr>
          <p:cNvPr id="18" name="Challenge"/>
          <p:cNvSpPr/>
          <p:nvPr/>
        </p:nvSpPr>
        <p:spPr>
          <a:xfrm>
            <a:off x="6246723" y="4206240"/>
            <a:ext cx="5396331" cy="868680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 w="12700">
            <a:solidFill>
              <a:srgbClr val="F3C7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28016" bIns="9144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B83A2E"/>
                </a:solidFill>
                <a:latin typeface="Segoe UI"/>
              </a:rPr>
              <a:t>To challenge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43B53"/>
                </a:solidFill>
                <a:latin typeface="Segoe UI"/>
              </a:rPr>
              <a:t>Change one piece of evidence and see which rules and decisions move.</a:t>
            </a:r>
          </a:p>
        </p:txBody>
      </p:sp>
      <p:sp>
        <p:nvSpPr>
          <p:cNvPr id="19" name="Classes label"/>
          <p:cNvSpPr txBox="1"/>
          <p:nvPr/>
        </p:nvSpPr>
        <p:spPr>
          <a:xfrm>
            <a:off x="548640" y="5349240"/>
            <a:ext cx="1737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 i="0">
                <a:solidFill>
                  <a:srgbClr val="486581"/>
                </a:solidFill>
                <a:latin typeface="Segoe UI"/>
              </a:rPr>
              <a:t>Every claim is labelled:</a:t>
            </a:r>
          </a:p>
        </p:txBody>
      </p:sp>
      <p:sp>
        <p:nvSpPr>
          <p:cNvPr id="20" name="Class 1"/>
          <p:cNvSpPr/>
          <p:nvPr/>
        </p:nvSpPr>
        <p:spPr>
          <a:xfrm>
            <a:off x="2423160" y="5349240"/>
            <a:ext cx="2167813" cy="45720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Case-study fact</a:t>
            </a:r>
          </a:p>
        </p:txBody>
      </p:sp>
      <p:sp>
        <p:nvSpPr>
          <p:cNvPr id="21" name="Class 2"/>
          <p:cNvSpPr/>
          <p:nvPr/>
        </p:nvSpPr>
        <p:spPr>
          <a:xfrm>
            <a:off x="4773853" y="5349240"/>
            <a:ext cx="2167813" cy="457200"/>
          </a:xfrm>
          <a:prstGeom prst="roundRect">
            <a:avLst>
              <a:gd name="adj" fmla="val 12000"/>
            </a:avLst>
          </a:prstGeom>
          <a:solidFill>
            <a:srgbClr val="0B625B"/>
          </a:solidFill>
          <a:ln w="12700">
            <a:solidFill>
              <a:srgbClr val="0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Sector hypothesis</a:t>
            </a:r>
          </a:p>
        </p:txBody>
      </p:sp>
      <p:sp>
        <p:nvSpPr>
          <p:cNvPr id="22" name="Class 3"/>
          <p:cNvSpPr/>
          <p:nvPr/>
        </p:nvSpPr>
        <p:spPr>
          <a:xfrm>
            <a:off x="7124547" y="5349240"/>
            <a:ext cx="2167813" cy="457200"/>
          </a:xfrm>
          <a:prstGeom prst="roundRect">
            <a:avLst>
              <a:gd name="adj" fmla="val 12000"/>
            </a:avLst>
          </a:prstGeom>
          <a:solidFill>
            <a:srgbClr val="1D5FB8"/>
          </a:solidFill>
          <a:ln w="12700">
            <a:solidFill>
              <a:srgbClr val="1D5F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Planning assumption</a:t>
            </a:r>
          </a:p>
        </p:txBody>
      </p:sp>
      <p:sp>
        <p:nvSpPr>
          <p:cNvPr id="23" name="Class 4"/>
          <p:cNvSpPr/>
          <p:nvPr/>
        </p:nvSpPr>
        <p:spPr>
          <a:xfrm>
            <a:off x="9475241" y="5349240"/>
            <a:ext cx="2167813" cy="457200"/>
          </a:xfrm>
          <a:prstGeom prst="roundRect">
            <a:avLst>
              <a:gd name="adj" fmla="val 12000"/>
            </a:avLst>
          </a:prstGeom>
          <a:solidFill>
            <a:srgbClr val="486581"/>
          </a:solidFill>
          <a:ln w="12700">
            <a:solidFill>
              <a:srgbClr val="4865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Unknown detail</a:t>
            </a:r>
          </a:p>
        </p:txBody>
      </p:sp>
      <p:sp>
        <p:nvSpPr>
          <p:cNvPr id="24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case_study_48_addendum.md (Recommended Executive Decision); agent-request-challenge.md; BRD FR-026, CON-005; WH:SHF annex snapshot; log.md.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 i="0">
                <a:solidFill>
                  <a:srgbClr val="102A43"/>
                </a:solidFill>
                <a:latin typeface="Segoe UI"/>
              </a:rPr>
              <a:t>Four decisions where I would value your challenge today</a:t>
            </a:r>
          </a:p>
        </p:txBody>
      </p:sp>
      <p:sp>
        <p:nvSpPr>
          <p:cNvPr id="3" name="Questions"/>
          <p:cNvSpPr/>
          <p:nvPr/>
        </p:nvSpPr>
        <p:spPr>
          <a:xfrm>
            <a:off x="548640" y="1508760"/>
            <a:ext cx="630936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83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B83A2E"/>
                </a:solidFill>
                <a:latin typeface="Segoe UI"/>
              </a:rPr>
              <a:t>QUESTIONS FOR YOU</a:t>
            </a:r>
          </a:p>
          <a:p>
            <a:pPr algn="l" marL="342900" indent="-342900">
              <a:spcAft>
                <a:spcPts val="1200"/>
              </a:spcAft>
              <a:buAutoNum type="arabicPeriod" startAt="1"/>
            </a:pPr>
            <a:r>
              <a:rPr sz="1500" b="1" i="0">
                <a:solidFill>
                  <a:srgbClr val="102A43"/>
                </a:solidFill>
                <a:latin typeface="Segoe UI"/>
              </a:rPr>
              <a:t>Will the panel read control plane plus bounded AI as a stronger answer, or as refusing the brief?</a:t>
            </a:r>
          </a:p>
          <a:p>
            <a:pPr algn="l" marL="342900" indent="-342900">
              <a:spcAft>
                <a:spcPts val="1200"/>
              </a:spcAft>
              <a:buAutoNum type="arabicPeriod" startAt="2"/>
            </a:pPr>
            <a:r>
              <a:rPr sz="1500" b="1" i="0">
                <a:solidFill>
                  <a:srgbClr val="102A43"/>
                </a:solidFill>
                <a:latin typeface="Segoe UI"/>
              </a:rPr>
              <a:t>How should I balance business depth against architecture depth?</a:t>
            </a:r>
          </a:p>
          <a:p>
            <a:pPr algn="l" marL="342900" indent="-342900">
              <a:spcAft>
                <a:spcPts val="1200"/>
              </a:spcAft>
              <a:buAutoNum type="arabicPeriod" startAt="3"/>
            </a:pPr>
            <a:r>
              <a:rPr sz="1500" b="1" i="0">
                <a:solidFill>
                  <a:srgbClr val="102A43"/>
                </a:solidFill>
                <a:latin typeface="Segoe UI"/>
              </a:rPr>
              <a:t>Keep the BRD failing on unset targets, or propose illustrative targets?</a:t>
            </a:r>
          </a:p>
          <a:p>
            <a:pPr algn="l" marL="342900" indent="-342900">
              <a:spcAft>
                <a:spcPts val="1200"/>
              </a:spcAft>
              <a:buAutoNum type="arabicPeriod" startAt="4"/>
            </a:pPr>
            <a:r>
              <a:rPr sz="1500" b="1" i="0">
                <a:solidFill>
                  <a:srgbClr val="102A43"/>
                </a:solidFill>
                <a:latin typeface="Segoe UI"/>
              </a:rPr>
              <a:t>Which open divergence first: L4 quality flags or L3 digital booking?</a:t>
            </a:r>
          </a:p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486581"/>
                </a:solidFill>
                <a:latin typeface="Segoe UI"/>
              </a:rPr>
              <a:t>And on the story itself: where did it lose you?</a:t>
            </a:r>
          </a:p>
        </p:txBody>
      </p:sp>
      <p:sp>
        <p:nvSpPr>
          <p:cNvPr id="4" name="Next"/>
          <p:cNvSpPr/>
          <p:nvPr/>
        </p:nvSpPr>
        <p:spPr>
          <a:xfrm>
            <a:off x="7132320" y="1508760"/>
            <a:ext cx="4510735" cy="3520440"/>
          </a:xfrm>
          <a:prstGeom prst="roundRect">
            <a:avLst>
              <a:gd name="adj" fmla="val 6000"/>
            </a:avLst>
          </a:prstGeom>
          <a:solidFill>
            <a:srgbClr val="F0F4F8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91440"/>
          <a:lstStyle/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B625B"/>
                </a:solidFill>
                <a:latin typeface="Segoe UI"/>
              </a:rPr>
              <a:t>NEXT, ON THE 85-DAY PLAN (TO 5 DEC)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High- and medium-level architecture with justified trade-offs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Shadow-mode comparison of typed decision models (IDEA-001)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Optional bounded demo, with a static fallback</a:t>
            </a:r>
          </a:p>
          <a:p>
            <a:pPr algn="l" marL="228600" indent="-228600">
              <a:spcAft>
                <a:spcPts val="100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CEO, CIO and CFO versions of the 15-minute pitch</a:t>
            </a:r>
          </a:p>
          <a:p>
            <a:pPr algn="l" marL="228600" indent="-228600">
              <a:spcAft>
                <a:spcPts val="0"/>
              </a:spcAft>
              <a:buChar char="•"/>
            </a:pPr>
            <a:r>
              <a:rPr sz="1400" b="0" i="0">
                <a:solidFill>
                  <a:srgbClr val="243B53"/>
                </a:solidFill>
                <a:latin typeface="Segoe UI"/>
              </a:rPr>
              <a:t>No real resident or staff evidence yet; the role agents' discovery questions are ready</a:t>
            </a:r>
          </a:p>
        </p:txBody>
      </p:sp>
      <p:sp>
        <p:nvSpPr>
          <p:cNvPr id="5" name="Takeaway"/>
          <p:cNvSpPr/>
          <p:nvPr/>
        </p:nvSpPr>
        <p:spPr>
          <a:xfrm>
            <a:off x="548640" y="5303520"/>
            <a:ext cx="11094415" cy="54864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 w="1270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Those are my questions. Which one would you take first?</a:t>
            </a:r>
          </a:p>
        </p:txBody>
      </p:sp>
      <p:sp>
        <p:nvSpPr>
          <p:cNvPr id="6" name="Source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900" b="0" i="0">
                <a:solidFill>
                  <a:srgbClr val="627D98"/>
                </a:solidFill>
                <a:latin typeface="Segoe UI"/>
              </a:rPr>
              <a:t>Sources: .copilot-tracking/plans/2026-09-19/case-study-85-day-delivery-plan.instructions.md; docs/reference/memory.md; docs/ideas/idea-register.md.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Case Study 48 - Mentor Progress Review</dc:title>
  <dc:subject>How the Proper Warm case gaps were filled: research, role agents, BRD, design thinking and quality review</dc:subject>
  <dc:creator>AMA Research Team</dc:creator>
  <cp:keywords>AMA, Case Study 48, Proper Warm, BRD, design thinking, knowledge base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Mentoring</cp:category>
</cp:coreProperties>
</file>