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have the story so far to show you, and four decisions I want your challenge on. The short version: the brief asks for five agents. Two weeks of evidence says the value is credible, but end-to-end agents are not the way to get it. Where I have landed is an agent-led modernisation of the existing retrofit model, with agents only where they beat the same workflow without them. One of my four questions is whether the panel will read that as answering the brief.</a:t>
            </a:r>
          </a:p>
          <a:p/>
          <a:p>
            <a:r>
              <a:t>I will walk through five strands of work, three later challenges, my lessons and one traceability chain, then my questions.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brief is a one-page solution request: five agents with autonomy levels, and promises such as doubling delivery and GBP 40 million of grants.</a:t>
            </a:r>
          </a:p>
          <a:p/>
          <a:p>
            <a:r>
              <a:t>What it does not give is everything an architect needs to justify a design: what</a:t>
            </a:r>
          </a:p>
          <a:p>
            <a:r>
              <a:t>kind of organisation this is, what the current throughput and data look like,</a:t>
            </a:r>
          </a:p>
          <a:p>
            <a:r>
              <a:t>which regulations are in force versus proposed, and whether the grant money is</a:t>
            </a:r>
          </a:p>
          <a:p>
            <a:r>
              <a:t>real. Above all, it names the solution before the problem: each agent is</a:t>
            </a:r>
          </a:p>
          <a:p>
            <a:r>
              <a:t>described by a single "owns end-to-end" line.</a:t>
            </a:r>
          </a:p>
          <a:p/>
          <a:p>
            <a:r>
              <a:t>So I set myself one working question for the whole research phase: what business</a:t>
            </a:r>
          </a:p>
          <a:p>
            <a:r>
              <a:t>problem would make these agents worth building? Everything that follows is how I</a:t>
            </a:r>
          </a:p>
          <a:p>
            <a:r>
              <a:t>tried to answer it without inventing facts about the company.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backbone of the story. The five strands were not a straight line; each loop produced questions that sent me back into research.</a:t>
            </a:r>
          </a:p>
          <a:p/>
          <a:p>
            <a:r>
              <a:t>Research built the context. The role agents let me ask what the brief could not answer. The BRD has been revised in thirteen commits and is now version 0.5.0. The design thinking session on 26 September was the turning point: I read each agent request as the value behind it and tested my early doubts agent by agent. The quality review made the requirements traceable, and it was re-run after every later change.</a:t>
            </a:r>
          </a:p>
          <a:p/>
          <a:p>
            <a:r>
              <a:t>The habit that matters: nothing stayed in chat history. Every finding was filed in the addendum, the BRD or the knowledge base, and logged.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came out of research.</a:t>
            </a:r>
          </a:p>
          <a:p/>
          <a:p>
            <a:r>
              <a:t>First, the company. The brief does not say what kind of organisation this is. I built a housing association primer and a modelled customer profile from sector medians. On 26 September I confirmed it is a not-for-profit. Its legal form is still unknown, and I have not assumed charitable status.</a:t>
            </a:r>
          </a:p>
          <a:p/>
          <a:p>
            <a:r>
              <a:t>Second, the numbers. Sector benchmarks suggest about 26 percent of stock is below EPC C, roughly 15,600 homes, about 3,900 accepted completions a year and a gross programme of about GBP 312 million. These are planning estimates, not company facts.</a:t>
            </a:r>
          </a:p>
          <a:p/>
          <a:p>
            <a:r>
              <a:t>Third, regulation: 16 official documents, so every regulatory claim has a dated local source.</a:t>
            </a:r>
          </a:p>
          <a:p/>
          <a:p>
            <a:r>
              <a:t>Research also corrected two claims in the brief. The GBP 40 million is an opportunity, not an award, and would cover at most about 5,333 homes at the grant cap. And EPC C by 2030 is final policy, not a consultation, though I could not yet evidence it as commenced law.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company is fictional, so there is nobody to interview. I created eight role agents, one for each perspective that owns part of a retrofit programme.</a:t>
            </a:r>
          </a:p>
          <a:p/>
          <a:p>
            <a:r>
              <a:t>They are research instruments, not simulated employees. They label every answer as a case fact, a sector hypothesis or an unknown. That stops an articulate answer from becoming a fake company fact. Their most useful output is the one question per role that would change its answer most; those questions are now the discovery agenda.</a:t>
            </a:r>
          </a:p>
          <a:p/>
          <a:p>
            <a:r>
              <a:t>One exchange: would a grant-drafting agent add value? The finance role answered with a fact from the local snapshot: in Greater Manchester and the West Midlands, Wave 3 money is allocated by formula, not by bid. Whether Proper North Homes operates there is unknown. So the BRD now requires an evidenced funding route before any bid work starts.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honest origin of the turning point. The doubt about five agents built up over two weeks.</a:t>
            </a:r>
          </a:p>
          <a:p/>
          <a:p>
            <a:r>
              <a:t>On 11 September my first addendum already said that "agentic" is an implementation option and proposed a portfolio control plane, now called the digital foundation. On 19 September the BRD gained a cross-functional challenge to the five-agent request.</a:t>
            </a:r>
          </a:p>
          <a:p/>
          <a:p>
            <a:r>
              <a:t>What I lacked was evidence for each agent. On 26 September all eight role agents challenged each request, which added ten requirements and eight open decisions. Each BRD revision was the same pass: research, ask the roles, rewrite, log what changed and why.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turning point. I stopped treating the five agents as a specification and read each "owns end-to-end" line as the business telling us what value it expects. For example, quality verification means never paying for defective work.</a:t>
            </a:r>
          </a:p>
          <a:p/>
          <a:p>
            <a:r>
              <a:t>I asked all eight role agents, in parallel, what the real problem was, what cheaper alternatives existed and where an agent would fit. The answer was unanimous: build none of the five as an end-to-end agent. Each request bundles deterministic control work, accountable human decisions and a smaller set of tasks where bounded AI helps. The most memorable row is quality: every role said the real risk is that a pack with no flags gets read as proof of quality.</a:t>
            </a:r>
          </a:p>
          <a:p/>
          <a:p>
            <a:r>
              <a:t>The "after" question is how I phrase it now.</a:t>
            </a:r>
          </a:p>
          <a:p/>
          <a:p>
            <a:r>
              <a:t>One caveat: the roles read my addendum, so their agreement is a sector-informed hypothesis, not validation.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if the gap is shared records, not intelligence, why is this agent-led? Because the records do not fill themselves. What rests on a small team today is coordination, chasing, re-keying, reconciliation and evidence assembly, and that unstructured work is where agents help. Later on 26 September, a challenge to my own measurement plan showed the pilot bundled three changes: a new delivery cell, ring-fenced supplier capacity and agents, so it could never tell the Board which one worked. So I reframed it as agent-led modernisation of the existing retrofit model. Whether coordination really is the binding constraint is still a Phase 0 question.</a:t>
            </a:r>
          </a:p>
          <a:p/>
          <a:p>
            <a:r>
              <a:t>Read the stack from the bottom. The foundation is deterministic, because decisions that residents, the Regulator, funders or the Board must be able to follow should come from rules. Agents sit where the work is unstructured, and people keep every decision with legal, professional or resident authority.</a:t>
            </a:r>
          </a:p>
          <a:p/>
          <a:p>
            <a:r>
              <a:t>The ask changes: agents added to existing teams in one locality and, as a proposal, each capability scales only if it beats the same workflow without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challenges asked whether I could prove the value and whether I could explain it. The first came before the reframe and caused it; the second came after.</a:t>
            </a:r>
          </a:p>
          <a:p/>
          <a:p>
            <a:r>
              <a:t>The first was my own idea: a dashboard showing the pilot accelerates delivery. All eight roles backed the intent and rejected the design. Speed is not the benefit; accepted handovers are. And, as you saw, it bundled three changes. About 50 handovers in six to nine months cannot prove a 20 percent gain. So there are now two comparisons: a pilot locality with agents against a matched locality without, and each agent capability against the same workflow without it.</a:t>
            </a:r>
          </a:p>
          <a:p/>
          <a:p>
            <a:r>
              <a:t>The second was a transparency review. It found an error of mine: CON-003 cited UK GDPR Article 22, but the local consolidated text omits it and uses Articles 22A to 22D. CON-003 now cites Articles 22A to 22C and maps human review to the four Article 22C(2) safeguards.</a:t>
            </a:r>
          </a:p>
          <a:p/>
          <a:p>
            <a:r>
              <a:t>Still a proposal: the pilot decides which agent capabilities scale.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more test, on 27 September. Would richer inputs change any verdict? Phone photos with location, structured invoices, sensors, drones, even a digital twin: twenty scenarios, with focused questions to the role agents.</a:t>
            </a:r>
          </a:p>
          <a:p/>
          <a:p>
            <a:r>
              <a:t>None moved a request to an end-to-end agent. Richer inputs enrich the digital foundation and widen what bounded agents can check, but they add duties before autonomy: special category data, Awaab's Law awareness, which a hazard photo can establish no later than its arrival, and payment and procurement rules.</a:t>
            </a:r>
          </a:p>
          <a:p/>
          <a:p>
            <a:r>
              <a:t>The useful output is the grid: lifecycle events first, then evidence packs for assessment, quality and damp. It is my coarse judgement of what Comparison 2 should test first, not a scaling decision.</a:t>
            </a:r>
          </a:p>
          <a:p/>
          <a:p>
            <a:r>
              <a:t>A post-merge review caught two errors: the same Article 22 citation I had fixed in CON-003, and eleven answers from roles that have no agent. I re-ran nine with the nearest roles and labelled two as my own hypotheses. Then I re-ran every other role answer against the reframed proposal. Every verdict held; six answers tightened controls to match the BRD. For example, AI risk paths stay in shadow mode, and a person approves every AI-drafted message to a resident.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Alongside all of this ran a formal BRD quality review, re-run after every change. The first run failed hard: the BRD used legacy BR and OBJ identifiers, so the reviewer measured zero percent coverage from functional requirements to acceptance criteria and business goals.</a:t>
            </a:r>
          </a:p>
          <a:p/>
          <a:p>
            <a:r>
              <a:t>I relabelled the document to a canonical taxonomy, with a legacy map so every old reference stays valid. Coverage went from zero to one hundred percent. That was an identifier-format problem, not missing requirements. Relabelling fixed traceability; it did not fix measurability.</a:t>
            </a:r>
          </a:p>
          <a:p/>
          <a:p>
            <a:r>
              <a:t>There have been six runs so far. It still fails, because seven business goals have no numeric target until company data or board decisions exist. I chose to leave the gate failing rather than invent numbers, and I would like your view on that.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writing was not the hard part. Keeping the evidence honest was.</a:t>
            </a:r>
          </a:p>
          <a:p/>
          <a:p>
            <a:r>
              <a:t>The company is fictional, so every number about it is modelled and labelled as an estimate. The role agents are persuasive, and they read my own addendum, so they share my framing. Where they disagree, such as L4 autonomy for quality flags, I keep the divergence open. Sources disagree too, for example on interest cover, and I corrected a superseded fuel poverty measure. I flag those rather than silently choose.</a:t>
            </a:r>
          </a:p>
          <a:p/>
          <a:p>
            <a:r>
              <a:t>If I started again, I would change four things. Start the log on day one; earlier entries had to be rebuilt from Git. Use canonical requirement identifiers from the first draft. When I fix an error, search every derived document for it; the what-if study repeated my Article 22 mistake. And run the value challenge earlier, and once without the addendum, to test whether the roles were primed by my framing.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reason for all the structure: immutable dated sources, cited syntheses, an index and an append-only log, on Karpathy's LLM Wiki pattern. The organisation is in the appendix. Any decision in the addendum can be walked back to its evidence, and this is a real chain.</a:t>
            </a:r>
          </a:p>
          <a:p/>
          <a:p>
            <a:r>
              <a:t>The decision: a capped readiness and pilot stage, not a five-agent rollout, with no end-to-end stock prioritisation agent. The evidence: the roles said eligibility is a rules question. The requirement: FR-026 requires a deterministic pass, fail or unknown eligibility result, tested by AC-039 and constrained by CON-005. The source: the Wave 3 technical annex, page 3, footnote 1, retrieved on 19 September.</a:t>
            </a:r>
          </a:p>
          <a:p/>
          <a:p>
            <a:r>
              <a:t>To challenge a decision, change one piece of evidence, such as a real throughput figure, and the chain shows what has to move.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four places I would most value your challenge.</a:t>
            </a:r>
          </a:p>
          <a:p/>
          <a:p>
            <a:r>
              <a:t>First, will the panel read agent-led modernisation, not five end-to-end agents, as answering the brief, or as stepping back from the five agents it asked for?</a:t>
            </a:r>
          </a:p>
          <a:p/>
          <a:p>
            <a:r>
              <a:t>Second, how much business depth versus architecture depth should the capstone show?</a:t>
            </a:r>
          </a:p>
          <a:p/>
          <a:p>
            <a:r>
              <a:t>Third, should the BRD keep failing where targets need company data, or should I propose clearly labelled illustrative targets?</a:t>
            </a:r>
          </a:p>
          <a:p/>
          <a:p>
            <a:r>
              <a:t>Fourth, which open divergence between the role agents should I resolve first?</a:t>
            </a:r>
          </a:p>
          <a:p/>
          <a:p>
            <a:r>
              <a:t>On the right is what comes next on the 85-day plan, to 5 December. There is still no real resident or staff evidence.</a:t>
            </a:r>
          </a:p>
          <a:p/>
          <a:p>
            <a:r>
              <a:t>And on the story itself: where did it lose you? Which question would you take first?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how I kept a two-week research effort from turning into a pile of</a:t>
            </a:r>
          </a:p>
          <a:p>
            <a:r>
              <a:t>documents.</a:t>
            </a:r>
          </a:p>
          <a:p/>
          <a:p>
            <a:r>
              <a:t>On the left are the problem documents. The original case study is never edited,</a:t>
            </a:r>
          </a:p>
          <a:p>
            <a:r>
              <a:t>so the request is always visible. The addendum evolves with every finding, and</a:t>
            </a:r>
          </a:p>
          <a:p>
            <a:r>
              <a:t>the BRD carries the requirements with stable identifiers.</a:t>
            </a:r>
          </a:p>
          <a:p/>
          <a:p>
            <a:r>
              <a:t>In the middle is the knowledge base, organised on Andrej Karpathy's LLM Wiki</a:t>
            </a:r>
          </a:p>
          <a:p>
            <a:r>
              <a:t>pattern. An index routes any task to the right files. Regulatory sources are</a:t>
            </a:r>
          </a:p>
          <a:p>
            <a:r>
              <a:t>dated and immutable. Syntheses carry citations. Memory holds my own context and is</a:t>
            </a:r>
          </a:p>
          <a:p>
            <a:r>
              <a:t>explicitly not evidence. The log is append-only and records every ingest,</a:t>
            </a:r>
          </a:p>
          <a:p>
            <a:r>
              <a:t>correction and contradiction. The schema, the repository instructions, tells every</a:t>
            </a:r>
          </a:p>
          <a:p>
            <a:r>
              <a:t>agent how to use all of this.</a:t>
            </a:r>
          </a:p>
          <a:p/>
          <a:p>
            <a:r>
              <a:t>On the right is the working evidence: the tracking folders for each workflow, and</a:t>
            </a:r>
          </a:p>
          <a:p>
            <a:r>
              <a:t>Git history. Together they mean the next session, human or agent, starts from</a:t>
            </a:r>
          </a:p>
          <a:p>
            <a:r>
              <a:t>what we already know instead of rediscovering it.</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Kicker"/>
          <p:cNvSpPr txBox="1"/>
          <p:nvPr/>
        </p:nvSpPr>
        <p:spPr>
          <a:xfrm>
            <a:off x="822960" y="1371600"/>
            <a:ext cx="10515600" cy="365760"/>
          </a:xfrm>
          <a:prstGeom prst="rect">
            <a:avLst/>
          </a:prstGeom>
          <a:noFill/>
        </p:spPr>
        <p:txBody>
          <a:bodyPr wrap="square">
            <a:spAutoFit/>
          </a:bodyPr>
          <a:lstStyle/>
          <a:p>
            <a:r>
              <a:rPr sz="1400" b="1" i="0" spc="100">
                <a:solidFill>
                  <a:srgbClr val="7FD1C7"/>
                </a:solidFill>
                <a:latin typeface="Segoe UI"/>
              </a:rPr>
              <a:t>AMA CASE STUDY 48  |  MENTOR SESSION 1</a:t>
            </a:r>
          </a:p>
        </p:txBody>
      </p:sp>
      <p:sp>
        <p:nvSpPr>
          <p:cNvPr id="3" name="Title"/>
          <p:cNvSpPr txBox="1"/>
          <p:nvPr/>
        </p:nvSpPr>
        <p:spPr>
          <a:xfrm>
            <a:off x="822960" y="2011680"/>
            <a:ext cx="10515600" cy="1554480"/>
          </a:xfrm>
          <a:prstGeom prst="rect">
            <a:avLst/>
          </a:prstGeom>
          <a:noFill/>
        </p:spPr>
        <p:txBody>
          <a:bodyPr wrap="square">
            <a:spAutoFit/>
          </a:bodyPr>
          <a:lstStyle/>
          <a:p>
            <a:r>
              <a:rPr sz="3800" b="1" i="0">
                <a:solidFill>
                  <a:srgbClr val="FFFFFF"/>
                </a:solidFill>
                <a:latin typeface="Segoe UI"/>
              </a:rPr>
              <a:t>From "build five agents" to</a:t>
            </a:r>
          </a:p>
          <a:p>
            <a:r>
              <a:rPr sz="3800" b="1" i="0">
                <a:solidFill>
                  <a:srgbClr val="FFFFFF"/>
                </a:solidFill>
                <a:latin typeface="Segoe UI"/>
              </a:rPr>
              <a:t>"what value do they really need?"</a:t>
            </a:r>
          </a:p>
        </p:txBody>
      </p:sp>
      <p:sp>
        <p:nvSpPr>
          <p:cNvPr id="4" name="Subtitle"/>
          <p:cNvSpPr txBox="1"/>
          <p:nvPr/>
        </p:nvSpPr>
        <p:spPr>
          <a:xfrm>
            <a:off x="822960" y="3840480"/>
            <a:ext cx="10515600" cy="731520"/>
          </a:xfrm>
          <a:prstGeom prst="rect">
            <a:avLst/>
          </a:prstGeom>
          <a:noFill/>
        </p:spPr>
        <p:txBody>
          <a:bodyPr wrap="square">
            <a:spAutoFit/>
          </a:bodyPr>
          <a:lstStyle/>
          <a:p>
            <a:r>
              <a:rPr sz="2000" b="0" i="0">
                <a:solidFill>
                  <a:srgbClr val="BCCCDC"/>
                </a:solidFill>
                <a:latin typeface="Segoe UI"/>
              </a:rPr>
              <a:t>How I filled the gaps in the Proper Warm case, 10 to 27 September 2026</a:t>
            </a:r>
          </a:p>
        </p:txBody>
      </p:sp>
      <p:sp>
        <p:nvSpPr>
          <p:cNvPr id="5" name="Rule"/>
          <p:cNvSpPr/>
          <p:nvPr/>
        </p:nvSpPr>
        <p:spPr>
          <a:xfrm>
            <a:off x="822960" y="4846320"/>
            <a:ext cx="1463040" cy="54864"/>
          </a:xfrm>
          <a:prstGeom prst="rect">
            <a:avLst/>
          </a:prstGeom>
          <a:solidFill>
            <a:srgbClr val="1B998B"/>
          </a:solidFill>
          <a:ln w="12700">
            <a:solidFill>
              <a:srgbClr val="1B998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Strands"/>
          <p:cNvSpPr txBox="1"/>
          <p:nvPr/>
        </p:nvSpPr>
        <p:spPr>
          <a:xfrm>
            <a:off x="822960" y="5175504"/>
            <a:ext cx="10515600" cy="457200"/>
          </a:xfrm>
          <a:prstGeom prst="rect">
            <a:avLst/>
          </a:prstGeom>
          <a:noFill/>
        </p:spPr>
        <p:txBody>
          <a:bodyPr wrap="square">
            <a:spAutoFit/>
          </a:bodyPr>
          <a:lstStyle/>
          <a:p>
            <a:r>
              <a:rPr sz="1600" b="0" i="0">
                <a:solidFill>
                  <a:srgbClr val="D9E2EC"/>
                </a:solidFill>
                <a:latin typeface="Segoe UI"/>
              </a:rPr>
              <a:t>Today: the story so far, then four decisions I would value your challenge 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457200"/>
            <a:ext cx="11094415" cy="685800"/>
          </a:xfrm>
          <a:prstGeom prst="rect">
            <a:avLst/>
          </a:prstGeom>
          <a:noFill/>
        </p:spPr>
        <p:txBody>
          <a:bodyPr wrap="square" anchor="ctr">
            <a:spAutoFit/>
          </a:bodyPr>
          <a:lstStyle/>
          <a:p>
            <a:r>
              <a:rPr sz="2600" b="1" i="0">
                <a:solidFill>
                  <a:srgbClr val="102A43"/>
                </a:solidFill>
                <a:latin typeface="Segoe UI"/>
              </a:rPr>
              <a:t>The case names five agents but not the problem they solve</a:t>
            </a:r>
          </a:p>
        </p:txBody>
      </p:sp>
      <p:sp>
        <p:nvSpPr>
          <p:cNvPr id="3" name="Request"/>
          <p:cNvSpPr/>
          <p:nvPr/>
        </p:nvSpPr>
        <p:spPr>
          <a:xfrm>
            <a:off x="548640" y="1508760"/>
            <a:ext cx="5396331" cy="3474720"/>
          </a:xfrm>
          <a:prstGeom prst="roundRect">
            <a:avLst>
              <a:gd name="adj" fmla="val 6000"/>
            </a:avLst>
          </a:prstGeom>
          <a:solidFill>
            <a:srgbClr val="FFFFFF"/>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rtlCol="0" anchor="t" wrap="square" lIns="164592" rIns="164592" tIns="128016" bIns="91440"/>
          <a:lstStyle/>
          <a:p>
            <a:pPr algn="l">
              <a:spcAft>
                <a:spcPts val="1000"/>
              </a:spcAft>
            </a:pPr>
            <a:r>
              <a:rPr sz="1300" b="1" i="0">
                <a:solidFill>
                  <a:srgbClr val="0B625B"/>
                </a:solidFill>
                <a:latin typeface="Segoe UI"/>
              </a:rPr>
              <a:t>THE REQUEST (ORIGINAL CASE STUDY)</a:t>
            </a:r>
          </a:p>
          <a:p>
            <a:pPr algn="l" marL="228600" indent="-228600">
              <a:spcAft>
                <a:spcPts val="800"/>
              </a:spcAft>
              <a:buChar char="•"/>
            </a:pPr>
            <a:r>
              <a:rPr sz="1500" b="0" i="0">
                <a:solidFill>
                  <a:srgbClr val="243B53"/>
                </a:solidFill>
                <a:latin typeface="Segoe UI"/>
              </a:rPr>
              <a:t>A housing association with 60,000 homes in the North of England</a:t>
            </a:r>
          </a:p>
          <a:p>
            <a:pPr algn="l" marL="228600" indent="-228600">
              <a:spcAft>
                <a:spcPts val="800"/>
              </a:spcAft>
              <a:buChar char="•"/>
            </a:pPr>
            <a:r>
              <a:rPr sz="1500" b="0" i="0">
                <a:solidFill>
                  <a:srgbClr val="243B53"/>
                </a:solidFill>
                <a:latin typeface="Segoe UI"/>
              </a:rPr>
              <a:t>Every home to EPC C by 2030, while meeting Awaab's Law damp and mould timescales</a:t>
            </a:r>
          </a:p>
          <a:p>
            <a:pPr algn="l" marL="228600" indent="-228600">
              <a:spcAft>
                <a:spcPts val="800"/>
              </a:spcAft>
              <a:buChar char="•"/>
            </a:pPr>
            <a:r>
              <a:rPr sz="1500" b="0" i="0">
                <a:solidFill>
                  <a:srgbClr val="243B53"/>
                </a:solidFill>
                <a:latin typeface="Segoe UI"/>
              </a:rPr>
              <a:t>A small team on spreadsheets, far behind plan</a:t>
            </a:r>
          </a:p>
          <a:p>
            <a:pPr algn="l" marL="228600" indent="-228600">
              <a:spcAft>
                <a:spcPts val="800"/>
              </a:spcAft>
              <a:buChar char="•"/>
            </a:pPr>
            <a:r>
              <a:rPr sz="1500" b="0" i="0">
                <a:solidFill>
                  <a:srgbClr val="243B53"/>
                </a:solidFill>
                <a:latin typeface="Segoe UI"/>
              </a:rPr>
              <a:t>Five agents, from L2 recommend to L4 autonomous flags</a:t>
            </a:r>
          </a:p>
          <a:p>
            <a:pPr algn="l" marL="228600" indent="-228600">
              <a:spcAft>
                <a:spcPts val="800"/>
              </a:spcAft>
              <a:buChar char="•"/>
            </a:pPr>
            <a:r>
              <a:rPr sz="1500" b="0" i="0">
                <a:solidFill>
                  <a:srgbClr val="243B53"/>
                </a:solidFill>
                <a:latin typeface="Segoe UI"/>
              </a:rPr>
              <a:t>Promised: double delivery, GBP 40m of grants, lower energy bills</a:t>
            </a:r>
          </a:p>
        </p:txBody>
      </p:sp>
      <p:sp>
        <p:nvSpPr>
          <p:cNvPr id="4" name="Gaps"/>
          <p:cNvSpPr/>
          <p:nvPr/>
        </p:nvSpPr>
        <p:spPr>
          <a:xfrm>
            <a:off x="6246723" y="1508760"/>
            <a:ext cx="5396331" cy="3474720"/>
          </a:xfrm>
          <a:prstGeom prst="roundRect">
            <a:avLst>
              <a:gd name="adj" fmla="val 6000"/>
            </a:avLst>
          </a:prstGeom>
          <a:solidFill>
            <a:srgbClr val="FBEAE8"/>
          </a:solidFill>
          <a:ln w="12700">
            <a:solidFill>
              <a:srgbClr val="F3C7C1"/>
            </a:solidFill>
          </a:ln>
        </p:spPr>
        <p:style>
          <a:lnRef idx="1">
            <a:schemeClr val="accent1"/>
          </a:lnRef>
          <a:fillRef idx="3">
            <a:schemeClr val="accent1"/>
          </a:fillRef>
          <a:effectRef idx="0">
            <a:schemeClr val="accent1"/>
          </a:effectRef>
          <a:fontRef idx="minor">
            <a:schemeClr val="lt1"/>
          </a:fontRef>
        </p:style>
        <p:txBody>
          <a:bodyPr rtlCol="0" anchor="t" wrap="square" lIns="164592" rIns="164592" tIns="128016" bIns="91440"/>
          <a:lstStyle/>
          <a:p>
            <a:pPr algn="l">
              <a:spcAft>
                <a:spcPts val="1000"/>
              </a:spcAft>
            </a:pPr>
            <a:r>
              <a:rPr sz="1300" b="1" i="0">
                <a:solidFill>
                  <a:srgbClr val="B83A2E"/>
                </a:solidFill>
                <a:latin typeface="Segoe UI"/>
              </a:rPr>
              <a:t>WHAT THE DOCUMENT DOES NOT TELL US</a:t>
            </a:r>
          </a:p>
          <a:p>
            <a:pPr algn="l" marL="228600" indent="-228600">
              <a:spcAft>
                <a:spcPts val="800"/>
              </a:spcAft>
              <a:buChar char="•"/>
            </a:pPr>
            <a:r>
              <a:rPr sz="1500" b="0" i="0">
                <a:solidFill>
                  <a:srgbClr val="243B53"/>
                </a:solidFill>
                <a:latin typeface="Segoe UI"/>
              </a:rPr>
              <a:t>What kind of organisation it is, and who decides</a:t>
            </a:r>
          </a:p>
          <a:p>
            <a:pPr algn="l" marL="228600" indent="-228600">
              <a:spcAft>
                <a:spcPts val="800"/>
              </a:spcAft>
              <a:buChar char="•"/>
            </a:pPr>
            <a:r>
              <a:rPr sz="1500" b="0" i="0">
                <a:solidFill>
                  <a:srgbClr val="243B53"/>
                </a:solidFill>
                <a:latin typeface="Segoe UI"/>
              </a:rPr>
              <a:t>Current throughput, backlog and data quality</a:t>
            </a:r>
          </a:p>
          <a:p>
            <a:pPr algn="l" marL="228600" indent="-228600">
              <a:spcAft>
                <a:spcPts val="800"/>
              </a:spcAft>
              <a:buChar char="•"/>
            </a:pPr>
            <a:r>
              <a:rPr sz="1500" b="0" i="0">
                <a:solidFill>
                  <a:srgbClr val="243B53"/>
                </a:solidFill>
                <a:latin typeface="Segoe UI"/>
              </a:rPr>
              <a:t>Which rules apply today, which are proposals, and from when</a:t>
            </a:r>
          </a:p>
          <a:p>
            <a:pPr algn="l" marL="228600" indent="-228600">
              <a:spcAft>
                <a:spcPts val="800"/>
              </a:spcAft>
              <a:buChar char="•"/>
            </a:pPr>
            <a:r>
              <a:rPr sz="1500" b="0" i="0">
                <a:solidFill>
                  <a:srgbClr val="243B53"/>
                </a:solidFill>
                <a:latin typeface="Segoe UI"/>
              </a:rPr>
              <a:t>Whether the GBP 40m is awarded or only available</a:t>
            </a:r>
          </a:p>
          <a:p>
            <a:pPr algn="l" marL="228600" indent="-228600">
              <a:spcAft>
                <a:spcPts val="800"/>
              </a:spcAft>
              <a:buChar char="•"/>
            </a:pPr>
            <a:r>
              <a:rPr sz="1500" b="0" i="0">
                <a:solidFill>
                  <a:srgbClr val="243B53"/>
                </a:solidFill>
                <a:latin typeface="Segoe UI"/>
              </a:rPr>
              <a:t>The problem: it names the solution first; each agent gets one "owns end-to-end" line</a:t>
            </a:r>
          </a:p>
        </p:txBody>
      </p:sp>
      <p:sp>
        <p:nvSpPr>
          <p:cNvPr id="5" name="Takeaway"/>
          <p:cNvSpPr/>
          <p:nvPr/>
        </p:nvSpPr>
        <p:spPr>
          <a:xfrm>
            <a:off x="548640" y="5303520"/>
            <a:ext cx="11094415" cy="548640"/>
          </a:xfrm>
          <a:prstGeom prst="roundRect">
            <a:avLst>
              <a:gd name="adj" fmla="val 12000"/>
            </a:avLst>
          </a:prstGeom>
          <a:solidFill>
            <a:srgbClr val="102A43"/>
          </a:solidFill>
          <a:ln w="12700">
            <a:solidFill>
              <a:srgbClr val="102A43"/>
            </a:solidFill>
          </a:ln>
        </p:spPr>
        <p:style>
          <a:lnRef idx="1">
            <a:schemeClr val="accent1"/>
          </a:lnRef>
          <a:fillRef idx="3">
            <a:schemeClr val="accent1"/>
          </a:fillRef>
          <a:effectRef idx="0">
            <a:schemeClr val="accent1"/>
          </a:effectRef>
          <a:fontRef idx="minor">
            <a:schemeClr val="lt1"/>
          </a:fontRef>
        </p:style>
        <p:txBody>
          <a:bodyPr rtlCol="0" anchor="ctr" wrap="square" lIns="109728" rIns="109728" tIns="36576" bIns="36576"/>
          <a:lstStyle/>
          <a:p>
            <a:pPr algn="ctr"/>
            <a:r>
              <a:rPr sz="1500" b="1" i="0">
                <a:solidFill>
                  <a:srgbClr val="FFFFFF"/>
                </a:solidFill>
                <a:latin typeface="Segoe UI"/>
              </a:rPr>
              <a:t>My working question: what business problem would make these agents worth building?</a:t>
            </a:r>
          </a:p>
        </p:txBody>
      </p:sp>
      <p:sp>
        <p:nvSpPr>
          <p:cNvPr id="6" name="Source"/>
          <p:cNvSpPr txBox="1"/>
          <p:nvPr/>
        </p:nvSpPr>
        <p:spPr>
          <a:xfrm>
            <a:off x="548640" y="6126480"/>
            <a:ext cx="11094415" cy="256032"/>
          </a:xfrm>
          <a:prstGeom prst="rect">
            <a:avLst/>
          </a:prstGeom>
          <a:noFill/>
        </p:spPr>
        <p:txBody>
          <a:bodyPr wrap="square" tIns="0" bIns="0">
            <a:spAutoFit/>
          </a:bodyPr>
          <a:lstStyle/>
          <a:p>
            <a:r>
              <a:rPr sz="900" b="0" i="0">
                <a:solidFill>
                  <a:srgbClr val="627D98"/>
                </a:solidFill>
                <a:latin typeface="Segoe UI"/>
              </a:rPr>
              <a:t>Source: docs/case_study_48_original.md (10 Sep 2026). Gaps identified during research, 11 to 25 Sep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457200"/>
            <a:ext cx="11094415" cy="685800"/>
          </a:xfrm>
          <a:prstGeom prst="rect">
            <a:avLst/>
          </a:prstGeom>
          <a:noFill/>
        </p:spPr>
        <p:txBody>
          <a:bodyPr wrap="square" anchor="ctr">
            <a:spAutoFit/>
          </a:bodyPr>
          <a:lstStyle/>
          <a:p>
            <a:r>
              <a:rPr sz="2600" b="1" i="0">
                <a:solidFill>
                  <a:srgbClr val="102A43"/>
                </a:solidFill>
                <a:latin typeface="Segoe UI"/>
              </a:rPr>
              <a:t>Five loops, not a line: each finding sent me back to research</a:t>
            </a:r>
          </a:p>
        </p:txBody>
      </p:sp>
      <p:sp>
        <p:nvSpPr>
          <p:cNvPr id="3" name="Step 1"/>
          <p:cNvSpPr/>
          <p:nvPr/>
        </p:nvSpPr>
        <p:spPr>
          <a:xfrm>
            <a:off x="548640" y="1554480"/>
            <a:ext cx="2036003" cy="640080"/>
          </a:xfrm>
          <a:prstGeom prst="homePlate">
            <a:avLst/>
          </a:prstGeom>
          <a:solidFill>
            <a:srgbClr val="0B625B"/>
          </a:solidFill>
          <a:ln w="12700">
            <a:solidFill>
              <a:srgbClr val="0B625B"/>
            </a:solidFill>
          </a:ln>
        </p:spPr>
        <p:style>
          <a:lnRef idx="1">
            <a:schemeClr val="accent1"/>
          </a:lnRef>
          <a:fillRef idx="3">
            <a:schemeClr val="accent1"/>
          </a:fillRef>
          <a:effectRef idx="0">
            <a:schemeClr val="accent1"/>
          </a:effectRef>
          <a:fontRef idx="minor">
            <a:schemeClr val="lt1"/>
          </a:fontRef>
        </p:style>
        <p:txBody>
          <a:bodyPr rtlCol="0" anchor="ctr" wrap="square" lIns="109728" rIns="109728" tIns="36576" bIns="36576"/>
          <a:lstStyle/>
          <a:p>
            <a:pPr algn="ctr"/>
            <a:r>
              <a:rPr sz="1400" b="1" i="0">
                <a:solidFill>
                  <a:srgbClr val="FFFFFF"/>
                </a:solidFill>
                <a:latin typeface="Segoe UI"/>
              </a:rPr>
              <a:t>1  Research</a:t>
            </a:r>
          </a:p>
        </p:txBody>
      </p:sp>
      <p:sp>
        <p:nvSpPr>
          <p:cNvPr id="4" name="Step 1 detail"/>
          <p:cNvSpPr/>
          <p:nvPr/>
        </p:nvSpPr>
        <p:spPr>
          <a:xfrm>
            <a:off x="548640" y="2423160"/>
            <a:ext cx="2036003" cy="2606040"/>
          </a:xfrm>
          <a:prstGeom prst="roundRect">
            <a:avLst>
              <a:gd name="adj" fmla="val 6000"/>
            </a:avLst>
          </a:prstGeom>
          <a:solidFill>
            <a:srgbClr val="F0F4F8"/>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rtlCol="0" anchor="t" wrap="square" lIns="164592" rIns="164592" tIns="128016" bIns="91440"/>
          <a:lstStyle/>
          <a:p>
            <a:pPr algn="l">
              <a:spcAft>
                <a:spcPts val="800"/>
              </a:spcAft>
            </a:pPr>
            <a:r>
              <a:rPr sz="1200" b="1" i="0">
                <a:solidFill>
                  <a:srgbClr val="0B625B"/>
                </a:solidFill>
                <a:latin typeface="Segoe UI"/>
              </a:rPr>
              <a:t>11 TO 25 SEP</a:t>
            </a:r>
          </a:p>
          <a:p>
            <a:pPr algn="l">
              <a:spcAft>
                <a:spcPts val="1200"/>
              </a:spcAft>
            </a:pPr>
            <a:r>
              <a:rPr sz="1400" b="0" i="0">
                <a:solidFill>
                  <a:srgbClr val="243B53"/>
                </a:solidFill>
                <a:latin typeface="Segoe UI"/>
              </a:rPr>
              <a:t>Company, sector statistics, comparators and 16 official regulatory documents</a:t>
            </a:r>
          </a:p>
          <a:p>
            <a:pPr algn="l">
              <a:spcAft>
                <a:spcPts val="200"/>
              </a:spcAft>
            </a:pPr>
            <a:r>
              <a:rPr sz="1100" b="1" i="0">
                <a:solidFill>
                  <a:srgbClr val="627D98"/>
                </a:solidFill>
                <a:latin typeface="Segoe UI"/>
              </a:rPr>
              <a:t>OUTPUT</a:t>
            </a:r>
          </a:p>
          <a:p>
            <a:pPr algn="l">
              <a:spcAft>
                <a:spcPts val="0"/>
              </a:spcAft>
            </a:pPr>
            <a:r>
              <a:rPr sz="1300" b="1" i="0">
                <a:solidFill>
                  <a:srgbClr val="102A43"/>
                </a:solidFill>
                <a:latin typeface="Segoe UI"/>
              </a:rPr>
              <a:t>Primer, customer profile, regulatory register</a:t>
            </a:r>
          </a:p>
        </p:txBody>
      </p:sp>
      <p:sp>
        <p:nvSpPr>
          <p:cNvPr id="5" name="Step 2"/>
          <p:cNvSpPr/>
          <p:nvPr/>
        </p:nvSpPr>
        <p:spPr>
          <a:xfrm>
            <a:off x="2813243" y="1554480"/>
            <a:ext cx="2036003" cy="640080"/>
          </a:xfrm>
          <a:prstGeom prst="homePlate">
            <a:avLst/>
          </a:prstGeom>
          <a:solidFill>
            <a:srgbClr val="0B625B"/>
          </a:solidFill>
          <a:ln w="12700">
            <a:solidFill>
              <a:srgbClr val="0B625B"/>
            </a:solidFill>
          </a:ln>
        </p:spPr>
        <p:style>
          <a:lnRef idx="1">
            <a:schemeClr val="accent1"/>
          </a:lnRef>
          <a:fillRef idx="3">
            <a:schemeClr val="accent1"/>
          </a:fillRef>
          <a:effectRef idx="0">
            <a:schemeClr val="accent1"/>
          </a:effectRef>
          <a:fontRef idx="minor">
            <a:schemeClr val="lt1"/>
          </a:fontRef>
        </p:style>
        <p:txBody>
          <a:bodyPr rtlCol="0" anchor="ctr" wrap="square" lIns="109728" rIns="109728" tIns="36576" bIns="36576"/>
          <a:lstStyle/>
          <a:p>
            <a:pPr algn="ctr"/>
            <a:r>
              <a:rPr sz="1400" b="1" i="0">
                <a:solidFill>
                  <a:srgbClr val="FFFFFF"/>
                </a:solidFill>
                <a:latin typeface="Segoe UI"/>
              </a:rPr>
              <a:t>2  Role agents</a:t>
            </a:r>
          </a:p>
        </p:txBody>
      </p:sp>
      <p:sp>
        <p:nvSpPr>
          <p:cNvPr id="6" name="Step 2 detail"/>
          <p:cNvSpPr/>
          <p:nvPr/>
        </p:nvSpPr>
        <p:spPr>
          <a:xfrm>
            <a:off x="2813243" y="2423160"/>
            <a:ext cx="2036003" cy="2606040"/>
          </a:xfrm>
          <a:prstGeom prst="roundRect">
            <a:avLst>
              <a:gd name="adj" fmla="val 6000"/>
            </a:avLst>
          </a:prstGeom>
          <a:solidFill>
            <a:srgbClr val="F0F4F8"/>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rtlCol="0" anchor="t" wrap="square" lIns="164592" rIns="164592" tIns="128016" bIns="91440"/>
          <a:lstStyle/>
          <a:p>
            <a:pPr algn="l">
              <a:spcAft>
                <a:spcPts val="800"/>
              </a:spcAft>
            </a:pPr>
            <a:r>
              <a:rPr sz="1200" b="1" i="0">
                <a:solidFill>
                  <a:srgbClr val="0B625B"/>
                </a:solidFill>
                <a:latin typeface="Segoe UI"/>
              </a:rPr>
              <a:t>FROM 11 SEP</a:t>
            </a:r>
          </a:p>
          <a:p>
            <a:pPr algn="l">
              <a:spcAft>
                <a:spcPts val="1200"/>
              </a:spcAft>
            </a:pPr>
            <a:r>
              <a:rPr sz="1400" b="0" i="0">
                <a:solidFill>
                  <a:srgbClr val="243B53"/>
                </a:solidFill>
                <a:latin typeface="Segoe UI"/>
              </a:rPr>
              <a:t>Eight Proper North Homes perspectives to ask what the case never says</a:t>
            </a:r>
          </a:p>
          <a:p>
            <a:pPr algn="l">
              <a:spcAft>
                <a:spcPts val="200"/>
              </a:spcAft>
            </a:pPr>
            <a:r>
              <a:rPr sz="1100" b="1" i="0">
                <a:solidFill>
                  <a:srgbClr val="627D98"/>
                </a:solidFill>
                <a:latin typeface="Segoe UI"/>
              </a:rPr>
              <a:t>OUTPUT</a:t>
            </a:r>
          </a:p>
          <a:p>
            <a:pPr algn="l">
              <a:spcAft>
                <a:spcPts val="0"/>
              </a:spcAft>
            </a:pPr>
            <a:r>
              <a:rPr sz="1300" b="1" i="0">
                <a:solidFill>
                  <a:srgbClr val="102A43"/>
                </a:solidFill>
                <a:latin typeface="Segoe UI"/>
              </a:rPr>
              <a:t>8 company-* agents and their questions</a:t>
            </a:r>
          </a:p>
        </p:txBody>
      </p:sp>
      <p:sp>
        <p:nvSpPr>
          <p:cNvPr id="7" name="Step 3"/>
          <p:cNvSpPr/>
          <p:nvPr/>
        </p:nvSpPr>
        <p:spPr>
          <a:xfrm>
            <a:off x="5077846" y="1554480"/>
            <a:ext cx="2036003" cy="640080"/>
          </a:xfrm>
          <a:prstGeom prst="homePlate">
            <a:avLst/>
          </a:prstGeom>
          <a:solidFill>
            <a:srgbClr val="1D5FB8"/>
          </a:solidFill>
          <a:ln w="12700">
            <a:solidFill>
              <a:srgbClr val="1D5FB8"/>
            </a:solidFill>
          </a:ln>
        </p:spPr>
        <p:style>
          <a:lnRef idx="1">
            <a:schemeClr val="accent1"/>
          </a:lnRef>
          <a:fillRef idx="3">
            <a:schemeClr val="accent1"/>
          </a:fillRef>
          <a:effectRef idx="0">
            <a:schemeClr val="accent1"/>
          </a:effectRef>
          <a:fontRef idx="minor">
            <a:schemeClr val="lt1"/>
          </a:fontRef>
        </p:style>
        <p:txBody>
          <a:bodyPr rtlCol="0" anchor="ctr" wrap="square" lIns="109728" rIns="109728" tIns="36576" bIns="36576"/>
          <a:lstStyle/>
          <a:p>
            <a:pPr algn="ctr"/>
            <a:r>
              <a:rPr sz="1400" b="1" i="0">
                <a:solidFill>
                  <a:srgbClr val="FFFFFF"/>
                </a:solidFill>
                <a:latin typeface="Segoe UI"/>
              </a:rPr>
              <a:t>3  BRD iterations</a:t>
            </a:r>
          </a:p>
        </p:txBody>
      </p:sp>
      <p:sp>
        <p:nvSpPr>
          <p:cNvPr id="8" name="Step 3 detail"/>
          <p:cNvSpPr/>
          <p:nvPr/>
        </p:nvSpPr>
        <p:spPr>
          <a:xfrm>
            <a:off x="5077846" y="2423160"/>
            <a:ext cx="2036003" cy="2606040"/>
          </a:xfrm>
          <a:prstGeom prst="roundRect">
            <a:avLst>
              <a:gd name="adj" fmla="val 6000"/>
            </a:avLst>
          </a:prstGeom>
          <a:solidFill>
            <a:srgbClr val="F0F4F8"/>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rtlCol="0" anchor="t" wrap="square" lIns="164592" rIns="164592" tIns="128016" bIns="91440"/>
          <a:lstStyle/>
          <a:p>
            <a:pPr algn="l">
              <a:spcAft>
                <a:spcPts val="800"/>
              </a:spcAft>
            </a:pPr>
            <a:r>
              <a:rPr sz="1200" b="1" i="0">
                <a:solidFill>
                  <a:srgbClr val="1D5FB8"/>
                </a:solidFill>
                <a:latin typeface="Segoe UI"/>
              </a:rPr>
              <a:t>11 TO 26 SEP</a:t>
            </a:r>
          </a:p>
          <a:p>
            <a:pPr algn="l">
              <a:spcAft>
                <a:spcPts val="1200"/>
              </a:spcAft>
            </a:pPr>
            <a:r>
              <a:rPr sz="1400" b="0" i="0">
                <a:solidFill>
                  <a:srgbClr val="243B53"/>
                </a:solidFill>
                <a:latin typeface="Segoe UI"/>
              </a:rPr>
              <a:t>Thirteen revisions, with new research and role answers between each</a:t>
            </a:r>
          </a:p>
          <a:p>
            <a:pPr algn="l">
              <a:spcAft>
                <a:spcPts val="200"/>
              </a:spcAft>
            </a:pPr>
            <a:r>
              <a:rPr sz="1100" b="1" i="0">
                <a:solidFill>
                  <a:srgbClr val="627D98"/>
                </a:solidFill>
                <a:latin typeface="Segoe UI"/>
              </a:rPr>
              <a:t>OUTPUT</a:t>
            </a:r>
          </a:p>
          <a:p>
            <a:pPr algn="l">
              <a:spcAft>
                <a:spcPts val="0"/>
              </a:spcAft>
            </a:pPr>
            <a:r>
              <a:rPr sz="1300" b="1" i="0">
                <a:solidFill>
                  <a:srgbClr val="102A43"/>
                </a:solidFill>
                <a:latin typeface="Segoe UI"/>
              </a:rPr>
              <a:t>BRD v0.5.0</a:t>
            </a:r>
          </a:p>
        </p:txBody>
      </p:sp>
      <p:sp>
        <p:nvSpPr>
          <p:cNvPr id="9" name="Step 4"/>
          <p:cNvSpPr/>
          <p:nvPr/>
        </p:nvSpPr>
        <p:spPr>
          <a:xfrm>
            <a:off x="7342449" y="1554480"/>
            <a:ext cx="2036003" cy="640080"/>
          </a:xfrm>
          <a:prstGeom prst="homePlate">
            <a:avLst/>
          </a:prstGeom>
          <a:solidFill>
            <a:srgbClr val="B83A2E"/>
          </a:solidFill>
          <a:ln w="12700">
            <a:solidFill>
              <a:srgbClr val="B83A2E"/>
            </a:solidFill>
          </a:ln>
        </p:spPr>
        <p:style>
          <a:lnRef idx="1">
            <a:schemeClr val="accent1"/>
          </a:lnRef>
          <a:fillRef idx="3">
            <a:schemeClr val="accent1"/>
          </a:fillRef>
          <a:effectRef idx="0">
            <a:schemeClr val="accent1"/>
          </a:effectRef>
          <a:fontRef idx="minor">
            <a:schemeClr val="lt1"/>
          </a:fontRef>
        </p:style>
        <p:txBody>
          <a:bodyPr rtlCol="0" anchor="ctr" wrap="square" lIns="109728" rIns="109728" tIns="36576" bIns="36576"/>
          <a:lstStyle/>
          <a:p>
            <a:pPr algn="ctr"/>
            <a:r>
              <a:rPr sz="1400" b="1" i="0">
                <a:solidFill>
                  <a:srgbClr val="FFFFFF"/>
                </a:solidFill>
                <a:latin typeface="Segoe UI"/>
              </a:rPr>
              <a:t>4  Design thinking</a:t>
            </a:r>
          </a:p>
        </p:txBody>
      </p:sp>
      <p:sp>
        <p:nvSpPr>
          <p:cNvPr id="10" name="Step 4 detail"/>
          <p:cNvSpPr/>
          <p:nvPr/>
        </p:nvSpPr>
        <p:spPr>
          <a:xfrm>
            <a:off x="7342449" y="2423160"/>
            <a:ext cx="2036003" cy="2606040"/>
          </a:xfrm>
          <a:prstGeom prst="roundRect">
            <a:avLst>
              <a:gd name="adj" fmla="val 6000"/>
            </a:avLst>
          </a:prstGeom>
          <a:solidFill>
            <a:srgbClr val="FBEAE8"/>
          </a:solidFill>
          <a:ln w="12700">
            <a:solidFill>
              <a:srgbClr val="F3C7C1"/>
            </a:solidFill>
          </a:ln>
        </p:spPr>
        <p:style>
          <a:lnRef idx="1">
            <a:schemeClr val="accent1"/>
          </a:lnRef>
          <a:fillRef idx="3">
            <a:schemeClr val="accent1"/>
          </a:fillRef>
          <a:effectRef idx="0">
            <a:schemeClr val="accent1"/>
          </a:effectRef>
          <a:fontRef idx="minor">
            <a:schemeClr val="lt1"/>
          </a:fontRef>
        </p:style>
        <p:txBody>
          <a:bodyPr rtlCol="0" anchor="t" wrap="square" lIns="164592" rIns="164592" tIns="128016" bIns="91440"/>
          <a:lstStyle/>
          <a:p>
            <a:pPr algn="l">
              <a:spcAft>
                <a:spcPts val="800"/>
              </a:spcAft>
            </a:pPr>
            <a:r>
              <a:rPr sz="1200" b="1" i="0">
                <a:solidFill>
                  <a:srgbClr val="B83A2E"/>
                </a:solidFill>
                <a:latin typeface="Segoe UI"/>
              </a:rPr>
              <a:t>26 SEP | TURNING POINT</a:t>
            </a:r>
          </a:p>
          <a:p>
            <a:pPr algn="l">
              <a:spcAft>
                <a:spcPts val="1200"/>
              </a:spcAft>
            </a:pPr>
            <a:r>
              <a:rPr sz="1400" b="0" i="0">
                <a:solidFill>
                  <a:srgbClr val="243B53"/>
                </a:solidFill>
                <a:latin typeface="Segoe UI"/>
              </a:rPr>
              <a:t>Read each agent's "owns end-to-end" line as the value behind it</a:t>
            </a:r>
          </a:p>
          <a:p>
            <a:pPr algn="l">
              <a:spcAft>
                <a:spcPts val="200"/>
              </a:spcAft>
            </a:pPr>
            <a:r>
              <a:rPr sz="1100" b="1" i="0">
                <a:solidFill>
                  <a:srgbClr val="627D98"/>
                </a:solidFill>
                <a:latin typeface="Segoe UI"/>
              </a:rPr>
              <a:t>OUTPUT</a:t>
            </a:r>
          </a:p>
          <a:p>
            <a:pPr algn="l">
              <a:spcAft>
                <a:spcPts val="0"/>
              </a:spcAft>
            </a:pPr>
            <a:r>
              <a:rPr sz="1300" b="1" i="0">
                <a:solidFill>
                  <a:srgbClr val="102A43"/>
                </a:solidFill>
                <a:latin typeface="Segoe UI"/>
              </a:rPr>
              <a:t>agent-request-challenge.md</a:t>
            </a:r>
          </a:p>
        </p:txBody>
      </p:sp>
      <p:sp>
        <p:nvSpPr>
          <p:cNvPr id="11" name="Step 5"/>
          <p:cNvSpPr/>
          <p:nvPr/>
        </p:nvSpPr>
        <p:spPr>
          <a:xfrm>
            <a:off x="9607052" y="1554480"/>
            <a:ext cx="2036003" cy="640080"/>
          </a:xfrm>
          <a:prstGeom prst="rect">
            <a:avLst/>
          </a:prstGeom>
          <a:solidFill>
            <a:srgbClr val="1D5FB8"/>
          </a:solidFill>
          <a:ln w="12700">
            <a:solidFill>
              <a:srgbClr val="1D5FB8"/>
            </a:solidFill>
          </a:ln>
        </p:spPr>
        <p:style>
          <a:lnRef idx="1">
            <a:schemeClr val="accent1"/>
          </a:lnRef>
          <a:fillRef idx="3">
            <a:schemeClr val="accent1"/>
          </a:fillRef>
          <a:effectRef idx="0">
            <a:schemeClr val="accent1"/>
          </a:effectRef>
          <a:fontRef idx="minor">
            <a:schemeClr val="lt1"/>
          </a:fontRef>
        </p:style>
        <p:txBody>
          <a:bodyPr rtlCol="0" anchor="ctr" wrap="square" lIns="109728" rIns="109728" tIns="36576" bIns="36576"/>
          <a:lstStyle/>
          <a:p>
            <a:pPr algn="ctr"/>
            <a:r>
              <a:rPr sz="1400" b="1" i="0">
                <a:solidFill>
                  <a:srgbClr val="FFFFFF"/>
                </a:solidFill>
                <a:latin typeface="Segoe UI"/>
              </a:rPr>
              <a:t>5  Quality review</a:t>
            </a:r>
          </a:p>
        </p:txBody>
      </p:sp>
      <p:sp>
        <p:nvSpPr>
          <p:cNvPr id="12" name="Step 5 detail"/>
          <p:cNvSpPr/>
          <p:nvPr/>
        </p:nvSpPr>
        <p:spPr>
          <a:xfrm>
            <a:off x="9607052" y="2423160"/>
            <a:ext cx="2036003" cy="2606040"/>
          </a:xfrm>
          <a:prstGeom prst="roundRect">
            <a:avLst>
              <a:gd name="adj" fmla="val 6000"/>
            </a:avLst>
          </a:prstGeom>
          <a:solidFill>
            <a:srgbClr val="F0F4F8"/>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rtlCol="0" anchor="t" wrap="square" lIns="164592" rIns="164592" tIns="128016" bIns="91440"/>
          <a:lstStyle/>
          <a:p>
            <a:pPr algn="l">
              <a:spcAft>
                <a:spcPts val="800"/>
              </a:spcAft>
            </a:pPr>
            <a:r>
              <a:rPr sz="1200" b="1" i="0">
                <a:solidFill>
                  <a:srgbClr val="1D5FB8"/>
                </a:solidFill>
                <a:latin typeface="Segoe UI"/>
              </a:rPr>
              <a:t>26 SEP</a:t>
            </a:r>
          </a:p>
          <a:p>
            <a:pPr algn="l">
              <a:spcAft>
                <a:spcPts val="1200"/>
              </a:spcAft>
            </a:pPr>
            <a:r>
              <a:rPr sz="1400" b="0" i="0">
                <a:solidFill>
                  <a:srgbClr val="243B53"/>
                </a:solidFill>
                <a:latin typeface="Segoe UI"/>
              </a:rPr>
              <a:t>Canonical IDs and coverage checks, re-run after every later change</a:t>
            </a:r>
          </a:p>
          <a:p>
            <a:pPr algn="l">
              <a:spcAft>
                <a:spcPts val="200"/>
              </a:spcAft>
            </a:pPr>
            <a:r>
              <a:rPr sz="1100" b="1" i="0">
                <a:solidFill>
                  <a:srgbClr val="627D98"/>
                </a:solidFill>
                <a:latin typeface="Segoe UI"/>
              </a:rPr>
              <a:t>OUTPUT</a:t>
            </a:r>
          </a:p>
          <a:p>
            <a:pPr algn="l">
              <a:spcAft>
                <a:spcPts val="0"/>
              </a:spcAft>
            </a:pPr>
            <a:r>
              <a:rPr sz="1300" b="1" i="0">
                <a:solidFill>
                  <a:srgbClr val="102A43"/>
                </a:solidFill>
                <a:latin typeface="Segoe UI"/>
              </a:rPr>
              <a:t>Six runs; FAIL only on data gaps</a:t>
            </a:r>
          </a:p>
        </p:txBody>
      </p:sp>
      <p:sp>
        <p:nvSpPr>
          <p:cNvPr id="13" name="Takeaway"/>
          <p:cNvSpPr/>
          <p:nvPr/>
        </p:nvSpPr>
        <p:spPr>
          <a:xfrm>
            <a:off x="548640" y="5303520"/>
            <a:ext cx="11094415" cy="548640"/>
          </a:xfrm>
          <a:prstGeom prst="roundRect">
            <a:avLst>
              <a:gd name="adj" fmla="val 12000"/>
            </a:avLst>
          </a:prstGeom>
          <a:solidFill>
            <a:srgbClr val="102A43"/>
          </a:solidFill>
          <a:ln w="12700">
            <a:solidFill>
              <a:srgbClr val="102A43"/>
            </a:solidFill>
          </a:ln>
        </p:spPr>
        <p:style>
          <a:lnRef idx="1">
            <a:schemeClr val="accent1"/>
          </a:lnRef>
          <a:fillRef idx="3">
            <a:schemeClr val="accent1"/>
          </a:fillRef>
          <a:effectRef idx="0">
            <a:schemeClr val="accent1"/>
          </a:effectRef>
          <a:fontRef idx="minor">
            <a:schemeClr val="lt1"/>
          </a:fontRef>
        </p:style>
        <p:txBody>
          <a:bodyPr rtlCol="0" anchor="ctr" wrap="square" lIns="109728" rIns="109728" tIns="36576" bIns="36576"/>
          <a:lstStyle/>
          <a:p>
            <a:pPr algn="ctr"/>
            <a:r>
              <a:rPr sz="1500" b="1" i="0">
                <a:solidFill>
                  <a:srgbClr val="FFFFFF"/>
                </a:solidFill>
                <a:latin typeface="Segoe UI"/>
              </a:rPr>
              <a:t>Every loop sent me back to research and filed its findings in the addendum, the BRD and the log</a:t>
            </a:r>
          </a:p>
        </p:txBody>
      </p:sp>
      <p:sp>
        <p:nvSpPr>
          <p:cNvPr id="14" name="Source"/>
          <p:cNvSpPr txBox="1"/>
          <p:nvPr/>
        </p:nvSpPr>
        <p:spPr>
          <a:xfrm>
            <a:off x="548640" y="6126480"/>
            <a:ext cx="11094415" cy="256032"/>
          </a:xfrm>
          <a:prstGeom prst="rect">
            <a:avLst/>
          </a:prstGeom>
          <a:noFill/>
        </p:spPr>
        <p:txBody>
          <a:bodyPr wrap="square" tIns="0" bIns="0">
            <a:spAutoFit/>
          </a:bodyPr>
          <a:lstStyle/>
          <a:p>
            <a:r>
              <a:rPr sz="900" b="0" i="0">
                <a:solidFill>
                  <a:srgbClr val="627D98"/>
                </a:solidFill>
                <a:latin typeface="Segoe UI"/>
              </a:rPr>
              <a:t>Sources: git log (41 commits, 10 to 27 Sep 2026); docs/reference/log.md; docs/brds/agentic-retrofit-programme-brd.md history.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457200"/>
            <a:ext cx="11094415" cy="685800"/>
          </a:xfrm>
          <a:prstGeom prst="rect">
            <a:avLst/>
          </a:prstGeom>
          <a:noFill/>
        </p:spPr>
        <p:txBody>
          <a:bodyPr wrap="square" anchor="ctr">
            <a:spAutoFit/>
          </a:bodyPr>
          <a:lstStyle/>
          <a:p>
            <a:r>
              <a:rPr sz="2600" b="1" i="0">
                <a:solidFill>
                  <a:srgbClr val="102A43"/>
                </a:solidFill>
                <a:latin typeface="Segoe UI"/>
              </a:rPr>
              <a:t>Research filled three gaps and corrected two claims in the brief</a:t>
            </a:r>
          </a:p>
        </p:txBody>
      </p:sp>
      <p:sp>
        <p:nvSpPr>
          <p:cNvPr id="3" name="Research 1"/>
          <p:cNvSpPr/>
          <p:nvPr/>
        </p:nvSpPr>
        <p:spPr>
          <a:xfrm>
            <a:off x="548640" y="1508760"/>
            <a:ext cx="3515258" cy="3154680"/>
          </a:xfrm>
          <a:prstGeom prst="roundRect">
            <a:avLst>
              <a:gd name="adj" fmla="val 6000"/>
            </a:avLst>
          </a:prstGeom>
          <a:solidFill>
            <a:srgbClr val="F0F4F8"/>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rtlCol="0" anchor="t" wrap="square" lIns="164592" rIns="164592" tIns="128016" bIns="91440"/>
          <a:lstStyle/>
          <a:p>
            <a:pPr algn="l">
              <a:spcAft>
                <a:spcPts val="200"/>
              </a:spcAft>
            </a:pPr>
            <a:r>
              <a:rPr sz="1200" b="1" i="0">
                <a:solidFill>
                  <a:srgbClr val="0B625B"/>
                </a:solidFill>
                <a:latin typeface="Segoe UI"/>
              </a:rPr>
              <a:t>COMPANY</a:t>
            </a:r>
          </a:p>
          <a:p>
            <a:pPr algn="l">
              <a:spcAft>
                <a:spcPts val="1000"/>
              </a:spcAft>
            </a:pPr>
            <a:r>
              <a:rPr sz="2600" b="1" i="0">
                <a:solidFill>
                  <a:srgbClr val="0B625B"/>
                </a:solidFill>
                <a:latin typeface="Segoe UI"/>
              </a:rPr>
              <a:t>Not-for-profit</a:t>
            </a:r>
          </a:p>
          <a:p>
            <a:pPr algn="l" marL="228600" indent="-228600">
              <a:spcAft>
                <a:spcPts val="600"/>
              </a:spcAft>
              <a:buChar char="•"/>
            </a:pPr>
            <a:r>
              <a:rPr sz="1300" b="0" i="0">
                <a:solidFill>
                  <a:srgbClr val="243B53"/>
                </a:solidFill>
                <a:latin typeface="Segoe UI"/>
              </a:rPr>
              <a:t>Proper North Homes: owner-confirmed not-for-profit, 26 Sep</a:t>
            </a:r>
          </a:p>
          <a:p>
            <a:pPr algn="l" marL="228600" indent="-228600">
              <a:spcAft>
                <a:spcPts val="600"/>
              </a:spcAft>
              <a:buChar char="•"/>
            </a:pPr>
            <a:r>
              <a:rPr sz="1300" b="0" i="0">
                <a:solidFill>
                  <a:srgbClr val="243B53"/>
                </a:solidFill>
                <a:latin typeface="Segoe UI"/>
              </a:rPr>
              <a:t>Legal form, registration and charitable status still unknown</a:t>
            </a:r>
          </a:p>
          <a:p>
            <a:pPr algn="l" marL="228600" indent="-228600">
              <a:spcAft>
                <a:spcPts val="600"/>
              </a:spcAft>
              <a:buChar char="•"/>
            </a:pPr>
            <a:r>
              <a:rPr sz="1300" b="0" i="0">
                <a:solidFill>
                  <a:srgbClr val="243B53"/>
                </a:solidFill>
                <a:latin typeface="Segoe UI"/>
              </a:rPr>
              <a:t>Modelled customer profile from sector medians, labelled as estimates</a:t>
            </a:r>
          </a:p>
          <a:p>
            <a:pPr algn="l" marL="228600" indent="-228600">
              <a:spcAft>
                <a:spcPts val="600"/>
              </a:spcAft>
              <a:buChar char="•"/>
            </a:pPr>
            <a:r>
              <a:rPr sz="1300" b="0" i="0">
                <a:solidFill>
                  <a:srgbClr val="243B53"/>
                </a:solidFill>
                <a:latin typeface="Segoe UI"/>
              </a:rPr>
              <a:t>Housing association primer to understand the customer</a:t>
            </a:r>
          </a:p>
        </p:txBody>
      </p:sp>
      <p:sp>
        <p:nvSpPr>
          <p:cNvPr id="4" name="Research 2"/>
          <p:cNvSpPr/>
          <p:nvPr/>
        </p:nvSpPr>
        <p:spPr>
          <a:xfrm>
            <a:off x="4338218" y="1508760"/>
            <a:ext cx="3515258" cy="3154680"/>
          </a:xfrm>
          <a:prstGeom prst="roundRect">
            <a:avLst>
              <a:gd name="adj" fmla="val 6000"/>
            </a:avLst>
          </a:prstGeom>
          <a:solidFill>
            <a:srgbClr val="F0F4F8"/>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rtlCol="0" anchor="t" wrap="square" lIns="164592" rIns="164592" tIns="128016" bIns="91440"/>
          <a:lstStyle/>
          <a:p>
            <a:pPr algn="l">
              <a:spcAft>
                <a:spcPts val="200"/>
              </a:spcAft>
            </a:pPr>
            <a:r>
              <a:rPr sz="1200" b="1" i="0">
                <a:solidFill>
                  <a:srgbClr val="1D5FB8"/>
                </a:solidFill>
                <a:latin typeface="Segoe UI"/>
              </a:rPr>
              <a:t>SECTOR BASELINE (ESTIMATE)</a:t>
            </a:r>
          </a:p>
          <a:p>
            <a:pPr algn="l">
              <a:spcAft>
                <a:spcPts val="1000"/>
              </a:spcAft>
            </a:pPr>
            <a:r>
              <a:rPr sz="2600" b="1" i="0">
                <a:solidFill>
                  <a:srgbClr val="1D5FB8"/>
                </a:solidFill>
                <a:latin typeface="Segoe UI"/>
              </a:rPr>
              <a:t>c. 15,600 homes</a:t>
            </a:r>
          </a:p>
          <a:p>
            <a:pPr algn="l" marL="228600" indent="-228600">
              <a:spcAft>
                <a:spcPts val="600"/>
              </a:spcAft>
              <a:buChar char="•"/>
            </a:pPr>
            <a:r>
              <a:rPr sz="1300" b="0" i="0">
                <a:solidFill>
                  <a:srgbClr val="243B53"/>
                </a:solidFill>
                <a:latin typeface="Segoe UI"/>
              </a:rPr>
              <a:t>26% of stock estimated below EPC C</a:t>
            </a:r>
          </a:p>
          <a:p>
            <a:pPr algn="l" marL="228600" indent="-228600">
              <a:spcAft>
                <a:spcPts val="600"/>
              </a:spcAft>
              <a:buChar char="•"/>
            </a:pPr>
            <a:r>
              <a:rPr sz="1300" b="0" i="0">
                <a:solidFill>
                  <a:srgbClr val="243B53"/>
                </a:solidFill>
                <a:latin typeface="Segoe UI"/>
              </a:rPr>
              <a:t>3,900 accepted completions a year for a four-year path</a:t>
            </a:r>
          </a:p>
          <a:p>
            <a:pPr algn="l" marL="228600" indent="-228600">
              <a:spcAft>
                <a:spcPts val="600"/>
              </a:spcAft>
              <a:buChar char="•"/>
            </a:pPr>
            <a:r>
              <a:rPr sz="1300" b="0" i="0">
                <a:solidFill>
                  <a:srgbClr val="243B53"/>
                </a:solidFill>
                <a:latin typeface="Segoe UI"/>
              </a:rPr>
              <a:t>About GBP 312m gross at GBP 20k per home</a:t>
            </a:r>
          </a:p>
          <a:p>
            <a:pPr algn="l" marL="228600" indent="-228600">
              <a:spcAft>
                <a:spcPts val="600"/>
              </a:spcAft>
              <a:buChar char="•"/>
            </a:pPr>
            <a:r>
              <a:rPr sz="1300" b="0" i="0">
                <a:solidFill>
                  <a:srgbClr val="243B53"/>
                </a:solidFill>
                <a:latin typeface="Segoe UI"/>
              </a:rPr>
              <a:t>At most 5,333 homes at the GBP 7,500 grant cap</a:t>
            </a:r>
          </a:p>
        </p:txBody>
      </p:sp>
      <p:sp>
        <p:nvSpPr>
          <p:cNvPr id="5" name="Research 3"/>
          <p:cNvSpPr/>
          <p:nvPr/>
        </p:nvSpPr>
        <p:spPr>
          <a:xfrm>
            <a:off x="8127796" y="1508760"/>
            <a:ext cx="3515258" cy="3154680"/>
          </a:xfrm>
          <a:prstGeom prst="roundRect">
            <a:avLst>
              <a:gd name="adj" fmla="val 6000"/>
            </a:avLst>
          </a:prstGeom>
          <a:solidFill>
            <a:srgbClr val="F0F4F8"/>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rtlCol="0" anchor="t" wrap="square" lIns="164592" rIns="164592" tIns="128016" bIns="91440"/>
          <a:lstStyle/>
          <a:p>
            <a:pPr algn="l">
              <a:spcAft>
                <a:spcPts val="200"/>
              </a:spcAft>
            </a:pPr>
            <a:r>
              <a:rPr sz="1200" b="1" i="0">
                <a:solidFill>
                  <a:srgbClr val="B83A2E"/>
                </a:solidFill>
                <a:latin typeface="Segoe UI"/>
              </a:rPr>
              <a:t>REGULATION</a:t>
            </a:r>
          </a:p>
          <a:p>
            <a:pPr algn="l">
              <a:spcAft>
                <a:spcPts val="1000"/>
              </a:spcAft>
            </a:pPr>
            <a:r>
              <a:rPr sz="2600" b="1" i="0">
                <a:solidFill>
                  <a:srgbClr val="B83A2E"/>
                </a:solidFill>
                <a:latin typeface="Segoe UI"/>
              </a:rPr>
              <a:t>16 documents</a:t>
            </a:r>
          </a:p>
          <a:p>
            <a:pPr algn="l" marL="228600" indent="-228600">
              <a:spcAft>
                <a:spcPts val="600"/>
              </a:spcAft>
              <a:buChar char="•"/>
            </a:pPr>
            <a:r>
              <a:rPr sz="1300" b="0" i="0">
                <a:solidFill>
                  <a:srgbClr val="243B53"/>
                </a:solidFill>
                <a:latin typeface="Segoe UI"/>
              </a:rPr>
              <a:t>Retrieved 19 Sep: social housing, energy efficiency, retrofit and funding, data protection</a:t>
            </a:r>
          </a:p>
          <a:p>
            <a:pPr algn="l" marL="228600" indent="-228600">
              <a:spcAft>
                <a:spcPts val="600"/>
              </a:spcAft>
              <a:buChar char="•"/>
            </a:pPr>
            <a:r>
              <a:rPr sz="1300" b="0" i="0">
                <a:solidFill>
                  <a:srgbClr val="243B53"/>
                </a:solidFill>
                <a:latin typeface="Segoe UI"/>
              </a:rPr>
              <a:t>Awaab's Law Phase 1 in force since 27 Oct 2025; Phase 2 planned from 30 Nov 2026</a:t>
            </a:r>
          </a:p>
          <a:p>
            <a:pPr algn="l" marL="228600" indent="-228600">
              <a:spcAft>
                <a:spcPts val="600"/>
              </a:spcAft>
              <a:buChar char="•"/>
            </a:pPr>
            <a:r>
              <a:rPr sz="1300" b="0" i="0">
                <a:solidFill>
                  <a:srgbClr val="243B53"/>
                </a:solidFill>
                <a:latin typeface="Segoe UI"/>
              </a:rPr>
              <a:t>Every regulatory claim cites a dated local snapshot</a:t>
            </a:r>
          </a:p>
        </p:txBody>
      </p:sp>
      <p:sp>
        <p:nvSpPr>
          <p:cNvPr id="6" name="Corrections"/>
          <p:cNvSpPr/>
          <p:nvPr/>
        </p:nvSpPr>
        <p:spPr>
          <a:xfrm>
            <a:off x="548640" y="4937760"/>
            <a:ext cx="11094415" cy="914400"/>
          </a:xfrm>
          <a:prstGeom prst="roundRect">
            <a:avLst>
              <a:gd name="adj" fmla="val 6000"/>
            </a:avLst>
          </a:prstGeom>
          <a:solidFill>
            <a:srgbClr val="FBEAE8"/>
          </a:solidFill>
          <a:ln w="12700">
            <a:solidFill>
              <a:srgbClr val="F3C7C1"/>
            </a:solidFill>
          </a:ln>
        </p:spPr>
        <p:style>
          <a:lnRef idx="1">
            <a:schemeClr val="accent1"/>
          </a:lnRef>
          <a:fillRef idx="3">
            <a:schemeClr val="accent1"/>
          </a:fillRef>
          <a:effectRef idx="0">
            <a:schemeClr val="accent1"/>
          </a:effectRef>
          <a:fontRef idx="minor">
            <a:schemeClr val="lt1"/>
          </a:fontRef>
        </p:style>
        <p:txBody>
          <a:bodyPr rtlCol="0" anchor="ctr" wrap="square" lIns="164592" rIns="164592" tIns="128016" bIns="91440"/>
          <a:lstStyle/>
          <a:p>
            <a:pPr algn="l">
              <a:spcAft>
                <a:spcPts val="200"/>
              </a:spcAft>
            </a:pPr>
            <a:r>
              <a:rPr sz="1200" b="1" i="0">
                <a:solidFill>
                  <a:srgbClr val="B83A2E"/>
                </a:solidFill>
                <a:latin typeface="Segoe UI"/>
              </a:rPr>
              <a:t>TWO CORRECTIONS TO THE BRIEF</a:t>
            </a:r>
          </a:p>
          <a:p>
            <a:pPr algn="l" marL="228600" indent="-228600">
              <a:spcAft>
                <a:spcPts val="0"/>
              </a:spcAft>
              <a:buChar char="•"/>
            </a:pPr>
            <a:r>
              <a:rPr sz="1400" b="1" i="0">
                <a:solidFill>
                  <a:srgbClr val="102A43"/>
                </a:solidFill>
                <a:latin typeface="Segoe UI"/>
              </a:rPr>
              <a:t>The GBP 40m is an opportunity, not an award</a:t>
            </a:r>
          </a:p>
          <a:p>
            <a:pPr algn="l" marL="228600" indent="-228600">
              <a:spcAft>
                <a:spcPts val="0"/>
              </a:spcAft>
              <a:buChar char="•"/>
            </a:pPr>
            <a:r>
              <a:rPr sz="1400" b="1" i="0">
                <a:solidFill>
                  <a:srgbClr val="102A43"/>
                </a:solidFill>
                <a:latin typeface="Segoe UI"/>
              </a:rPr>
              <a:t>EPC C by 2030 is final SRS MEES policy, not a consultation, but not yet evidenced as commenced law</a:t>
            </a:r>
          </a:p>
        </p:txBody>
      </p:sp>
      <p:sp>
        <p:nvSpPr>
          <p:cNvPr id="7" name="Source"/>
          <p:cNvSpPr txBox="1"/>
          <p:nvPr/>
        </p:nvSpPr>
        <p:spPr>
          <a:xfrm>
            <a:off x="548640" y="6126480"/>
            <a:ext cx="11094415" cy="256032"/>
          </a:xfrm>
          <a:prstGeom prst="rect">
            <a:avLst/>
          </a:prstGeom>
          <a:noFill/>
        </p:spPr>
        <p:txBody>
          <a:bodyPr wrap="square" tIns="0" bIns="0">
            <a:spAutoFit/>
          </a:bodyPr>
          <a:lstStyle/>
          <a:p>
            <a:r>
              <a:rPr sz="900" b="0" i="0">
                <a:solidFill>
                  <a:srgbClr val="627D98"/>
                </a:solidFill>
                <a:latin typeface="Segoe UI"/>
              </a:rPr>
              <a:t>Sources: company-profile-research.md; housing-association-primer.md; uk-social-housing-baseline-research.md; regulatory/README.md. Benchmarks are not company facts.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457200"/>
            <a:ext cx="11094415" cy="685800"/>
          </a:xfrm>
          <a:prstGeom prst="rect">
            <a:avLst/>
          </a:prstGeom>
          <a:noFill/>
        </p:spPr>
        <p:txBody>
          <a:bodyPr wrap="square" anchor="ctr">
            <a:spAutoFit/>
          </a:bodyPr>
          <a:lstStyle/>
          <a:p>
            <a:r>
              <a:rPr sz="2600" b="1" i="0">
                <a:solidFill>
                  <a:srgbClr val="102A43"/>
                </a:solidFill>
                <a:latin typeface="Segoe UI"/>
              </a:rPr>
              <a:t>Eight role agents stood in for the company I cannot interview</a:t>
            </a:r>
          </a:p>
        </p:txBody>
      </p:sp>
      <p:sp>
        <p:nvSpPr>
          <p:cNvPr id="3" name="Role 1"/>
          <p:cNvSpPr/>
          <p:nvPr/>
        </p:nvSpPr>
        <p:spPr>
          <a:xfrm>
            <a:off x="548640" y="1508760"/>
            <a:ext cx="2697480" cy="457200"/>
          </a:xfrm>
          <a:prstGeom prst="roundRect">
            <a:avLst>
              <a:gd name="adj" fmla="val 12000"/>
            </a:avLst>
          </a:prstGeom>
          <a:solidFill>
            <a:srgbClr val="FFFFFF"/>
          </a:solidFill>
          <a:ln w="19050">
            <a:solidFill>
              <a:srgbClr val="1B998B"/>
            </a:solidFill>
          </a:ln>
        </p:spPr>
        <p:style>
          <a:lnRef idx="1">
            <a:schemeClr val="accent1"/>
          </a:lnRef>
          <a:fillRef idx="3">
            <a:schemeClr val="accent1"/>
          </a:fillRef>
          <a:effectRef idx="0">
            <a:schemeClr val="accent1"/>
          </a:effectRef>
          <a:fontRef idx="minor">
            <a:schemeClr val="lt1"/>
          </a:fontRef>
        </p:style>
        <p:txBody>
          <a:bodyPr rtlCol="0" anchor="ctr" wrap="square" lIns="109728" rIns="109728" tIns="36576" bIns="36576"/>
          <a:lstStyle/>
          <a:p>
            <a:pPr algn="ctr"/>
            <a:r>
              <a:rPr sz="1300" b="1" i="0">
                <a:solidFill>
                  <a:srgbClr val="102A43"/>
                </a:solidFill>
                <a:latin typeface="Segoe UI"/>
              </a:rPr>
              <a:t>Executive Director of Assets</a:t>
            </a:r>
          </a:p>
        </p:txBody>
      </p:sp>
      <p:sp>
        <p:nvSpPr>
          <p:cNvPr id="4" name="Role 2"/>
          <p:cNvSpPr/>
          <p:nvPr/>
        </p:nvSpPr>
        <p:spPr>
          <a:xfrm>
            <a:off x="3474720" y="1508760"/>
            <a:ext cx="2697480" cy="457200"/>
          </a:xfrm>
          <a:prstGeom prst="roundRect">
            <a:avLst>
              <a:gd name="adj" fmla="val 12000"/>
            </a:avLst>
          </a:prstGeom>
          <a:solidFill>
            <a:srgbClr val="FFFFFF"/>
          </a:solidFill>
          <a:ln w="19050">
            <a:solidFill>
              <a:srgbClr val="1B998B"/>
            </a:solidFill>
          </a:ln>
        </p:spPr>
        <p:style>
          <a:lnRef idx="1">
            <a:schemeClr val="accent1"/>
          </a:lnRef>
          <a:fillRef idx="3">
            <a:schemeClr val="accent1"/>
          </a:fillRef>
          <a:effectRef idx="0">
            <a:schemeClr val="accent1"/>
          </a:effectRef>
          <a:fontRef idx="minor">
            <a:schemeClr val="lt1"/>
          </a:fontRef>
        </p:style>
        <p:txBody>
          <a:bodyPr rtlCol="0" anchor="ctr" wrap="square" lIns="109728" rIns="109728" tIns="36576" bIns="36576"/>
          <a:lstStyle/>
          <a:p>
            <a:pPr algn="ctr"/>
            <a:r>
              <a:rPr sz="1300" b="1" i="0">
                <a:solidFill>
                  <a:srgbClr val="102A43"/>
                </a:solidFill>
                <a:latin typeface="Segoe UI"/>
              </a:rPr>
              <a:t>Finance, Capital and Grants</a:t>
            </a:r>
          </a:p>
        </p:txBody>
      </p:sp>
      <p:sp>
        <p:nvSpPr>
          <p:cNvPr id="5" name="Role 3"/>
          <p:cNvSpPr/>
          <p:nvPr/>
        </p:nvSpPr>
        <p:spPr>
          <a:xfrm>
            <a:off x="548640" y="2075688"/>
            <a:ext cx="2697480" cy="457200"/>
          </a:xfrm>
          <a:prstGeom prst="roundRect">
            <a:avLst>
              <a:gd name="adj" fmla="val 12000"/>
            </a:avLst>
          </a:prstGeom>
          <a:solidFill>
            <a:srgbClr val="FFFFFF"/>
          </a:solidFill>
          <a:ln w="19050">
            <a:solidFill>
              <a:srgbClr val="1B998B"/>
            </a:solidFill>
          </a:ln>
        </p:spPr>
        <p:style>
          <a:lnRef idx="1">
            <a:schemeClr val="accent1"/>
          </a:lnRef>
          <a:fillRef idx="3">
            <a:schemeClr val="accent1"/>
          </a:fillRef>
          <a:effectRef idx="0">
            <a:schemeClr val="accent1"/>
          </a:effectRef>
          <a:fontRef idx="minor">
            <a:schemeClr val="lt1"/>
          </a:fontRef>
        </p:style>
        <p:txBody>
          <a:bodyPr rtlCol="0" anchor="ctr" wrap="square" lIns="109728" rIns="109728" tIns="36576" bIns="36576"/>
          <a:lstStyle/>
          <a:p>
            <a:pPr algn="ctr"/>
            <a:r>
              <a:rPr sz="1300" b="1" i="0">
                <a:solidFill>
                  <a:srgbClr val="102A43"/>
                </a:solidFill>
                <a:latin typeface="Segoe UI"/>
              </a:rPr>
              <a:t>Retrofit Programme Manager</a:t>
            </a:r>
          </a:p>
        </p:txBody>
      </p:sp>
      <p:sp>
        <p:nvSpPr>
          <p:cNvPr id="6" name="Role 4"/>
          <p:cNvSpPr/>
          <p:nvPr/>
        </p:nvSpPr>
        <p:spPr>
          <a:xfrm>
            <a:off x="3474720" y="2075688"/>
            <a:ext cx="2697480" cy="457200"/>
          </a:xfrm>
          <a:prstGeom prst="roundRect">
            <a:avLst>
              <a:gd name="adj" fmla="val 12000"/>
            </a:avLst>
          </a:prstGeom>
          <a:solidFill>
            <a:srgbClr val="FFFFFF"/>
          </a:solidFill>
          <a:ln w="19050">
            <a:solidFill>
              <a:srgbClr val="1B998B"/>
            </a:solidFill>
          </a:ln>
        </p:spPr>
        <p:style>
          <a:lnRef idx="1">
            <a:schemeClr val="accent1"/>
          </a:lnRef>
          <a:fillRef idx="3">
            <a:schemeClr val="accent1"/>
          </a:fillRef>
          <a:effectRef idx="0">
            <a:schemeClr val="accent1"/>
          </a:effectRef>
          <a:fontRef idx="minor">
            <a:schemeClr val="lt1"/>
          </a:fontRef>
        </p:style>
        <p:txBody>
          <a:bodyPr rtlCol="0" anchor="ctr" wrap="square" lIns="109728" rIns="109728" tIns="36576" bIns="36576"/>
          <a:lstStyle/>
          <a:p>
            <a:pPr algn="ctr"/>
            <a:r>
              <a:rPr sz="1300" b="1" i="0">
                <a:solidFill>
                  <a:srgbClr val="102A43"/>
                </a:solidFill>
                <a:latin typeface="Segoe UI"/>
              </a:rPr>
              <a:t>Building Safety and Compliance</a:t>
            </a:r>
          </a:p>
        </p:txBody>
      </p:sp>
      <p:sp>
        <p:nvSpPr>
          <p:cNvPr id="7" name="Role 5"/>
          <p:cNvSpPr/>
          <p:nvPr/>
        </p:nvSpPr>
        <p:spPr>
          <a:xfrm>
            <a:off x="548640" y="2642615"/>
            <a:ext cx="2697480" cy="457200"/>
          </a:xfrm>
          <a:prstGeom prst="roundRect">
            <a:avLst>
              <a:gd name="adj" fmla="val 12000"/>
            </a:avLst>
          </a:prstGeom>
          <a:solidFill>
            <a:srgbClr val="FFFFFF"/>
          </a:solidFill>
          <a:ln w="19050">
            <a:solidFill>
              <a:srgbClr val="1B998B"/>
            </a:solidFill>
          </a:ln>
        </p:spPr>
        <p:style>
          <a:lnRef idx="1">
            <a:schemeClr val="accent1"/>
          </a:lnRef>
          <a:fillRef idx="3">
            <a:schemeClr val="accent1"/>
          </a:fillRef>
          <a:effectRef idx="0">
            <a:schemeClr val="accent1"/>
          </a:effectRef>
          <a:fontRef idx="minor">
            <a:schemeClr val="lt1"/>
          </a:fontRef>
        </p:style>
        <p:txBody>
          <a:bodyPr rtlCol="0" anchor="ctr" wrap="square" lIns="109728" rIns="109728" tIns="36576" bIns="36576"/>
          <a:lstStyle/>
          <a:p>
            <a:pPr algn="ctr"/>
            <a:r>
              <a:rPr sz="1300" b="1" i="0">
                <a:solidFill>
                  <a:srgbClr val="102A43"/>
                </a:solidFill>
                <a:latin typeface="Segoe UI"/>
              </a:rPr>
              <a:t>Resident Engagement and Insight</a:t>
            </a:r>
          </a:p>
        </p:txBody>
      </p:sp>
      <p:sp>
        <p:nvSpPr>
          <p:cNvPr id="8" name="Role 6"/>
          <p:cNvSpPr/>
          <p:nvPr/>
        </p:nvSpPr>
        <p:spPr>
          <a:xfrm>
            <a:off x="3474720" y="2642615"/>
            <a:ext cx="2697480" cy="457200"/>
          </a:xfrm>
          <a:prstGeom prst="roundRect">
            <a:avLst>
              <a:gd name="adj" fmla="val 12000"/>
            </a:avLst>
          </a:prstGeom>
          <a:solidFill>
            <a:srgbClr val="FFFFFF"/>
          </a:solidFill>
          <a:ln w="19050">
            <a:solidFill>
              <a:srgbClr val="1B998B"/>
            </a:solidFill>
          </a:ln>
        </p:spPr>
        <p:style>
          <a:lnRef idx="1">
            <a:schemeClr val="accent1"/>
          </a:lnRef>
          <a:fillRef idx="3">
            <a:schemeClr val="accent1"/>
          </a:fillRef>
          <a:effectRef idx="0">
            <a:schemeClr val="accent1"/>
          </a:effectRef>
          <a:fontRef idx="minor">
            <a:schemeClr val="lt1"/>
          </a:fontRef>
        </p:style>
        <p:txBody>
          <a:bodyPr rtlCol="0" anchor="ctr" wrap="square" lIns="109728" rIns="109728" tIns="36576" bIns="36576"/>
          <a:lstStyle/>
          <a:p>
            <a:pPr algn="ctr"/>
            <a:r>
              <a:rPr sz="1300" b="1" i="0">
                <a:solidFill>
                  <a:srgbClr val="102A43"/>
                </a:solidFill>
                <a:latin typeface="Segoe UI"/>
              </a:rPr>
              <a:t>Procurement and Contracts</a:t>
            </a:r>
          </a:p>
        </p:txBody>
      </p:sp>
      <p:sp>
        <p:nvSpPr>
          <p:cNvPr id="9" name="Role 7"/>
          <p:cNvSpPr/>
          <p:nvPr/>
        </p:nvSpPr>
        <p:spPr>
          <a:xfrm>
            <a:off x="548640" y="3209544"/>
            <a:ext cx="2697480" cy="457200"/>
          </a:xfrm>
          <a:prstGeom prst="roundRect">
            <a:avLst>
              <a:gd name="adj" fmla="val 12000"/>
            </a:avLst>
          </a:prstGeom>
          <a:solidFill>
            <a:srgbClr val="FFFFFF"/>
          </a:solidFill>
          <a:ln w="19050">
            <a:solidFill>
              <a:srgbClr val="1B998B"/>
            </a:solidFill>
          </a:ln>
        </p:spPr>
        <p:style>
          <a:lnRef idx="1">
            <a:schemeClr val="accent1"/>
          </a:lnRef>
          <a:fillRef idx="3">
            <a:schemeClr val="accent1"/>
          </a:fillRef>
          <a:effectRef idx="0">
            <a:schemeClr val="accent1"/>
          </a:effectRef>
          <a:fontRef idx="minor">
            <a:schemeClr val="lt1"/>
          </a:fontRef>
        </p:style>
        <p:txBody>
          <a:bodyPr rtlCol="0" anchor="ctr" wrap="square" lIns="109728" rIns="109728" tIns="36576" bIns="36576"/>
          <a:lstStyle/>
          <a:p>
            <a:pPr algn="ctr"/>
            <a:r>
              <a:rPr sz="1300" b="1" i="0">
                <a:solidFill>
                  <a:srgbClr val="102A43"/>
                </a:solidFill>
                <a:latin typeface="Segoe UI"/>
              </a:rPr>
              <a:t>Data and Performance Lead</a:t>
            </a:r>
          </a:p>
        </p:txBody>
      </p:sp>
      <p:sp>
        <p:nvSpPr>
          <p:cNvPr id="10" name="Role 8"/>
          <p:cNvSpPr/>
          <p:nvPr/>
        </p:nvSpPr>
        <p:spPr>
          <a:xfrm>
            <a:off x="3474720" y="3209544"/>
            <a:ext cx="2697480" cy="457200"/>
          </a:xfrm>
          <a:prstGeom prst="roundRect">
            <a:avLst>
              <a:gd name="adj" fmla="val 12000"/>
            </a:avLst>
          </a:prstGeom>
          <a:solidFill>
            <a:srgbClr val="FFFFFF"/>
          </a:solidFill>
          <a:ln w="19050">
            <a:solidFill>
              <a:srgbClr val="1B998B"/>
            </a:solidFill>
          </a:ln>
        </p:spPr>
        <p:style>
          <a:lnRef idx="1">
            <a:schemeClr val="accent1"/>
          </a:lnRef>
          <a:fillRef idx="3">
            <a:schemeClr val="accent1"/>
          </a:fillRef>
          <a:effectRef idx="0">
            <a:schemeClr val="accent1"/>
          </a:effectRef>
          <a:fontRef idx="minor">
            <a:schemeClr val="lt1"/>
          </a:fontRef>
        </p:style>
        <p:txBody>
          <a:bodyPr rtlCol="0" anchor="ctr" wrap="square" lIns="109728" rIns="109728" tIns="36576" bIns="36576"/>
          <a:lstStyle/>
          <a:p>
            <a:pPr algn="ctr"/>
            <a:r>
              <a:rPr sz="1300" b="1" i="0">
                <a:solidFill>
                  <a:srgbClr val="102A43"/>
                </a:solidFill>
                <a:latin typeface="Segoe UI"/>
              </a:rPr>
              <a:t>Neighbourhood Housing Officer</a:t>
            </a:r>
          </a:p>
        </p:txBody>
      </p:sp>
      <p:sp>
        <p:nvSpPr>
          <p:cNvPr id="11" name="Rules"/>
          <p:cNvSpPr/>
          <p:nvPr/>
        </p:nvSpPr>
        <p:spPr>
          <a:xfrm>
            <a:off x="6446520" y="1508760"/>
            <a:ext cx="5196535" cy="2157984"/>
          </a:xfrm>
          <a:prstGeom prst="roundRect">
            <a:avLst>
              <a:gd name="adj" fmla="val 6000"/>
            </a:avLst>
          </a:prstGeom>
          <a:solidFill>
            <a:srgbClr val="E3F4F1"/>
          </a:solidFill>
          <a:ln w="12700">
            <a:solidFill>
              <a:srgbClr val="B7E2DA"/>
            </a:solidFill>
          </a:ln>
        </p:spPr>
        <p:style>
          <a:lnRef idx="1">
            <a:schemeClr val="accent1"/>
          </a:lnRef>
          <a:fillRef idx="3">
            <a:schemeClr val="accent1"/>
          </a:fillRef>
          <a:effectRef idx="0">
            <a:schemeClr val="accent1"/>
          </a:effectRef>
          <a:fontRef idx="minor">
            <a:schemeClr val="lt1"/>
          </a:fontRef>
        </p:style>
        <p:txBody>
          <a:bodyPr rtlCol="0" anchor="t" wrap="square" lIns="164592" rIns="164592" tIns="128016" bIns="91440"/>
          <a:lstStyle/>
          <a:p>
            <a:pPr algn="l">
              <a:spcAft>
                <a:spcPts val="600"/>
              </a:spcAft>
            </a:pPr>
            <a:r>
              <a:rPr sz="1200" b="1" i="0">
                <a:solidFill>
                  <a:srgbClr val="0B625B"/>
                </a:solidFill>
                <a:latin typeface="Segoe UI"/>
              </a:rPr>
              <a:t>RULES THAT KEEP THEM HONEST</a:t>
            </a:r>
          </a:p>
          <a:p>
            <a:pPr algn="l" marL="228600" indent="-228600">
              <a:spcAft>
                <a:spcPts val="300"/>
              </a:spcAft>
              <a:buChar char="•"/>
            </a:pPr>
            <a:r>
              <a:rPr sz="1300" b="0" i="0">
                <a:solidFill>
                  <a:srgbClr val="243B53"/>
                </a:solidFill>
                <a:latin typeface="Segoe UI"/>
              </a:rPr>
              <a:t>Anchored to the case, the addendum and the company research</a:t>
            </a:r>
          </a:p>
          <a:p>
            <a:pPr algn="l" marL="228600" indent="-228600">
              <a:spcAft>
                <a:spcPts val="300"/>
              </a:spcAft>
              <a:buChar char="•"/>
            </a:pPr>
            <a:r>
              <a:rPr sz="1300" b="0" i="0">
                <a:solidFill>
                  <a:srgbClr val="243B53"/>
                </a:solidFill>
                <a:latin typeface="Segoe UI"/>
              </a:rPr>
              <a:t>Every answer labelled: case fact, sector hypothesis or unknown</a:t>
            </a:r>
          </a:p>
          <a:p>
            <a:pPr algn="l" marL="228600" indent="-228600">
              <a:spcAft>
                <a:spcPts val="300"/>
              </a:spcAft>
              <a:buChar char="•"/>
            </a:pPr>
            <a:r>
              <a:rPr sz="1300" b="0" i="0">
                <a:solidFill>
                  <a:srgbClr val="243B53"/>
                </a:solidFill>
                <a:latin typeface="Segoe UI"/>
              </a:rPr>
              <a:t>One focused question at a time, within the role's decision rights</a:t>
            </a:r>
          </a:p>
          <a:p>
            <a:pPr algn="l" marL="228600" indent="-228600">
              <a:spcAft>
                <a:spcPts val="0"/>
              </a:spcAft>
              <a:buChar char="•"/>
            </a:pPr>
            <a:r>
              <a:rPr sz="1300" b="0" i="0">
                <a:solidFill>
                  <a:srgbClr val="243B53"/>
                </a:solidFill>
                <a:latin typeface="Segoe UI"/>
              </a:rPr>
              <a:t>Research instruments, not simulated employees</a:t>
            </a:r>
          </a:p>
        </p:txBody>
      </p:sp>
      <p:sp>
        <p:nvSpPr>
          <p:cNvPr id="12" name="Exchange head"/>
          <p:cNvSpPr txBox="1"/>
          <p:nvPr/>
        </p:nvSpPr>
        <p:spPr>
          <a:xfrm>
            <a:off x="548640" y="3941063"/>
            <a:ext cx="11094415" cy="274320"/>
          </a:xfrm>
          <a:prstGeom prst="rect">
            <a:avLst/>
          </a:prstGeom>
          <a:noFill/>
        </p:spPr>
        <p:txBody>
          <a:bodyPr wrap="square" tIns="0" bIns="0">
            <a:spAutoFit/>
          </a:bodyPr>
          <a:lstStyle/>
          <a:p>
            <a:r>
              <a:rPr sz="1200" b="1" i="0">
                <a:solidFill>
                  <a:srgbClr val="B83A2E"/>
                </a:solidFill>
                <a:latin typeface="Segoe UI"/>
              </a:rPr>
              <a:t>ONE REAL EXCHANGE: GRANT AND FUNDING</a:t>
            </a:r>
          </a:p>
        </p:txBody>
      </p:sp>
      <p:sp>
        <p:nvSpPr>
          <p:cNvPr id="13" name="Exchange 1"/>
          <p:cNvSpPr/>
          <p:nvPr/>
        </p:nvSpPr>
        <p:spPr>
          <a:xfrm>
            <a:off x="548640" y="4489704"/>
            <a:ext cx="2499283" cy="1362456"/>
          </a:xfrm>
          <a:prstGeom prst="roundRect">
            <a:avLst>
              <a:gd name="adj" fmla="val 6000"/>
            </a:avLst>
          </a:prstGeom>
          <a:solidFill>
            <a:srgbClr val="F0F4F8"/>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rtlCol="0" anchor="t" wrap="square" lIns="164592" rIns="164592" tIns="128016" bIns="91440"/>
          <a:lstStyle/>
          <a:p>
            <a:pPr algn="l">
              <a:spcAft>
                <a:spcPts val="400"/>
              </a:spcAft>
            </a:pPr>
            <a:r>
              <a:rPr sz="1100" b="1" i="0">
                <a:solidFill>
                  <a:srgbClr val="102A43"/>
                </a:solidFill>
                <a:latin typeface="Segoe UI"/>
              </a:rPr>
              <a:t>QUESTION TO FINANCE</a:t>
            </a:r>
          </a:p>
          <a:p>
            <a:pPr algn="l">
              <a:spcAft>
                <a:spcPts val="0"/>
              </a:spcAft>
            </a:pPr>
            <a:r>
              <a:rPr sz="1300" b="0" i="0">
                <a:solidFill>
                  <a:srgbClr val="243B53"/>
                </a:solidFill>
                <a:latin typeface="Segoe UI"/>
              </a:rPr>
              <a:t>Would a grant-drafting agent add value?</a:t>
            </a:r>
          </a:p>
        </p:txBody>
      </p:sp>
      <p:sp>
        <p:nvSpPr>
          <p:cNvPr id="14" name="Exchange arrow 1"/>
          <p:cNvSpPr/>
          <p:nvPr/>
        </p:nvSpPr>
        <p:spPr>
          <a:xfrm>
            <a:off x="3102787" y="5029200"/>
            <a:ext cx="256032" cy="274320"/>
          </a:xfrm>
          <a:prstGeom prst="rightArrow">
            <a:avLst/>
          </a:prstGeom>
          <a:solidFill>
            <a:srgbClr val="9FB3C8"/>
          </a:solidFill>
          <a:ln w="12700">
            <a:solidFill>
              <a:srgbClr val="9FB3C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Exchange 2"/>
          <p:cNvSpPr/>
          <p:nvPr/>
        </p:nvSpPr>
        <p:spPr>
          <a:xfrm>
            <a:off x="3413683" y="4489704"/>
            <a:ext cx="2499283" cy="1362456"/>
          </a:xfrm>
          <a:prstGeom prst="roundRect">
            <a:avLst>
              <a:gd name="adj" fmla="val 6000"/>
            </a:avLst>
          </a:prstGeom>
          <a:solidFill>
            <a:srgbClr val="F0F4F8"/>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rtlCol="0" anchor="t" wrap="square" lIns="164592" rIns="164592" tIns="128016" bIns="91440"/>
          <a:lstStyle/>
          <a:p>
            <a:pPr algn="l">
              <a:spcAft>
                <a:spcPts val="400"/>
              </a:spcAft>
            </a:pPr>
            <a:r>
              <a:rPr sz="1100" b="1" i="0">
                <a:solidFill>
                  <a:srgbClr val="0B625B"/>
                </a:solidFill>
                <a:latin typeface="Segoe UI"/>
              </a:rPr>
              <a:t>REGULATORY FACT</a:t>
            </a:r>
          </a:p>
          <a:p>
            <a:pPr algn="l">
              <a:spcAft>
                <a:spcPts val="0"/>
              </a:spcAft>
            </a:pPr>
            <a:r>
              <a:rPr sz="1300" b="0" i="0">
                <a:solidFill>
                  <a:srgbClr val="243B53"/>
                </a:solidFill>
                <a:latin typeface="Segoe UI"/>
              </a:rPr>
              <a:t>WH:SHF Wave 3 is formula-allocated in Greater Manchester and the West Midlands, not bid for</a:t>
            </a:r>
          </a:p>
        </p:txBody>
      </p:sp>
      <p:sp>
        <p:nvSpPr>
          <p:cNvPr id="16" name="Exchange arrow 2"/>
          <p:cNvSpPr/>
          <p:nvPr/>
        </p:nvSpPr>
        <p:spPr>
          <a:xfrm>
            <a:off x="5967831" y="5029200"/>
            <a:ext cx="256032" cy="274320"/>
          </a:xfrm>
          <a:prstGeom prst="rightArrow">
            <a:avLst/>
          </a:prstGeom>
          <a:solidFill>
            <a:srgbClr val="9FB3C8"/>
          </a:solidFill>
          <a:ln w="12700">
            <a:solidFill>
              <a:srgbClr val="9FB3C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Exchange 3"/>
          <p:cNvSpPr/>
          <p:nvPr/>
        </p:nvSpPr>
        <p:spPr>
          <a:xfrm>
            <a:off x="6278727" y="4489704"/>
            <a:ext cx="2499283" cy="1362456"/>
          </a:xfrm>
          <a:prstGeom prst="roundRect">
            <a:avLst>
              <a:gd name="adj" fmla="val 6000"/>
            </a:avLst>
          </a:prstGeom>
          <a:solidFill>
            <a:srgbClr val="F0F4F8"/>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rtlCol="0" anchor="t" wrap="square" lIns="164592" rIns="164592" tIns="128016" bIns="91440"/>
          <a:lstStyle/>
          <a:p>
            <a:pPr algn="l">
              <a:spcAft>
                <a:spcPts val="400"/>
              </a:spcAft>
            </a:pPr>
            <a:r>
              <a:rPr sz="1100" b="1" i="0">
                <a:solidFill>
                  <a:srgbClr val="486581"/>
                </a:solidFill>
                <a:latin typeface="Segoe UI"/>
              </a:rPr>
              <a:t>UNKNOWN</a:t>
            </a:r>
          </a:p>
          <a:p>
            <a:pPr algn="l">
              <a:spcAft>
                <a:spcPts val="0"/>
              </a:spcAft>
            </a:pPr>
            <a:r>
              <a:rPr sz="1300" b="0" i="0">
                <a:solidFill>
                  <a:srgbClr val="243B53"/>
                </a:solidFill>
                <a:latin typeface="Segoe UI"/>
              </a:rPr>
              <a:t>Whether Proper North Homes operates in either area</a:t>
            </a:r>
          </a:p>
        </p:txBody>
      </p:sp>
      <p:sp>
        <p:nvSpPr>
          <p:cNvPr id="18" name="Exchange arrow 3"/>
          <p:cNvSpPr/>
          <p:nvPr/>
        </p:nvSpPr>
        <p:spPr>
          <a:xfrm>
            <a:off x="8832875" y="5029200"/>
            <a:ext cx="256032" cy="274320"/>
          </a:xfrm>
          <a:prstGeom prst="rightArrow">
            <a:avLst/>
          </a:prstGeom>
          <a:solidFill>
            <a:srgbClr val="9FB3C8"/>
          </a:solidFill>
          <a:ln w="12700">
            <a:solidFill>
              <a:srgbClr val="9FB3C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Exchange 4"/>
          <p:cNvSpPr/>
          <p:nvPr/>
        </p:nvSpPr>
        <p:spPr>
          <a:xfrm>
            <a:off x="9143771" y="4489704"/>
            <a:ext cx="2499283" cy="1362456"/>
          </a:xfrm>
          <a:prstGeom prst="roundRect">
            <a:avLst>
              <a:gd name="adj" fmla="val 6000"/>
            </a:avLst>
          </a:prstGeom>
          <a:solidFill>
            <a:srgbClr val="F0F4F8"/>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rtlCol="0" anchor="t" wrap="square" lIns="164592" rIns="164592" tIns="128016" bIns="91440"/>
          <a:lstStyle/>
          <a:p>
            <a:pPr algn="l">
              <a:spcAft>
                <a:spcPts val="400"/>
              </a:spcAft>
            </a:pPr>
            <a:r>
              <a:rPr sz="1100" b="1" i="0">
                <a:solidFill>
                  <a:srgbClr val="1D5FB8"/>
                </a:solidFill>
                <a:latin typeface="Segoe UI"/>
              </a:rPr>
              <a:t>EFFECT ON THE BRD</a:t>
            </a:r>
          </a:p>
          <a:p>
            <a:pPr algn="l">
              <a:spcAft>
                <a:spcPts val="0"/>
              </a:spcAft>
            </a:pPr>
            <a:r>
              <a:rPr sz="1300" b="0" i="0">
                <a:solidFill>
                  <a:srgbClr val="243B53"/>
                </a:solidFill>
                <a:latin typeface="Segoe UI"/>
              </a:rPr>
              <a:t>FR-027: every scheme records an evidenced funding route; unknown blocks bid work</a:t>
            </a:r>
          </a:p>
        </p:txBody>
      </p:sp>
      <p:sp>
        <p:nvSpPr>
          <p:cNvPr id="20" name="Source"/>
          <p:cNvSpPr txBox="1"/>
          <p:nvPr/>
        </p:nvSpPr>
        <p:spPr>
          <a:xfrm>
            <a:off x="548640" y="6126480"/>
            <a:ext cx="11094415" cy="256032"/>
          </a:xfrm>
          <a:prstGeom prst="rect">
            <a:avLst/>
          </a:prstGeom>
          <a:noFill/>
        </p:spPr>
        <p:txBody>
          <a:bodyPr wrap="square" tIns="0" bIns="0">
            <a:spAutoFit/>
          </a:bodyPr>
          <a:lstStyle/>
          <a:p>
            <a:r>
              <a:rPr sz="900" b="0" i="0">
                <a:solidFill>
                  <a:srgbClr val="627D98"/>
                </a:solidFill>
                <a:latin typeface="Segoe UI"/>
              </a:rPr>
              <a:t>Sources: .github/agents/company-*.agent.md; agent-request-challenge.md (Grant and Funding); WH:SHF technical annex (Page 3, Page 5 Table 3), retrieved 19 Sep 2026. Question paraphrased.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457200"/>
            <a:ext cx="11094415" cy="685800"/>
          </a:xfrm>
          <a:prstGeom prst="rect">
            <a:avLst/>
          </a:prstGeom>
          <a:noFill/>
        </p:spPr>
        <p:txBody>
          <a:bodyPr wrap="square" anchor="ctr">
            <a:spAutoFit/>
          </a:bodyPr>
          <a:lstStyle/>
          <a:p>
            <a:r>
              <a:rPr sz="2600" b="1" i="0">
                <a:solidFill>
                  <a:srgbClr val="102A43"/>
                </a:solidFill>
                <a:latin typeface="Segoe UI"/>
              </a:rPr>
              <a:t>The case against five agents built up across two weeks</a:t>
            </a:r>
          </a:p>
        </p:txBody>
      </p:sp>
      <p:cxnSp>
        <p:nvCxnSpPr>
          <p:cNvPr id="3" name="Timeline"/>
          <p:cNvCxnSpPr/>
          <p:nvPr/>
        </p:nvCxnSpPr>
        <p:spPr>
          <a:xfrm>
            <a:off x="1600200" y="2514600"/>
            <a:ext cx="9006840" cy="0"/>
          </a:xfrm>
          <a:prstGeom prst="line">
            <a:avLst/>
          </a:prstGeom>
          <a:ln w="38100">
            <a:solidFill>
              <a:srgbClr val="9FB3C8"/>
            </a:solidFill>
          </a:ln>
        </p:spPr>
        <p:style>
          <a:lnRef idx="2">
            <a:schemeClr val="accent1"/>
          </a:lnRef>
          <a:fillRef idx="0">
            <a:schemeClr val="accent1"/>
          </a:fillRef>
          <a:effectRef idx="1">
            <a:schemeClr val="accent1"/>
          </a:effectRef>
          <a:fontRef idx="minor">
            <a:schemeClr val="tx1"/>
          </a:fontRef>
        </p:style>
      </p:cxnSp>
      <p:sp>
        <p:nvSpPr>
          <p:cNvPr id="4" name="Date 1"/>
          <p:cNvSpPr txBox="1"/>
          <p:nvPr/>
        </p:nvSpPr>
        <p:spPr>
          <a:xfrm>
            <a:off x="548640" y="1645920"/>
            <a:ext cx="2103120" cy="365760"/>
          </a:xfrm>
          <a:prstGeom prst="rect">
            <a:avLst/>
          </a:prstGeom>
          <a:noFill/>
        </p:spPr>
        <p:txBody>
          <a:bodyPr wrap="square">
            <a:spAutoFit/>
          </a:bodyPr>
          <a:lstStyle/>
          <a:p>
            <a:pPr algn="ctr"/>
            <a:r>
              <a:rPr sz="1600" b="1" i="0">
                <a:solidFill>
                  <a:srgbClr val="0B625B"/>
                </a:solidFill>
                <a:latin typeface="Segoe UI"/>
              </a:rPr>
              <a:t>11 SEP</a:t>
            </a:r>
          </a:p>
        </p:txBody>
      </p:sp>
      <p:sp>
        <p:nvSpPr>
          <p:cNvPr id="5" name="Dot 1"/>
          <p:cNvSpPr/>
          <p:nvPr/>
        </p:nvSpPr>
        <p:spPr>
          <a:xfrm>
            <a:off x="1417320" y="2331720"/>
            <a:ext cx="365760" cy="365760"/>
          </a:xfrm>
          <a:prstGeom prst="ellipse">
            <a:avLst/>
          </a:prstGeom>
          <a:solidFill>
            <a:srgbClr val="0B625B"/>
          </a:solidFill>
          <a:ln w="25400">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Change 1"/>
          <p:cNvSpPr txBox="1"/>
          <p:nvPr/>
        </p:nvSpPr>
        <p:spPr>
          <a:xfrm>
            <a:off x="548640" y="2971800"/>
            <a:ext cx="2103120" cy="1234440"/>
          </a:xfrm>
          <a:prstGeom prst="rect">
            <a:avLst/>
          </a:prstGeom>
          <a:noFill/>
        </p:spPr>
        <p:txBody>
          <a:bodyPr wrap="square">
            <a:spAutoFit/>
          </a:bodyPr>
          <a:lstStyle/>
          <a:p>
            <a:pPr algn="ctr"/>
            <a:r>
              <a:rPr sz="1500" b="0" i="0">
                <a:solidFill>
                  <a:srgbClr val="243B53"/>
                </a:solidFill>
                <a:latin typeface="Segoe UI"/>
              </a:rPr>
              <a:t>Addendum proposes a control plane: "agentic is an implementation option"</a:t>
            </a:r>
          </a:p>
        </p:txBody>
      </p:sp>
      <p:sp>
        <p:nvSpPr>
          <p:cNvPr id="7" name="Date 2"/>
          <p:cNvSpPr txBox="1"/>
          <p:nvPr/>
        </p:nvSpPr>
        <p:spPr>
          <a:xfrm>
            <a:off x="2800350" y="1645920"/>
            <a:ext cx="2103120" cy="365760"/>
          </a:xfrm>
          <a:prstGeom prst="rect">
            <a:avLst/>
          </a:prstGeom>
          <a:noFill/>
        </p:spPr>
        <p:txBody>
          <a:bodyPr wrap="square">
            <a:spAutoFit/>
          </a:bodyPr>
          <a:lstStyle/>
          <a:p>
            <a:pPr algn="ctr"/>
            <a:r>
              <a:rPr sz="1600" b="1" i="0">
                <a:solidFill>
                  <a:srgbClr val="1D5FB8"/>
                </a:solidFill>
                <a:latin typeface="Segoe UI"/>
              </a:rPr>
              <a:t>19 SEP</a:t>
            </a:r>
          </a:p>
        </p:txBody>
      </p:sp>
      <p:sp>
        <p:nvSpPr>
          <p:cNvPr id="8" name="Dot 2"/>
          <p:cNvSpPr/>
          <p:nvPr/>
        </p:nvSpPr>
        <p:spPr>
          <a:xfrm>
            <a:off x="3669030" y="2331720"/>
            <a:ext cx="365760" cy="365760"/>
          </a:xfrm>
          <a:prstGeom prst="ellipse">
            <a:avLst/>
          </a:prstGeom>
          <a:solidFill>
            <a:srgbClr val="1D5FB8"/>
          </a:solidFill>
          <a:ln w="25400">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Change 2"/>
          <p:cNvSpPr txBox="1"/>
          <p:nvPr/>
        </p:nvSpPr>
        <p:spPr>
          <a:xfrm>
            <a:off x="2800350" y="2971800"/>
            <a:ext cx="2103120" cy="1234440"/>
          </a:xfrm>
          <a:prstGeom prst="rect">
            <a:avLst/>
          </a:prstGeom>
          <a:noFill/>
        </p:spPr>
        <p:txBody>
          <a:bodyPr wrap="square">
            <a:spAutoFit/>
          </a:bodyPr>
          <a:lstStyle/>
          <a:p>
            <a:pPr algn="ctr"/>
            <a:r>
              <a:rPr sz="1500" b="0" i="0">
                <a:solidFill>
                  <a:srgbClr val="243B53"/>
                </a:solidFill>
                <a:latin typeface="Segoe UI"/>
              </a:rPr>
              <a:t>BRD adds a cross-functional challenge to the five-agent request</a:t>
            </a:r>
          </a:p>
        </p:txBody>
      </p:sp>
      <p:sp>
        <p:nvSpPr>
          <p:cNvPr id="10" name="Date 3"/>
          <p:cNvSpPr txBox="1"/>
          <p:nvPr/>
        </p:nvSpPr>
        <p:spPr>
          <a:xfrm>
            <a:off x="5052060" y="1645920"/>
            <a:ext cx="2103120" cy="365760"/>
          </a:xfrm>
          <a:prstGeom prst="rect">
            <a:avLst/>
          </a:prstGeom>
          <a:noFill/>
        </p:spPr>
        <p:txBody>
          <a:bodyPr wrap="square">
            <a:spAutoFit/>
          </a:bodyPr>
          <a:lstStyle/>
          <a:p>
            <a:pPr algn="ctr"/>
            <a:r>
              <a:rPr sz="1600" b="1" i="0">
                <a:solidFill>
                  <a:srgbClr val="0B625B"/>
                </a:solidFill>
                <a:latin typeface="Segoe UI"/>
              </a:rPr>
              <a:t>20 SEP</a:t>
            </a:r>
          </a:p>
        </p:txBody>
      </p:sp>
      <p:sp>
        <p:nvSpPr>
          <p:cNvPr id="11" name="Dot 3"/>
          <p:cNvSpPr/>
          <p:nvPr/>
        </p:nvSpPr>
        <p:spPr>
          <a:xfrm>
            <a:off x="5920740" y="2331720"/>
            <a:ext cx="365760" cy="365760"/>
          </a:xfrm>
          <a:prstGeom prst="ellipse">
            <a:avLst/>
          </a:prstGeom>
          <a:solidFill>
            <a:srgbClr val="0B625B"/>
          </a:solidFill>
          <a:ln w="25400">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Change 3"/>
          <p:cNvSpPr txBox="1"/>
          <p:nvPr/>
        </p:nvSpPr>
        <p:spPr>
          <a:xfrm>
            <a:off x="5052060" y="2971800"/>
            <a:ext cx="2103120" cy="1234440"/>
          </a:xfrm>
          <a:prstGeom prst="rect">
            <a:avLst/>
          </a:prstGeom>
          <a:noFill/>
        </p:spPr>
        <p:txBody>
          <a:bodyPr wrap="square">
            <a:spAutoFit/>
          </a:bodyPr>
          <a:lstStyle/>
          <a:p>
            <a:pPr algn="ctr"/>
            <a:r>
              <a:rPr sz="1500" b="0" i="0">
                <a:solidFill>
                  <a:srgbClr val="243B53"/>
                </a:solidFill>
                <a:latin typeface="Segoe UI"/>
              </a:rPr>
              <a:t>Regulatory context; TypeSafe review of open decisions</a:t>
            </a:r>
          </a:p>
        </p:txBody>
      </p:sp>
      <p:sp>
        <p:nvSpPr>
          <p:cNvPr id="13" name="Date 4"/>
          <p:cNvSpPr txBox="1"/>
          <p:nvPr/>
        </p:nvSpPr>
        <p:spPr>
          <a:xfrm>
            <a:off x="7303769" y="1645920"/>
            <a:ext cx="2103120" cy="365760"/>
          </a:xfrm>
          <a:prstGeom prst="rect">
            <a:avLst/>
          </a:prstGeom>
          <a:noFill/>
        </p:spPr>
        <p:txBody>
          <a:bodyPr wrap="square">
            <a:spAutoFit/>
          </a:bodyPr>
          <a:lstStyle/>
          <a:p>
            <a:pPr algn="ctr"/>
            <a:r>
              <a:rPr sz="1600" b="1" i="0">
                <a:solidFill>
                  <a:srgbClr val="1D5FB8"/>
                </a:solidFill>
                <a:latin typeface="Segoe UI"/>
              </a:rPr>
              <a:t>25 SEP</a:t>
            </a:r>
          </a:p>
        </p:txBody>
      </p:sp>
      <p:sp>
        <p:nvSpPr>
          <p:cNvPr id="14" name="Dot 4"/>
          <p:cNvSpPr/>
          <p:nvPr/>
        </p:nvSpPr>
        <p:spPr>
          <a:xfrm>
            <a:off x="8172450" y="2331720"/>
            <a:ext cx="365760" cy="365760"/>
          </a:xfrm>
          <a:prstGeom prst="ellipse">
            <a:avLst/>
          </a:prstGeom>
          <a:solidFill>
            <a:srgbClr val="1D5FB8"/>
          </a:solidFill>
          <a:ln w="25400">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Change 4"/>
          <p:cNvSpPr txBox="1"/>
          <p:nvPr/>
        </p:nvSpPr>
        <p:spPr>
          <a:xfrm>
            <a:off x="7303769" y="2971800"/>
            <a:ext cx="2103120" cy="1234440"/>
          </a:xfrm>
          <a:prstGeom prst="rect">
            <a:avLst/>
          </a:prstGeom>
          <a:noFill/>
        </p:spPr>
        <p:txBody>
          <a:bodyPr wrap="square">
            <a:spAutoFit/>
          </a:bodyPr>
          <a:lstStyle/>
          <a:p>
            <a:pPr algn="ctr"/>
            <a:r>
              <a:rPr sz="1500" b="0" i="0">
                <a:solidFill>
                  <a:srgbClr val="243B53"/>
                </a:solidFill>
                <a:latin typeface="Segoe UI"/>
              </a:rPr>
              <a:t>Modelled customer profile; knowledge base restructure</a:t>
            </a:r>
          </a:p>
        </p:txBody>
      </p:sp>
      <p:sp>
        <p:nvSpPr>
          <p:cNvPr id="16" name="Date 5"/>
          <p:cNvSpPr txBox="1"/>
          <p:nvPr/>
        </p:nvSpPr>
        <p:spPr>
          <a:xfrm>
            <a:off x="9555480" y="1645920"/>
            <a:ext cx="2103120" cy="365760"/>
          </a:xfrm>
          <a:prstGeom prst="rect">
            <a:avLst/>
          </a:prstGeom>
          <a:noFill/>
        </p:spPr>
        <p:txBody>
          <a:bodyPr wrap="square">
            <a:spAutoFit/>
          </a:bodyPr>
          <a:lstStyle/>
          <a:p>
            <a:pPr algn="ctr"/>
            <a:r>
              <a:rPr sz="1600" b="1" i="0">
                <a:solidFill>
                  <a:srgbClr val="B83A2E"/>
                </a:solidFill>
                <a:latin typeface="Segoe UI"/>
              </a:rPr>
              <a:t>26 SEP</a:t>
            </a:r>
          </a:p>
        </p:txBody>
      </p:sp>
      <p:sp>
        <p:nvSpPr>
          <p:cNvPr id="17" name="Dot 5"/>
          <p:cNvSpPr/>
          <p:nvPr/>
        </p:nvSpPr>
        <p:spPr>
          <a:xfrm>
            <a:off x="10424160" y="2331720"/>
            <a:ext cx="365760" cy="365760"/>
          </a:xfrm>
          <a:prstGeom prst="ellipse">
            <a:avLst/>
          </a:prstGeom>
          <a:solidFill>
            <a:srgbClr val="B83A2E"/>
          </a:solidFill>
          <a:ln w="25400">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Change 5"/>
          <p:cNvSpPr txBox="1"/>
          <p:nvPr/>
        </p:nvSpPr>
        <p:spPr>
          <a:xfrm>
            <a:off x="9555480" y="2971800"/>
            <a:ext cx="2103120" cy="1234440"/>
          </a:xfrm>
          <a:prstGeom prst="rect">
            <a:avLst/>
          </a:prstGeom>
          <a:noFill/>
        </p:spPr>
        <p:txBody>
          <a:bodyPr wrap="square">
            <a:spAutoFit/>
          </a:bodyPr>
          <a:lstStyle/>
          <a:p>
            <a:pPr algn="ctr"/>
            <a:r>
              <a:rPr sz="1500" b="0" i="0">
                <a:solidFill>
                  <a:srgbClr val="243B53"/>
                </a:solidFill>
                <a:latin typeface="Segoe UI"/>
              </a:rPr>
              <a:t>Role challenge of each agent adds ten BRD rows</a:t>
            </a:r>
          </a:p>
        </p:txBody>
      </p:sp>
      <p:sp>
        <p:nvSpPr>
          <p:cNvPr id="19" name="Doubt"/>
          <p:cNvSpPr/>
          <p:nvPr/>
        </p:nvSpPr>
        <p:spPr>
          <a:xfrm>
            <a:off x="548640" y="4526280"/>
            <a:ext cx="11094415" cy="411480"/>
          </a:xfrm>
          <a:prstGeom prst="roundRect">
            <a:avLst>
              <a:gd name="adj" fmla="val 6000"/>
            </a:avLst>
          </a:prstGeom>
          <a:solidFill>
            <a:srgbClr val="FFFFFF"/>
          </a:solidFill>
          <a:ln w="12700">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wrap="square" lIns="45720" rIns="45720" tIns="128016" bIns="91440"/>
          <a:lstStyle/>
          <a:p>
            <a:pPr algn="ctr">
              <a:spcAft>
                <a:spcPts val="0"/>
              </a:spcAft>
            </a:pPr>
            <a:r>
              <a:rPr sz="1500" b="1" i="0">
                <a:solidFill>
                  <a:srgbClr val="B83A2E"/>
                </a:solidFill>
                <a:latin typeface="Segoe UI"/>
              </a:rPr>
              <a:t>The doubt came first; 26 Sep turned it from my opinion into evidence for each agent.</a:t>
            </a:r>
          </a:p>
        </p:txBody>
      </p:sp>
      <p:sp>
        <p:nvSpPr>
          <p:cNvPr id="20" name="Takeaway"/>
          <p:cNvSpPr/>
          <p:nvPr/>
        </p:nvSpPr>
        <p:spPr>
          <a:xfrm>
            <a:off x="548640" y="5303520"/>
            <a:ext cx="11094415" cy="548640"/>
          </a:xfrm>
          <a:prstGeom prst="roundRect">
            <a:avLst>
              <a:gd name="adj" fmla="val 12000"/>
            </a:avLst>
          </a:prstGeom>
          <a:solidFill>
            <a:srgbClr val="102A43"/>
          </a:solidFill>
          <a:ln w="12700">
            <a:solidFill>
              <a:srgbClr val="102A43"/>
            </a:solidFill>
          </a:ln>
        </p:spPr>
        <p:style>
          <a:lnRef idx="1">
            <a:schemeClr val="accent1"/>
          </a:lnRef>
          <a:fillRef idx="3">
            <a:schemeClr val="accent1"/>
          </a:fillRef>
          <a:effectRef idx="0">
            <a:schemeClr val="accent1"/>
          </a:effectRef>
          <a:fontRef idx="minor">
            <a:schemeClr val="lt1"/>
          </a:fontRef>
        </p:style>
        <p:txBody>
          <a:bodyPr rtlCol="0" anchor="ctr" wrap="square" lIns="109728" rIns="109728" tIns="36576" bIns="36576"/>
          <a:lstStyle/>
          <a:p>
            <a:pPr algn="ctr"/>
            <a:r>
              <a:rPr sz="1500" b="1" i="0">
                <a:solidFill>
                  <a:srgbClr val="FFFFFF"/>
                </a:solidFill>
                <a:latin typeface="Segoe UI"/>
              </a:rPr>
              <a:t>Thirteen BRD revisions, each the same pass: research, ask the role agents, rewrite, log what and why</a:t>
            </a:r>
          </a:p>
        </p:txBody>
      </p:sp>
      <p:sp>
        <p:nvSpPr>
          <p:cNvPr id="21" name="Source"/>
          <p:cNvSpPr txBox="1"/>
          <p:nvPr/>
        </p:nvSpPr>
        <p:spPr>
          <a:xfrm>
            <a:off x="548640" y="6126480"/>
            <a:ext cx="11094415" cy="256032"/>
          </a:xfrm>
          <a:prstGeom prst="rect">
            <a:avLst/>
          </a:prstGeom>
          <a:noFill/>
        </p:spPr>
        <p:txBody>
          <a:bodyPr wrap="square" tIns="0" bIns="0">
            <a:spAutoFit/>
          </a:bodyPr>
          <a:lstStyle/>
          <a:p>
            <a:r>
              <a:rPr sz="900" b="0" i="0">
                <a:solidFill>
                  <a:srgbClr val="627D98"/>
                </a:solidFill>
                <a:latin typeface="Segoe UI"/>
              </a:rPr>
              <a:t>Sources: git log, 11 to 26 Sep 2026 (dc6561a, 6bbb392, f1c185a, a72f231, 3db359c); docs/reference/log.md.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457200"/>
            <a:ext cx="11094415" cy="685800"/>
          </a:xfrm>
          <a:prstGeom prst="rect">
            <a:avLst/>
          </a:prstGeom>
          <a:noFill/>
        </p:spPr>
        <p:txBody>
          <a:bodyPr wrap="square" anchor="ctr">
            <a:spAutoFit/>
          </a:bodyPr>
          <a:lstStyle/>
          <a:p>
            <a:r>
              <a:rPr sz="2600" b="1" i="0">
                <a:solidFill>
                  <a:srgbClr val="102A43"/>
                </a:solidFill>
                <a:latin typeface="Segoe UI"/>
              </a:rPr>
              <a:t>Each request states a value; none needs an end-to-end agent</a:t>
            </a:r>
          </a:p>
        </p:txBody>
      </p:sp>
      <p:sp>
        <p:nvSpPr>
          <p:cNvPr id="3" name="Before"/>
          <p:cNvSpPr/>
          <p:nvPr/>
        </p:nvSpPr>
        <p:spPr>
          <a:xfrm>
            <a:off x="548640" y="1417320"/>
            <a:ext cx="3566160" cy="685800"/>
          </a:xfrm>
          <a:prstGeom prst="roundRect">
            <a:avLst>
              <a:gd name="adj" fmla="val 6000"/>
            </a:avLst>
          </a:prstGeom>
          <a:solidFill>
            <a:srgbClr val="FBEAE8"/>
          </a:solidFill>
          <a:ln w="12700">
            <a:solidFill>
              <a:srgbClr val="F3C7C1"/>
            </a:solidFill>
          </a:ln>
        </p:spPr>
        <p:style>
          <a:lnRef idx="1">
            <a:schemeClr val="accent1"/>
          </a:lnRef>
          <a:fillRef idx="3">
            <a:schemeClr val="accent1"/>
          </a:fillRef>
          <a:effectRef idx="0">
            <a:schemeClr val="accent1"/>
          </a:effectRef>
          <a:fontRef idx="minor">
            <a:schemeClr val="lt1"/>
          </a:fontRef>
        </p:style>
        <p:txBody>
          <a:bodyPr rtlCol="0" anchor="ctr" wrap="square" lIns="128016" rIns="128016" tIns="128016" bIns="91440"/>
          <a:lstStyle/>
          <a:p>
            <a:pPr algn="l">
              <a:spcAft>
                <a:spcPts val="0"/>
              </a:spcAft>
            </a:pPr>
            <a:r>
              <a:rPr sz="1100" b="1" i="0">
                <a:solidFill>
                  <a:srgbClr val="B83A2E"/>
                </a:solidFill>
                <a:latin typeface="Segoe UI"/>
              </a:rPr>
              <a:t>BEFORE</a:t>
            </a:r>
          </a:p>
          <a:p>
            <a:pPr algn="l">
              <a:spcAft>
                <a:spcPts val="0"/>
              </a:spcAft>
            </a:pPr>
            <a:r>
              <a:rPr sz="1300" b="1" i="0">
                <a:solidFill>
                  <a:srgbClr val="102A43"/>
                </a:solidFill>
                <a:latin typeface="Segoe UI"/>
              </a:rPr>
              <a:t>How do we build five agents to double delivery?</a:t>
            </a:r>
          </a:p>
        </p:txBody>
      </p:sp>
      <p:sp>
        <p:nvSpPr>
          <p:cNvPr id="4" name="After"/>
          <p:cNvSpPr/>
          <p:nvPr/>
        </p:nvSpPr>
        <p:spPr>
          <a:xfrm>
            <a:off x="4297679" y="1417320"/>
            <a:ext cx="7345375" cy="685800"/>
          </a:xfrm>
          <a:prstGeom prst="roundRect">
            <a:avLst>
              <a:gd name="adj" fmla="val 6000"/>
            </a:avLst>
          </a:prstGeom>
          <a:solidFill>
            <a:srgbClr val="E3F4F1"/>
          </a:solidFill>
          <a:ln w="12700">
            <a:solidFill>
              <a:srgbClr val="B7E2DA"/>
            </a:solidFill>
          </a:ln>
        </p:spPr>
        <p:style>
          <a:lnRef idx="1">
            <a:schemeClr val="accent1"/>
          </a:lnRef>
          <a:fillRef idx="3">
            <a:schemeClr val="accent1"/>
          </a:fillRef>
          <a:effectRef idx="0">
            <a:schemeClr val="accent1"/>
          </a:effectRef>
          <a:fontRef idx="minor">
            <a:schemeClr val="lt1"/>
          </a:fontRef>
        </p:style>
        <p:txBody>
          <a:bodyPr rtlCol="0" anchor="ctr" wrap="square" lIns="128016" rIns="128016" tIns="128016" bIns="91440"/>
          <a:lstStyle/>
          <a:p>
            <a:pPr algn="l">
              <a:spcAft>
                <a:spcPts val="0"/>
              </a:spcAft>
            </a:pPr>
            <a:r>
              <a:rPr sz="1100" b="1" i="0">
                <a:solidFill>
                  <a:srgbClr val="0B625B"/>
                </a:solidFill>
                <a:latin typeface="Segoe UI"/>
              </a:rPr>
              <a:t>AFTER</a:t>
            </a:r>
          </a:p>
          <a:p>
            <a:pPr algn="l">
              <a:spcAft>
                <a:spcPts val="0"/>
              </a:spcAft>
            </a:pPr>
            <a:r>
              <a:rPr sz="1300" b="1" i="0">
                <a:solidFill>
                  <a:srgbClr val="102A43"/>
                </a:solidFill>
                <a:latin typeface="Segoe UI"/>
              </a:rPr>
              <a:t>What shared records and gates let existing teams deliver more safe, accepted, grant-claimable homes, and where does an agent beat the same workflow?</a:t>
            </a:r>
          </a:p>
        </p:txBody>
      </p:sp>
      <p:graphicFrame>
        <p:nvGraphicFramePr>
          <p:cNvPr id="5" name="Challenge table"/>
          <p:cNvGraphicFramePr>
            <a:graphicFrameLocks noGrp="1"/>
          </p:cNvGraphicFramePr>
          <p:nvPr/>
        </p:nvGraphicFramePr>
        <p:xfrm>
          <a:off x="548640" y="2377440"/>
          <a:ext cx="11094415" cy="2743200"/>
        </p:xfrm>
        <a:graphic>
          <a:graphicData uri="http://schemas.openxmlformats.org/drawingml/2006/table">
            <a:tbl>
              <a:tblPr firstRow="1" bandRow="1">
                <a:tableStyleId>{5C22544A-7EE6-4342-B048-85BDC9FD1C3A}</a:tableStyleId>
              </a:tblPr>
              <a:tblGrid>
                <a:gridCol w="2148840"/>
                <a:gridCol w="2331720"/>
                <a:gridCol w="3246120"/>
                <a:gridCol w="3367735"/>
              </a:tblGrid>
              <a:tr h="457200">
                <a:tc>
                  <a:txBody>
                    <a:bodyPr/>
                    <a:lstStyle/>
                    <a:p>
                      <a:r>
                        <a:rPr b="1" sz="1200">
                          <a:solidFill>
                            <a:srgbClr val="FFFFFF"/>
                          </a:solidFill>
                          <a:latin typeface="Segoe UI"/>
                        </a:rPr>
                        <a:t>Requested agent</a:t>
                      </a:r>
                    </a:p>
                  </a:txBody>
                  <a:tcPr>
                    <a:solidFill>
                      <a:srgbClr val="102A43"/>
                    </a:solidFill>
                  </a:tcPr>
                </a:tc>
                <a:tc>
                  <a:txBody>
                    <a:bodyPr/>
                    <a:lstStyle/>
                    <a:p>
                      <a:r>
                        <a:rPr b="1" sz="1200">
                          <a:solidFill>
                            <a:srgbClr val="FFFFFF"/>
                          </a:solidFill>
                          <a:latin typeface="Segoe UI"/>
                        </a:rPr>
                        <a:t>Value the request implies</a:t>
                      </a:r>
                    </a:p>
                  </a:txBody>
                  <a:tcPr>
                    <a:solidFill>
                      <a:srgbClr val="102A43"/>
                    </a:solidFill>
                  </a:tcPr>
                </a:tc>
                <a:tc>
                  <a:txBody>
                    <a:bodyPr/>
                    <a:lstStyle/>
                    <a:p>
                      <a:r>
                        <a:rPr b="1" sz="1200">
                          <a:solidFill>
                            <a:srgbClr val="FFFFFF"/>
                          </a:solidFill>
                          <a:latin typeface="Segoe UI"/>
                        </a:rPr>
                        <a:t>Real problem found</a:t>
                      </a:r>
                    </a:p>
                  </a:txBody>
                  <a:tcPr>
                    <a:solidFill>
                      <a:srgbClr val="102A43"/>
                    </a:solidFill>
                  </a:tcPr>
                </a:tc>
                <a:tc>
                  <a:txBody>
                    <a:bodyPr/>
                    <a:lstStyle/>
                    <a:p>
                      <a:r>
                        <a:rPr b="1" sz="1200">
                          <a:solidFill>
                            <a:srgbClr val="FFFFFF"/>
                          </a:solidFill>
                          <a:latin typeface="Segoe UI"/>
                        </a:rPr>
                        <a:t>What to build instead</a:t>
                      </a:r>
                    </a:p>
                  </a:txBody>
                  <a:tcPr>
                    <a:solidFill>
                      <a:srgbClr val="102A43"/>
                    </a:solidFill>
                  </a:tcPr>
                </a:tc>
              </a:tr>
              <a:tr h="457200">
                <a:tc>
                  <a:txBody>
                    <a:bodyPr/>
                    <a:lstStyle/>
                    <a:p>
                      <a:r>
                        <a:rPr b="1" sz="1100">
                          <a:solidFill>
                            <a:srgbClr val="102A43"/>
                          </a:solidFill>
                          <a:latin typeface="Segoe UI"/>
                        </a:rPr>
                        <a:t>Stock Prioritisation (L2)</a:t>
                      </a:r>
                    </a:p>
                  </a:txBody>
                  <a:tcPr>
                    <a:solidFill>
                      <a:srgbClr val="F0F4F8"/>
                    </a:solidFill>
                  </a:tcPr>
                </a:tc>
                <a:tc>
                  <a:txBody>
                    <a:bodyPr/>
                    <a:lstStyle/>
                    <a:p>
                      <a:r>
                        <a:rPr sz="1100">
                          <a:solidFill>
                            <a:srgbClr val="0B625B"/>
                          </a:solidFill>
                          <a:latin typeface="Segoe UI"/>
                        </a:rPr>
                        <a:t>Defensible capital allocation</a:t>
                      </a:r>
                    </a:p>
                  </a:txBody>
                  <a:tcPr>
                    <a:solidFill>
                      <a:srgbClr val="F0F4F8"/>
                    </a:solidFill>
                  </a:tcPr>
                </a:tc>
                <a:tc>
                  <a:txBody>
                    <a:bodyPr/>
                    <a:lstStyle/>
                    <a:p>
                      <a:r>
                        <a:rPr sz="1100">
                          <a:solidFill>
                            <a:srgbClr val="243B53"/>
                          </a:solidFill>
                          <a:latin typeface="Segoe UI"/>
                        </a:rPr>
                        <a:t>Fragmented stock, EPC and hazard data; no approved cohort policy</a:t>
                      </a:r>
                    </a:p>
                  </a:txBody>
                  <a:tcPr>
                    <a:solidFill>
                      <a:srgbClr val="F0F4F8"/>
                    </a:solidFill>
                  </a:tcPr>
                </a:tc>
                <a:tc>
                  <a:txBody>
                    <a:bodyPr/>
                    <a:lstStyle/>
                    <a:p>
                      <a:r>
                        <a:rPr sz="1100">
                          <a:solidFill>
                            <a:srgbClr val="243B53"/>
                          </a:solidFill>
                          <a:latin typeface="Segoe UI"/>
                        </a:rPr>
                        <a:t>Versioned scoring and eligibility rules; AI reconciles and explains</a:t>
                      </a:r>
                    </a:p>
                  </a:txBody>
                  <a:tcPr>
                    <a:solidFill>
                      <a:srgbClr val="F0F4F8"/>
                    </a:solidFill>
                  </a:tcPr>
                </a:tc>
              </a:tr>
              <a:tr h="457200">
                <a:tc>
                  <a:txBody>
                    <a:bodyPr/>
                    <a:lstStyle/>
                    <a:p>
                      <a:r>
                        <a:rPr b="1" sz="1100">
                          <a:solidFill>
                            <a:srgbClr val="102A43"/>
                          </a:solidFill>
                          <a:latin typeface="Segoe UI"/>
                        </a:rPr>
                        <a:t>Assessment (L3)</a:t>
                      </a:r>
                    </a:p>
                  </a:txBody>
                  <a:tcPr>
                    <a:solidFill>
                      <a:srgbClr val="FFFFFF"/>
                    </a:solidFill>
                  </a:tcPr>
                </a:tc>
                <a:tc>
                  <a:txBody>
                    <a:bodyPr/>
                    <a:lstStyle/>
                    <a:p>
                      <a:r>
                        <a:rPr sz="1100">
                          <a:solidFill>
                            <a:srgbClr val="0B625B"/>
                          </a:solidFill>
                          <a:latin typeface="Segoe UI"/>
                        </a:rPr>
                        <a:t>More homes ready for design</a:t>
                      </a:r>
                    </a:p>
                  </a:txBody>
                  <a:tcPr>
                    <a:solidFill>
                      <a:srgbClr val="FFFFFF"/>
                    </a:solidFill>
                  </a:tcPr>
                </a:tc>
                <a:tc>
                  <a:txBody>
                    <a:bodyPr/>
                    <a:lstStyle/>
                    <a:p>
                      <a:r>
                        <a:rPr sz="1100">
                          <a:solidFill>
                            <a:srgbClr val="243B53"/>
                          </a:solidFill>
                          <a:latin typeface="Segoe UI"/>
                        </a:rPr>
                        <a:t>Assessor capacity, fragmented data and rework</a:t>
                      </a:r>
                    </a:p>
                  </a:txBody>
                  <a:tcPr>
                    <a:solidFill>
                      <a:srgbClr val="FFFFFF"/>
                    </a:solidFill>
                  </a:tcPr>
                </a:tc>
                <a:tc>
                  <a:txBody>
                    <a:bodyPr/>
                    <a:lstStyle/>
                    <a:p>
                      <a:r>
                        <a:rPr sz="1100">
                          <a:solidFill>
                            <a:srgbClr val="243B53"/>
                          </a:solidFill>
                          <a:latin typeface="Segoe UI"/>
                        </a:rPr>
                        <a:t>Sourced evidence record; AI pre-fills facts and checks completeness</a:t>
                      </a:r>
                    </a:p>
                  </a:txBody>
                  <a:tcPr>
                    <a:solidFill>
                      <a:srgbClr val="FFFFFF"/>
                    </a:solidFill>
                  </a:tcPr>
                </a:tc>
              </a:tr>
              <a:tr h="457200">
                <a:tc>
                  <a:txBody>
                    <a:bodyPr/>
                    <a:lstStyle/>
                    <a:p>
                      <a:r>
                        <a:rPr b="1" sz="1100">
                          <a:solidFill>
                            <a:srgbClr val="102A43"/>
                          </a:solidFill>
                          <a:latin typeface="Segoe UI"/>
                        </a:rPr>
                        <a:t>Grant and Funding (L3)</a:t>
                      </a:r>
                    </a:p>
                  </a:txBody>
                  <a:tcPr>
                    <a:solidFill>
                      <a:srgbClr val="F0F4F8"/>
                    </a:solidFill>
                  </a:tcPr>
                </a:tc>
                <a:tc>
                  <a:txBody>
                    <a:bodyPr/>
                    <a:lstStyle/>
                    <a:p>
                      <a:r>
                        <a:rPr sz="1100">
                          <a:solidFill>
                            <a:srgbClr val="0B625B"/>
                          </a:solidFill>
                          <a:latin typeface="Segoe UI"/>
                        </a:rPr>
                        <a:t>Grant cash without clawback</a:t>
                      </a:r>
                    </a:p>
                  </a:txBody>
                  <a:tcPr>
                    <a:solidFill>
                      <a:srgbClr val="F0F4F8"/>
                    </a:solidFill>
                  </a:tcPr>
                </a:tc>
                <a:tc>
                  <a:txBody>
                    <a:bodyPr/>
                    <a:lstStyle/>
                    <a:p>
                      <a:r>
                        <a:rPr sz="1100">
                          <a:solidFill>
                            <a:srgbClr val="243B53"/>
                          </a:solidFill>
                          <a:latin typeface="Segoe UI"/>
                        </a:rPr>
                        <a:t>No evidenced award; reporting is a data problem</a:t>
                      </a:r>
                    </a:p>
                  </a:txBody>
                  <a:tcPr>
                    <a:solidFill>
                      <a:srgbClr val="F0F4F8"/>
                    </a:solidFill>
                  </a:tcPr>
                </a:tc>
                <a:tc>
                  <a:txBody>
                    <a:bodyPr/>
                    <a:lstStyle/>
                    <a:p>
                      <a:r>
                        <a:rPr sz="1100">
                          <a:solidFill>
                            <a:srgbClr val="243B53"/>
                          </a:solidFill>
                          <a:latin typeface="Segoe UI"/>
                        </a:rPr>
                        <a:t>Four-state grant ledger first; AI drafts from evidence</a:t>
                      </a:r>
                    </a:p>
                  </a:txBody>
                  <a:tcPr>
                    <a:solidFill>
                      <a:srgbClr val="F0F4F8"/>
                    </a:solidFill>
                  </a:tcPr>
                </a:tc>
              </a:tr>
              <a:tr h="457200">
                <a:tc>
                  <a:txBody>
                    <a:bodyPr/>
                    <a:lstStyle/>
                    <a:p>
                      <a:r>
                        <a:rPr b="1" sz="1100">
                          <a:solidFill>
                            <a:srgbClr val="102A43"/>
                          </a:solidFill>
                          <a:latin typeface="Segoe UI"/>
                        </a:rPr>
                        <a:t>Contractor and Resident (L3)</a:t>
                      </a:r>
                    </a:p>
                  </a:txBody>
                  <a:tcPr>
                    <a:solidFill>
                      <a:srgbClr val="FFFFFF"/>
                    </a:solidFill>
                  </a:tcPr>
                </a:tc>
                <a:tc>
                  <a:txBody>
                    <a:bodyPr/>
                    <a:lstStyle/>
                    <a:p>
                      <a:r>
                        <a:rPr sz="1100">
                          <a:solidFill>
                            <a:srgbClr val="0B625B"/>
                          </a:solidFill>
                          <a:latin typeface="Segoe UI"/>
                        </a:rPr>
                        <a:t>Capacity meets resident readiness</a:t>
                      </a:r>
                    </a:p>
                  </a:txBody>
                  <a:tcPr>
                    <a:solidFill>
                      <a:srgbClr val="FFFFFF"/>
                    </a:solidFill>
                  </a:tcPr>
                </a:tc>
                <a:tc>
                  <a:txBody>
                    <a:bodyPr/>
                    <a:lstStyle/>
                    <a:p>
                      <a:r>
                        <a:rPr sz="1100">
                          <a:solidFill>
                            <a:srgbClr val="243B53"/>
                          </a:solidFill>
                          <a:latin typeface="Segoe UI"/>
                        </a:rPr>
                        <a:t>No-access logged as refusal; frontline context lost</a:t>
                      </a:r>
                    </a:p>
                  </a:txBody>
                  <a:tcPr>
                    <a:solidFill>
                      <a:srgbClr val="FFFFFF"/>
                    </a:solidFill>
                  </a:tcPr>
                </a:tc>
                <a:tc>
                  <a:txBody>
                    <a:bodyPr/>
                    <a:lstStyle/>
                    <a:p>
                      <a:r>
                        <a:rPr sz="1100">
                          <a:solidFill>
                            <a:srgbClr val="243B53"/>
                          </a:solidFill>
                          <a:latin typeface="Segoe UI"/>
                        </a:rPr>
                        <a:t>Deterministic decision record; AI drafts, routes, suggests slots</a:t>
                      </a:r>
                    </a:p>
                  </a:txBody>
                  <a:tcPr>
                    <a:solidFill>
                      <a:srgbClr val="FFFFFF"/>
                    </a:solidFill>
                  </a:tcPr>
                </a:tc>
              </a:tr>
              <a:tr h="457200">
                <a:tc>
                  <a:txBody>
                    <a:bodyPr/>
                    <a:lstStyle/>
                    <a:p>
                      <a:r>
                        <a:rPr b="1" sz="1100">
                          <a:solidFill>
                            <a:srgbClr val="102A43"/>
                          </a:solidFill>
                          <a:latin typeface="Segoe UI"/>
                        </a:rPr>
                        <a:t>Quality Verification (L4)</a:t>
                      </a:r>
                    </a:p>
                  </a:txBody>
                  <a:tcPr>
                    <a:solidFill>
                      <a:srgbClr val="F0F4F8"/>
                    </a:solidFill>
                  </a:tcPr>
                </a:tc>
                <a:tc>
                  <a:txBody>
                    <a:bodyPr/>
                    <a:lstStyle/>
                    <a:p>
                      <a:r>
                        <a:rPr sz="1100">
                          <a:solidFill>
                            <a:srgbClr val="0B625B"/>
                          </a:solidFill>
                          <a:latin typeface="Segoe UI"/>
                        </a:rPr>
                        <a:t>No payment for defective work</a:t>
                      </a:r>
                    </a:p>
                  </a:txBody>
                  <a:tcPr>
                    <a:solidFill>
                      <a:srgbClr val="F0F4F8"/>
                    </a:solidFill>
                  </a:tcPr>
                </a:tc>
                <a:tc>
                  <a:txBody>
                    <a:bodyPr/>
                    <a:lstStyle/>
                    <a:p>
                      <a:r>
                        <a:rPr sz="1100">
                          <a:solidFill>
                            <a:srgbClr val="243B53"/>
                          </a:solidFill>
                          <a:latin typeface="Segoe UI"/>
                        </a:rPr>
                        <a:t>Late detection of systemic defects</a:t>
                      </a:r>
                    </a:p>
                  </a:txBody>
                  <a:tcPr>
                    <a:solidFill>
                      <a:srgbClr val="F0F4F8"/>
                    </a:solidFill>
                  </a:tcPr>
                </a:tc>
                <a:tc>
                  <a:txBody>
                    <a:bodyPr/>
                    <a:lstStyle/>
                    <a:p>
                      <a:r>
                        <a:rPr sz="1100">
                          <a:solidFill>
                            <a:srgbClr val="243B53"/>
                          </a:solidFill>
                          <a:latin typeface="Segoe UI"/>
                        </a:rPr>
                        <a:t>Evidence schedule and defect register; AI flags, never clears</a:t>
                      </a:r>
                    </a:p>
                  </a:txBody>
                  <a:tcPr>
                    <a:solidFill>
                      <a:srgbClr val="F0F4F8"/>
                    </a:solidFill>
                  </a:tcPr>
                </a:tc>
              </a:tr>
            </a:tbl>
          </a:graphicData>
        </a:graphic>
      </p:graphicFrame>
      <p:sp>
        <p:nvSpPr>
          <p:cNvPr id="6" name="Takeaway"/>
          <p:cNvSpPr/>
          <p:nvPr/>
        </p:nvSpPr>
        <p:spPr>
          <a:xfrm>
            <a:off x="548640" y="5394960"/>
            <a:ext cx="11094415" cy="457200"/>
          </a:xfrm>
          <a:prstGeom prst="roundRect">
            <a:avLst>
              <a:gd name="adj" fmla="val 12000"/>
            </a:avLst>
          </a:prstGeom>
          <a:solidFill>
            <a:srgbClr val="B83A2E"/>
          </a:solidFill>
          <a:ln w="12700">
            <a:solidFill>
              <a:srgbClr val="B83A2E"/>
            </a:solidFill>
          </a:ln>
        </p:spPr>
        <p:style>
          <a:lnRef idx="1">
            <a:schemeClr val="accent1"/>
          </a:lnRef>
          <a:fillRef idx="3">
            <a:schemeClr val="accent1"/>
          </a:fillRef>
          <a:effectRef idx="0">
            <a:schemeClr val="accent1"/>
          </a:effectRef>
          <a:fontRef idx="minor">
            <a:schemeClr val="lt1"/>
          </a:fontRef>
        </p:style>
        <p:txBody>
          <a:bodyPr rtlCol="0" anchor="ctr" wrap="square" lIns="109728" rIns="109728" tIns="36576" bIns="36576"/>
          <a:lstStyle/>
          <a:p>
            <a:pPr algn="ctr"/>
            <a:r>
              <a:rPr sz="1400" b="1" i="0">
                <a:solidFill>
                  <a:srgbClr val="FFFFFF"/>
                </a:solidFill>
                <a:latin typeface="Segoe UI"/>
              </a:rPr>
              <a:t>Verdict of all eight roles: build none of the five as an end-to-end agent. The gap is shared records, not intelligence.</a:t>
            </a:r>
          </a:p>
        </p:txBody>
      </p:sp>
      <p:sp>
        <p:nvSpPr>
          <p:cNvPr id="7" name="Source"/>
          <p:cNvSpPr txBox="1"/>
          <p:nvPr/>
        </p:nvSpPr>
        <p:spPr>
          <a:xfrm>
            <a:off x="548640" y="6126480"/>
            <a:ext cx="11094415" cy="256032"/>
          </a:xfrm>
          <a:prstGeom prst="rect">
            <a:avLst/>
          </a:prstGeom>
          <a:noFill/>
        </p:spPr>
        <p:txBody>
          <a:bodyPr wrap="square" tIns="0" bIns="0">
            <a:spAutoFit/>
          </a:bodyPr>
          <a:lstStyle/>
          <a:p>
            <a:r>
              <a:rPr sz="900" b="0" i="0">
                <a:solidFill>
                  <a:srgbClr val="627D98"/>
                </a:solidFill>
                <a:latin typeface="Segoe UI"/>
              </a:rPr>
              <a:t>Source: agent-request-challenge.md (26 Sep 2026). Roles read the case, addendum and BRD: verdicts are sector-informed hypotheses, not validation.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457200"/>
            <a:ext cx="11094415" cy="685800"/>
          </a:xfrm>
          <a:prstGeom prst="rect">
            <a:avLst/>
          </a:prstGeom>
          <a:noFill/>
        </p:spPr>
        <p:txBody>
          <a:bodyPr wrap="square" anchor="ctr">
            <a:spAutoFit/>
          </a:bodyPr>
          <a:lstStyle/>
          <a:p>
            <a:r>
              <a:rPr sz="2600" b="1" i="0">
                <a:solidFill>
                  <a:srgbClr val="102A43"/>
                </a:solidFill>
                <a:latin typeface="Segoe UI"/>
              </a:rPr>
              <a:t>Agents for the messy work, rules for decisions we must explain</a:t>
            </a:r>
          </a:p>
        </p:txBody>
      </p:sp>
      <p:sp>
        <p:nvSpPr>
          <p:cNvPr id="3" name="Layer 1 label"/>
          <p:cNvSpPr/>
          <p:nvPr/>
        </p:nvSpPr>
        <p:spPr>
          <a:xfrm>
            <a:off x="548640" y="1508760"/>
            <a:ext cx="1920240" cy="1051560"/>
          </a:xfrm>
          <a:prstGeom prst="roundRect">
            <a:avLst>
              <a:gd name="adj" fmla="val 12000"/>
            </a:avLst>
          </a:prstGeom>
          <a:solidFill>
            <a:srgbClr val="102A43"/>
          </a:solidFill>
          <a:ln w="12700">
            <a:solidFill>
              <a:srgbClr val="102A43"/>
            </a:solidFill>
          </a:ln>
        </p:spPr>
        <p:style>
          <a:lnRef idx="1">
            <a:schemeClr val="accent1"/>
          </a:lnRef>
          <a:fillRef idx="3">
            <a:schemeClr val="accent1"/>
          </a:fillRef>
          <a:effectRef idx="0">
            <a:schemeClr val="accent1"/>
          </a:effectRef>
          <a:fontRef idx="minor">
            <a:schemeClr val="lt1"/>
          </a:fontRef>
        </p:style>
        <p:txBody>
          <a:bodyPr rtlCol="0" anchor="ctr" wrap="square" lIns="109728" rIns="109728" tIns="36576" bIns="36576"/>
          <a:lstStyle/>
          <a:p>
            <a:pPr algn="ctr"/>
            <a:r>
              <a:rPr sz="1500" b="1" i="0">
                <a:solidFill>
                  <a:srgbClr val="FFFFFF"/>
                </a:solidFill>
                <a:latin typeface="Segoe UI"/>
              </a:rPr>
              <a:t>Accountable people</a:t>
            </a:r>
          </a:p>
        </p:txBody>
      </p:sp>
      <p:sp>
        <p:nvSpPr>
          <p:cNvPr id="4" name="Layer 1 body"/>
          <p:cNvSpPr/>
          <p:nvPr/>
        </p:nvSpPr>
        <p:spPr>
          <a:xfrm>
            <a:off x="2651760" y="1508760"/>
            <a:ext cx="4937760" cy="1051560"/>
          </a:xfrm>
          <a:prstGeom prst="roundRect">
            <a:avLst>
              <a:gd name="adj" fmla="val 6000"/>
            </a:avLst>
          </a:prstGeom>
          <a:solidFill>
            <a:srgbClr val="E6EFFB"/>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rtlCol="0" anchor="ctr" wrap="square" lIns="164592" rIns="164592" tIns="128016" bIns="91440"/>
          <a:lstStyle/>
          <a:p>
            <a:pPr algn="l">
              <a:spcAft>
                <a:spcPts val="0"/>
              </a:spcAft>
            </a:pPr>
            <a:r>
              <a:rPr sz="1300" b="0" i="0">
                <a:solidFill>
                  <a:srgbClr val="243B53"/>
                </a:solidFill>
                <a:latin typeface="Segoe UI"/>
              </a:rPr>
              <a:t>Safety, professional sign-off, resident consent, investment, procurement, grant submission, payment and quality acceptance</a:t>
            </a:r>
          </a:p>
        </p:txBody>
      </p:sp>
      <p:sp>
        <p:nvSpPr>
          <p:cNvPr id="5" name="Layer 2 label"/>
          <p:cNvSpPr/>
          <p:nvPr/>
        </p:nvSpPr>
        <p:spPr>
          <a:xfrm>
            <a:off x="548640" y="2834639"/>
            <a:ext cx="1920240" cy="1051560"/>
          </a:xfrm>
          <a:prstGeom prst="roundRect">
            <a:avLst>
              <a:gd name="adj" fmla="val 12000"/>
            </a:avLst>
          </a:prstGeom>
          <a:solidFill>
            <a:srgbClr val="0B625B"/>
          </a:solidFill>
          <a:ln w="12700">
            <a:solidFill>
              <a:srgbClr val="0B625B"/>
            </a:solidFill>
          </a:ln>
        </p:spPr>
        <p:style>
          <a:lnRef idx="1">
            <a:schemeClr val="accent1"/>
          </a:lnRef>
          <a:fillRef idx="3">
            <a:schemeClr val="accent1"/>
          </a:fillRef>
          <a:effectRef idx="0">
            <a:schemeClr val="accent1"/>
          </a:effectRef>
          <a:fontRef idx="minor">
            <a:schemeClr val="lt1"/>
          </a:fontRef>
        </p:style>
        <p:txBody>
          <a:bodyPr rtlCol="0" anchor="ctr" wrap="square" lIns="109728" rIns="109728" tIns="36576" bIns="36576"/>
          <a:lstStyle/>
          <a:p>
            <a:pPr algn="ctr"/>
            <a:r>
              <a:rPr sz="1500" b="1" i="0">
                <a:solidFill>
                  <a:srgbClr val="FFFFFF"/>
                </a:solidFill>
                <a:latin typeface="Segoe UI"/>
              </a:rPr>
              <a:t>Bounded agents</a:t>
            </a:r>
          </a:p>
        </p:txBody>
      </p:sp>
      <p:sp>
        <p:nvSpPr>
          <p:cNvPr id="6" name="Layer 2 body"/>
          <p:cNvSpPr/>
          <p:nvPr/>
        </p:nvSpPr>
        <p:spPr>
          <a:xfrm>
            <a:off x="2651760" y="2834639"/>
            <a:ext cx="4937760" cy="1051560"/>
          </a:xfrm>
          <a:prstGeom prst="roundRect">
            <a:avLst>
              <a:gd name="adj" fmla="val 6000"/>
            </a:avLst>
          </a:prstGeom>
          <a:solidFill>
            <a:srgbClr val="E3F4F1"/>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rtlCol="0" anchor="ctr" wrap="square" lIns="164592" rIns="164592" tIns="128016" bIns="91440"/>
          <a:lstStyle/>
          <a:p>
            <a:pPr algn="l">
              <a:spcAft>
                <a:spcPts val="0"/>
              </a:spcAft>
            </a:pPr>
            <a:r>
              <a:rPr sz="1300" b="0" i="0">
                <a:solidFill>
                  <a:srgbClr val="243B53"/>
                </a:solidFill>
                <a:latin typeface="Segoe UI"/>
              </a:rPr>
              <a:t>Turn free text into sourced values, propose missing values for owners to confirm, reconcile, draft, route messages, raise hazard and quality signals</a:t>
            </a:r>
          </a:p>
        </p:txBody>
      </p:sp>
      <p:sp>
        <p:nvSpPr>
          <p:cNvPr id="7" name="Layer 3 label"/>
          <p:cNvSpPr/>
          <p:nvPr/>
        </p:nvSpPr>
        <p:spPr>
          <a:xfrm>
            <a:off x="548640" y="4160520"/>
            <a:ext cx="1920240" cy="1051560"/>
          </a:xfrm>
          <a:prstGeom prst="roundRect">
            <a:avLst>
              <a:gd name="adj" fmla="val 12000"/>
            </a:avLst>
          </a:prstGeom>
          <a:solidFill>
            <a:srgbClr val="1D5FB8"/>
          </a:solidFill>
          <a:ln w="12700">
            <a:solidFill>
              <a:srgbClr val="1D5FB8"/>
            </a:solidFill>
          </a:ln>
        </p:spPr>
        <p:style>
          <a:lnRef idx="1">
            <a:schemeClr val="accent1"/>
          </a:lnRef>
          <a:fillRef idx="3">
            <a:schemeClr val="accent1"/>
          </a:fillRef>
          <a:effectRef idx="0">
            <a:schemeClr val="accent1"/>
          </a:effectRef>
          <a:fontRef idx="minor">
            <a:schemeClr val="lt1"/>
          </a:fontRef>
        </p:style>
        <p:txBody>
          <a:bodyPr rtlCol="0" anchor="ctr" wrap="square" lIns="109728" rIns="109728" tIns="36576" bIns="36576"/>
          <a:lstStyle/>
          <a:p>
            <a:pPr algn="ctr"/>
            <a:r>
              <a:rPr sz="1500" b="1" i="0">
                <a:solidFill>
                  <a:srgbClr val="FFFFFF"/>
                </a:solidFill>
                <a:latin typeface="Segoe UI"/>
              </a:rPr>
              <a:t>Digital foundation</a:t>
            </a:r>
          </a:p>
        </p:txBody>
      </p:sp>
      <p:sp>
        <p:nvSpPr>
          <p:cNvPr id="8" name="Layer 3 body"/>
          <p:cNvSpPr/>
          <p:nvPr/>
        </p:nvSpPr>
        <p:spPr>
          <a:xfrm>
            <a:off x="2651760" y="4160520"/>
            <a:ext cx="4937760" cy="1051560"/>
          </a:xfrm>
          <a:prstGeom prst="roundRect">
            <a:avLst>
              <a:gd name="adj" fmla="val 6000"/>
            </a:avLst>
          </a:prstGeom>
          <a:solidFill>
            <a:srgbClr val="F0F4F8"/>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rtlCol="0" anchor="ctr" wrap="square" lIns="164592" rIns="164592" tIns="128016" bIns="91440"/>
          <a:lstStyle/>
          <a:p>
            <a:pPr algn="l">
              <a:spcAft>
                <a:spcPts val="0"/>
              </a:spcAft>
            </a:pPr>
            <a:r>
              <a:rPr sz="1300" b="0" i="0">
                <a:solidFill>
                  <a:srgbClr val="243B53"/>
                </a:solidFill>
                <a:latin typeface="Segoe UI"/>
              </a:rPr>
              <a:t>Deterministic: property master, published scoring weights, eligibility rules, gates and clocks, resident decisions, capacity, grant ledger, defects</a:t>
            </a:r>
          </a:p>
        </p:txBody>
      </p:sp>
      <p:sp>
        <p:nvSpPr>
          <p:cNvPr id="9" name="Ask"/>
          <p:cNvSpPr/>
          <p:nvPr/>
        </p:nvSpPr>
        <p:spPr>
          <a:xfrm>
            <a:off x="7863840" y="1508760"/>
            <a:ext cx="3779215" cy="3703320"/>
          </a:xfrm>
          <a:prstGeom prst="roundRect">
            <a:avLst>
              <a:gd name="adj" fmla="val 6000"/>
            </a:avLst>
          </a:prstGeom>
          <a:solidFill>
            <a:srgbClr val="FFFFFF"/>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rtlCol="0" anchor="t" wrap="square" lIns="164592" rIns="164592" tIns="128016" bIns="91440"/>
          <a:lstStyle/>
          <a:p>
            <a:pPr algn="l">
              <a:spcAft>
                <a:spcPts val="1000"/>
              </a:spcAft>
            </a:pPr>
            <a:r>
              <a:rPr sz="1300" b="1" i="0">
                <a:solidFill>
                  <a:srgbClr val="B83A2E"/>
                </a:solidFill>
                <a:latin typeface="Segoe UI"/>
              </a:rPr>
              <a:t>THE ASK TO THE BOARD CHANGES</a:t>
            </a:r>
          </a:p>
          <a:p>
            <a:pPr algn="l">
              <a:spcAft>
                <a:spcPts val="0"/>
              </a:spcAft>
            </a:pPr>
            <a:r>
              <a:rPr sz="1200" b="1" i="0">
                <a:solidFill>
                  <a:srgbClr val="627D98"/>
                </a:solidFill>
                <a:latin typeface="Segoe UI"/>
              </a:rPr>
              <a:t>From</a:t>
            </a:r>
          </a:p>
          <a:p>
            <a:pPr algn="l">
              <a:spcAft>
                <a:spcPts val="1000"/>
              </a:spcAft>
            </a:pPr>
            <a:r>
              <a:rPr sz="1500" b="1" i="0">
                <a:solidFill>
                  <a:srgbClr val="102A43"/>
                </a:solidFill>
                <a:latin typeface="Segoe UI"/>
              </a:rPr>
              <a:t>Five end-to-end agents, portfolio-wide</a:t>
            </a:r>
          </a:p>
          <a:p>
            <a:pPr algn="l">
              <a:spcAft>
                <a:spcPts val="0"/>
              </a:spcAft>
            </a:pPr>
            <a:r>
              <a:rPr sz="1200" b="1" i="0">
                <a:solidFill>
                  <a:srgbClr val="627D98"/>
                </a:solidFill>
                <a:latin typeface="Segoe UI"/>
              </a:rPr>
              <a:t>To</a:t>
            </a:r>
          </a:p>
          <a:p>
            <a:pPr algn="l">
              <a:spcAft>
                <a:spcPts val="1200"/>
              </a:spcAft>
            </a:pPr>
            <a:r>
              <a:rPr sz="1500" b="1" i="0">
                <a:solidFill>
                  <a:srgbClr val="102A43"/>
                </a:solidFill>
                <a:latin typeface="Segoe UI"/>
              </a:rPr>
              <a:t>Agent-led modernisation of the existing model: one locality, existing teams and suppliers</a:t>
            </a:r>
          </a:p>
          <a:p>
            <a:pPr algn="l" marL="228600" indent="-228600">
              <a:spcAft>
                <a:spcPts val="600"/>
              </a:spcAft>
              <a:buChar char="•"/>
            </a:pPr>
            <a:r>
              <a:rPr sz="1300" b="0" i="0">
                <a:solidFill>
                  <a:srgbClr val="243B53"/>
                </a:solidFill>
                <a:latin typeface="Segoe UI"/>
              </a:rPr>
              <a:t>Rules stay deterministic where a decision must be transparent and repeatable</a:t>
            </a:r>
          </a:p>
          <a:p>
            <a:pPr algn="l" marL="228600" indent="-228600">
              <a:spcAft>
                <a:spcPts val="0"/>
              </a:spcAft>
              <a:buChar char="•"/>
            </a:pPr>
            <a:r>
              <a:rPr sz="1300" b="0" i="0">
                <a:solidFill>
                  <a:srgbClr val="243B53"/>
                </a:solidFill>
                <a:latin typeface="Segoe UI"/>
              </a:rPr>
              <a:t>Each agent capability scales only if it beats the same workflow without it (proposed)</a:t>
            </a:r>
          </a:p>
        </p:txBody>
      </p:sp>
      <p:sp>
        <p:nvSpPr>
          <p:cNvPr id="10" name="Takeaway"/>
          <p:cNvSpPr/>
          <p:nvPr/>
        </p:nvSpPr>
        <p:spPr>
          <a:xfrm>
            <a:off x="548640" y="5486400"/>
            <a:ext cx="11094415" cy="365760"/>
          </a:xfrm>
          <a:prstGeom prst="roundRect">
            <a:avLst>
              <a:gd name="adj" fmla="val 12000"/>
            </a:avLst>
          </a:prstGeom>
          <a:solidFill>
            <a:srgbClr val="102A43"/>
          </a:solidFill>
          <a:ln w="12700">
            <a:solidFill>
              <a:srgbClr val="102A43"/>
            </a:solidFill>
          </a:ln>
        </p:spPr>
        <p:style>
          <a:lnRef idx="1">
            <a:schemeClr val="accent1"/>
          </a:lnRef>
          <a:fillRef idx="3">
            <a:schemeClr val="accent1"/>
          </a:fillRef>
          <a:effectRef idx="0">
            <a:schemeClr val="accent1"/>
          </a:effectRef>
          <a:fontRef idx="minor">
            <a:schemeClr val="lt1"/>
          </a:fontRef>
        </p:style>
        <p:txBody>
          <a:bodyPr rtlCol="0" anchor="ctr" wrap="square" lIns="109728" rIns="109728" tIns="36576" bIns="36576"/>
          <a:lstStyle/>
          <a:p>
            <a:pPr algn="ctr"/>
            <a:r>
              <a:rPr sz="1500" b="1" i="0">
                <a:solidFill>
                  <a:srgbClr val="FFFFFF"/>
                </a:solidFill>
                <a:latin typeface="Segoe UI"/>
              </a:rPr>
              <a:t>Agents earn the right to scale only through safe, resident-accepted, evidence-complete handovers</a:t>
            </a:r>
          </a:p>
        </p:txBody>
      </p:sp>
      <p:sp>
        <p:nvSpPr>
          <p:cNvPr id="11" name="Source"/>
          <p:cNvSpPr txBox="1"/>
          <p:nvPr/>
        </p:nvSpPr>
        <p:spPr>
          <a:xfrm>
            <a:off x="548640" y="6126480"/>
            <a:ext cx="11094415" cy="256032"/>
          </a:xfrm>
          <a:prstGeom prst="rect">
            <a:avLst/>
          </a:prstGeom>
          <a:noFill/>
        </p:spPr>
        <p:txBody>
          <a:bodyPr wrap="square" tIns="0" bIns="0">
            <a:spAutoFit/>
          </a:bodyPr>
          <a:lstStyle/>
          <a:p>
            <a:r>
              <a:rPr sz="900" b="0" i="0">
                <a:solidFill>
                  <a:srgbClr val="627D98"/>
                </a:solidFill>
                <a:latin typeface="Segoe UI"/>
              </a:rPr>
              <a:t>Sources: case_study_48_addendum.md (Where Agents Fit; Agentic Architecture Brief); agent-request-challenge.md; BRD v0.5.0 Document Status (owner decision, 26 Sep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457200"/>
            <a:ext cx="11094415" cy="685800"/>
          </a:xfrm>
          <a:prstGeom prst="rect">
            <a:avLst/>
          </a:prstGeom>
          <a:noFill/>
        </p:spPr>
        <p:txBody>
          <a:bodyPr wrap="square" anchor="ctr">
            <a:spAutoFit/>
          </a:bodyPr>
          <a:lstStyle/>
          <a:p>
            <a:r>
              <a:rPr sz="2600" b="1" i="0">
                <a:solidFill>
                  <a:srgbClr val="102A43"/>
                </a:solidFill>
                <a:latin typeface="Segoe UI"/>
              </a:rPr>
              <a:t>Two more challenges: how to prove the value and how to explain it</a:t>
            </a:r>
          </a:p>
        </p:txBody>
      </p:sp>
      <p:sp>
        <p:nvSpPr>
          <p:cNvPr id="3" name="Prove"/>
          <p:cNvSpPr/>
          <p:nvPr/>
        </p:nvSpPr>
        <p:spPr>
          <a:xfrm>
            <a:off x="548640" y="1508760"/>
            <a:ext cx="5440680" cy="3520440"/>
          </a:xfrm>
          <a:prstGeom prst="roundRect">
            <a:avLst>
              <a:gd name="adj" fmla="val 6000"/>
            </a:avLst>
          </a:prstGeom>
          <a:solidFill>
            <a:srgbClr val="FFFFFF"/>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rtlCol="0" anchor="t" wrap="square" lIns="164592" rIns="164592" tIns="128016" bIns="91440"/>
          <a:lstStyle/>
          <a:p>
            <a:pPr algn="l">
              <a:spcAft>
                <a:spcPts val="1200"/>
              </a:spcAft>
            </a:pPr>
            <a:r>
              <a:rPr sz="1300" b="1" i="0">
                <a:solidFill>
                  <a:srgbClr val="0B625B"/>
                </a:solidFill>
                <a:latin typeface="Segoe UI"/>
              </a:rPr>
              <a:t>PROVE IT: PILOT MEASUREMENT CHALLENGE</a:t>
            </a:r>
          </a:p>
          <a:p>
            <a:pPr algn="l" marL="228600" indent="-228600">
              <a:spcAft>
                <a:spcPts val="1200"/>
              </a:spcAft>
              <a:buChar char="•"/>
            </a:pPr>
            <a:r>
              <a:rPr sz="1400" b="0" i="0">
                <a:solidFill>
                  <a:srgbClr val="243B53"/>
                </a:solidFill>
                <a:latin typeface="Segoe UI"/>
              </a:rPr>
              <a:t>All eight roles backed the intent but rejected my acceleration dashboard: speed is not the benefit, and about 50 handovers in 6 to 9 months cannot prove a 20% gain</a:t>
            </a:r>
          </a:p>
          <a:p>
            <a:pPr algn="l" marL="228600" indent="-228600">
              <a:spcAft>
                <a:spcPts val="1200"/>
              </a:spcAft>
              <a:buChar char="•"/>
            </a:pPr>
            <a:r>
              <a:rPr sz="1400" b="0" i="0">
                <a:solidFill>
                  <a:srgbClr val="243B53"/>
                </a:solidFill>
                <a:latin typeface="Segoe UI"/>
              </a:rPr>
              <a:t>Comparison 1: pilot locality with agents against a matched locality without, same event capture from Phase 0</a:t>
            </a:r>
          </a:p>
          <a:p>
            <a:pPr algn="l" marL="228600" indent="-228600">
              <a:spcAft>
                <a:spcPts val="1200"/>
              </a:spcAft>
              <a:buChar char="•"/>
            </a:pPr>
            <a:r>
              <a:rPr sz="1400" b="0" i="0">
                <a:solidFill>
                  <a:srgbClr val="243B53"/>
                </a:solidFill>
                <a:latin typeface="Segoe UI"/>
              </a:rPr>
              <a:t>Comparison 2: each agent capability against the same workflow without it, review effort counted</a:t>
            </a:r>
          </a:p>
          <a:p>
            <a:pPr algn="l" marL="228600" indent="-228600">
              <a:spcAft>
                <a:spcPts val="0"/>
              </a:spcAft>
              <a:buChar char="•"/>
            </a:pPr>
            <a:r>
              <a:rPr sz="1400" b="0" i="0">
                <a:solidFill>
                  <a:srgbClr val="243B53"/>
                </a:solidFill>
                <a:latin typeface="Segoe UI"/>
              </a:rPr>
              <a:t>The dashboard steers; a frozen benefits scorecard decides; a guardrail breach pauses work (RULE-024)</a:t>
            </a:r>
          </a:p>
        </p:txBody>
      </p:sp>
      <p:sp>
        <p:nvSpPr>
          <p:cNvPr id="4" name="Explain"/>
          <p:cNvSpPr/>
          <p:nvPr/>
        </p:nvSpPr>
        <p:spPr>
          <a:xfrm>
            <a:off x="6263640" y="1508760"/>
            <a:ext cx="5379415" cy="3520440"/>
          </a:xfrm>
          <a:prstGeom prst="roundRect">
            <a:avLst>
              <a:gd name="adj" fmla="val 6000"/>
            </a:avLst>
          </a:prstGeom>
          <a:solidFill>
            <a:srgbClr val="F0F4F8"/>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rtlCol="0" anchor="t" wrap="square" lIns="164592" rIns="164592" tIns="128016" bIns="91440"/>
          <a:lstStyle/>
          <a:p>
            <a:pPr algn="l">
              <a:spcAft>
                <a:spcPts val="1200"/>
              </a:spcAft>
            </a:pPr>
            <a:r>
              <a:rPr sz="1300" b="1" i="0">
                <a:solidFill>
                  <a:srgbClr val="1D5FB8"/>
                </a:solidFill>
                <a:latin typeface="Segoe UI"/>
              </a:rPr>
              <a:t>EXPLAIN IT: TRANSPARENCY REVIEW, BRD v0.5.0</a:t>
            </a:r>
          </a:p>
          <a:p>
            <a:pPr algn="l" marL="228600" indent="-228600">
              <a:spcAft>
                <a:spcPts val="1200"/>
              </a:spcAft>
              <a:buChar char="•"/>
            </a:pPr>
            <a:r>
              <a:rPr sz="1400" b="0" i="0">
                <a:solidFill>
                  <a:srgbClr val="243B53"/>
                </a:solidFill>
                <a:latin typeface="Segoe UI"/>
              </a:rPr>
              <a:t>Fixed my own citation: CON-003 cited UK GDPR Article 22, which the local text omits; it now cites Articles 22A to 22C</a:t>
            </a:r>
          </a:p>
          <a:p>
            <a:pPr algn="l" marL="228600" indent="-228600">
              <a:spcAft>
                <a:spcPts val="1200"/>
              </a:spcAft>
              <a:buChar char="•"/>
            </a:pPr>
            <a:r>
              <a:rPr sz="1400" b="0" i="0">
                <a:solidFill>
                  <a:srgbClr val="243B53"/>
                </a:solidFill>
                <a:latin typeface="Segoe UI"/>
              </a:rPr>
              <a:t>Transparency gate before live processing (AC-079); per-home reason codes (FR-042)</a:t>
            </a:r>
          </a:p>
          <a:p>
            <a:pPr algn="l" marL="228600" indent="-228600">
              <a:spcAft>
                <a:spcPts val="1200"/>
              </a:spcAft>
              <a:buChar char="•"/>
            </a:pPr>
            <a:r>
              <a:rPr sz="1400" b="0" i="0">
                <a:solidFill>
                  <a:srgbClr val="243B53"/>
                </a:solidFill>
                <a:latin typeface="Segoe UI"/>
              </a:rPr>
              <a:t>AI capability register and Board assurance report (FR-043); provenance on every agent output (FR-044)</a:t>
            </a:r>
          </a:p>
          <a:p>
            <a:pPr algn="l" marL="228600" indent="-228600">
              <a:spcAft>
                <a:spcPts val="0"/>
              </a:spcAft>
              <a:buChar char="•"/>
            </a:pPr>
            <a:r>
              <a:rPr sz="1400" b="0" i="0">
                <a:solidFill>
                  <a:srgbClr val="243B53"/>
                </a:solidFill>
                <a:latin typeface="Segoe UI"/>
              </a:rPr>
              <a:t>Gap: three standards or codes and ICO guidance are not held locally (OD-39)</a:t>
            </a:r>
          </a:p>
        </p:txBody>
      </p:sp>
      <p:sp>
        <p:nvSpPr>
          <p:cNvPr id="5" name="Takeaway"/>
          <p:cNvSpPr/>
          <p:nvPr/>
        </p:nvSpPr>
        <p:spPr>
          <a:xfrm>
            <a:off x="548640" y="5303520"/>
            <a:ext cx="11094415" cy="548640"/>
          </a:xfrm>
          <a:prstGeom prst="roundRect">
            <a:avLst>
              <a:gd name="adj" fmla="val 12000"/>
            </a:avLst>
          </a:prstGeom>
          <a:solidFill>
            <a:srgbClr val="102A43"/>
          </a:solidFill>
          <a:ln w="12700">
            <a:solidFill>
              <a:srgbClr val="102A43"/>
            </a:solidFill>
          </a:ln>
        </p:spPr>
        <p:style>
          <a:lnRef idx="1">
            <a:schemeClr val="accent1"/>
          </a:lnRef>
          <a:fillRef idx="3">
            <a:schemeClr val="accent1"/>
          </a:fillRef>
          <a:effectRef idx="0">
            <a:schemeClr val="accent1"/>
          </a:effectRef>
          <a:fontRef idx="minor">
            <a:schemeClr val="lt1"/>
          </a:fontRef>
        </p:style>
        <p:txBody>
          <a:bodyPr rtlCol="0" anchor="ctr" wrap="square" lIns="109728" rIns="109728" tIns="36576" bIns="36576"/>
          <a:lstStyle/>
          <a:p>
            <a:pPr algn="ctr"/>
            <a:r>
              <a:rPr sz="1600" b="1" i="0">
                <a:solidFill>
                  <a:srgbClr val="FFFFFF"/>
                </a:solidFill>
                <a:latin typeface="Segoe UI"/>
              </a:rPr>
              <a:t>Proposed (OD-34): the pilot decides which agent capabilities scale</a:t>
            </a:r>
          </a:p>
        </p:txBody>
      </p:sp>
      <p:sp>
        <p:nvSpPr>
          <p:cNvPr id="6" name="Source"/>
          <p:cNvSpPr txBox="1"/>
          <p:nvPr/>
        </p:nvSpPr>
        <p:spPr>
          <a:xfrm>
            <a:off x="548640" y="6126480"/>
            <a:ext cx="11094415" cy="256032"/>
          </a:xfrm>
          <a:prstGeom prst="rect">
            <a:avLst/>
          </a:prstGeom>
          <a:noFill/>
        </p:spPr>
        <p:txBody>
          <a:bodyPr wrap="square" tIns="0" bIns="0">
            <a:spAutoFit/>
          </a:bodyPr>
          <a:lstStyle/>
          <a:p>
            <a:r>
              <a:rPr sz="900" b="0" i="0">
                <a:solidFill>
                  <a:srgbClr val="627D98"/>
                </a:solidFill>
                <a:latin typeface="Segoe UI"/>
              </a:rPr>
              <a:t>Sources: pilot-measurement-challenge.md (Summary; Owner Decision); BRD v0.5.0 CON-003, RULE-019, RULE-024, AC-079, FR-042 to FR-044, OD-34, OD-39; log.md (26 Sep 2026). Role answers are hypotheses.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457200"/>
            <a:ext cx="11094415" cy="685800"/>
          </a:xfrm>
          <a:prstGeom prst="rect">
            <a:avLst/>
          </a:prstGeom>
          <a:noFill/>
        </p:spPr>
        <p:txBody>
          <a:bodyPr wrap="square" anchor="ctr">
            <a:spAutoFit/>
          </a:bodyPr>
          <a:lstStyle/>
          <a:p>
            <a:r>
              <a:rPr sz="2600" b="1" i="0">
                <a:solidFill>
                  <a:srgbClr val="102A43"/>
                </a:solidFill>
                <a:latin typeface="Segoe UI"/>
              </a:rPr>
              <a:t>Twenty what-ifs changed no verdict, but they show where to start</a:t>
            </a:r>
          </a:p>
        </p:txBody>
      </p:sp>
      <p:graphicFrame>
        <p:nvGraphicFramePr>
          <p:cNvPr id="3" name="Value complexity grid"/>
          <p:cNvGraphicFramePr>
            <a:graphicFrameLocks noGrp="1"/>
          </p:cNvGraphicFramePr>
          <p:nvPr/>
        </p:nvGraphicFramePr>
        <p:xfrm>
          <a:off x="548640" y="1508760"/>
          <a:ext cx="6583680" cy="1463040"/>
        </p:xfrm>
        <a:graphic>
          <a:graphicData uri="http://schemas.openxmlformats.org/drawingml/2006/table">
            <a:tbl>
              <a:tblPr firstRow="1" bandRow="1">
                <a:tableStyleId>{5C22544A-7EE6-4342-B048-85BDC9FD1C3A}</a:tableStyleId>
              </a:tblPr>
              <a:tblGrid>
                <a:gridCol w="1097280"/>
                <a:gridCol w="1828800"/>
                <a:gridCol w="1828800"/>
                <a:gridCol w="1828800"/>
              </a:tblGrid>
              <a:tr h="365760">
                <a:tc>
                  <a:txBody>
                    <a:bodyPr/>
                    <a:lstStyle/>
                    <a:p>
                      <a:r>
                        <a:rPr b="1" sz="1100">
                          <a:solidFill>
                            <a:srgbClr val="FFFFFF"/>
                          </a:solidFill>
                          <a:latin typeface="Segoe UI"/>
                        </a:rPr>
                        <a:t>Value</a:t>
                      </a:r>
                    </a:p>
                  </a:txBody>
                  <a:tcPr>
                    <a:solidFill>
                      <a:srgbClr val="102A43"/>
                    </a:solidFill>
                  </a:tcPr>
                </a:tc>
                <a:tc>
                  <a:txBody>
                    <a:bodyPr/>
                    <a:lstStyle/>
                    <a:p>
                      <a:r>
                        <a:rPr b="1" sz="1100">
                          <a:solidFill>
                            <a:srgbClr val="FFFFFF"/>
                          </a:solidFill>
                          <a:latin typeface="Segoe UI"/>
                        </a:rPr>
                        <a:t>Low complexity</a:t>
                      </a:r>
                    </a:p>
                  </a:txBody>
                  <a:tcPr>
                    <a:solidFill>
                      <a:srgbClr val="102A43"/>
                    </a:solidFill>
                  </a:tcPr>
                </a:tc>
                <a:tc>
                  <a:txBody>
                    <a:bodyPr/>
                    <a:lstStyle/>
                    <a:p>
                      <a:r>
                        <a:rPr b="1" sz="1100">
                          <a:solidFill>
                            <a:srgbClr val="FFFFFF"/>
                          </a:solidFill>
                          <a:latin typeface="Segoe UI"/>
                        </a:rPr>
                        <a:t>Medium complexity</a:t>
                      </a:r>
                    </a:p>
                  </a:txBody>
                  <a:tcPr>
                    <a:solidFill>
                      <a:srgbClr val="102A43"/>
                    </a:solidFill>
                  </a:tcPr>
                </a:tc>
                <a:tc>
                  <a:txBody>
                    <a:bodyPr/>
                    <a:lstStyle/>
                    <a:p>
                      <a:r>
                        <a:rPr b="1" sz="1100">
                          <a:solidFill>
                            <a:srgbClr val="FFFFFF"/>
                          </a:solidFill>
                          <a:latin typeface="Segoe UI"/>
                        </a:rPr>
                        <a:t>High complexity</a:t>
                      </a:r>
                    </a:p>
                  </a:txBody>
                  <a:tcPr>
                    <a:solidFill>
                      <a:srgbClr val="102A43"/>
                    </a:solidFill>
                  </a:tcPr>
                </a:tc>
              </a:tr>
              <a:tr h="365760">
                <a:tc>
                  <a:txBody>
                    <a:bodyPr/>
                    <a:lstStyle/>
                    <a:p>
                      <a:r>
                        <a:rPr b="1" sz="1100">
                          <a:solidFill>
                            <a:srgbClr val="102A43"/>
                          </a:solidFill>
                          <a:latin typeface="Segoe UI"/>
                        </a:rPr>
                        <a:t>High value</a:t>
                      </a:r>
                    </a:p>
                  </a:txBody>
                  <a:tcPr>
                    <a:solidFill>
                      <a:srgbClr val="F0F4F8"/>
                    </a:solidFill>
                  </a:tcPr>
                </a:tc>
                <a:tc>
                  <a:txBody>
                    <a:bodyPr/>
                    <a:lstStyle/>
                    <a:p>
                      <a:r>
                        <a:rPr b="1" sz="1100">
                          <a:solidFill>
                            <a:srgbClr val="102A43"/>
                          </a:solidFill>
                          <a:latin typeface="Segoe UI"/>
                        </a:rPr>
                        <a:t>Lifecycle events on a workflow engine</a:t>
                      </a:r>
                    </a:p>
                  </a:txBody>
                  <a:tcPr>
                    <a:solidFill>
                      <a:srgbClr val="E3F4F1"/>
                    </a:solidFill>
                  </a:tcPr>
                </a:tc>
                <a:tc>
                  <a:txBody>
                    <a:bodyPr/>
                    <a:lstStyle/>
                    <a:p>
                      <a:r>
                        <a:rPr b="1" sz="1100">
                          <a:solidFill>
                            <a:srgbClr val="102A43"/>
                          </a:solidFill>
                          <a:latin typeface="Segoe UI"/>
                        </a:rPr>
                        <a:t>Evidence packs for assessment, quality and damp</a:t>
                      </a:r>
                    </a:p>
                  </a:txBody>
                  <a:tcPr>
                    <a:solidFill>
                      <a:srgbClr val="E3F4F1"/>
                    </a:solidFill>
                  </a:tcPr>
                </a:tc>
                <a:tc>
                  <a:txBody>
                    <a:bodyPr/>
                    <a:lstStyle/>
                    <a:p>
                      <a:r>
                        <a:rPr sz="1100">
                          <a:solidFill>
                            <a:srgbClr val="243B53"/>
                          </a:solidFill>
                          <a:latin typeface="Segoe UI"/>
                        </a:rPr>
                        <a:t>Data fusion, drones, sensors, call transcripts</a:t>
                      </a:r>
                    </a:p>
                  </a:txBody>
                  <a:tcPr>
                    <a:solidFill>
                      <a:srgbClr val="FDF1DC"/>
                    </a:solidFill>
                  </a:tcPr>
                </a:tc>
              </a:tr>
              <a:tr h="365760">
                <a:tc>
                  <a:txBody>
                    <a:bodyPr/>
                    <a:lstStyle/>
                    <a:p>
                      <a:r>
                        <a:rPr b="1" sz="1100">
                          <a:solidFill>
                            <a:srgbClr val="102A43"/>
                          </a:solidFill>
                          <a:latin typeface="Segoe UI"/>
                        </a:rPr>
                        <a:t>Medium</a:t>
                      </a:r>
                    </a:p>
                  </a:txBody>
                  <a:tcPr>
                    <a:solidFill>
                      <a:srgbClr val="F0F4F8"/>
                    </a:solidFill>
                  </a:tcPr>
                </a:tc>
                <a:tc>
                  <a:txBody>
                    <a:bodyPr/>
                    <a:lstStyle/>
                    <a:p>
                      <a:r>
                        <a:rPr b="1" sz="1100">
                          <a:solidFill>
                            <a:srgbClr val="102A43"/>
                          </a:solidFill>
                          <a:latin typeface="Segoe UI"/>
                        </a:rPr>
                        <a:t>Structured invoices; capacity feeds and resident app</a:t>
                      </a:r>
                    </a:p>
                  </a:txBody>
                  <a:tcPr>
                    <a:solidFill>
                      <a:srgbClr val="E3F4F1"/>
                    </a:solidFill>
                  </a:tcPr>
                </a:tc>
                <a:tc>
                  <a:txBody>
                    <a:bodyPr/>
                    <a:lstStyle/>
                    <a:p>
                      <a:r>
                        <a:rPr sz="1100">
                          <a:solidFill>
                            <a:srgbClr val="243B53"/>
                          </a:solidFill>
                          <a:latin typeface="Segoe UI"/>
                        </a:rPr>
                        <a:t>Condition-photo app, live eligibility, concierge, board narratives</a:t>
                      </a:r>
                    </a:p>
                  </a:txBody>
                  <a:tcPr>
                    <a:solidFill>
                      <a:srgbClr val="FFFFFF"/>
                    </a:solidFill>
                  </a:tcPr>
                </a:tc>
                <a:tc>
                  <a:txBody>
                    <a:bodyPr/>
                    <a:lstStyle/>
                    <a:p>
                      <a:r>
                        <a:rPr sz="1100">
                          <a:solidFill>
                            <a:srgbClr val="243B53"/>
                          </a:solidFill>
                          <a:latin typeface="Segoe UI"/>
                        </a:rPr>
                        <a:t>Funder-portal integrations</a:t>
                      </a:r>
                    </a:p>
                  </a:txBody>
                  <a:tcPr>
                    <a:solidFill>
                      <a:srgbClr val="FFFFFF"/>
                    </a:solidFill>
                  </a:tcPr>
                </a:tc>
              </a:tr>
              <a:tr h="365760">
                <a:tc>
                  <a:txBody>
                    <a:bodyPr/>
                    <a:lstStyle/>
                    <a:p>
                      <a:r>
                        <a:rPr b="1" sz="1100">
                          <a:solidFill>
                            <a:srgbClr val="102A43"/>
                          </a:solidFill>
                          <a:latin typeface="Segoe UI"/>
                        </a:rPr>
                        <a:t>Low</a:t>
                      </a:r>
                    </a:p>
                  </a:txBody>
                  <a:tcPr>
                    <a:solidFill>
                      <a:srgbClr val="F0F4F8"/>
                    </a:solidFill>
                  </a:tcPr>
                </a:tc>
                <a:tc>
                  <a:txBody>
                    <a:bodyPr/>
                    <a:lstStyle/>
                    <a:p/>
                  </a:txBody>
                  <a:tcPr>
                    <a:solidFill>
                      <a:srgbClr val="FFFFFF"/>
                    </a:solidFill>
                  </a:tcPr>
                </a:tc>
                <a:tc>
                  <a:txBody>
                    <a:bodyPr/>
                    <a:lstStyle/>
                    <a:p>
                      <a:r>
                        <a:rPr sz="1100">
                          <a:solidFill>
                            <a:srgbClr val="52606D"/>
                          </a:solidFill>
                          <a:latin typeface="Segoe UI"/>
                        </a:rPr>
                        <a:t>Sector defect benchmarking</a:t>
                      </a:r>
                    </a:p>
                  </a:txBody>
                  <a:tcPr>
                    <a:solidFill>
                      <a:srgbClr val="EEF1F4"/>
                    </a:solidFill>
                  </a:tcPr>
                </a:tc>
                <a:tc>
                  <a:txBody>
                    <a:bodyPr/>
                    <a:lstStyle/>
                    <a:p>
                      <a:r>
                        <a:rPr sz="1100">
                          <a:solidFill>
                            <a:srgbClr val="52606D"/>
                          </a:solidFill>
                          <a:latin typeface="Segoe UI"/>
                        </a:rPr>
                        <a:t>Digital twin, supplier mesh, site scanning, AI triage</a:t>
                      </a:r>
                    </a:p>
                  </a:txBody>
                  <a:tcPr>
                    <a:solidFill>
                      <a:srgbClr val="EEF1F4"/>
                    </a:solidFill>
                  </a:tcPr>
                </a:tc>
              </a:tr>
            </a:tbl>
          </a:graphicData>
        </a:graphic>
      </p:graphicFrame>
      <p:sp>
        <p:nvSpPr>
          <p:cNvPr id="4" name="Legend"/>
          <p:cNvSpPr txBox="1"/>
          <p:nvPr/>
        </p:nvSpPr>
        <p:spPr>
          <a:xfrm>
            <a:off x="548640" y="4617720"/>
            <a:ext cx="6583680" cy="274320"/>
          </a:xfrm>
          <a:prstGeom prst="rect">
            <a:avLst/>
          </a:prstGeom>
          <a:noFill/>
        </p:spPr>
        <p:txBody>
          <a:bodyPr wrap="square" tIns="0" bIns="0">
            <a:spAutoFit/>
          </a:bodyPr>
          <a:lstStyle/>
          <a:p>
            <a:r>
              <a:rPr sz="1100" b="0" i="0">
                <a:solidFill>
                  <a:srgbClr val="627D98"/>
                </a:solidFill>
                <a:latin typeface="Segoe UI"/>
              </a:rPr>
              <a:t>Green: test first, after the foundation. White: opportunistic. Amber: big bets. Grey: defer.</a:t>
            </a:r>
          </a:p>
        </p:txBody>
      </p:sp>
      <p:sp>
        <p:nvSpPr>
          <p:cNvPr id="5" name="Findings"/>
          <p:cNvSpPr/>
          <p:nvPr/>
        </p:nvSpPr>
        <p:spPr>
          <a:xfrm>
            <a:off x="7406640" y="1508760"/>
            <a:ext cx="4236415" cy="3611880"/>
          </a:xfrm>
          <a:prstGeom prst="roundRect">
            <a:avLst>
              <a:gd name="adj" fmla="val 6000"/>
            </a:avLst>
          </a:prstGeom>
          <a:solidFill>
            <a:srgbClr val="F0F4F8"/>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rtlCol="0" anchor="t" wrap="square" lIns="164592" rIns="164592" tIns="128016" bIns="91440"/>
          <a:lstStyle/>
          <a:p>
            <a:pPr algn="l">
              <a:spcAft>
                <a:spcPts val="800"/>
              </a:spcAft>
            </a:pPr>
            <a:r>
              <a:rPr sz="1300" b="1" i="0">
                <a:solidFill>
                  <a:srgbClr val="1D5FB8"/>
                </a:solidFill>
                <a:latin typeface="Segoe UI"/>
              </a:rPr>
              <a:t>WHAT 20 SCENARIOS FOUND, 27 SEP</a:t>
            </a:r>
          </a:p>
          <a:p>
            <a:pPr algn="l" marL="228600" indent="-228600">
              <a:spcAft>
                <a:spcPts val="800"/>
              </a:spcAft>
              <a:buChar char="•"/>
            </a:pPr>
            <a:r>
              <a:rPr sz="1400" b="0" i="0">
                <a:solidFill>
                  <a:srgbClr val="243B53"/>
                </a:solidFill>
                <a:latin typeface="Segoe UI"/>
              </a:rPr>
              <a:t>None moves a request to an end-to-end agent</a:t>
            </a:r>
          </a:p>
          <a:p>
            <a:pPr algn="l" marL="228600" indent="-228600">
              <a:spcAft>
                <a:spcPts val="800"/>
              </a:spcAft>
              <a:buChar char="•"/>
            </a:pPr>
            <a:r>
              <a:rPr sz="1400" b="0" i="0">
                <a:solidFill>
                  <a:srgbClr val="243B53"/>
                </a:solidFill>
                <a:latin typeface="Segoe UI"/>
              </a:rPr>
              <a:t>Richer inputs enrich the digital foundation first</a:t>
            </a:r>
          </a:p>
          <a:p>
            <a:pPr algn="l" marL="228600" indent="-228600">
              <a:spcAft>
                <a:spcPts val="800"/>
              </a:spcAft>
              <a:buChar char="•"/>
            </a:pPr>
            <a:r>
              <a:rPr sz="1400" b="0" i="0">
                <a:solidFill>
                  <a:srgbClr val="243B53"/>
                </a:solidFill>
                <a:latin typeface="Segoe UI"/>
              </a:rPr>
              <a:t>Duties grow before autonomy: special category data, Awaab's Law, payment and procurement rules</a:t>
            </a:r>
          </a:p>
          <a:p>
            <a:pPr algn="l" marL="228600" indent="-228600">
              <a:spcAft>
                <a:spcPts val="800"/>
              </a:spcAft>
              <a:buChar char="•"/>
            </a:pPr>
            <a:r>
              <a:rPr sz="1400" b="0" i="0">
                <a:solidFill>
                  <a:srgbClr val="243B53"/>
                </a:solidFill>
                <a:latin typeface="Segoe UI"/>
              </a:rPr>
              <a:t>All 48 role answers re-run on the reframe: six tightened controls, every verdict held</a:t>
            </a:r>
          </a:p>
          <a:p>
            <a:pPr algn="l" marL="228600" indent="-228600">
              <a:spcAft>
                <a:spcPts val="800"/>
              </a:spcAft>
              <a:buChar char="•"/>
            </a:pPr>
            <a:r>
              <a:rPr sz="1400" b="0" i="0">
                <a:solidFill>
                  <a:srgbClr val="243B53"/>
                </a:solidFill>
                <a:latin typeface="Segoe UI"/>
              </a:rPr>
              <a:t>The grid orders Comparison 2 tests; under proposed OD-34, the pilot decides what scales</a:t>
            </a:r>
          </a:p>
        </p:txBody>
      </p:sp>
      <p:sp>
        <p:nvSpPr>
          <p:cNvPr id="6" name="Takeaway"/>
          <p:cNvSpPr/>
          <p:nvPr/>
        </p:nvSpPr>
        <p:spPr>
          <a:xfrm>
            <a:off x="548640" y="5303520"/>
            <a:ext cx="11094415" cy="548640"/>
          </a:xfrm>
          <a:prstGeom prst="roundRect">
            <a:avLst>
              <a:gd name="adj" fmla="val 12000"/>
            </a:avLst>
          </a:prstGeom>
          <a:solidFill>
            <a:srgbClr val="102A43"/>
          </a:solidFill>
          <a:ln w="12700">
            <a:solidFill>
              <a:srgbClr val="102A43"/>
            </a:solidFill>
          </a:ln>
        </p:spPr>
        <p:style>
          <a:lnRef idx="1">
            <a:schemeClr val="accent1"/>
          </a:lnRef>
          <a:fillRef idx="3">
            <a:schemeClr val="accent1"/>
          </a:fillRef>
          <a:effectRef idx="0">
            <a:schemeClr val="accent1"/>
          </a:effectRef>
          <a:fontRef idx="minor">
            <a:schemeClr val="lt1"/>
          </a:fontRef>
        </p:style>
        <p:txBody>
          <a:bodyPr rtlCol="0" anchor="ctr" wrap="square" lIns="109728" rIns="109728" tIns="36576" bIns="36576"/>
          <a:lstStyle/>
          <a:p>
            <a:pPr algn="ctr"/>
            <a:r>
              <a:rPr sz="1600" b="1" i="0">
                <a:solidFill>
                  <a:srgbClr val="FFFFFF"/>
                </a:solidFill>
                <a:latin typeface="Segoe UI"/>
              </a:rPr>
              <a:t>Foundation first, then lifecycle events, then evidence packs for assessment, quality and damp</a:t>
            </a:r>
          </a:p>
        </p:txBody>
      </p:sp>
      <p:sp>
        <p:nvSpPr>
          <p:cNvPr id="7" name="Source"/>
          <p:cNvSpPr txBox="1"/>
          <p:nvPr/>
        </p:nvSpPr>
        <p:spPr>
          <a:xfrm>
            <a:off x="548640" y="6126480"/>
            <a:ext cx="11094415" cy="256032"/>
          </a:xfrm>
          <a:prstGeom prst="rect">
            <a:avLst/>
          </a:prstGeom>
          <a:noFill/>
        </p:spPr>
        <p:txBody>
          <a:bodyPr wrap="square" tIns="0" bIns="0">
            <a:spAutoFit/>
          </a:bodyPr>
          <a:lstStyle/>
          <a:p>
            <a:r>
              <a:rPr sz="900" b="0" i="0">
                <a:solidFill>
                  <a:srgbClr val="627D98"/>
                </a:solidFill>
                <a:latin typeface="Segoe UI"/>
              </a:rPr>
              <a:t>Sources: agent-what-if-study.md (Reconciliation; Value vs Complexity Quadrant), post-merge review and role-answer re-run, 27 Sep 2026. Scores are coarse judgements; role answers are hypotheses.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457200"/>
            <a:ext cx="11094415" cy="685800"/>
          </a:xfrm>
          <a:prstGeom prst="rect">
            <a:avLst/>
          </a:prstGeom>
          <a:noFill/>
        </p:spPr>
        <p:txBody>
          <a:bodyPr wrap="square" anchor="ctr">
            <a:spAutoFit/>
          </a:bodyPr>
          <a:lstStyle/>
          <a:p>
            <a:r>
              <a:rPr sz="2600" b="1" i="0">
                <a:solidFill>
                  <a:srgbClr val="102A43"/>
                </a:solidFill>
                <a:latin typeface="Segoe UI"/>
              </a:rPr>
              <a:t>Relabelling fixed traceability; the gate still fails on targets</a:t>
            </a:r>
          </a:p>
        </p:txBody>
      </p:sp>
      <p:sp>
        <p:nvSpPr>
          <p:cNvPr id="3" name="Stat 1"/>
          <p:cNvSpPr/>
          <p:nvPr/>
        </p:nvSpPr>
        <p:spPr>
          <a:xfrm>
            <a:off x="548640" y="1554480"/>
            <a:ext cx="1005840" cy="731520"/>
          </a:xfrm>
          <a:prstGeom prst="roundRect">
            <a:avLst>
              <a:gd name="adj" fmla="val 12000"/>
            </a:avLst>
          </a:prstGeom>
          <a:solidFill>
            <a:srgbClr val="0B625B"/>
          </a:solidFill>
          <a:ln w="12700">
            <a:solidFill>
              <a:srgbClr val="0B625B"/>
            </a:solidFill>
          </a:ln>
        </p:spPr>
        <p:style>
          <a:lnRef idx="1">
            <a:schemeClr val="accent1"/>
          </a:lnRef>
          <a:fillRef idx="3">
            <a:schemeClr val="accent1"/>
          </a:fillRef>
          <a:effectRef idx="0">
            <a:schemeClr val="accent1"/>
          </a:effectRef>
          <a:fontRef idx="minor">
            <a:schemeClr val="lt1"/>
          </a:fontRef>
        </p:style>
        <p:txBody>
          <a:bodyPr rtlCol="0" anchor="ctr" wrap="square" lIns="109728" rIns="109728" tIns="36576" bIns="36576"/>
          <a:lstStyle/>
          <a:p>
            <a:pPr algn="ctr"/>
            <a:r>
              <a:rPr sz="2600" b="1" i="0">
                <a:solidFill>
                  <a:srgbClr val="FFFFFF"/>
                </a:solidFill>
                <a:latin typeface="Segoe UI"/>
              </a:rPr>
              <a:t>12</a:t>
            </a:r>
          </a:p>
        </p:txBody>
      </p:sp>
      <p:sp>
        <p:nvSpPr>
          <p:cNvPr id="4" name="Stat 1 label"/>
          <p:cNvSpPr txBox="1"/>
          <p:nvPr/>
        </p:nvSpPr>
        <p:spPr>
          <a:xfrm>
            <a:off x="1645919" y="1554480"/>
            <a:ext cx="1645920" cy="731520"/>
          </a:xfrm>
          <a:prstGeom prst="rect">
            <a:avLst/>
          </a:prstGeom>
          <a:noFill/>
        </p:spPr>
        <p:txBody>
          <a:bodyPr wrap="square" anchor="ctr">
            <a:spAutoFit/>
          </a:bodyPr>
          <a:lstStyle/>
          <a:p>
            <a:r>
              <a:rPr sz="1300" b="0" i="0">
                <a:solidFill>
                  <a:srgbClr val="243B53"/>
                </a:solidFill>
                <a:latin typeface="Segoe UI"/>
              </a:rPr>
              <a:t>Business goals (BG)</a:t>
            </a:r>
          </a:p>
        </p:txBody>
      </p:sp>
      <p:sp>
        <p:nvSpPr>
          <p:cNvPr id="5" name="Stat 2"/>
          <p:cNvSpPr/>
          <p:nvPr/>
        </p:nvSpPr>
        <p:spPr>
          <a:xfrm>
            <a:off x="3429000" y="1554480"/>
            <a:ext cx="1005840" cy="731520"/>
          </a:xfrm>
          <a:prstGeom prst="roundRect">
            <a:avLst>
              <a:gd name="adj" fmla="val 12000"/>
            </a:avLst>
          </a:prstGeom>
          <a:solidFill>
            <a:srgbClr val="1D5FB8"/>
          </a:solidFill>
          <a:ln w="12700">
            <a:solidFill>
              <a:srgbClr val="1D5FB8"/>
            </a:solidFill>
          </a:ln>
        </p:spPr>
        <p:style>
          <a:lnRef idx="1">
            <a:schemeClr val="accent1"/>
          </a:lnRef>
          <a:fillRef idx="3">
            <a:schemeClr val="accent1"/>
          </a:fillRef>
          <a:effectRef idx="0">
            <a:schemeClr val="accent1"/>
          </a:effectRef>
          <a:fontRef idx="minor">
            <a:schemeClr val="lt1"/>
          </a:fontRef>
        </p:style>
        <p:txBody>
          <a:bodyPr rtlCol="0" anchor="ctr" wrap="square" lIns="109728" rIns="109728" tIns="36576" bIns="36576"/>
          <a:lstStyle/>
          <a:p>
            <a:pPr algn="ctr"/>
            <a:r>
              <a:rPr sz="2600" b="1" i="0">
                <a:solidFill>
                  <a:srgbClr val="FFFFFF"/>
                </a:solidFill>
                <a:latin typeface="Segoe UI"/>
              </a:rPr>
              <a:t>44</a:t>
            </a:r>
          </a:p>
        </p:txBody>
      </p:sp>
      <p:sp>
        <p:nvSpPr>
          <p:cNvPr id="6" name="Stat 2 label"/>
          <p:cNvSpPr txBox="1"/>
          <p:nvPr/>
        </p:nvSpPr>
        <p:spPr>
          <a:xfrm>
            <a:off x="4526280" y="1554480"/>
            <a:ext cx="1645920" cy="731520"/>
          </a:xfrm>
          <a:prstGeom prst="rect">
            <a:avLst/>
          </a:prstGeom>
          <a:noFill/>
        </p:spPr>
        <p:txBody>
          <a:bodyPr wrap="square" anchor="ctr">
            <a:spAutoFit/>
          </a:bodyPr>
          <a:lstStyle/>
          <a:p>
            <a:r>
              <a:rPr sz="1300" b="0" i="0">
                <a:solidFill>
                  <a:srgbClr val="243B53"/>
                </a:solidFill>
                <a:latin typeface="Segoe UI"/>
              </a:rPr>
              <a:t>Functional requirements (FR)</a:t>
            </a:r>
          </a:p>
        </p:txBody>
      </p:sp>
      <p:sp>
        <p:nvSpPr>
          <p:cNvPr id="7" name="Stat 3"/>
          <p:cNvSpPr/>
          <p:nvPr/>
        </p:nvSpPr>
        <p:spPr>
          <a:xfrm>
            <a:off x="548640" y="2560320"/>
            <a:ext cx="1005840" cy="731520"/>
          </a:xfrm>
          <a:prstGeom prst="roundRect">
            <a:avLst>
              <a:gd name="adj" fmla="val 12000"/>
            </a:avLst>
          </a:prstGeom>
          <a:solidFill>
            <a:srgbClr val="0B625B"/>
          </a:solidFill>
          <a:ln w="12700">
            <a:solidFill>
              <a:srgbClr val="0B625B"/>
            </a:solidFill>
          </a:ln>
        </p:spPr>
        <p:style>
          <a:lnRef idx="1">
            <a:schemeClr val="accent1"/>
          </a:lnRef>
          <a:fillRef idx="3">
            <a:schemeClr val="accent1"/>
          </a:fillRef>
          <a:effectRef idx="0">
            <a:schemeClr val="accent1"/>
          </a:effectRef>
          <a:fontRef idx="minor">
            <a:schemeClr val="lt1"/>
          </a:fontRef>
        </p:style>
        <p:txBody>
          <a:bodyPr rtlCol="0" anchor="ctr" wrap="square" lIns="109728" rIns="109728" tIns="36576" bIns="36576"/>
          <a:lstStyle/>
          <a:p>
            <a:pPr algn="ctr"/>
            <a:r>
              <a:rPr sz="2600" b="1" i="0">
                <a:solidFill>
                  <a:srgbClr val="FFFFFF"/>
                </a:solidFill>
                <a:latin typeface="Segoe UI"/>
              </a:rPr>
              <a:t>85</a:t>
            </a:r>
          </a:p>
        </p:txBody>
      </p:sp>
      <p:sp>
        <p:nvSpPr>
          <p:cNvPr id="8" name="Stat 3 label"/>
          <p:cNvSpPr txBox="1"/>
          <p:nvPr/>
        </p:nvSpPr>
        <p:spPr>
          <a:xfrm>
            <a:off x="1645919" y="2560320"/>
            <a:ext cx="1645920" cy="731520"/>
          </a:xfrm>
          <a:prstGeom prst="rect">
            <a:avLst/>
          </a:prstGeom>
          <a:noFill/>
        </p:spPr>
        <p:txBody>
          <a:bodyPr wrap="square" anchor="ctr">
            <a:spAutoFit/>
          </a:bodyPr>
          <a:lstStyle/>
          <a:p>
            <a:r>
              <a:rPr sz="1300" b="0" i="0">
                <a:solidFill>
                  <a:srgbClr val="243B53"/>
                </a:solidFill>
                <a:latin typeface="Segoe UI"/>
              </a:rPr>
              <a:t>Acceptance criteria (AC)</a:t>
            </a:r>
          </a:p>
        </p:txBody>
      </p:sp>
      <p:sp>
        <p:nvSpPr>
          <p:cNvPr id="9" name="Stat 4"/>
          <p:cNvSpPr/>
          <p:nvPr/>
        </p:nvSpPr>
        <p:spPr>
          <a:xfrm>
            <a:off x="3429000" y="2560320"/>
            <a:ext cx="1005840" cy="731520"/>
          </a:xfrm>
          <a:prstGeom prst="roundRect">
            <a:avLst>
              <a:gd name="adj" fmla="val 12000"/>
            </a:avLst>
          </a:prstGeom>
          <a:solidFill>
            <a:srgbClr val="1D5FB8"/>
          </a:solidFill>
          <a:ln w="12700">
            <a:solidFill>
              <a:srgbClr val="1D5FB8"/>
            </a:solidFill>
          </a:ln>
        </p:spPr>
        <p:style>
          <a:lnRef idx="1">
            <a:schemeClr val="accent1"/>
          </a:lnRef>
          <a:fillRef idx="3">
            <a:schemeClr val="accent1"/>
          </a:fillRef>
          <a:effectRef idx="0">
            <a:schemeClr val="accent1"/>
          </a:effectRef>
          <a:fontRef idx="minor">
            <a:schemeClr val="lt1"/>
          </a:fontRef>
        </p:style>
        <p:txBody>
          <a:bodyPr rtlCol="0" anchor="ctr" wrap="square" lIns="109728" rIns="109728" tIns="36576" bIns="36576"/>
          <a:lstStyle/>
          <a:p>
            <a:pPr algn="ctr"/>
            <a:r>
              <a:rPr sz="2600" b="1" i="0">
                <a:solidFill>
                  <a:srgbClr val="FFFFFF"/>
                </a:solidFill>
                <a:latin typeface="Segoe UI"/>
              </a:rPr>
              <a:t>9</a:t>
            </a:r>
          </a:p>
        </p:txBody>
      </p:sp>
      <p:sp>
        <p:nvSpPr>
          <p:cNvPr id="10" name="Stat 4 label"/>
          <p:cNvSpPr txBox="1"/>
          <p:nvPr/>
        </p:nvSpPr>
        <p:spPr>
          <a:xfrm>
            <a:off x="4526280" y="2560320"/>
            <a:ext cx="1645920" cy="731520"/>
          </a:xfrm>
          <a:prstGeom prst="rect">
            <a:avLst/>
          </a:prstGeom>
          <a:noFill/>
        </p:spPr>
        <p:txBody>
          <a:bodyPr wrap="square" anchor="ctr">
            <a:spAutoFit/>
          </a:bodyPr>
          <a:lstStyle/>
          <a:p>
            <a:r>
              <a:rPr sz="1300" b="0" i="0">
                <a:solidFill>
                  <a:srgbClr val="243B53"/>
                </a:solidFill>
                <a:latin typeface="Segoe UI"/>
              </a:rPr>
              <a:t>Non-functional (NFR, ISO/IEC 25010)</a:t>
            </a:r>
          </a:p>
        </p:txBody>
      </p:sp>
      <p:sp>
        <p:nvSpPr>
          <p:cNvPr id="11" name="Stat 5"/>
          <p:cNvSpPr/>
          <p:nvPr/>
        </p:nvSpPr>
        <p:spPr>
          <a:xfrm>
            <a:off x="548640" y="3566160"/>
            <a:ext cx="1005840" cy="731520"/>
          </a:xfrm>
          <a:prstGeom prst="roundRect">
            <a:avLst>
              <a:gd name="adj" fmla="val 12000"/>
            </a:avLst>
          </a:prstGeom>
          <a:solidFill>
            <a:srgbClr val="0B625B"/>
          </a:solidFill>
          <a:ln w="12700">
            <a:solidFill>
              <a:srgbClr val="0B625B"/>
            </a:solidFill>
          </a:ln>
        </p:spPr>
        <p:style>
          <a:lnRef idx="1">
            <a:schemeClr val="accent1"/>
          </a:lnRef>
          <a:fillRef idx="3">
            <a:schemeClr val="accent1"/>
          </a:fillRef>
          <a:effectRef idx="0">
            <a:schemeClr val="accent1"/>
          </a:effectRef>
          <a:fontRef idx="minor">
            <a:schemeClr val="lt1"/>
          </a:fontRef>
        </p:style>
        <p:txBody>
          <a:bodyPr rtlCol="0" anchor="ctr" wrap="square" lIns="109728" rIns="109728" tIns="36576" bIns="36576"/>
          <a:lstStyle/>
          <a:p>
            <a:pPr algn="ctr"/>
            <a:r>
              <a:rPr sz="2600" b="1" i="0">
                <a:solidFill>
                  <a:srgbClr val="FFFFFF"/>
                </a:solidFill>
                <a:latin typeface="Segoe UI"/>
              </a:rPr>
              <a:t>6</a:t>
            </a:r>
          </a:p>
        </p:txBody>
      </p:sp>
      <p:sp>
        <p:nvSpPr>
          <p:cNvPr id="12" name="Stat 5 label"/>
          <p:cNvSpPr txBox="1"/>
          <p:nvPr/>
        </p:nvSpPr>
        <p:spPr>
          <a:xfrm>
            <a:off x="1645919" y="3566160"/>
            <a:ext cx="1645920" cy="731520"/>
          </a:xfrm>
          <a:prstGeom prst="rect">
            <a:avLst/>
          </a:prstGeom>
          <a:noFill/>
        </p:spPr>
        <p:txBody>
          <a:bodyPr wrap="square" anchor="ctr">
            <a:spAutoFit/>
          </a:bodyPr>
          <a:lstStyle/>
          <a:p>
            <a:r>
              <a:rPr sz="1300" b="0" i="0">
                <a:solidFill>
                  <a:srgbClr val="243B53"/>
                </a:solidFill>
                <a:latin typeface="Segoe UI"/>
              </a:rPr>
              <a:t>Imposed constraints (CON)</a:t>
            </a:r>
          </a:p>
        </p:txBody>
      </p:sp>
      <p:sp>
        <p:nvSpPr>
          <p:cNvPr id="13" name="Stat 6"/>
          <p:cNvSpPr/>
          <p:nvPr/>
        </p:nvSpPr>
        <p:spPr>
          <a:xfrm>
            <a:off x="3429000" y="3566160"/>
            <a:ext cx="1005840" cy="731520"/>
          </a:xfrm>
          <a:prstGeom prst="roundRect">
            <a:avLst>
              <a:gd name="adj" fmla="val 12000"/>
            </a:avLst>
          </a:prstGeom>
          <a:solidFill>
            <a:srgbClr val="1D5FB8"/>
          </a:solidFill>
          <a:ln w="12700">
            <a:solidFill>
              <a:srgbClr val="1D5FB8"/>
            </a:solidFill>
          </a:ln>
        </p:spPr>
        <p:style>
          <a:lnRef idx="1">
            <a:schemeClr val="accent1"/>
          </a:lnRef>
          <a:fillRef idx="3">
            <a:schemeClr val="accent1"/>
          </a:fillRef>
          <a:effectRef idx="0">
            <a:schemeClr val="accent1"/>
          </a:effectRef>
          <a:fontRef idx="minor">
            <a:schemeClr val="lt1"/>
          </a:fontRef>
        </p:style>
        <p:txBody>
          <a:bodyPr rtlCol="0" anchor="ctr" wrap="square" lIns="109728" rIns="109728" tIns="36576" bIns="36576"/>
          <a:lstStyle/>
          <a:p>
            <a:pPr algn="ctr"/>
            <a:r>
              <a:rPr sz="2600" b="1" i="0">
                <a:solidFill>
                  <a:srgbClr val="FFFFFF"/>
                </a:solidFill>
                <a:latin typeface="Segoe UI"/>
              </a:rPr>
              <a:t>24</a:t>
            </a:r>
          </a:p>
        </p:txBody>
      </p:sp>
      <p:sp>
        <p:nvSpPr>
          <p:cNvPr id="14" name="Stat 6 label"/>
          <p:cNvSpPr txBox="1"/>
          <p:nvPr/>
        </p:nvSpPr>
        <p:spPr>
          <a:xfrm>
            <a:off x="4526280" y="3566160"/>
            <a:ext cx="1645920" cy="731520"/>
          </a:xfrm>
          <a:prstGeom prst="rect">
            <a:avLst/>
          </a:prstGeom>
          <a:noFill/>
        </p:spPr>
        <p:txBody>
          <a:bodyPr wrap="square" anchor="ctr">
            <a:spAutoFit/>
          </a:bodyPr>
          <a:lstStyle/>
          <a:p>
            <a:r>
              <a:rPr sz="1300" b="0" i="0">
                <a:solidFill>
                  <a:srgbClr val="243B53"/>
                </a:solidFill>
                <a:latin typeface="Segoe UI"/>
              </a:rPr>
              <a:t>Business rules (RULE)</a:t>
            </a:r>
          </a:p>
        </p:txBody>
      </p:sp>
      <p:sp>
        <p:nvSpPr>
          <p:cNvPr id="15" name="Before"/>
          <p:cNvSpPr/>
          <p:nvPr/>
        </p:nvSpPr>
        <p:spPr>
          <a:xfrm>
            <a:off x="548640" y="4754880"/>
            <a:ext cx="1188720" cy="731520"/>
          </a:xfrm>
          <a:prstGeom prst="roundRect">
            <a:avLst>
              <a:gd name="adj" fmla="val 12000"/>
            </a:avLst>
          </a:prstGeom>
          <a:solidFill>
            <a:srgbClr val="B83A2E"/>
          </a:solidFill>
          <a:ln w="12700">
            <a:solidFill>
              <a:srgbClr val="B83A2E"/>
            </a:solidFill>
          </a:ln>
        </p:spPr>
        <p:style>
          <a:lnRef idx="1">
            <a:schemeClr val="accent1"/>
          </a:lnRef>
          <a:fillRef idx="3">
            <a:schemeClr val="accent1"/>
          </a:fillRef>
          <a:effectRef idx="0">
            <a:schemeClr val="accent1"/>
          </a:effectRef>
          <a:fontRef idx="minor">
            <a:schemeClr val="lt1"/>
          </a:fontRef>
        </p:style>
        <p:txBody>
          <a:bodyPr rtlCol="0" anchor="ctr" wrap="square" lIns="109728" rIns="109728" tIns="36576" bIns="36576"/>
          <a:lstStyle/>
          <a:p>
            <a:pPr algn="ctr"/>
            <a:r>
              <a:rPr sz="2400" b="1" i="0">
                <a:solidFill>
                  <a:srgbClr val="FFFFFF"/>
                </a:solidFill>
                <a:latin typeface="Segoe UI"/>
              </a:rPr>
              <a:t>0%</a:t>
            </a:r>
          </a:p>
        </p:txBody>
      </p:sp>
      <p:sp>
        <p:nvSpPr>
          <p:cNvPr id="16" name="Arrow"/>
          <p:cNvSpPr/>
          <p:nvPr/>
        </p:nvSpPr>
        <p:spPr>
          <a:xfrm>
            <a:off x="1920240" y="4937760"/>
            <a:ext cx="640080" cy="365760"/>
          </a:xfrm>
          <a:prstGeom prst="rightArrow">
            <a:avLst/>
          </a:prstGeom>
          <a:solidFill>
            <a:srgbClr val="9FB3C8"/>
          </a:solidFill>
          <a:ln w="12700">
            <a:solidFill>
              <a:srgbClr val="9FB3C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After"/>
          <p:cNvSpPr/>
          <p:nvPr/>
        </p:nvSpPr>
        <p:spPr>
          <a:xfrm>
            <a:off x="2743200" y="4754880"/>
            <a:ext cx="1188720" cy="731520"/>
          </a:xfrm>
          <a:prstGeom prst="roundRect">
            <a:avLst>
              <a:gd name="adj" fmla="val 12000"/>
            </a:avLst>
          </a:prstGeom>
          <a:solidFill>
            <a:srgbClr val="0B625B"/>
          </a:solidFill>
          <a:ln w="12700">
            <a:solidFill>
              <a:srgbClr val="0B625B"/>
            </a:solidFill>
          </a:ln>
        </p:spPr>
        <p:style>
          <a:lnRef idx="1">
            <a:schemeClr val="accent1"/>
          </a:lnRef>
          <a:fillRef idx="3">
            <a:schemeClr val="accent1"/>
          </a:fillRef>
          <a:effectRef idx="0">
            <a:schemeClr val="accent1"/>
          </a:effectRef>
          <a:fontRef idx="minor">
            <a:schemeClr val="lt1"/>
          </a:fontRef>
        </p:style>
        <p:txBody>
          <a:bodyPr rtlCol="0" anchor="ctr" wrap="square" lIns="109728" rIns="109728" tIns="36576" bIns="36576"/>
          <a:lstStyle/>
          <a:p>
            <a:pPr algn="ctr"/>
            <a:r>
              <a:rPr sz="2400" b="1" i="0">
                <a:solidFill>
                  <a:srgbClr val="FFFFFF"/>
                </a:solidFill>
                <a:latin typeface="Segoe UI"/>
              </a:rPr>
              <a:t>100%</a:t>
            </a:r>
          </a:p>
        </p:txBody>
      </p:sp>
      <p:sp>
        <p:nvSpPr>
          <p:cNvPr id="18" name="Coverage label"/>
          <p:cNvSpPr txBox="1"/>
          <p:nvPr/>
        </p:nvSpPr>
        <p:spPr>
          <a:xfrm>
            <a:off x="4069080" y="4754880"/>
            <a:ext cx="2011680" cy="731520"/>
          </a:xfrm>
          <a:prstGeom prst="rect">
            <a:avLst/>
          </a:prstGeom>
          <a:noFill/>
        </p:spPr>
        <p:txBody>
          <a:bodyPr wrap="square" anchor="ctr">
            <a:spAutoFit/>
          </a:bodyPr>
          <a:lstStyle/>
          <a:p>
            <a:r>
              <a:rPr sz="1300" b="1" i="0">
                <a:solidFill>
                  <a:srgbClr val="243B53"/>
                </a:solidFill>
                <a:latin typeface="Segoe UI"/>
              </a:rPr>
              <a:t>ID traceability: FR-to-AC and FR-to-BG</a:t>
            </a:r>
          </a:p>
        </p:txBody>
      </p:sp>
      <p:sp>
        <p:nvSpPr>
          <p:cNvPr id="19" name="Still fail"/>
          <p:cNvSpPr/>
          <p:nvPr/>
        </p:nvSpPr>
        <p:spPr>
          <a:xfrm>
            <a:off x="6400800" y="1508760"/>
            <a:ext cx="5242255" cy="3977639"/>
          </a:xfrm>
          <a:prstGeom prst="roundRect">
            <a:avLst>
              <a:gd name="adj" fmla="val 6000"/>
            </a:avLst>
          </a:prstGeom>
          <a:solidFill>
            <a:srgbClr val="FDF4DC"/>
          </a:solidFill>
          <a:ln w="12700">
            <a:solidFill>
              <a:srgbClr val="F0DCA5"/>
            </a:solidFill>
          </a:ln>
        </p:spPr>
        <p:style>
          <a:lnRef idx="1">
            <a:schemeClr val="accent1"/>
          </a:lnRef>
          <a:fillRef idx="3">
            <a:schemeClr val="accent1"/>
          </a:fillRef>
          <a:effectRef idx="0">
            <a:schemeClr val="accent1"/>
          </a:effectRef>
          <a:fontRef idx="minor">
            <a:schemeClr val="lt1"/>
          </a:fontRef>
        </p:style>
        <p:txBody>
          <a:bodyPr rtlCol="0" anchor="t" wrap="square" lIns="164592" rIns="164592" tIns="128016" bIns="91440"/>
          <a:lstStyle/>
          <a:p>
            <a:pPr algn="l">
              <a:spcAft>
                <a:spcPts val="800"/>
              </a:spcAft>
            </a:pPr>
            <a:r>
              <a:rPr sz="1300" b="1" i="0">
                <a:solidFill>
                  <a:srgbClr val="B83A2E"/>
                </a:solidFill>
                <a:latin typeface="Segoe UI"/>
              </a:rPr>
              <a:t>STILL FAIL, ON PURPOSE</a:t>
            </a:r>
          </a:p>
          <a:p>
            <a:pPr algn="l" marL="228600" indent="-228600">
              <a:spcAft>
                <a:spcPts val="800"/>
              </a:spcAft>
              <a:buChar char="•"/>
            </a:pPr>
            <a:r>
              <a:rPr sz="1400" b="0" i="0">
                <a:solidFill>
                  <a:srgbClr val="243B53"/>
                </a:solidFill>
                <a:latin typeface="Segoe UI"/>
              </a:rPr>
              <a:t>Relabel: 68 BR and 12 OBJ rows mapped, four compound rows split, no meaning changed</a:t>
            </a:r>
          </a:p>
          <a:p>
            <a:pPr algn="l" marL="228600" indent="-228600">
              <a:spcAft>
                <a:spcPts val="800"/>
              </a:spcAft>
              <a:buChar char="•"/>
            </a:pPr>
            <a:r>
              <a:rPr sz="1400" b="0" i="0">
                <a:solidFill>
                  <a:srgbClr val="243B53"/>
                </a:solidFill>
                <a:latin typeface="Segoe UI"/>
              </a:rPr>
              <a:t>Extracted: FR-022 split into FR-022 and RULE-023; CON-004 sent to Legal to validate its source</a:t>
            </a:r>
          </a:p>
          <a:p>
            <a:pPr algn="l" marL="228600" indent="-228600">
              <a:spcAft>
                <a:spcPts val="800"/>
              </a:spcAft>
              <a:buChar char="•"/>
            </a:pPr>
            <a:r>
              <a:rPr sz="1400" b="0" i="0">
                <a:solidFill>
                  <a:srgbClr val="243B53"/>
                </a:solidFill>
                <a:latin typeface="Segoe UI"/>
              </a:rPr>
              <a:t>Seven business goals still lack a numeric target; NFR-009 thresholds need owner decisions</a:t>
            </a:r>
          </a:p>
          <a:p>
            <a:pPr algn="l" marL="228600" indent="-228600">
              <a:spcAft>
                <a:spcPts val="800"/>
              </a:spcAft>
              <a:buChar char="•"/>
            </a:pPr>
            <a:r>
              <a:rPr sz="1400" b="0" i="0">
                <a:solidFill>
                  <a:srgbClr val="243B53"/>
                </a:solidFill>
                <a:latin typeface="Segoe UI"/>
              </a:rPr>
              <a:t>Six runs to v0.5.0: four new findings on v0.3.0, all fixed; none since</a:t>
            </a:r>
          </a:p>
          <a:p>
            <a:pPr algn="l" marL="228600" indent="-228600">
              <a:spcAft>
                <a:spcPts val="800"/>
              </a:spcAft>
              <a:buChar char="•"/>
            </a:pPr>
            <a:r>
              <a:rPr sz="1400" b="0" i="0">
                <a:solidFill>
                  <a:srgbClr val="243B53"/>
                </a:solidFill>
                <a:latin typeface="Segoe UI"/>
              </a:rPr>
              <a:t>Advisory: rewrite AC as Given/When/Then before PRD handoff</a:t>
            </a:r>
          </a:p>
          <a:p>
            <a:pPr algn="l" marL="228600" indent="-228600">
              <a:spcAft>
                <a:spcPts val="0"/>
              </a:spcAft>
              <a:buChar char="•"/>
            </a:pPr>
            <a:r>
              <a:rPr sz="1400" b="1" i="0">
                <a:solidFill>
                  <a:srgbClr val="102A43"/>
                </a:solidFill>
                <a:latin typeface="Segoe UI"/>
              </a:rPr>
              <a:t>I did not invent targets to pass the gate</a:t>
            </a:r>
          </a:p>
        </p:txBody>
      </p:sp>
      <p:sp>
        <p:nvSpPr>
          <p:cNvPr id="20" name="Source"/>
          <p:cNvSpPr txBox="1"/>
          <p:nvPr/>
        </p:nvSpPr>
        <p:spPr>
          <a:xfrm>
            <a:off x="548640" y="6126480"/>
            <a:ext cx="11094415" cy="256032"/>
          </a:xfrm>
          <a:prstGeom prst="rect">
            <a:avLst/>
          </a:prstGeom>
          <a:noFill/>
        </p:spPr>
        <p:txBody>
          <a:bodyPr wrap="square" tIns="0" bIns="0">
            <a:spAutoFit/>
          </a:bodyPr>
          <a:lstStyle/>
          <a:p>
            <a:r>
              <a:rPr sz="900" b="0" i="0">
                <a:solidFill>
                  <a:srgbClr val="627D98"/>
                </a:solidFill>
                <a:latin typeface="Segoe UI"/>
              </a:rPr>
              <a:t>Sources: BRD v0.5.0 frontmatter and Requirements Traceability; .copilot-tracking/brd-sessions/agentic-retrofit-programme.quality-report.yml (Runs 1 to 6); log.md (26 Sep 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457200"/>
            <a:ext cx="11094415" cy="685800"/>
          </a:xfrm>
          <a:prstGeom prst="rect">
            <a:avLst/>
          </a:prstGeom>
          <a:noFill/>
        </p:spPr>
        <p:txBody>
          <a:bodyPr wrap="square" anchor="ctr">
            <a:spAutoFit/>
          </a:bodyPr>
          <a:lstStyle/>
          <a:p>
            <a:r>
              <a:rPr sz="2600" b="1" i="0">
                <a:solidFill>
                  <a:srgbClr val="102A43"/>
                </a:solidFill>
                <a:latin typeface="Segoe UI"/>
              </a:rPr>
              <a:t>Keeping evidence honest was hard; here is what I would change</a:t>
            </a:r>
          </a:p>
        </p:txBody>
      </p:sp>
      <p:sp>
        <p:nvSpPr>
          <p:cNvPr id="3" name="Challenges head"/>
          <p:cNvSpPr txBox="1"/>
          <p:nvPr/>
        </p:nvSpPr>
        <p:spPr>
          <a:xfrm>
            <a:off x="548640" y="1417320"/>
            <a:ext cx="11094415" cy="274320"/>
          </a:xfrm>
          <a:prstGeom prst="rect">
            <a:avLst/>
          </a:prstGeom>
          <a:noFill/>
        </p:spPr>
        <p:txBody>
          <a:bodyPr wrap="square" tIns="0" bIns="0">
            <a:spAutoFit/>
          </a:bodyPr>
          <a:lstStyle/>
          <a:p>
            <a:r>
              <a:rPr sz="1200" b="1" i="0">
                <a:solidFill>
                  <a:srgbClr val="0B625B"/>
                </a:solidFill>
                <a:latin typeface="Segoe UI"/>
              </a:rPr>
              <a:t>CHALLENGES</a:t>
            </a:r>
          </a:p>
        </p:txBody>
      </p:sp>
      <p:sp>
        <p:nvSpPr>
          <p:cNvPr id="4" name="Lessons head"/>
          <p:cNvSpPr txBox="1"/>
          <p:nvPr/>
        </p:nvSpPr>
        <p:spPr>
          <a:xfrm>
            <a:off x="548640" y="3840480"/>
            <a:ext cx="11094415" cy="274320"/>
          </a:xfrm>
          <a:prstGeom prst="rect">
            <a:avLst/>
          </a:prstGeom>
          <a:noFill/>
        </p:spPr>
        <p:txBody>
          <a:bodyPr wrap="square" tIns="0" bIns="0">
            <a:spAutoFit/>
          </a:bodyPr>
          <a:lstStyle/>
          <a:p>
            <a:r>
              <a:rPr sz="1200" b="1" i="0">
                <a:solidFill>
                  <a:srgbClr val="1D5FB8"/>
                </a:solidFill>
                <a:latin typeface="Segoe UI"/>
              </a:rPr>
              <a:t>WHAT I WOULD DO DIFFERENTLY</a:t>
            </a:r>
          </a:p>
        </p:txBody>
      </p:sp>
      <p:sp>
        <p:nvSpPr>
          <p:cNvPr id="5" name="Challenge 1"/>
          <p:cNvSpPr/>
          <p:nvPr/>
        </p:nvSpPr>
        <p:spPr>
          <a:xfrm>
            <a:off x="548640" y="1965960"/>
            <a:ext cx="3515258" cy="1600200"/>
          </a:xfrm>
          <a:prstGeom prst="roundRect">
            <a:avLst>
              <a:gd name="adj" fmla="val 6000"/>
            </a:avLst>
          </a:prstGeom>
          <a:solidFill>
            <a:srgbClr val="F0F4F8"/>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rtlCol="0" anchor="t" wrap="square" lIns="164592" rIns="164592" tIns="128016" bIns="91440"/>
          <a:lstStyle/>
          <a:p>
            <a:pPr algn="l">
              <a:spcAft>
                <a:spcPts val="600"/>
              </a:spcAft>
            </a:pPr>
            <a:r>
              <a:rPr sz="1600" b="1" i="0">
                <a:solidFill>
                  <a:srgbClr val="0B625B"/>
                </a:solidFill>
                <a:latin typeface="Segoe UI"/>
              </a:rPr>
              <a:t>No company data</a:t>
            </a:r>
          </a:p>
          <a:p>
            <a:pPr algn="l">
              <a:spcAft>
                <a:spcPts val="0"/>
              </a:spcAft>
            </a:pPr>
            <a:r>
              <a:rPr sz="1300" b="0" i="0">
                <a:solidFill>
                  <a:srgbClr val="243B53"/>
                </a:solidFill>
                <a:latin typeface="Segoe UI"/>
              </a:rPr>
              <a:t>The company is fictional. I modelled tenure, residents and finances from sector medians and labelled every value as an estimate.</a:t>
            </a:r>
          </a:p>
        </p:txBody>
      </p:sp>
      <p:sp>
        <p:nvSpPr>
          <p:cNvPr id="6" name="Challenge 2"/>
          <p:cNvSpPr/>
          <p:nvPr/>
        </p:nvSpPr>
        <p:spPr>
          <a:xfrm>
            <a:off x="4338218" y="1965960"/>
            <a:ext cx="3515258" cy="1600200"/>
          </a:xfrm>
          <a:prstGeom prst="roundRect">
            <a:avLst>
              <a:gd name="adj" fmla="val 6000"/>
            </a:avLst>
          </a:prstGeom>
          <a:solidFill>
            <a:srgbClr val="F0F4F8"/>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rtlCol="0" anchor="t" wrap="square" lIns="164592" rIns="164592" tIns="128016" bIns="91440"/>
          <a:lstStyle/>
          <a:p>
            <a:pPr algn="l">
              <a:spcAft>
                <a:spcPts val="600"/>
              </a:spcAft>
            </a:pPr>
            <a:r>
              <a:rPr sz="1600" b="1" i="0">
                <a:solidFill>
                  <a:srgbClr val="0B625B"/>
                </a:solidFill>
                <a:latin typeface="Segoe UI"/>
              </a:rPr>
              <a:t>Agents that sound certain</a:t>
            </a:r>
          </a:p>
          <a:p>
            <a:pPr algn="l">
              <a:spcAft>
                <a:spcPts val="0"/>
              </a:spcAft>
            </a:pPr>
            <a:r>
              <a:rPr sz="1300" b="0" i="0">
                <a:solidFill>
                  <a:srgbClr val="243B53"/>
                </a:solidFill>
                <a:latin typeface="Segoe UI"/>
              </a:rPr>
              <a:t>Role answers are hypotheses, and the roles share my framing. Divergences stay open: L4 quality flags, L3 digital booking.</a:t>
            </a:r>
          </a:p>
        </p:txBody>
      </p:sp>
      <p:sp>
        <p:nvSpPr>
          <p:cNvPr id="7" name="Challenge 3"/>
          <p:cNvSpPr/>
          <p:nvPr/>
        </p:nvSpPr>
        <p:spPr>
          <a:xfrm>
            <a:off x="8127796" y="1965960"/>
            <a:ext cx="3515258" cy="1600200"/>
          </a:xfrm>
          <a:prstGeom prst="roundRect">
            <a:avLst>
              <a:gd name="adj" fmla="val 6000"/>
            </a:avLst>
          </a:prstGeom>
          <a:solidFill>
            <a:srgbClr val="F0F4F8"/>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rtlCol="0" anchor="t" wrap="square" lIns="164592" rIns="164592" tIns="128016" bIns="91440"/>
          <a:lstStyle/>
          <a:p>
            <a:pPr algn="l">
              <a:spcAft>
                <a:spcPts val="600"/>
              </a:spcAft>
            </a:pPr>
            <a:r>
              <a:rPr sz="1600" b="1" i="0">
                <a:solidFill>
                  <a:srgbClr val="0B625B"/>
                </a:solidFill>
                <a:latin typeface="Segoe UI"/>
              </a:rPr>
              <a:t>Sources that disagree</a:t>
            </a:r>
          </a:p>
          <a:p>
            <a:pPr algn="l">
              <a:spcAft>
                <a:spcPts val="0"/>
              </a:spcAft>
            </a:pPr>
            <a:r>
              <a:rPr sz="1300" b="0" i="0">
                <a:solidFill>
                  <a:srgbClr val="243B53"/>
                </a:solidFill>
                <a:latin typeface="Segoe UI"/>
              </a:rPr>
              <a:t>Interest cover 91% or 87%; fuel poverty corrected from 10.0% to 11.6%; EPC C final policy, not commenced law. Flagged, not resolved.</a:t>
            </a:r>
          </a:p>
        </p:txBody>
      </p:sp>
      <p:sp>
        <p:nvSpPr>
          <p:cNvPr id="8" name="Challenge 4"/>
          <p:cNvSpPr/>
          <p:nvPr/>
        </p:nvSpPr>
        <p:spPr>
          <a:xfrm>
            <a:off x="548640" y="4389120"/>
            <a:ext cx="3515258" cy="1463040"/>
          </a:xfrm>
          <a:prstGeom prst="roundRect">
            <a:avLst>
              <a:gd name="adj" fmla="val 6000"/>
            </a:avLst>
          </a:prstGeom>
          <a:solidFill>
            <a:srgbClr val="E6EFFB"/>
          </a:solidFill>
          <a:ln w="12700">
            <a:solidFill>
              <a:srgbClr val="C7D9F3"/>
            </a:solidFill>
          </a:ln>
        </p:spPr>
        <p:style>
          <a:lnRef idx="1">
            <a:schemeClr val="accent1"/>
          </a:lnRef>
          <a:fillRef idx="3">
            <a:schemeClr val="accent1"/>
          </a:fillRef>
          <a:effectRef idx="0">
            <a:schemeClr val="accent1"/>
          </a:effectRef>
          <a:fontRef idx="minor">
            <a:schemeClr val="lt1"/>
          </a:fontRef>
        </p:style>
        <p:txBody>
          <a:bodyPr rtlCol="0" anchor="t" wrap="square" lIns="164592" rIns="164592" tIns="128016" bIns="91440"/>
          <a:lstStyle/>
          <a:p>
            <a:pPr algn="l">
              <a:spcAft>
                <a:spcPts val="600"/>
              </a:spcAft>
            </a:pPr>
            <a:r>
              <a:rPr sz="1600" b="1" i="0">
                <a:solidFill>
                  <a:srgbClr val="1D5FB8"/>
                </a:solidFill>
                <a:latin typeface="Segoe UI"/>
              </a:rPr>
              <a:t>Start the log on day one</a:t>
            </a:r>
          </a:p>
          <a:p>
            <a:pPr algn="l">
              <a:spcAft>
                <a:spcPts val="0"/>
              </a:spcAft>
            </a:pPr>
            <a:r>
              <a:rPr sz="1300" b="0" i="0">
                <a:solidFill>
                  <a:srgbClr val="243B53"/>
                </a:solidFill>
                <a:latin typeface="Segoe UI"/>
              </a:rPr>
              <a:t>Log entries before 25 Sep had to be reconstructed from Git history.</a:t>
            </a:r>
          </a:p>
        </p:txBody>
      </p:sp>
      <p:sp>
        <p:nvSpPr>
          <p:cNvPr id="9" name="Challenge 5"/>
          <p:cNvSpPr/>
          <p:nvPr/>
        </p:nvSpPr>
        <p:spPr>
          <a:xfrm>
            <a:off x="4338218" y="4389120"/>
            <a:ext cx="3515258" cy="1463040"/>
          </a:xfrm>
          <a:prstGeom prst="roundRect">
            <a:avLst>
              <a:gd name="adj" fmla="val 6000"/>
            </a:avLst>
          </a:prstGeom>
          <a:solidFill>
            <a:srgbClr val="E6EFFB"/>
          </a:solidFill>
          <a:ln w="12700">
            <a:solidFill>
              <a:srgbClr val="C7D9F3"/>
            </a:solidFill>
          </a:ln>
        </p:spPr>
        <p:style>
          <a:lnRef idx="1">
            <a:schemeClr val="accent1"/>
          </a:lnRef>
          <a:fillRef idx="3">
            <a:schemeClr val="accent1"/>
          </a:fillRef>
          <a:effectRef idx="0">
            <a:schemeClr val="accent1"/>
          </a:effectRef>
          <a:fontRef idx="minor">
            <a:schemeClr val="lt1"/>
          </a:fontRef>
        </p:style>
        <p:txBody>
          <a:bodyPr rtlCol="0" anchor="t" wrap="square" lIns="164592" rIns="164592" tIns="128016" bIns="91440"/>
          <a:lstStyle/>
          <a:p>
            <a:pPr algn="l">
              <a:spcAft>
                <a:spcPts val="600"/>
              </a:spcAft>
            </a:pPr>
            <a:r>
              <a:rPr sz="1600" b="1" i="0">
                <a:solidFill>
                  <a:srgbClr val="1D5FB8"/>
                </a:solidFill>
                <a:latin typeface="Segoe UI"/>
              </a:rPr>
              <a:t>Canonical IDs from the first draft</a:t>
            </a:r>
          </a:p>
          <a:p>
            <a:pPr algn="l">
              <a:spcAft>
                <a:spcPts val="0"/>
              </a:spcAft>
            </a:pPr>
            <a:r>
              <a:rPr sz="1300" b="0" i="0">
                <a:solidFill>
                  <a:srgbClr val="243B53"/>
                </a:solidFill>
                <a:latin typeface="Segoe UI"/>
              </a:rPr>
              <a:t>The first quality run scored 0% only because of legacy IDs; relabelling cost a full pass.</a:t>
            </a:r>
          </a:p>
        </p:txBody>
      </p:sp>
      <p:sp>
        <p:nvSpPr>
          <p:cNvPr id="10" name="Challenge 6"/>
          <p:cNvSpPr/>
          <p:nvPr/>
        </p:nvSpPr>
        <p:spPr>
          <a:xfrm>
            <a:off x="8127796" y="4389120"/>
            <a:ext cx="3515258" cy="1463040"/>
          </a:xfrm>
          <a:prstGeom prst="roundRect">
            <a:avLst>
              <a:gd name="adj" fmla="val 6000"/>
            </a:avLst>
          </a:prstGeom>
          <a:solidFill>
            <a:srgbClr val="E6EFFB"/>
          </a:solidFill>
          <a:ln w="12700">
            <a:solidFill>
              <a:srgbClr val="C7D9F3"/>
            </a:solidFill>
          </a:ln>
        </p:spPr>
        <p:style>
          <a:lnRef idx="1">
            <a:schemeClr val="accent1"/>
          </a:lnRef>
          <a:fillRef idx="3">
            <a:schemeClr val="accent1"/>
          </a:fillRef>
          <a:effectRef idx="0">
            <a:schemeClr val="accent1"/>
          </a:effectRef>
          <a:fontRef idx="minor">
            <a:schemeClr val="lt1"/>
          </a:fontRef>
        </p:style>
        <p:txBody>
          <a:bodyPr rtlCol="0" anchor="t" wrap="square" lIns="164592" rIns="164592" tIns="128016" bIns="91440"/>
          <a:lstStyle/>
          <a:p>
            <a:pPr algn="l">
              <a:spcAft>
                <a:spcPts val="600"/>
              </a:spcAft>
            </a:pPr>
            <a:r>
              <a:rPr sz="1600" b="1" i="0">
                <a:solidFill>
                  <a:srgbClr val="1D5FB8"/>
                </a:solidFill>
                <a:latin typeface="Segoe UI"/>
              </a:rPr>
              <a:t>Run the value challenge earlier, and blind</a:t>
            </a:r>
          </a:p>
          <a:p>
            <a:pPr algn="l">
              <a:spcAft>
                <a:spcPts val="0"/>
              </a:spcAft>
            </a:pPr>
            <a:r>
              <a:rPr sz="1300" b="0" i="0">
                <a:solidFill>
                  <a:srgbClr val="243B53"/>
                </a:solidFill>
                <a:latin typeface="Segoe UI"/>
              </a:rPr>
              <a:t>It came after eight BRD revisions, and the roles could read my addendum. One pass without it would test for priming.</a:t>
            </a:r>
          </a:p>
        </p:txBody>
      </p:sp>
      <p:sp>
        <p:nvSpPr>
          <p:cNvPr id="11" name="Source"/>
          <p:cNvSpPr txBox="1"/>
          <p:nvPr/>
        </p:nvSpPr>
        <p:spPr>
          <a:xfrm>
            <a:off x="548640" y="6126480"/>
            <a:ext cx="11094415" cy="256032"/>
          </a:xfrm>
          <a:prstGeom prst="rect">
            <a:avLst/>
          </a:prstGeom>
          <a:noFill/>
        </p:spPr>
        <p:txBody>
          <a:bodyPr wrap="square" tIns="0" bIns="0">
            <a:spAutoFit/>
          </a:bodyPr>
          <a:lstStyle/>
          <a:p>
            <a:r>
              <a:rPr sz="900" b="0" i="0">
                <a:solidFill>
                  <a:srgbClr val="627D98"/>
                </a:solidFill>
                <a:latin typeface="Segoe UI"/>
              </a:rPr>
              <a:t>Sources: docs/reference/log.md (Conventions; corrections, 25 to 26 Sep 2026); agent-request-challenge.md (Divergences, Limitations); git log.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457200"/>
            <a:ext cx="11094415" cy="685800"/>
          </a:xfrm>
          <a:prstGeom prst="rect">
            <a:avLst/>
          </a:prstGeom>
          <a:noFill/>
        </p:spPr>
        <p:txBody>
          <a:bodyPr wrap="square" anchor="ctr">
            <a:spAutoFit/>
          </a:bodyPr>
          <a:lstStyle/>
          <a:p>
            <a:r>
              <a:rPr sz="2600" b="1" i="0">
                <a:solidFill>
                  <a:srgbClr val="102A43"/>
                </a:solidFill>
                <a:latin typeface="Segoe UI"/>
              </a:rPr>
              <a:t>One real chain, from a decision down to its dated source</a:t>
            </a:r>
          </a:p>
        </p:txBody>
      </p:sp>
      <p:sp>
        <p:nvSpPr>
          <p:cNvPr id="3" name="Chain 1 head"/>
          <p:cNvSpPr/>
          <p:nvPr/>
        </p:nvSpPr>
        <p:spPr>
          <a:xfrm>
            <a:off x="548640" y="1554480"/>
            <a:ext cx="1889699" cy="502920"/>
          </a:xfrm>
          <a:prstGeom prst="roundRect">
            <a:avLst>
              <a:gd name="adj" fmla="val 12000"/>
            </a:avLst>
          </a:prstGeom>
          <a:solidFill>
            <a:srgbClr val="B83A2E"/>
          </a:solidFill>
          <a:ln w="12700">
            <a:solidFill>
              <a:srgbClr val="B83A2E"/>
            </a:solidFill>
          </a:ln>
        </p:spPr>
        <p:style>
          <a:lnRef idx="1">
            <a:schemeClr val="accent1"/>
          </a:lnRef>
          <a:fillRef idx="3">
            <a:schemeClr val="accent1"/>
          </a:fillRef>
          <a:effectRef idx="0">
            <a:schemeClr val="accent1"/>
          </a:effectRef>
          <a:fontRef idx="minor">
            <a:schemeClr val="lt1"/>
          </a:fontRef>
        </p:style>
        <p:txBody>
          <a:bodyPr rtlCol="0" anchor="ctr" wrap="square" lIns="109728" rIns="109728" tIns="36576" bIns="36576"/>
          <a:lstStyle/>
          <a:p>
            <a:pPr algn="ctr"/>
            <a:r>
              <a:rPr sz="1500" b="1" i="0">
                <a:solidFill>
                  <a:srgbClr val="FFFFFF"/>
                </a:solidFill>
                <a:latin typeface="Segoe UI"/>
              </a:rPr>
              <a:t>Decision</a:t>
            </a:r>
          </a:p>
        </p:txBody>
      </p:sp>
      <p:sp>
        <p:nvSpPr>
          <p:cNvPr id="4" name="Chain 1 body"/>
          <p:cNvSpPr/>
          <p:nvPr/>
        </p:nvSpPr>
        <p:spPr>
          <a:xfrm>
            <a:off x="548640" y="2331720"/>
            <a:ext cx="1889699" cy="1600200"/>
          </a:xfrm>
          <a:prstGeom prst="roundRect">
            <a:avLst>
              <a:gd name="adj" fmla="val 6000"/>
            </a:avLst>
          </a:prstGeom>
          <a:solidFill>
            <a:srgbClr val="F0F4F8"/>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rtlCol="0" anchor="t" wrap="square" lIns="164592" rIns="164592" tIns="128016" bIns="91440"/>
          <a:lstStyle/>
          <a:p>
            <a:pPr algn="l">
              <a:spcAft>
                <a:spcPts val="0"/>
              </a:spcAft>
            </a:pPr>
            <a:r>
              <a:rPr sz="1300" b="0" i="0">
                <a:solidFill>
                  <a:srgbClr val="243B53"/>
                </a:solidFill>
                <a:latin typeface="Segoe UI"/>
              </a:rPr>
              <a:t>Addendum: approve a capped pilot, not a five-agent rollout; no end-to-end Stock Prioritisation agent</a:t>
            </a:r>
          </a:p>
        </p:txBody>
      </p:sp>
      <p:sp>
        <p:nvSpPr>
          <p:cNvPr id="5" name="Chain arrow 1"/>
          <p:cNvSpPr/>
          <p:nvPr/>
        </p:nvSpPr>
        <p:spPr>
          <a:xfrm>
            <a:off x="2502347" y="1673352"/>
            <a:ext cx="283464" cy="274320"/>
          </a:xfrm>
          <a:prstGeom prst="rightArrow">
            <a:avLst/>
          </a:prstGeom>
          <a:solidFill>
            <a:srgbClr val="9FB3C8"/>
          </a:solidFill>
          <a:ln w="12700">
            <a:solidFill>
              <a:srgbClr val="9FB3C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Chain 2 head"/>
          <p:cNvSpPr/>
          <p:nvPr/>
        </p:nvSpPr>
        <p:spPr>
          <a:xfrm>
            <a:off x="2849819" y="1554480"/>
            <a:ext cx="1889699" cy="502920"/>
          </a:xfrm>
          <a:prstGeom prst="roundRect">
            <a:avLst>
              <a:gd name="adj" fmla="val 12000"/>
            </a:avLst>
          </a:prstGeom>
          <a:solidFill>
            <a:srgbClr val="0B625B"/>
          </a:solidFill>
          <a:ln w="12700">
            <a:solidFill>
              <a:srgbClr val="0B625B"/>
            </a:solidFill>
          </a:ln>
        </p:spPr>
        <p:style>
          <a:lnRef idx="1">
            <a:schemeClr val="accent1"/>
          </a:lnRef>
          <a:fillRef idx="3">
            <a:schemeClr val="accent1"/>
          </a:fillRef>
          <a:effectRef idx="0">
            <a:schemeClr val="accent1"/>
          </a:effectRef>
          <a:fontRef idx="minor">
            <a:schemeClr val="lt1"/>
          </a:fontRef>
        </p:style>
        <p:txBody>
          <a:bodyPr rtlCol="0" anchor="ctr" wrap="square" lIns="109728" rIns="109728" tIns="36576" bIns="36576"/>
          <a:lstStyle/>
          <a:p>
            <a:pPr algn="ctr"/>
            <a:r>
              <a:rPr sz="1500" b="1" i="0">
                <a:solidFill>
                  <a:srgbClr val="FFFFFF"/>
                </a:solidFill>
                <a:latin typeface="Segoe UI"/>
              </a:rPr>
              <a:t>Evidence</a:t>
            </a:r>
          </a:p>
        </p:txBody>
      </p:sp>
      <p:sp>
        <p:nvSpPr>
          <p:cNvPr id="7" name="Chain 2 body"/>
          <p:cNvSpPr/>
          <p:nvPr/>
        </p:nvSpPr>
        <p:spPr>
          <a:xfrm>
            <a:off x="2849819" y="2331720"/>
            <a:ext cx="1889699" cy="1600200"/>
          </a:xfrm>
          <a:prstGeom prst="roundRect">
            <a:avLst>
              <a:gd name="adj" fmla="val 6000"/>
            </a:avLst>
          </a:prstGeom>
          <a:solidFill>
            <a:srgbClr val="F0F4F8"/>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rtlCol="0" anchor="t" wrap="square" lIns="164592" rIns="164592" tIns="128016" bIns="91440"/>
          <a:lstStyle/>
          <a:p>
            <a:pPr algn="l">
              <a:spcAft>
                <a:spcPts val="0"/>
              </a:spcAft>
            </a:pPr>
            <a:r>
              <a:rPr sz="1300" b="0" i="0">
                <a:solidFill>
                  <a:srgbClr val="243B53"/>
                </a:solidFill>
                <a:latin typeface="Segoe UI"/>
              </a:rPr>
              <a:t>Agent Request Challenge, Stock Prioritisation: "eligibility is a rules question"</a:t>
            </a:r>
          </a:p>
        </p:txBody>
      </p:sp>
      <p:sp>
        <p:nvSpPr>
          <p:cNvPr id="8" name="Chain arrow 2"/>
          <p:cNvSpPr/>
          <p:nvPr/>
        </p:nvSpPr>
        <p:spPr>
          <a:xfrm>
            <a:off x="4803526" y="1673352"/>
            <a:ext cx="283464" cy="274320"/>
          </a:xfrm>
          <a:prstGeom prst="rightArrow">
            <a:avLst/>
          </a:prstGeom>
          <a:solidFill>
            <a:srgbClr val="9FB3C8"/>
          </a:solidFill>
          <a:ln w="12700">
            <a:solidFill>
              <a:srgbClr val="9FB3C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Chain 3 head"/>
          <p:cNvSpPr/>
          <p:nvPr/>
        </p:nvSpPr>
        <p:spPr>
          <a:xfrm>
            <a:off x="5150998" y="1554480"/>
            <a:ext cx="1889699" cy="502920"/>
          </a:xfrm>
          <a:prstGeom prst="roundRect">
            <a:avLst>
              <a:gd name="adj" fmla="val 12000"/>
            </a:avLst>
          </a:prstGeom>
          <a:solidFill>
            <a:srgbClr val="1D5FB8"/>
          </a:solidFill>
          <a:ln w="12700">
            <a:solidFill>
              <a:srgbClr val="1D5FB8"/>
            </a:solidFill>
          </a:ln>
        </p:spPr>
        <p:style>
          <a:lnRef idx="1">
            <a:schemeClr val="accent1"/>
          </a:lnRef>
          <a:fillRef idx="3">
            <a:schemeClr val="accent1"/>
          </a:fillRef>
          <a:effectRef idx="0">
            <a:schemeClr val="accent1"/>
          </a:effectRef>
          <a:fontRef idx="minor">
            <a:schemeClr val="lt1"/>
          </a:fontRef>
        </p:style>
        <p:txBody>
          <a:bodyPr rtlCol="0" anchor="ctr" wrap="square" lIns="109728" rIns="109728" tIns="36576" bIns="36576"/>
          <a:lstStyle/>
          <a:p>
            <a:pPr algn="ctr"/>
            <a:r>
              <a:rPr sz="1500" b="1" i="0">
                <a:solidFill>
                  <a:srgbClr val="FFFFFF"/>
                </a:solidFill>
                <a:latin typeface="Segoe UI"/>
              </a:rPr>
              <a:t>Requirement</a:t>
            </a:r>
          </a:p>
        </p:txBody>
      </p:sp>
      <p:sp>
        <p:nvSpPr>
          <p:cNvPr id="10" name="Chain 3 body"/>
          <p:cNvSpPr/>
          <p:nvPr/>
        </p:nvSpPr>
        <p:spPr>
          <a:xfrm>
            <a:off x="5150998" y="2331720"/>
            <a:ext cx="1889699" cy="1600200"/>
          </a:xfrm>
          <a:prstGeom prst="roundRect">
            <a:avLst>
              <a:gd name="adj" fmla="val 6000"/>
            </a:avLst>
          </a:prstGeom>
          <a:solidFill>
            <a:srgbClr val="F0F4F8"/>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rtlCol="0" anchor="t" wrap="square" lIns="164592" rIns="164592" tIns="128016" bIns="91440"/>
          <a:lstStyle/>
          <a:p>
            <a:pPr algn="l">
              <a:spcAft>
                <a:spcPts val="0"/>
              </a:spcAft>
            </a:pPr>
            <a:r>
              <a:rPr sz="1300" b="0" i="0">
                <a:solidFill>
                  <a:srgbClr val="243B53"/>
                </a:solidFill>
                <a:latin typeface="Segoe UI"/>
              </a:rPr>
              <a:t>FR-026, AC-039 and CON-005: deterministic pass, fail or unknown eligibility</a:t>
            </a:r>
          </a:p>
        </p:txBody>
      </p:sp>
      <p:sp>
        <p:nvSpPr>
          <p:cNvPr id="11" name="Chain arrow 3"/>
          <p:cNvSpPr/>
          <p:nvPr/>
        </p:nvSpPr>
        <p:spPr>
          <a:xfrm>
            <a:off x="7104705" y="1673352"/>
            <a:ext cx="283464" cy="274320"/>
          </a:xfrm>
          <a:prstGeom prst="rightArrow">
            <a:avLst/>
          </a:prstGeom>
          <a:solidFill>
            <a:srgbClr val="9FB3C8"/>
          </a:solidFill>
          <a:ln w="12700">
            <a:solidFill>
              <a:srgbClr val="9FB3C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Chain 4 head"/>
          <p:cNvSpPr/>
          <p:nvPr/>
        </p:nvSpPr>
        <p:spPr>
          <a:xfrm>
            <a:off x="7452177" y="1554480"/>
            <a:ext cx="1889699" cy="502920"/>
          </a:xfrm>
          <a:prstGeom prst="roundRect">
            <a:avLst>
              <a:gd name="adj" fmla="val 12000"/>
            </a:avLst>
          </a:prstGeom>
          <a:solidFill>
            <a:srgbClr val="102A43"/>
          </a:solidFill>
          <a:ln w="12700">
            <a:solidFill>
              <a:srgbClr val="102A43"/>
            </a:solidFill>
          </a:ln>
        </p:spPr>
        <p:style>
          <a:lnRef idx="1">
            <a:schemeClr val="accent1"/>
          </a:lnRef>
          <a:fillRef idx="3">
            <a:schemeClr val="accent1"/>
          </a:fillRef>
          <a:effectRef idx="0">
            <a:schemeClr val="accent1"/>
          </a:effectRef>
          <a:fontRef idx="minor">
            <a:schemeClr val="lt1"/>
          </a:fontRef>
        </p:style>
        <p:txBody>
          <a:bodyPr rtlCol="0" anchor="ctr" wrap="square" lIns="109728" rIns="109728" tIns="36576" bIns="36576"/>
          <a:lstStyle/>
          <a:p>
            <a:pPr algn="ctr"/>
            <a:r>
              <a:rPr sz="1500" b="1" i="0">
                <a:solidFill>
                  <a:srgbClr val="FFFFFF"/>
                </a:solidFill>
                <a:latin typeface="Segoe UI"/>
              </a:rPr>
              <a:t>Source</a:t>
            </a:r>
          </a:p>
        </p:txBody>
      </p:sp>
      <p:sp>
        <p:nvSpPr>
          <p:cNvPr id="13" name="Chain 4 body"/>
          <p:cNvSpPr/>
          <p:nvPr/>
        </p:nvSpPr>
        <p:spPr>
          <a:xfrm>
            <a:off x="7452177" y="2331720"/>
            <a:ext cx="1889699" cy="1600200"/>
          </a:xfrm>
          <a:prstGeom prst="roundRect">
            <a:avLst>
              <a:gd name="adj" fmla="val 6000"/>
            </a:avLst>
          </a:prstGeom>
          <a:solidFill>
            <a:srgbClr val="F0F4F8"/>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rtlCol="0" anchor="t" wrap="square" lIns="164592" rIns="164592" tIns="128016" bIns="91440"/>
          <a:lstStyle/>
          <a:p>
            <a:pPr algn="l">
              <a:spcAft>
                <a:spcPts val="0"/>
              </a:spcAft>
            </a:pPr>
            <a:r>
              <a:rPr sz="1300" b="0" i="0">
                <a:solidFill>
                  <a:srgbClr val="243B53"/>
                </a:solidFill>
                <a:latin typeface="Segoe UI"/>
              </a:rPr>
              <a:t>WH:SHF Wave 3 technical annex, Page 3 footnote 1; retrieved 19 Sep 2026</a:t>
            </a:r>
          </a:p>
        </p:txBody>
      </p:sp>
      <p:sp>
        <p:nvSpPr>
          <p:cNvPr id="14" name="Chain arrow 4"/>
          <p:cNvSpPr/>
          <p:nvPr/>
        </p:nvSpPr>
        <p:spPr>
          <a:xfrm>
            <a:off x="9405884" y="1673352"/>
            <a:ext cx="283464" cy="274320"/>
          </a:xfrm>
          <a:prstGeom prst="rightArrow">
            <a:avLst/>
          </a:prstGeom>
          <a:solidFill>
            <a:srgbClr val="9FB3C8"/>
          </a:solidFill>
          <a:ln w="12700">
            <a:solidFill>
              <a:srgbClr val="9FB3C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Chain 5 head"/>
          <p:cNvSpPr/>
          <p:nvPr/>
        </p:nvSpPr>
        <p:spPr>
          <a:xfrm>
            <a:off x="9753356" y="1554480"/>
            <a:ext cx="1889699" cy="502920"/>
          </a:xfrm>
          <a:prstGeom prst="roundRect">
            <a:avLst>
              <a:gd name="adj" fmla="val 12000"/>
            </a:avLst>
          </a:prstGeom>
          <a:solidFill>
            <a:srgbClr val="486581"/>
          </a:solidFill>
          <a:ln w="12700">
            <a:solidFill>
              <a:srgbClr val="486581"/>
            </a:solidFill>
          </a:ln>
        </p:spPr>
        <p:style>
          <a:lnRef idx="1">
            <a:schemeClr val="accent1"/>
          </a:lnRef>
          <a:fillRef idx="3">
            <a:schemeClr val="accent1"/>
          </a:fillRef>
          <a:effectRef idx="0">
            <a:schemeClr val="accent1"/>
          </a:effectRef>
          <a:fontRef idx="minor">
            <a:schemeClr val="lt1"/>
          </a:fontRef>
        </p:style>
        <p:txBody>
          <a:bodyPr rtlCol="0" anchor="ctr" wrap="square" lIns="109728" rIns="109728" tIns="36576" bIns="36576"/>
          <a:lstStyle/>
          <a:p>
            <a:pPr algn="ctr"/>
            <a:r>
              <a:rPr sz="1500" b="1" i="0">
                <a:solidFill>
                  <a:srgbClr val="FFFFFF"/>
                </a:solidFill>
                <a:latin typeface="Segoe UI"/>
              </a:rPr>
              <a:t>Change record</a:t>
            </a:r>
          </a:p>
        </p:txBody>
      </p:sp>
      <p:sp>
        <p:nvSpPr>
          <p:cNvPr id="16" name="Chain 5 body"/>
          <p:cNvSpPr/>
          <p:nvPr/>
        </p:nvSpPr>
        <p:spPr>
          <a:xfrm>
            <a:off x="9753356" y="2331720"/>
            <a:ext cx="1889699" cy="1600200"/>
          </a:xfrm>
          <a:prstGeom prst="roundRect">
            <a:avLst>
              <a:gd name="adj" fmla="val 6000"/>
            </a:avLst>
          </a:prstGeom>
          <a:solidFill>
            <a:srgbClr val="F0F4F8"/>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rtlCol="0" anchor="t" wrap="square" lIns="164592" rIns="164592" tIns="128016" bIns="91440"/>
          <a:lstStyle/>
          <a:p>
            <a:pPr algn="l">
              <a:spcAft>
                <a:spcPts val="0"/>
              </a:spcAft>
            </a:pPr>
            <a:r>
              <a:rPr sz="1300" b="0" i="0">
                <a:solidFill>
                  <a:srgbClr val="243B53"/>
                </a:solidFill>
                <a:latin typeface="Segoe UI"/>
              </a:rPr>
              <a:t>log.md, 26 Sep entries; commits a72f231, 3db359c and c3e423a</a:t>
            </a:r>
          </a:p>
        </p:txBody>
      </p:sp>
      <p:sp>
        <p:nvSpPr>
          <p:cNvPr id="17" name="Justify"/>
          <p:cNvSpPr/>
          <p:nvPr/>
        </p:nvSpPr>
        <p:spPr>
          <a:xfrm>
            <a:off x="548640" y="4206240"/>
            <a:ext cx="5396331" cy="868680"/>
          </a:xfrm>
          <a:prstGeom prst="roundRect">
            <a:avLst>
              <a:gd name="adj" fmla="val 6000"/>
            </a:avLst>
          </a:prstGeom>
          <a:solidFill>
            <a:srgbClr val="E3F4F1"/>
          </a:solidFill>
          <a:ln w="12700">
            <a:solidFill>
              <a:srgbClr val="B7E2DA"/>
            </a:solidFill>
          </a:ln>
        </p:spPr>
        <p:style>
          <a:lnRef idx="1">
            <a:schemeClr val="accent1"/>
          </a:lnRef>
          <a:fillRef idx="3">
            <a:schemeClr val="accent1"/>
          </a:fillRef>
          <a:effectRef idx="0">
            <a:schemeClr val="accent1"/>
          </a:effectRef>
          <a:fontRef idx="minor">
            <a:schemeClr val="lt1"/>
          </a:fontRef>
        </p:style>
        <p:txBody>
          <a:bodyPr rtlCol="0" anchor="ctr" wrap="square" lIns="164592" rIns="164592" tIns="128016" bIns="91440"/>
          <a:lstStyle/>
          <a:p>
            <a:pPr algn="l">
              <a:spcAft>
                <a:spcPts val="200"/>
              </a:spcAft>
            </a:pPr>
            <a:r>
              <a:rPr sz="1400" b="1" i="0">
                <a:solidFill>
                  <a:srgbClr val="0B625B"/>
                </a:solidFill>
                <a:latin typeface="Segoe UI"/>
              </a:rPr>
              <a:t>To justify</a:t>
            </a:r>
          </a:p>
          <a:p>
            <a:pPr algn="l">
              <a:spcAft>
                <a:spcPts val="0"/>
              </a:spcAft>
            </a:pPr>
            <a:r>
              <a:rPr sz="1300" b="0" i="0">
                <a:solidFill>
                  <a:srgbClr val="243B53"/>
                </a:solidFill>
                <a:latin typeface="Segoe UI"/>
              </a:rPr>
              <a:t>Follow the chain from the decision down to the dated source.</a:t>
            </a:r>
          </a:p>
        </p:txBody>
      </p:sp>
      <p:sp>
        <p:nvSpPr>
          <p:cNvPr id="18" name="Challenge"/>
          <p:cNvSpPr/>
          <p:nvPr/>
        </p:nvSpPr>
        <p:spPr>
          <a:xfrm>
            <a:off x="6246723" y="4206240"/>
            <a:ext cx="5396331" cy="868680"/>
          </a:xfrm>
          <a:prstGeom prst="roundRect">
            <a:avLst>
              <a:gd name="adj" fmla="val 6000"/>
            </a:avLst>
          </a:prstGeom>
          <a:solidFill>
            <a:srgbClr val="FBEAE8"/>
          </a:solidFill>
          <a:ln w="12700">
            <a:solidFill>
              <a:srgbClr val="F3C7C1"/>
            </a:solidFill>
          </a:ln>
        </p:spPr>
        <p:style>
          <a:lnRef idx="1">
            <a:schemeClr val="accent1"/>
          </a:lnRef>
          <a:fillRef idx="3">
            <a:schemeClr val="accent1"/>
          </a:fillRef>
          <a:effectRef idx="0">
            <a:schemeClr val="accent1"/>
          </a:effectRef>
          <a:fontRef idx="minor">
            <a:schemeClr val="lt1"/>
          </a:fontRef>
        </p:style>
        <p:txBody>
          <a:bodyPr rtlCol="0" anchor="ctr" wrap="square" lIns="164592" rIns="164592" tIns="128016" bIns="91440"/>
          <a:lstStyle/>
          <a:p>
            <a:pPr algn="l">
              <a:spcAft>
                <a:spcPts val="200"/>
              </a:spcAft>
            </a:pPr>
            <a:r>
              <a:rPr sz="1400" b="1" i="0">
                <a:solidFill>
                  <a:srgbClr val="B83A2E"/>
                </a:solidFill>
                <a:latin typeface="Segoe UI"/>
              </a:rPr>
              <a:t>To challenge</a:t>
            </a:r>
          </a:p>
          <a:p>
            <a:pPr algn="l">
              <a:spcAft>
                <a:spcPts val="0"/>
              </a:spcAft>
            </a:pPr>
            <a:r>
              <a:rPr sz="1300" b="0" i="0">
                <a:solidFill>
                  <a:srgbClr val="243B53"/>
                </a:solidFill>
                <a:latin typeface="Segoe UI"/>
              </a:rPr>
              <a:t>Change one piece of evidence and see which rules and decisions move.</a:t>
            </a:r>
          </a:p>
        </p:txBody>
      </p:sp>
      <p:sp>
        <p:nvSpPr>
          <p:cNvPr id="19" name="Classes label"/>
          <p:cNvSpPr txBox="1"/>
          <p:nvPr/>
        </p:nvSpPr>
        <p:spPr>
          <a:xfrm>
            <a:off x="548640" y="5349240"/>
            <a:ext cx="1737360" cy="457200"/>
          </a:xfrm>
          <a:prstGeom prst="rect">
            <a:avLst/>
          </a:prstGeom>
          <a:noFill/>
        </p:spPr>
        <p:txBody>
          <a:bodyPr wrap="square" anchor="ctr">
            <a:spAutoFit/>
          </a:bodyPr>
          <a:lstStyle/>
          <a:p>
            <a:r>
              <a:rPr sz="1200" b="1" i="0">
                <a:solidFill>
                  <a:srgbClr val="486581"/>
                </a:solidFill>
                <a:latin typeface="Segoe UI"/>
              </a:rPr>
              <a:t>Every claim is labelled:</a:t>
            </a:r>
          </a:p>
        </p:txBody>
      </p:sp>
      <p:sp>
        <p:nvSpPr>
          <p:cNvPr id="20" name="Class 1"/>
          <p:cNvSpPr/>
          <p:nvPr/>
        </p:nvSpPr>
        <p:spPr>
          <a:xfrm>
            <a:off x="2423160" y="5349240"/>
            <a:ext cx="2167813" cy="457200"/>
          </a:xfrm>
          <a:prstGeom prst="roundRect">
            <a:avLst>
              <a:gd name="adj" fmla="val 12000"/>
            </a:avLst>
          </a:prstGeom>
          <a:solidFill>
            <a:srgbClr val="102A43"/>
          </a:solidFill>
          <a:ln w="12700">
            <a:solidFill>
              <a:srgbClr val="102A43"/>
            </a:solidFill>
          </a:ln>
        </p:spPr>
        <p:style>
          <a:lnRef idx="1">
            <a:schemeClr val="accent1"/>
          </a:lnRef>
          <a:fillRef idx="3">
            <a:schemeClr val="accent1"/>
          </a:fillRef>
          <a:effectRef idx="0">
            <a:schemeClr val="accent1"/>
          </a:effectRef>
          <a:fontRef idx="minor">
            <a:schemeClr val="lt1"/>
          </a:fontRef>
        </p:style>
        <p:txBody>
          <a:bodyPr rtlCol="0" anchor="ctr" wrap="square" lIns="109728" rIns="109728" tIns="36576" bIns="36576"/>
          <a:lstStyle/>
          <a:p>
            <a:pPr algn="ctr"/>
            <a:r>
              <a:rPr sz="1300" b="1" i="0">
                <a:solidFill>
                  <a:srgbClr val="FFFFFF"/>
                </a:solidFill>
                <a:latin typeface="Segoe UI"/>
              </a:rPr>
              <a:t>Case-study fact</a:t>
            </a:r>
          </a:p>
        </p:txBody>
      </p:sp>
      <p:sp>
        <p:nvSpPr>
          <p:cNvPr id="21" name="Class 2"/>
          <p:cNvSpPr/>
          <p:nvPr/>
        </p:nvSpPr>
        <p:spPr>
          <a:xfrm>
            <a:off x="4773853" y="5349240"/>
            <a:ext cx="2167813" cy="457200"/>
          </a:xfrm>
          <a:prstGeom prst="roundRect">
            <a:avLst>
              <a:gd name="adj" fmla="val 12000"/>
            </a:avLst>
          </a:prstGeom>
          <a:solidFill>
            <a:srgbClr val="0B625B"/>
          </a:solidFill>
          <a:ln w="12700">
            <a:solidFill>
              <a:srgbClr val="0B625B"/>
            </a:solidFill>
          </a:ln>
        </p:spPr>
        <p:style>
          <a:lnRef idx="1">
            <a:schemeClr val="accent1"/>
          </a:lnRef>
          <a:fillRef idx="3">
            <a:schemeClr val="accent1"/>
          </a:fillRef>
          <a:effectRef idx="0">
            <a:schemeClr val="accent1"/>
          </a:effectRef>
          <a:fontRef idx="minor">
            <a:schemeClr val="lt1"/>
          </a:fontRef>
        </p:style>
        <p:txBody>
          <a:bodyPr rtlCol="0" anchor="ctr" wrap="square" lIns="109728" rIns="109728" tIns="36576" bIns="36576"/>
          <a:lstStyle/>
          <a:p>
            <a:pPr algn="ctr"/>
            <a:r>
              <a:rPr sz="1300" b="1" i="0">
                <a:solidFill>
                  <a:srgbClr val="FFFFFF"/>
                </a:solidFill>
                <a:latin typeface="Segoe UI"/>
              </a:rPr>
              <a:t>Sector hypothesis</a:t>
            </a:r>
          </a:p>
        </p:txBody>
      </p:sp>
      <p:sp>
        <p:nvSpPr>
          <p:cNvPr id="22" name="Class 3"/>
          <p:cNvSpPr/>
          <p:nvPr/>
        </p:nvSpPr>
        <p:spPr>
          <a:xfrm>
            <a:off x="7124547" y="5349240"/>
            <a:ext cx="2167813" cy="457200"/>
          </a:xfrm>
          <a:prstGeom prst="roundRect">
            <a:avLst>
              <a:gd name="adj" fmla="val 12000"/>
            </a:avLst>
          </a:prstGeom>
          <a:solidFill>
            <a:srgbClr val="1D5FB8"/>
          </a:solidFill>
          <a:ln w="12700">
            <a:solidFill>
              <a:srgbClr val="1D5FB8"/>
            </a:solidFill>
          </a:ln>
        </p:spPr>
        <p:style>
          <a:lnRef idx="1">
            <a:schemeClr val="accent1"/>
          </a:lnRef>
          <a:fillRef idx="3">
            <a:schemeClr val="accent1"/>
          </a:fillRef>
          <a:effectRef idx="0">
            <a:schemeClr val="accent1"/>
          </a:effectRef>
          <a:fontRef idx="minor">
            <a:schemeClr val="lt1"/>
          </a:fontRef>
        </p:style>
        <p:txBody>
          <a:bodyPr rtlCol="0" anchor="ctr" wrap="square" lIns="109728" rIns="109728" tIns="36576" bIns="36576"/>
          <a:lstStyle/>
          <a:p>
            <a:pPr algn="ctr"/>
            <a:r>
              <a:rPr sz="1300" b="1" i="0">
                <a:solidFill>
                  <a:srgbClr val="FFFFFF"/>
                </a:solidFill>
                <a:latin typeface="Segoe UI"/>
              </a:rPr>
              <a:t>Planning assumption</a:t>
            </a:r>
          </a:p>
        </p:txBody>
      </p:sp>
      <p:sp>
        <p:nvSpPr>
          <p:cNvPr id="23" name="Class 4"/>
          <p:cNvSpPr/>
          <p:nvPr/>
        </p:nvSpPr>
        <p:spPr>
          <a:xfrm>
            <a:off x="9475241" y="5349240"/>
            <a:ext cx="2167813" cy="457200"/>
          </a:xfrm>
          <a:prstGeom prst="roundRect">
            <a:avLst>
              <a:gd name="adj" fmla="val 12000"/>
            </a:avLst>
          </a:prstGeom>
          <a:solidFill>
            <a:srgbClr val="486581"/>
          </a:solidFill>
          <a:ln w="12700">
            <a:solidFill>
              <a:srgbClr val="486581"/>
            </a:solidFill>
          </a:ln>
        </p:spPr>
        <p:style>
          <a:lnRef idx="1">
            <a:schemeClr val="accent1"/>
          </a:lnRef>
          <a:fillRef idx="3">
            <a:schemeClr val="accent1"/>
          </a:fillRef>
          <a:effectRef idx="0">
            <a:schemeClr val="accent1"/>
          </a:effectRef>
          <a:fontRef idx="minor">
            <a:schemeClr val="lt1"/>
          </a:fontRef>
        </p:style>
        <p:txBody>
          <a:bodyPr rtlCol="0" anchor="ctr" wrap="square" lIns="109728" rIns="109728" tIns="36576" bIns="36576"/>
          <a:lstStyle/>
          <a:p>
            <a:pPr algn="ctr"/>
            <a:r>
              <a:rPr sz="1300" b="1" i="0">
                <a:solidFill>
                  <a:srgbClr val="FFFFFF"/>
                </a:solidFill>
                <a:latin typeface="Segoe UI"/>
              </a:rPr>
              <a:t>Unknown detail</a:t>
            </a:r>
          </a:p>
        </p:txBody>
      </p:sp>
      <p:sp>
        <p:nvSpPr>
          <p:cNvPr id="24" name="Source"/>
          <p:cNvSpPr txBox="1"/>
          <p:nvPr/>
        </p:nvSpPr>
        <p:spPr>
          <a:xfrm>
            <a:off x="548640" y="6126480"/>
            <a:ext cx="11094415" cy="256032"/>
          </a:xfrm>
          <a:prstGeom prst="rect">
            <a:avLst/>
          </a:prstGeom>
          <a:noFill/>
        </p:spPr>
        <p:txBody>
          <a:bodyPr wrap="square" tIns="0" bIns="0">
            <a:spAutoFit/>
          </a:bodyPr>
          <a:lstStyle/>
          <a:p>
            <a:r>
              <a:rPr sz="900" b="0" i="0">
                <a:solidFill>
                  <a:srgbClr val="627D98"/>
                </a:solidFill>
                <a:latin typeface="Segoe UI"/>
              </a:rPr>
              <a:t>Sources: case_study_48_addendum.md (Recommended Executive Decision); agent-request-challenge.md; BRD FR-026, CON-005; WH:SHF annex snapshot; log.md.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457200"/>
            <a:ext cx="11094415" cy="685800"/>
          </a:xfrm>
          <a:prstGeom prst="rect">
            <a:avLst/>
          </a:prstGeom>
          <a:noFill/>
        </p:spPr>
        <p:txBody>
          <a:bodyPr wrap="square" anchor="ctr">
            <a:spAutoFit/>
          </a:bodyPr>
          <a:lstStyle/>
          <a:p>
            <a:r>
              <a:rPr sz="2600" b="1" i="0">
                <a:solidFill>
                  <a:srgbClr val="102A43"/>
                </a:solidFill>
                <a:latin typeface="Segoe UI"/>
              </a:rPr>
              <a:t>Four decisions where I would value your challenge today</a:t>
            </a:r>
          </a:p>
        </p:txBody>
      </p:sp>
      <p:sp>
        <p:nvSpPr>
          <p:cNvPr id="3" name="Questions"/>
          <p:cNvSpPr/>
          <p:nvPr/>
        </p:nvSpPr>
        <p:spPr>
          <a:xfrm>
            <a:off x="548640" y="1508760"/>
            <a:ext cx="6309360" cy="3520440"/>
          </a:xfrm>
          <a:prstGeom prst="roundRect">
            <a:avLst>
              <a:gd name="adj" fmla="val 6000"/>
            </a:avLst>
          </a:prstGeom>
          <a:solidFill>
            <a:srgbClr val="FFFFFF"/>
          </a:solidFill>
          <a:ln w="12700">
            <a:solidFill>
              <a:srgbClr val="B83A2E"/>
            </a:solidFill>
          </a:ln>
        </p:spPr>
        <p:style>
          <a:lnRef idx="1">
            <a:schemeClr val="accent1"/>
          </a:lnRef>
          <a:fillRef idx="3">
            <a:schemeClr val="accent1"/>
          </a:fillRef>
          <a:effectRef idx="0">
            <a:schemeClr val="accent1"/>
          </a:effectRef>
          <a:fontRef idx="minor">
            <a:schemeClr val="lt1"/>
          </a:fontRef>
        </p:style>
        <p:txBody>
          <a:bodyPr rtlCol="0" anchor="t" wrap="square" lIns="164592" rIns="164592" tIns="128016" bIns="91440"/>
          <a:lstStyle/>
          <a:p>
            <a:pPr algn="l">
              <a:spcAft>
                <a:spcPts val="1200"/>
              </a:spcAft>
            </a:pPr>
            <a:r>
              <a:rPr sz="1300" b="1" i="0">
                <a:solidFill>
                  <a:srgbClr val="B83A2E"/>
                </a:solidFill>
                <a:latin typeface="Segoe UI"/>
              </a:rPr>
              <a:t>QUESTIONS FOR YOU</a:t>
            </a:r>
          </a:p>
          <a:p>
            <a:pPr algn="l" marL="342900" indent="-342900">
              <a:spcAft>
                <a:spcPts val="1200"/>
              </a:spcAft>
              <a:buAutoNum type="arabicPeriod" startAt="1"/>
            </a:pPr>
            <a:r>
              <a:rPr sz="1500" b="1" i="0">
                <a:solidFill>
                  <a:srgbClr val="102A43"/>
                </a:solidFill>
                <a:latin typeface="Segoe UI"/>
              </a:rPr>
              <a:t>Will the panel read agent-led modernisation, not five end-to-end agents, as answering the brief?</a:t>
            </a:r>
          </a:p>
          <a:p>
            <a:pPr algn="l" marL="342900" indent="-342900">
              <a:spcAft>
                <a:spcPts val="1200"/>
              </a:spcAft>
              <a:buAutoNum type="arabicPeriod" startAt="2"/>
            </a:pPr>
            <a:r>
              <a:rPr sz="1500" b="1" i="0">
                <a:solidFill>
                  <a:srgbClr val="102A43"/>
                </a:solidFill>
                <a:latin typeface="Segoe UI"/>
              </a:rPr>
              <a:t>How should I balance business depth against architecture depth?</a:t>
            </a:r>
          </a:p>
          <a:p>
            <a:pPr algn="l" marL="342900" indent="-342900">
              <a:spcAft>
                <a:spcPts val="1200"/>
              </a:spcAft>
              <a:buAutoNum type="arabicPeriod" startAt="3"/>
            </a:pPr>
            <a:r>
              <a:rPr sz="1500" b="1" i="0">
                <a:solidFill>
                  <a:srgbClr val="102A43"/>
                </a:solidFill>
                <a:latin typeface="Segoe UI"/>
              </a:rPr>
              <a:t>Keep the BRD failing on unset targets, or propose illustrative targets?</a:t>
            </a:r>
          </a:p>
          <a:p>
            <a:pPr algn="l" marL="342900" indent="-342900">
              <a:spcAft>
                <a:spcPts val="1200"/>
              </a:spcAft>
              <a:buAutoNum type="arabicPeriod" startAt="4"/>
            </a:pPr>
            <a:r>
              <a:rPr sz="1500" b="1" i="0">
                <a:solidFill>
                  <a:srgbClr val="102A43"/>
                </a:solidFill>
                <a:latin typeface="Segoe UI"/>
              </a:rPr>
              <a:t>Which open divergence first: L4 quality flags or L3 digital booking?</a:t>
            </a:r>
          </a:p>
          <a:p>
            <a:pPr algn="l">
              <a:spcAft>
                <a:spcPts val="0"/>
              </a:spcAft>
            </a:pPr>
            <a:r>
              <a:rPr sz="1400" b="0" i="1">
                <a:solidFill>
                  <a:srgbClr val="486581"/>
                </a:solidFill>
                <a:latin typeface="Segoe UI"/>
              </a:rPr>
              <a:t>And on the story itself: where did it lose you?</a:t>
            </a:r>
          </a:p>
        </p:txBody>
      </p:sp>
      <p:sp>
        <p:nvSpPr>
          <p:cNvPr id="4" name="Next"/>
          <p:cNvSpPr/>
          <p:nvPr/>
        </p:nvSpPr>
        <p:spPr>
          <a:xfrm>
            <a:off x="7132320" y="1508760"/>
            <a:ext cx="4510735" cy="3520440"/>
          </a:xfrm>
          <a:prstGeom prst="roundRect">
            <a:avLst>
              <a:gd name="adj" fmla="val 6000"/>
            </a:avLst>
          </a:prstGeom>
          <a:solidFill>
            <a:srgbClr val="F0F4F8"/>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rtlCol="0" anchor="t" wrap="square" lIns="164592" rIns="164592" tIns="128016" bIns="91440"/>
          <a:lstStyle/>
          <a:p>
            <a:pPr algn="l">
              <a:spcAft>
                <a:spcPts val="1200"/>
              </a:spcAft>
            </a:pPr>
            <a:r>
              <a:rPr sz="1300" b="1" i="0">
                <a:solidFill>
                  <a:srgbClr val="0B625B"/>
                </a:solidFill>
                <a:latin typeface="Segoe UI"/>
              </a:rPr>
              <a:t>NEXT, ON THE 85-DAY PLAN (TO 5 DEC)</a:t>
            </a:r>
          </a:p>
          <a:p>
            <a:pPr algn="l" marL="228600" indent="-228600">
              <a:spcAft>
                <a:spcPts val="1000"/>
              </a:spcAft>
              <a:buChar char="•"/>
            </a:pPr>
            <a:r>
              <a:rPr sz="1400" b="0" i="0">
                <a:solidFill>
                  <a:srgbClr val="243B53"/>
                </a:solidFill>
                <a:latin typeface="Segoe UI"/>
              </a:rPr>
              <a:t>High- and medium-level architecture with justified trade-offs</a:t>
            </a:r>
          </a:p>
          <a:p>
            <a:pPr algn="l" marL="228600" indent="-228600">
              <a:spcAft>
                <a:spcPts val="1000"/>
              </a:spcAft>
              <a:buChar char="•"/>
            </a:pPr>
            <a:r>
              <a:rPr sz="1400" b="0" i="0">
                <a:solidFill>
                  <a:srgbClr val="243B53"/>
                </a:solidFill>
                <a:latin typeface="Segoe UI"/>
              </a:rPr>
              <a:t>Shadow-mode comparison of typed decision models (IDEA-001)</a:t>
            </a:r>
          </a:p>
          <a:p>
            <a:pPr algn="l" marL="228600" indent="-228600">
              <a:spcAft>
                <a:spcPts val="1000"/>
              </a:spcAft>
              <a:buChar char="•"/>
            </a:pPr>
            <a:r>
              <a:rPr sz="1400" b="0" i="0">
                <a:solidFill>
                  <a:srgbClr val="243B53"/>
                </a:solidFill>
                <a:latin typeface="Segoe UI"/>
              </a:rPr>
              <a:t>Optional bounded demo, with a static fallback</a:t>
            </a:r>
          </a:p>
          <a:p>
            <a:pPr algn="l" marL="228600" indent="-228600">
              <a:spcAft>
                <a:spcPts val="1000"/>
              </a:spcAft>
              <a:buChar char="•"/>
            </a:pPr>
            <a:r>
              <a:rPr sz="1400" b="0" i="0">
                <a:solidFill>
                  <a:srgbClr val="243B53"/>
                </a:solidFill>
                <a:latin typeface="Segoe UI"/>
              </a:rPr>
              <a:t>CEO, CIO and CFO versions of the 15-minute pitch</a:t>
            </a:r>
          </a:p>
          <a:p>
            <a:pPr algn="l" marL="228600" indent="-228600">
              <a:spcAft>
                <a:spcPts val="0"/>
              </a:spcAft>
              <a:buChar char="•"/>
            </a:pPr>
            <a:r>
              <a:rPr sz="1400" b="0" i="0">
                <a:solidFill>
                  <a:srgbClr val="243B53"/>
                </a:solidFill>
                <a:latin typeface="Segoe UI"/>
              </a:rPr>
              <a:t>No real resident or staff evidence yet; the role agents' discovery questions are ready</a:t>
            </a:r>
          </a:p>
        </p:txBody>
      </p:sp>
      <p:sp>
        <p:nvSpPr>
          <p:cNvPr id="5" name="Takeaway"/>
          <p:cNvSpPr/>
          <p:nvPr/>
        </p:nvSpPr>
        <p:spPr>
          <a:xfrm>
            <a:off x="548640" y="5303520"/>
            <a:ext cx="11094415" cy="548640"/>
          </a:xfrm>
          <a:prstGeom prst="roundRect">
            <a:avLst>
              <a:gd name="adj" fmla="val 12000"/>
            </a:avLst>
          </a:prstGeom>
          <a:solidFill>
            <a:srgbClr val="102A43"/>
          </a:solidFill>
          <a:ln w="12700">
            <a:solidFill>
              <a:srgbClr val="102A43"/>
            </a:solidFill>
          </a:ln>
        </p:spPr>
        <p:style>
          <a:lnRef idx="1">
            <a:schemeClr val="accent1"/>
          </a:lnRef>
          <a:fillRef idx="3">
            <a:schemeClr val="accent1"/>
          </a:fillRef>
          <a:effectRef idx="0">
            <a:schemeClr val="accent1"/>
          </a:effectRef>
          <a:fontRef idx="minor">
            <a:schemeClr val="lt1"/>
          </a:fontRef>
        </p:style>
        <p:txBody>
          <a:bodyPr rtlCol="0" anchor="ctr" wrap="square" lIns="109728" rIns="109728" tIns="36576" bIns="36576"/>
          <a:lstStyle/>
          <a:p>
            <a:pPr algn="ctr"/>
            <a:r>
              <a:rPr sz="1600" b="1" i="0">
                <a:solidFill>
                  <a:srgbClr val="FFFFFF"/>
                </a:solidFill>
                <a:latin typeface="Segoe UI"/>
              </a:rPr>
              <a:t>Those are my questions. Which one would you take first?</a:t>
            </a:r>
          </a:p>
        </p:txBody>
      </p:sp>
      <p:sp>
        <p:nvSpPr>
          <p:cNvPr id="6" name="Source"/>
          <p:cNvSpPr txBox="1"/>
          <p:nvPr/>
        </p:nvSpPr>
        <p:spPr>
          <a:xfrm>
            <a:off x="548640" y="6126480"/>
            <a:ext cx="11094415" cy="256032"/>
          </a:xfrm>
          <a:prstGeom prst="rect">
            <a:avLst/>
          </a:prstGeom>
          <a:noFill/>
        </p:spPr>
        <p:txBody>
          <a:bodyPr wrap="square" tIns="0" bIns="0">
            <a:spAutoFit/>
          </a:bodyPr>
          <a:lstStyle/>
          <a:p>
            <a:r>
              <a:rPr sz="900" b="0" i="0">
                <a:solidFill>
                  <a:srgbClr val="627D98"/>
                </a:solidFill>
                <a:latin typeface="Segoe UI"/>
              </a:rPr>
              <a:t>Sources: .copilot-tracking/plans/2026-09-19/case-study-85-day-delivery-plan.instructions.md; docs/reference/memory.md; docs/ideas/idea-register.md.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457200"/>
            <a:ext cx="11094415" cy="685800"/>
          </a:xfrm>
          <a:prstGeom prst="rect">
            <a:avLst/>
          </a:prstGeom>
          <a:noFill/>
        </p:spPr>
        <p:txBody>
          <a:bodyPr wrap="square" anchor="ctr">
            <a:spAutoFit/>
          </a:bodyPr>
          <a:lstStyle/>
          <a:p>
            <a:r>
              <a:rPr sz="2600" b="1" i="0">
                <a:solidFill>
                  <a:srgbClr val="102A43"/>
                </a:solidFill>
                <a:latin typeface="Segoe UI"/>
              </a:rPr>
              <a:t>Appendix: the repo works as a second brain</a:t>
            </a:r>
          </a:p>
        </p:txBody>
      </p:sp>
      <p:sp>
        <p:nvSpPr>
          <p:cNvPr id="3" name="Col A head"/>
          <p:cNvSpPr txBox="1"/>
          <p:nvPr/>
        </p:nvSpPr>
        <p:spPr>
          <a:xfrm>
            <a:off x="548640" y="1417320"/>
            <a:ext cx="2743200" cy="320040"/>
          </a:xfrm>
          <a:prstGeom prst="rect">
            <a:avLst/>
          </a:prstGeom>
          <a:noFill/>
        </p:spPr>
        <p:txBody>
          <a:bodyPr wrap="square">
            <a:spAutoFit/>
          </a:bodyPr>
          <a:lstStyle/>
          <a:p>
            <a:r>
              <a:rPr sz="1200" b="1" i="0">
                <a:solidFill>
                  <a:srgbClr val="B83A2E"/>
                </a:solidFill>
                <a:latin typeface="Segoe UI"/>
              </a:rPr>
              <a:t>PROBLEM DOCUMENTS</a:t>
            </a:r>
          </a:p>
        </p:txBody>
      </p:sp>
      <p:sp>
        <p:nvSpPr>
          <p:cNvPr id="4" name="Problem 1"/>
          <p:cNvSpPr/>
          <p:nvPr/>
        </p:nvSpPr>
        <p:spPr>
          <a:xfrm>
            <a:off x="548640" y="2011680"/>
            <a:ext cx="2743200" cy="868680"/>
          </a:xfrm>
          <a:prstGeom prst="roundRect">
            <a:avLst>
              <a:gd name="adj" fmla="val 6000"/>
            </a:avLst>
          </a:prstGeom>
          <a:solidFill>
            <a:srgbClr val="FBEAE8"/>
          </a:solidFill>
          <a:ln w="12700">
            <a:solidFill>
              <a:srgbClr val="F3C7C1"/>
            </a:solidFill>
          </a:ln>
        </p:spPr>
        <p:style>
          <a:lnRef idx="1">
            <a:schemeClr val="accent1"/>
          </a:lnRef>
          <a:fillRef idx="3">
            <a:schemeClr val="accent1"/>
          </a:fillRef>
          <a:effectRef idx="0">
            <a:schemeClr val="accent1"/>
          </a:effectRef>
          <a:fontRef idx="minor">
            <a:schemeClr val="lt1"/>
          </a:fontRef>
        </p:style>
        <p:txBody>
          <a:bodyPr rtlCol="0" anchor="ctr" wrap="square" lIns="164592" rIns="164592" tIns="128016" bIns="91440"/>
          <a:lstStyle/>
          <a:p>
            <a:pPr algn="l">
              <a:spcAft>
                <a:spcPts val="200"/>
              </a:spcAft>
            </a:pPr>
            <a:r>
              <a:rPr sz="1400" b="1" i="0">
                <a:solidFill>
                  <a:srgbClr val="102A43"/>
                </a:solidFill>
                <a:latin typeface="Segoe UI"/>
              </a:rPr>
              <a:t>Original case study</a:t>
            </a:r>
          </a:p>
          <a:p>
            <a:pPr algn="l">
              <a:spcAft>
                <a:spcPts val="0"/>
              </a:spcAft>
            </a:pPr>
            <a:r>
              <a:rPr sz="1200" b="0" i="0">
                <a:solidFill>
                  <a:srgbClr val="243B53"/>
                </a:solidFill>
                <a:latin typeface="Segoe UI"/>
              </a:rPr>
              <a:t>Immutable record of the request</a:t>
            </a:r>
          </a:p>
        </p:txBody>
      </p:sp>
      <p:sp>
        <p:nvSpPr>
          <p:cNvPr id="5" name="Problem 2"/>
          <p:cNvSpPr/>
          <p:nvPr/>
        </p:nvSpPr>
        <p:spPr>
          <a:xfrm>
            <a:off x="548640" y="3154680"/>
            <a:ext cx="2743200" cy="868680"/>
          </a:xfrm>
          <a:prstGeom prst="roundRect">
            <a:avLst>
              <a:gd name="adj" fmla="val 6000"/>
            </a:avLst>
          </a:prstGeom>
          <a:solidFill>
            <a:srgbClr val="FBEAE8"/>
          </a:solidFill>
          <a:ln w="12700">
            <a:solidFill>
              <a:srgbClr val="F3C7C1"/>
            </a:solidFill>
          </a:ln>
        </p:spPr>
        <p:style>
          <a:lnRef idx="1">
            <a:schemeClr val="accent1"/>
          </a:lnRef>
          <a:fillRef idx="3">
            <a:schemeClr val="accent1"/>
          </a:fillRef>
          <a:effectRef idx="0">
            <a:schemeClr val="accent1"/>
          </a:effectRef>
          <a:fontRef idx="minor">
            <a:schemeClr val="lt1"/>
          </a:fontRef>
        </p:style>
        <p:txBody>
          <a:bodyPr rtlCol="0" anchor="ctr" wrap="square" lIns="164592" rIns="164592" tIns="128016" bIns="91440"/>
          <a:lstStyle/>
          <a:p>
            <a:pPr algn="l">
              <a:spcAft>
                <a:spcPts val="200"/>
              </a:spcAft>
            </a:pPr>
            <a:r>
              <a:rPr sz="1400" b="1" i="0">
                <a:solidFill>
                  <a:srgbClr val="102A43"/>
                </a:solidFill>
                <a:latin typeface="Segoe UI"/>
              </a:rPr>
              <a:t>Addendum</a:t>
            </a:r>
          </a:p>
          <a:p>
            <a:pPr algn="l">
              <a:spcAft>
                <a:spcPts val="0"/>
              </a:spcAft>
            </a:pPr>
            <a:r>
              <a:rPr sz="1200" b="0" i="0">
                <a:solidFill>
                  <a:srgbClr val="243B53"/>
                </a:solidFill>
                <a:latin typeface="Segoe UI"/>
              </a:rPr>
              <a:t>Evolving assessment and proposal</a:t>
            </a:r>
          </a:p>
        </p:txBody>
      </p:sp>
      <p:sp>
        <p:nvSpPr>
          <p:cNvPr id="6" name="Problem 3"/>
          <p:cNvSpPr/>
          <p:nvPr/>
        </p:nvSpPr>
        <p:spPr>
          <a:xfrm>
            <a:off x="548640" y="4297680"/>
            <a:ext cx="2743200" cy="868680"/>
          </a:xfrm>
          <a:prstGeom prst="roundRect">
            <a:avLst>
              <a:gd name="adj" fmla="val 6000"/>
            </a:avLst>
          </a:prstGeom>
          <a:solidFill>
            <a:srgbClr val="FBEAE8"/>
          </a:solidFill>
          <a:ln w="12700">
            <a:solidFill>
              <a:srgbClr val="F3C7C1"/>
            </a:solidFill>
          </a:ln>
        </p:spPr>
        <p:style>
          <a:lnRef idx="1">
            <a:schemeClr val="accent1"/>
          </a:lnRef>
          <a:fillRef idx="3">
            <a:schemeClr val="accent1"/>
          </a:fillRef>
          <a:effectRef idx="0">
            <a:schemeClr val="accent1"/>
          </a:effectRef>
          <a:fontRef idx="minor">
            <a:schemeClr val="lt1"/>
          </a:fontRef>
        </p:style>
        <p:txBody>
          <a:bodyPr rtlCol="0" anchor="ctr" wrap="square" lIns="164592" rIns="164592" tIns="128016" bIns="91440"/>
          <a:lstStyle/>
          <a:p>
            <a:pPr algn="l">
              <a:spcAft>
                <a:spcPts val="200"/>
              </a:spcAft>
            </a:pPr>
            <a:r>
              <a:rPr sz="1400" b="1" i="0">
                <a:solidFill>
                  <a:srgbClr val="102A43"/>
                </a:solidFill>
                <a:latin typeface="Segoe UI"/>
              </a:rPr>
              <a:t>BRD</a:t>
            </a:r>
          </a:p>
          <a:p>
            <a:pPr algn="l">
              <a:spcAft>
                <a:spcPts val="0"/>
              </a:spcAft>
            </a:pPr>
            <a:r>
              <a:rPr sz="1200" b="0" i="0">
                <a:solidFill>
                  <a:srgbClr val="243B53"/>
                </a:solidFill>
                <a:latin typeface="Segoe UI"/>
              </a:rPr>
              <a:t>Requirements with stable IDs</a:t>
            </a:r>
          </a:p>
        </p:txBody>
      </p:sp>
      <p:sp>
        <p:nvSpPr>
          <p:cNvPr id="7" name="Col B head"/>
          <p:cNvSpPr txBox="1"/>
          <p:nvPr/>
        </p:nvSpPr>
        <p:spPr>
          <a:xfrm>
            <a:off x="3566160" y="1417320"/>
            <a:ext cx="5120640" cy="320040"/>
          </a:xfrm>
          <a:prstGeom prst="rect">
            <a:avLst/>
          </a:prstGeom>
          <a:noFill/>
        </p:spPr>
        <p:txBody>
          <a:bodyPr wrap="square">
            <a:spAutoFit/>
          </a:bodyPr>
          <a:lstStyle/>
          <a:p>
            <a:r>
              <a:rPr sz="1200" b="1" i="0">
                <a:solidFill>
                  <a:srgbClr val="0B625B"/>
                </a:solidFill>
                <a:latin typeface="Segoe UI"/>
              </a:rPr>
              <a:t>DOCS/REFERENCE: THE KNOWLEDGE BASE</a:t>
            </a:r>
          </a:p>
        </p:txBody>
      </p:sp>
      <p:sp>
        <p:nvSpPr>
          <p:cNvPr id="8" name="KB 1"/>
          <p:cNvSpPr/>
          <p:nvPr/>
        </p:nvSpPr>
        <p:spPr>
          <a:xfrm>
            <a:off x="3566160" y="2011680"/>
            <a:ext cx="2423160" cy="594360"/>
          </a:xfrm>
          <a:prstGeom prst="roundRect">
            <a:avLst>
              <a:gd name="adj" fmla="val 6000"/>
            </a:avLst>
          </a:prstGeom>
          <a:solidFill>
            <a:srgbClr val="E3F4F1"/>
          </a:solidFill>
          <a:ln w="12700">
            <a:solidFill>
              <a:srgbClr val="B7E2DA"/>
            </a:solidFill>
          </a:ln>
        </p:spPr>
        <p:style>
          <a:lnRef idx="1">
            <a:schemeClr val="accent1"/>
          </a:lnRef>
          <a:fillRef idx="3">
            <a:schemeClr val="accent1"/>
          </a:fillRef>
          <a:effectRef idx="0">
            <a:schemeClr val="accent1"/>
          </a:effectRef>
          <a:fontRef idx="minor">
            <a:schemeClr val="lt1"/>
          </a:fontRef>
        </p:style>
        <p:txBody>
          <a:bodyPr rtlCol="0" anchor="ctr" wrap="square" lIns="109728" rIns="109728" tIns="128016" bIns="91440"/>
          <a:lstStyle/>
          <a:p>
            <a:pPr algn="l">
              <a:spcAft>
                <a:spcPts val="0"/>
              </a:spcAft>
            </a:pPr>
            <a:r>
              <a:rPr sz="1300" b="1" i="0">
                <a:solidFill>
                  <a:srgbClr val="0B625B"/>
                </a:solidFill>
                <a:latin typeface="Segoe UI"/>
              </a:rPr>
              <a:t>Index</a:t>
            </a:r>
          </a:p>
          <a:p>
            <a:pPr algn="l">
              <a:spcAft>
                <a:spcPts val="0"/>
              </a:spcAft>
            </a:pPr>
            <a:r>
              <a:rPr sz="1100" b="0" i="0">
                <a:solidFill>
                  <a:srgbClr val="243B53"/>
                </a:solidFill>
                <a:latin typeface="Segoe UI"/>
              </a:rPr>
              <a:t>README task routing</a:t>
            </a:r>
          </a:p>
        </p:txBody>
      </p:sp>
      <p:sp>
        <p:nvSpPr>
          <p:cNvPr id="9" name="KB 2"/>
          <p:cNvSpPr/>
          <p:nvPr/>
        </p:nvSpPr>
        <p:spPr>
          <a:xfrm>
            <a:off x="6263640" y="2011680"/>
            <a:ext cx="2423160" cy="594360"/>
          </a:xfrm>
          <a:prstGeom prst="roundRect">
            <a:avLst>
              <a:gd name="adj" fmla="val 6000"/>
            </a:avLst>
          </a:prstGeom>
          <a:solidFill>
            <a:srgbClr val="E3F4F1"/>
          </a:solidFill>
          <a:ln w="12700">
            <a:solidFill>
              <a:srgbClr val="B7E2DA"/>
            </a:solidFill>
          </a:ln>
        </p:spPr>
        <p:style>
          <a:lnRef idx="1">
            <a:schemeClr val="accent1"/>
          </a:lnRef>
          <a:fillRef idx="3">
            <a:schemeClr val="accent1"/>
          </a:fillRef>
          <a:effectRef idx="0">
            <a:schemeClr val="accent1"/>
          </a:effectRef>
          <a:fontRef idx="minor">
            <a:schemeClr val="lt1"/>
          </a:fontRef>
        </p:style>
        <p:txBody>
          <a:bodyPr rtlCol="0" anchor="ctr" wrap="square" lIns="109728" rIns="109728" tIns="128016" bIns="91440"/>
          <a:lstStyle/>
          <a:p>
            <a:pPr algn="l">
              <a:spcAft>
                <a:spcPts val="0"/>
              </a:spcAft>
            </a:pPr>
            <a:r>
              <a:rPr sz="1300" b="1" i="0">
                <a:solidFill>
                  <a:srgbClr val="0B625B"/>
                </a:solidFill>
                <a:latin typeface="Segoe UI"/>
              </a:rPr>
              <a:t>Sources</a:t>
            </a:r>
          </a:p>
          <a:p>
            <a:pPr algn="l">
              <a:spcAft>
                <a:spcPts val="0"/>
              </a:spcAft>
            </a:pPr>
            <a:r>
              <a:rPr sz="1100" b="0" i="0">
                <a:solidFill>
                  <a:srgbClr val="243B53"/>
                </a:solidFill>
                <a:latin typeface="Segoe UI"/>
              </a:rPr>
              <a:t>Immutable dated snapshots</a:t>
            </a:r>
          </a:p>
        </p:txBody>
      </p:sp>
      <p:sp>
        <p:nvSpPr>
          <p:cNvPr id="10" name="KB 3"/>
          <p:cNvSpPr/>
          <p:nvPr/>
        </p:nvSpPr>
        <p:spPr>
          <a:xfrm>
            <a:off x="3566160" y="2880360"/>
            <a:ext cx="2423160" cy="594360"/>
          </a:xfrm>
          <a:prstGeom prst="roundRect">
            <a:avLst>
              <a:gd name="adj" fmla="val 6000"/>
            </a:avLst>
          </a:prstGeom>
          <a:solidFill>
            <a:srgbClr val="E3F4F1"/>
          </a:solidFill>
          <a:ln w="12700">
            <a:solidFill>
              <a:srgbClr val="B7E2DA"/>
            </a:solidFill>
          </a:ln>
        </p:spPr>
        <p:style>
          <a:lnRef idx="1">
            <a:schemeClr val="accent1"/>
          </a:lnRef>
          <a:fillRef idx="3">
            <a:schemeClr val="accent1"/>
          </a:fillRef>
          <a:effectRef idx="0">
            <a:schemeClr val="accent1"/>
          </a:effectRef>
          <a:fontRef idx="minor">
            <a:schemeClr val="lt1"/>
          </a:fontRef>
        </p:style>
        <p:txBody>
          <a:bodyPr rtlCol="0" anchor="ctr" wrap="square" lIns="109728" rIns="109728" tIns="128016" bIns="91440"/>
          <a:lstStyle/>
          <a:p>
            <a:pPr algn="l">
              <a:spcAft>
                <a:spcPts val="0"/>
              </a:spcAft>
            </a:pPr>
            <a:r>
              <a:rPr sz="1300" b="1" i="0">
                <a:solidFill>
                  <a:srgbClr val="0B625B"/>
                </a:solidFill>
                <a:latin typeface="Segoe UI"/>
              </a:rPr>
              <a:t>Syntheses</a:t>
            </a:r>
          </a:p>
          <a:p>
            <a:pPr algn="l">
              <a:spcAft>
                <a:spcPts val="0"/>
              </a:spcAft>
            </a:pPr>
            <a:r>
              <a:rPr sz="1100" b="0" i="0">
                <a:solidFill>
                  <a:srgbClr val="243B53"/>
                </a:solidFill>
                <a:latin typeface="Segoe UI"/>
              </a:rPr>
              <a:t>Cited sector and company research</a:t>
            </a:r>
          </a:p>
        </p:txBody>
      </p:sp>
      <p:sp>
        <p:nvSpPr>
          <p:cNvPr id="11" name="KB 4"/>
          <p:cNvSpPr/>
          <p:nvPr/>
        </p:nvSpPr>
        <p:spPr>
          <a:xfrm>
            <a:off x="6263640" y="2880360"/>
            <a:ext cx="2423160" cy="594360"/>
          </a:xfrm>
          <a:prstGeom prst="roundRect">
            <a:avLst>
              <a:gd name="adj" fmla="val 6000"/>
            </a:avLst>
          </a:prstGeom>
          <a:solidFill>
            <a:srgbClr val="E3F4F1"/>
          </a:solidFill>
          <a:ln w="12700">
            <a:solidFill>
              <a:srgbClr val="B7E2DA"/>
            </a:solidFill>
          </a:ln>
        </p:spPr>
        <p:style>
          <a:lnRef idx="1">
            <a:schemeClr val="accent1"/>
          </a:lnRef>
          <a:fillRef idx="3">
            <a:schemeClr val="accent1"/>
          </a:fillRef>
          <a:effectRef idx="0">
            <a:schemeClr val="accent1"/>
          </a:effectRef>
          <a:fontRef idx="minor">
            <a:schemeClr val="lt1"/>
          </a:fontRef>
        </p:style>
        <p:txBody>
          <a:bodyPr rtlCol="0" anchor="ctr" wrap="square" lIns="109728" rIns="109728" tIns="128016" bIns="91440"/>
          <a:lstStyle/>
          <a:p>
            <a:pPr algn="l">
              <a:spcAft>
                <a:spcPts val="0"/>
              </a:spcAft>
            </a:pPr>
            <a:r>
              <a:rPr sz="1300" b="1" i="0">
                <a:solidFill>
                  <a:srgbClr val="0B625B"/>
                </a:solidFill>
                <a:latin typeface="Segoe UI"/>
              </a:rPr>
              <a:t>Method</a:t>
            </a:r>
          </a:p>
          <a:p>
            <a:pPr algn="l">
              <a:spcAft>
                <a:spcPts val="0"/>
              </a:spcAft>
            </a:pPr>
            <a:r>
              <a:rPr sz="1100" b="0" i="0">
                <a:solidFill>
                  <a:srgbClr val="243B53"/>
                </a:solidFill>
                <a:latin typeface="Segoe UI"/>
              </a:rPr>
              <a:t>AMA training and prompts</a:t>
            </a:r>
          </a:p>
        </p:txBody>
      </p:sp>
      <p:sp>
        <p:nvSpPr>
          <p:cNvPr id="12" name="KB 5"/>
          <p:cNvSpPr/>
          <p:nvPr/>
        </p:nvSpPr>
        <p:spPr>
          <a:xfrm>
            <a:off x="3566160" y="3749039"/>
            <a:ext cx="2423160" cy="594360"/>
          </a:xfrm>
          <a:prstGeom prst="roundRect">
            <a:avLst>
              <a:gd name="adj" fmla="val 6000"/>
            </a:avLst>
          </a:prstGeom>
          <a:solidFill>
            <a:srgbClr val="E3F4F1"/>
          </a:solidFill>
          <a:ln w="12700">
            <a:solidFill>
              <a:srgbClr val="B7E2DA"/>
            </a:solidFill>
          </a:ln>
        </p:spPr>
        <p:style>
          <a:lnRef idx="1">
            <a:schemeClr val="accent1"/>
          </a:lnRef>
          <a:fillRef idx="3">
            <a:schemeClr val="accent1"/>
          </a:fillRef>
          <a:effectRef idx="0">
            <a:schemeClr val="accent1"/>
          </a:effectRef>
          <a:fontRef idx="minor">
            <a:schemeClr val="lt1"/>
          </a:fontRef>
        </p:style>
        <p:txBody>
          <a:bodyPr rtlCol="0" anchor="ctr" wrap="square" lIns="109728" rIns="109728" tIns="128016" bIns="91440"/>
          <a:lstStyle/>
          <a:p>
            <a:pPr algn="l">
              <a:spcAft>
                <a:spcPts val="0"/>
              </a:spcAft>
            </a:pPr>
            <a:r>
              <a:rPr sz="1300" b="1" i="0">
                <a:solidFill>
                  <a:srgbClr val="0B625B"/>
                </a:solidFill>
                <a:latin typeface="Segoe UI"/>
              </a:rPr>
              <a:t>Resources</a:t>
            </a:r>
          </a:p>
          <a:p>
            <a:pPr algn="l">
              <a:spcAft>
                <a:spcPts val="0"/>
              </a:spcAft>
            </a:pPr>
            <a:r>
              <a:rPr sz="1100" b="0" i="0">
                <a:solidFill>
                  <a:srgbClr val="243B53"/>
                </a:solidFill>
                <a:latin typeface="Segoe UI"/>
              </a:rPr>
              <a:t>Industry Hub findings</a:t>
            </a:r>
          </a:p>
        </p:txBody>
      </p:sp>
      <p:sp>
        <p:nvSpPr>
          <p:cNvPr id="13" name="KB 6"/>
          <p:cNvSpPr/>
          <p:nvPr/>
        </p:nvSpPr>
        <p:spPr>
          <a:xfrm>
            <a:off x="6263640" y="3749039"/>
            <a:ext cx="2423160" cy="594360"/>
          </a:xfrm>
          <a:prstGeom prst="roundRect">
            <a:avLst>
              <a:gd name="adj" fmla="val 6000"/>
            </a:avLst>
          </a:prstGeom>
          <a:solidFill>
            <a:srgbClr val="E3F4F1"/>
          </a:solidFill>
          <a:ln w="12700">
            <a:solidFill>
              <a:srgbClr val="B7E2DA"/>
            </a:solidFill>
          </a:ln>
        </p:spPr>
        <p:style>
          <a:lnRef idx="1">
            <a:schemeClr val="accent1"/>
          </a:lnRef>
          <a:fillRef idx="3">
            <a:schemeClr val="accent1"/>
          </a:fillRef>
          <a:effectRef idx="0">
            <a:schemeClr val="accent1"/>
          </a:effectRef>
          <a:fontRef idx="minor">
            <a:schemeClr val="lt1"/>
          </a:fontRef>
        </p:style>
        <p:txBody>
          <a:bodyPr rtlCol="0" anchor="ctr" wrap="square" lIns="109728" rIns="109728" tIns="128016" bIns="91440"/>
          <a:lstStyle/>
          <a:p>
            <a:pPr algn="l">
              <a:spcAft>
                <a:spcPts val="0"/>
              </a:spcAft>
            </a:pPr>
            <a:r>
              <a:rPr sz="1300" b="1" i="0">
                <a:solidFill>
                  <a:srgbClr val="0B625B"/>
                </a:solidFill>
                <a:latin typeface="Segoe UI"/>
              </a:rPr>
              <a:t>Memory</a:t>
            </a:r>
          </a:p>
          <a:p>
            <a:pPr algn="l">
              <a:spcAft>
                <a:spcPts val="0"/>
              </a:spcAft>
            </a:pPr>
            <a:r>
              <a:rPr sz="1100" b="0" i="0">
                <a:solidFill>
                  <a:srgbClr val="243B53"/>
                </a:solidFill>
                <a:latin typeface="Segoe UI"/>
              </a:rPr>
              <a:t>Owner context, not evidence</a:t>
            </a:r>
          </a:p>
        </p:txBody>
      </p:sp>
      <p:sp>
        <p:nvSpPr>
          <p:cNvPr id="14" name="KB 7"/>
          <p:cNvSpPr/>
          <p:nvPr/>
        </p:nvSpPr>
        <p:spPr>
          <a:xfrm>
            <a:off x="3566160" y="4617720"/>
            <a:ext cx="2423160" cy="594360"/>
          </a:xfrm>
          <a:prstGeom prst="roundRect">
            <a:avLst>
              <a:gd name="adj" fmla="val 6000"/>
            </a:avLst>
          </a:prstGeom>
          <a:solidFill>
            <a:srgbClr val="E3F4F1"/>
          </a:solidFill>
          <a:ln w="12700">
            <a:solidFill>
              <a:srgbClr val="B7E2DA"/>
            </a:solidFill>
          </a:ln>
        </p:spPr>
        <p:style>
          <a:lnRef idx="1">
            <a:schemeClr val="accent1"/>
          </a:lnRef>
          <a:fillRef idx="3">
            <a:schemeClr val="accent1"/>
          </a:fillRef>
          <a:effectRef idx="0">
            <a:schemeClr val="accent1"/>
          </a:effectRef>
          <a:fontRef idx="minor">
            <a:schemeClr val="lt1"/>
          </a:fontRef>
        </p:style>
        <p:txBody>
          <a:bodyPr rtlCol="0" anchor="ctr" wrap="square" lIns="109728" rIns="109728" tIns="128016" bIns="91440"/>
          <a:lstStyle/>
          <a:p>
            <a:pPr algn="l">
              <a:spcAft>
                <a:spcPts val="0"/>
              </a:spcAft>
            </a:pPr>
            <a:r>
              <a:rPr sz="1300" b="1" i="0">
                <a:solidFill>
                  <a:srgbClr val="0B625B"/>
                </a:solidFill>
                <a:latin typeface="Segoe UI"/>
              </a:rPr>
              <a:t>Log</a:t>
            </a:r>
          </a:p>
          <a:p>
            <a:pPr algn="l">
              <a:spcAft>
                <a:spcPts val="0"/>
              </a:spcAft>
            </a:pPr>
            <a:r>
              <a:rPr sz="1100" b="0" i="0">
                <a:solidFill>
                  <a:srgbClr val="243B53"/>
                </a:solidFill>
                <a:latin typeface="Segoe UI"/>
              </a:rPr>
              <a:t>Append-only changes and contradictions</a:t>
            </a:r>
          </a:p>
        </p:txBody>
      </p:sp>
      <p:sp>
        <p:nvSpPr>
          <p:cNvPr id="15" name="KB 8"/>
          <p:cNvSpPr/>
          <p:nvPr/>
        </p:nvSpPr>
        <p:spPr>
          <a:xfrm>
            <a:off x="6263640" y="4617720"/>
            <a:ext cx="2423160" cy="594360"/>
          </a:xfrm>
          <a:prstGeom prst="roundRect">
            <a:avLst>
              <a:gd name="adj" fmla="val 6000"/>
            </a:avLst>
          </a:prstGeom>
          <a:solidFill>
            <a:srgbClr val="E3F4F1"/>
          </a:solidFill>
          <a:ln w="12700">
            <a:solidFill>
              <a:srgbClr val="B7E2DA"/>
            </a:solidFill>
          </a:ln>
        </p:spPr>
        <p:style>
          <a:lnRef idx="1">
            <a:schemeClr val="accent1"/>
          </a:lnRef>
          <a:fillRef idx="3">
            <a:schemeClr val="accent1"/>
          </a:fillRef>
          <a:effectRef idx="0">
            <a:schemeClr val="accent1"/>
          </a:effectRef>
          <a:fontRef idx="minor">
            <a:schemeClr val="lt1"/>
          </a:fontRef>
        </p:style>
        <p:txBody>
          <a:bodyPr rtlCol="0" anchor="ctr" wrap="square" lIns="109728" rIns="109728" tIns="128016" bIns="91440"/>
          <a:lstStyle/>
          <a:p>
            <a:pPr algn="l">
              <a:spcAft>
                <a:spcPts val="0"/>
              </a:spcAft>
            </a:pPr>
            <a:r>
              <a:rPr sz="1300" b="1" i="0">
                <a:solidFill>
                  <a:srgbClr val="0B625B"/>
                </a:solidFill>
                <a:latin typeface="Segoe UI"/>
              </a:rPr>
              <a:t>Schema</a:t>
            </a:r>
          </a:p>
          <a:p>
            <a:pPr algn="l">
              <a:spcAft>
                <a:spcPts val="0"/>
              </a:spcAft>
            </a:pPr>
            <a:r>
              <a:rPr sz="1100" b="0" i="0">
                <a:solidFill>
                  <a:srgbClr val="243B53"/>
                </a:solidFill>
                <a:latin typeface="Segoe UI"/>
              </a:rPr>
              <a:t>copilot-instructions rules</a:t>
            </a:r>
          </a:p>
        </p:txBody>
      </p:sp>
      <p:sp>
        <p:nvSpPr>
          <p:cNvPr id="16" name="Col C head"/>
          <p:cNvSpPr txBox="1"/>
          <p:nvPr/>
        </p:nvSpPr>
        <p:spPr>
          <a:xfrm>
            <a:off x="8961120" y="1417320"/>
            <a:ext cx="2681935" cy="320040"/>
          </a:xfrm>
          <a:prstGeom prst="rect">
            <a:avLst/>
          </a:prstGeom>
          <a:noFill/>
        </p:spPr>
        <p:txBody>
          <a:bodyPr wrap="square">
            <a:spAutoFit/>
          </a:bodyPr>
          <a:lstStyle/>
          <a:p>
            <a:r>
              <a:rPr sz="1200" b="1" i="0">
                <a:solidFill>
                  <a:srgbClr val="1D5FB8"/>
                </a:solidFill>
                <a:latin typeface="Segoe UI"/>
              </a:rPr>
              <a:t>WORKING EVIDENCE</a:t>
            </a:r>
          </a:p>
        </p:txBody>
      </p:sp>
      <p:sp>
        <p:nvSpPr>
          <p:cNvPr id="17" name="Tracking"/>
          <p:cNvSpPr/>
          <p:nvPr/>
        </p:nvSpPr>
        <p:spPr>
          <a:xfrm>
            <a:off x="8961120" y="2011680"/>
            <a:ext cx="2681935" cy="1463040"/>
          </a:xfrm>
          <a:prstGeom prst="roundRect">
            <a:avLst>
              <a:gd name="adj" fmla="val 6000"/>
            </a:avLst>
          </a:prstGeom>
          <a:solidFill>
            <a:srgbClr val="E6EFFB"/>
          </a:solidFill>
          <a:ln w="12700">
            <a:solidFill>
              <a:srgbClr val="C7D9F3"/>
            </a:solidFill>
          </a:ln>
        </p:spPr>
        <p:style>
          <a:lnRef idx="1">
            <a:schemeClr val="accent1"/>
          </a:lnRef>
          <a:fillRef idx="3">
            <a:schemeClr val="accent1"/>
          </a:fillRef>
          <a:effectRef idx="0">
            <a:schemeClr val="accent1"/>
          </a:effectRef>
          <a:fontRef idx="minor">
            <a:schemeClr val="lt1"/>
          </a:fontRef>
        </p:style>
        <p:txBody>
          <a:bodyPr rtlCol="0" anchor="t" wrap="square" lIns="164592" rIns="164592" tIns="128016" bIns="91440"/>
          <a:lstStyle/>
          <a:p>
            <a:pPr algn="l">
              <a:spcAft>
                <a:spcPts val="200"/>
              </a:spcAft>
            </a:pPr>
            <a:r>
              <a:rPr sz="1400" b="1" i="0">
                <a:solidFill>
                  <a:srgbClr val="102A43"/>
                </a:solidFill>
                <a:latin typeface="Segoe UI"/>
              </a:rPr>
              <a:t>.copilot-tracking</a:t>
            </a:r>
          </a:p>
          <a:p>
            <a:pPr algn="l">
              <a:spcAft>
                <a:spcPts val="0"/>
              </a:spcAft>
            </a:pPr>
            <a:r>
              <a:rPr sz="1200" b="0" i="0">
                <a:solidFill>
                  <a:srgbClr val="243B53"/>
                </a:solidFill>
                <a:latin typeface="Segoe UI"/>
              </a:rPr>
              <a:t>Plans, research, changes, reviews and BRD session state for every workflow</a:t>
            </a:r>
          </a:p>
        </p:txBody>
      </p:sp>
      <p:sp>
        <p:nvSpPr>
          <p:cNvPr id="18" name="Git"/>
          <p:cNvSpPr/>
          <p:nvPr/>
        </p:nvSpPr>
        <p:spPr>
          <a:xfrm>
            <a:off x="8961120" y="3749039"/>
            <a:ext cx="2681935" cy="1463040"/>
          </a:xfrm>
          <a:prstGeom prst="roundRect">
            <a:avLst>
              <a:gd name="adj" fmla="val 6000"/>
            </a:avLst>
          </a:prstGeom>
          <a:solidFill>
            <a:srgbClr val="E6EFFB"/>
          </a:solidFill>
          <a:ln w="12700">
            <a:solidFill>
              <a:srgbClr val="C7D9F3"/>
            </a:solidFill>
          </a:ln>
        </p:spPr>
        <p:style>
          <a:lnRef idx="1">
            <a:schemeClr val="accent1"/>
          </a:lnRef>
          <a:fillRef idx="3">
            <a:schemeClr val="accent1"/>
          </a:fillRef>
          <a:effectRef idx="0">
            <a:schemeClr val="accent1"/>
          </a:effectRef>
          <a:fontRef idx="minor">
            <a:schemeClr val="lt1"/>
          </a:fontRef>
        </p:style>
        <p:txBody>
          <a:bodyPr rtlCol="0" anchor="t" wrap="square" lIns="164592" rIns="164592" tIns="128016" bIns="91440"/>
          <a:lstStyle/>
          <a:p>
            <a:pPr algn="l">
              <a:spcAft>
                <a:spcPts val="200"/>
              </a:spcAft>
            </a:pPr>
            <a:r>
              <a:rPr sz="1400" b="1" i="0">
                <a:solidFill>
                  <a:srgbClr val="102A43"/>
                </a:solidFill>
                <a:latin typeface="Segoe UI"/>
              </a:rPr>
              <a:t>Git history</a:t>
            </a:r>
          </a:p>
          <a:p>
            <a:pPr algn="l">
              <a:spcAft>
                <a:spcPts val="0"/>
              </a:spcAft>
            </a:pPr>
            <a:r>
              <a:rPr sz="1200" b="0" i="0">
                <a:solidFill>
                  <a:srgbClr val="243B53"/>
                </a:solidFill>
                <a:latin typeface="Segoe UI"/>
              </a:rPr>
              <a:t>41 commits, 10 to 27 Sep, and three merged PRs; the log records what changed and why</a:t>
            </a:r>
          </a:p>
        </p:txBody>
      </p:sp>
      <p:sp>
        <p:nvSpPr>
          <p:cNvPr id="19" name="Takeaway"/>
          <p:cNvSpPr/>
          <p:nvPr/>
        </p:nvSpPr>
        <p:spPr>
          <a:xfrm>
            <a:off x="548640" y="5486400"/>
            <a:ext cx="11094415" cy="365760"/>
          </a:xfrm>
          <a:prstGeom prst="roundRect">
            <a:avLst>
              <a:gd name="adj" fmla="val 12000"/>
            </a:avLst>
          </a:prstGeom>
          <a:solidFill>
            <a:srgbClr val="102A43"/>
          </a:solidFill>
          <a:ln w="12700">
            <a:solidFill>
              <a:srgbClr val="102A43"/>
            </a:solidFill>
          </a:ln>
        </p:spPr>
        <p:style>
          <a:lnRef idx="1">
            <a:schemeClr val="accent1"/>
          </a:lnRef>
          <a:fillRef idx="3">
            <a:schemeClr val="accent1"/>
          </a:fillRef>
          <a:effectRef idx="0">
            <a:schemeClr val="accent1"/>
          </a:effectRef>
          <a:fontRef idx="minor">
            <a:schemeClr val="lt1"/>
          </a:fontRef>
        </p:style>
        <p:txBody>
          <a:bodyPr rtlCol="0" anchor="ctr" wrap="square" lIns="109728" rIns="109728" tIns="36576" bIns="36576"/>
          <a:lstStyle/>
          <a:p>
            <a:pPr algn="ctr"/>
            <a:r>
              <a:rPr sz="1300" b="1" i="0">
                <a:solidFill>
                  <a:srgbClr val="FFFFFF"/>
                </a:solidFill>
                <a:latin typeface="Segoe UI"/>
              </a:rPr>
              <a:t>Pattern: Karpathy's LLM Wiki. Immutable sources, maintained syntheses, read the index first, log every change</a:t>
            </a:r>
          </a:p>
        </p:txBody>
      </p:sp>
      <p:sp>
        <p:nvSpPr>
          <p:cNvPr id="20" name="Source"/>
          <p:cNvSpPr txBox="1"/>
          <p:nvPr/>
        </p:nvSpPr>
        <p:spPr>
          <a:xfrm>
            <a:off x="548640" y="6126480"/>
            <a:ext cx="11094415" cy="256032"/>
          </a:xfrm>
          <a:prstGeom prst="rect">
            <a:avLst/>
          </a:prstGeom>
          <a:noFill/>
        </p:spPr>
        <p:txBody>
          <a:bodyPr wrap="square" tIns="0" bIns="0">
            <a:spAutoFit/>
          </a:bodyPr>
          <a:lstStyle/>
          <a:p>
            <a:r>
              <a:rPr sz="900" b="0" i="0">
                <a:solidFill>
                  <a:srgbClr val="627D98"/>
                </a:solidFill>
                <a:latin typeface="Segoe UI"/>
              </a:rPr>
              <a:t>Sources: docs/reference/README.md (Layers, Task Routing); .github/copilot-instructions.md; docs/reference/log.md.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Case Study 48 - Mentor Progress Review</dc:title>
  <dc:subject>How the Proper Warm case gaps were filled: research, role agents, BRD, design thinking and quality review</dc:subject>
  <dc:creator>AMA Research Team</dc:creator>
  <cp:keywords>AMA, Case Study 48, Proper Warm, BRD, design thinking, knowledge base</cp:keywords>
  <dc:description>generated using python-pptx</dc:description>
  <cp:lastModifiedBy>Steve Canny</cp:lastModifiedBy>
  <cp:revision>1</cp:revision>
  <dcterms:created xsi:type="dcterms:W3CDTF">2013-01-27T09:14:16Z</dcterms:created>
  <dcterms:modified xsi:type="dcterms:W3CDTF">2013-01-27T09:15:58Z</dcterms:modified>
  <cp:category>Mentoring</cp:category>
</cp:coreProperties>
</file>