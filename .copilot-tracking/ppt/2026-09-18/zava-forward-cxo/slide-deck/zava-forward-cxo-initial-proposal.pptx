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from a fixed position: "The outcome we need today is a bounded</a:t>
            </a:r>
          </a:p>
          <a:p>
            <a:r>
              <a:t>decision." We are asking to fund evidence, not assume scale. Approval does</a:t>
            </a:r>
          </a:p>
          <a:p>
            <a:r>
              <a:t>not authorise AI deployment, resident contact, works instructions, capital</a:t>
            </a:r>
          </a:p>
          <a:p>
            <a:r>
              <a:t>acceleration or grant recognition. Pause after stating what is not requested.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criticising the current team or spreadsheets. Spreadsheet dependency</a:t>
            </a:r>
          </a:p>
          <a:p>
            <a:r>
              <a:t>signals fragmented coordination, but it does not prove administration is the</a:t>
            </a:r>
          </a:p>
          <a:p>
            <a:r>
              <a:t>binding constraint. Define delivery as a safe, resident-accepted,</a:t>
            </a:r>
          </a:p>
          <a:p>
            <a:r>
              <a:t>evidence-complete handover. Readiness must identify which constraints</a:t>
            </a:r>
          </a:p>
          <a:p>
            <a:r>
              <a:t>materially limit that outcome.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Urgency does not remove the need to diagnose the constraint. Existing hazard</a:t>
            </a:r>
          </a:p>
          <a:p>
            <a:r>
              <a:t>services and eligible grant delivery cannot wait for a new platform. Do not</a:t>
            </a:r>
          </a:p>
          <a:p>
            <a:r>
              <a:t>describe EPC C by 2030 as an in-force statutory deadline or imply that a</a:t>
            </a:r>
          </a:p>
          <a:p>
            <a:r>
              <a:t>Zava North Homes grant allocation is confirmed. Regulatory applicability</a:t>
            </a:r>
          </a:p>
          <a:p>
            <a:r>
              <a:t>must be checked at each consequential decision.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future state tangible: every executive question should trace to the</a:t>
            </a:r>
          </a:p>
          <a:p>
            <a:r>
              <a:t>same property evidence, decision, owner and exception. The control plane</a:t>
            </a:r>
          </a:p>
          <a:p>
            <a:r>
              <a:t>connects existing services; it does not replace every system. Emergency,</a:t>
            </a:r>
          </a:p>
          <a:p>
            <a:r>
              <a:t>damp-and-mould, safeguarding, complaints and repairs routes remain</a:t>
            </a:r>
          </a:p>
          <a:p>
            <a:r>
              <a:t>independently available and take precedence.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exact verbs recommend, draft, reconcile and flag. Competent</a:t>
            </a:r>
          </a:p>
          <a:p>
            <a:r>
              <a:t>professionals own PAS 2035 outputs. Residents retain measure-specific</a:t>
            </a:r>
          </a:p>
          <a:p>
            <a:r>
              <a:t>decisions. Finance, safety, procurement and quality authorities retain their</a:t>
            </a:r>
          </a:p>
          <a:p>
            <a:r>
              <a:t>mandates. Resident silence, survey access or an accepted appointment must</a:t>
            </a:r>
          </a:p>
          <a:p>
            <a:r>
              <a:t>never be interpreted as installation consent.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phased commitment to scale. Each stage releases only the</a:t>
            </a:r>
          </a:p>
          <a:p>
            <a:r>
              <a:t>authority and expenditure justified by evidence. A successful readiness</a:t>
            </a:r>
          </a:p>
          <a:p>
            <a:r>
              <a:t>stage may recommend conventional process redesign or rules-based workflow.</a:t>
            </a:r>
          </a:p>
          <a:p>
            <a:r>
              <a:t>The proposed pilot size and duration remain subject to readiness validation.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the executive question: what are we buying in eight weeks? Each</a:t>
            </a:r>
          </a:p>
          <a:p>
            <a:r>
              <a:t>output needs a named owner. Require a twelve-month baseline by property</a:t>
            </a:r>
          </a:p>
          <a:p>
            <a:r>
              <a:t>archetype, measure, supplier and lifecycle stage, including reopened work.</a:t>
            </a:r>
          </a:p>
          <a:p>
            <a:r>
              <a:t>If coordination is not a material constraint, do not force an agentic</a:t>
            </a:r>
          </a:p>
          <a:p>
            <a:r>
              <a:t>solution.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pilot passes only if it improves accepted outcomes without weakening</a:t>
            </a:r>
          </a:p>
          <a:p>
            <a:r>
              <a:t>safety, resident rights, quality or affordability. Proposed cycle-time and</a:t>
            </a:r>
          </a:p>
          <a:p>
            <a:r>
              <a:t>administration targets are unratified until readiness. Keep absolute</a:t>
            </a:r>
          </a:p>
          <a:p>
            <a:r>
              <a:t>exceptions visible. A small pilot cannot prove universal safety or seasonal</a:t>
            </a:r>
          </a:p>
          <a:p>
            <a:r>
              <a:t>energy and affordability outcomes.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Technology value must be incremental to the underlying retrofit plan and</a:t>
            </a:r>
          </a:p>
          <a:p>
            <a:r>
              <a:t>exceed its full operating and assurance burden. Staff time released is</a:t>
            </a:r>
          </a:p>
          <a:p>
            <a:r>
              <a:t>capacity, not a cash saving unless expenditure changes. Existing-plan grant</a:t>
            </a:r>
          </a:p>
          <a:p>
            <a:r>
              <a:t>is not an incremental benefit. Measure resident comfort, affordability and</a:t>
            </a:r>
          </a:p>
          <a:p>
            <a:r>
              <a:t>bill effects separately.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numbers to make one point: even the scenario implies material</a:t>
            </a:r>
          </a:p>
          <a:p>
            <a:r>
              <a:t>provider funding and delivery exposure. Do not present the 74% EPC C sector</a:t>
            </a:r>
          </a:p>
          <a:p>
            <a:r>
              <a:t>estimate as the Zava North Homes baseline. Finance must validate eligible</a:t>
            </a:r>
          </a:p>
          <a:p>
            <a:r>
              <a:t>homes, award status, cost inclusions, match funding, peak cash, covenant</a:t>
            </a:r>
          </a:p>
          <a:p>
            <a:r>
              <a:t>headroom and downside tolerances.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direct decision language. "The need to improve delivery is</a:t>
            </a:r>
          </a:p>
          <a:p>
            <a:r>
              <a:t>credible. The case for a five-agent rollout is not yet proven. Approve the</a:t>
            </a:r>
          </a:p>
          <a:p>
            <a:r>
              <a:t>capped readiness stage and conditional pilot pathway so we can return with</a:t>
            </a:r>
          </a:p>
          <a:p>
            <a:r>
              <a:t>evidence and a controlled go, redesign or stop decision." Ask each control</a:t>
            </a:r>
          </a:p>
          <a:p>
            <a:r>
              <a:t>owner whether the resolution preserves their authority, then stop speaking.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  <p:txBody>
          <a:bodyPr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7FDBD4"/>
                </a:solidFill>
                <a:latin typeface="Aptos"/>
              </a:rPr>
              <a:t>ZAVA NORTH HOMES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Aptos Display"/>
              </a:rPr>
              <a:t>Zava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BCCCDC"/>
                </a:solidFill>
                <a:latin typeface="Aptos"/>
              </a:rPr>
              <a:t>A governed retrofit delivery service that turns evidence and investment into safe, resident-accepted 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54680"/>
            <a:ext cx="5166360" cy="1572768"/>
          </a:xfrm>
          <a:prstGeom prst="roundRect">
            <a:avLst/>
          </a:prstGeom>
          <a:solidFill>
            <a:srgbClr val="173F5F"/>
          </a:solidFill>
          <a:ln w="254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DECISION REQUESTED</a:t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>Approve a capped 6-8 week readiness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154680"/>
            <a:ext cx="5166360" cy="157276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4865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D9E2EC"/>
                </a:solidFill>
                <a:latin typeface="Aptos"/>
              </a:rPr>
              <a:t>NOT REQUESTED TODAY</a:t>
            </a:r>
          </a:p>
          <a:p>
            <a:r>
              <a:rPr sz="1900" b="1" i="0">
                <a:solidFill>
                  <a:srgbClr val="D9E2EC"/>
                </a:solidFill>
                <a:latin typeface="Aptos"/>
              </a:rPr>
              <a:t>Portfolio rollout, capital acceleration or a five-agent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829AB1"/>
                </a:solidFill>
                <a:latin typeface="Aptos"/>
              </a:rPr>
              <a:t>CxO initial proposal | 18 September 2026</a:t>
            </a:r>
          </a:p>
        </p:txBody>
      </p:sp>
      <p:sp>
        <p:nvSpPr>
          <p:cNvPr id="9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02A43"/>
                </a:solidFill>
                <a:latin typeface="Aptos Display"/>
              </a:rPr>
              <a:t>The delivery challenge is credible; its binding cause is not yet known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17320"/>
            <a:ext cx="33375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 i="0">
                <a:solidFill>
                  <a:srgbClr val="243B53"/>
                </a:solidFill>
                <a:latin typeface="Aptos"/>
              </a:rPr>
              <a:t>KNOWN</a:t>
            </a:r>
          </a:p>
          <a:p>
            <a:r>
              <a:rPr sz="1800" b="0" i="0">
                <a:solidFill>
                  <a:srgbClr val="243B53"/>
                </a:solidFill>
                <a:latin typeface="Aptos"/>
              </a:rPr>
              <a:t/>
            </a:r>
          </a:p>
          <a:p>
            <a:r>
              <a:rPr sz="1800" b="0" i="0">
                <a:solidFill>
                  <a:srgbClr val="243B53"/>
                </a:solidFill>
                <a:latin typeface="Aptos"/>
              </a:rPr>
              <a:t>60,000 homes</a:t>
            </a:r>
          </a:p>
          <a:p>
            <a:r>
              <a:rPr sz="1800" b="0" i="0">
                <a:solidFill>
                  <a:srgbClr val="243B53"/>
                </a:solidFill>
                <a:latin typeface="Aptos"/>
              </a:rPr>
              <a:t/>
            </a:r>
          </a:p>
          <a:p>
            <a:r>
              <a:rPr sz="1800" b="0" i="0">
                <a:solidFill>
                  <a:srgbClr val="243B53"/>
                </a:solidFill>
                <a:latin typeface="Aptos"/>
              </a:rPr>
              <a:t>Small spreadsheet-led team</a:t>
            </a:r>
          </a:p>
          <a:p>
            <a:r>
              <a:rPr sz="1800" b="0" i="0">
                <a:solidFill>
                  <a:srgbClr val="243B53"/>
                </a:solidFill>
                <a:latin typeface="Aptos"/>
              </a:rPr>
              <a:t/>
            </a:r>
          </a:p>
          <a:p>
            <a:r>
              <a:rPr sz="1800" b="0" i="0">
                <a:solidFill>
                  <a:srgbClr val="243B53"/>
                </a:solidFill>
                <a:latin typeface="Aptos"/>
              </a:rPr>
              <a:t>Delivery described as behind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2" y="1417320"/>
            <a:ext cx="3337560" cy="4251960"/>
          </a:xfrm>
          <a:prstGeom prst="roundRect">
            <a:avLst/>
          </a:prstGeom>
          <a:solidFill>
            <a:srgbClr val="FFF8E6"/>
          </a:solidFill>
          <a:ln w="12700">
            <a:solidFill>
              <a:srgbClr val="F2C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5F4B00"/>
                </a:solidFill>
                <a:latin typeface="Aptos"/>
              </a:rPr>
              <a:t>POSSIBLE CONSTRAINTS</a:t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/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>Data quality</a:t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>Capital and cash</a:t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>Competent capacity</a:t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>Supplier capacity</a:t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>Property complexity</a:t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>Resident access</a:t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>Quality failure</a:t>
            </a:r>
          </a:p>
          <a:p>
            <a:r>
              <a:rPr sz="1700" b="0" i="0">
                <a:solidFill>
                  <a:srgbClr val="5F4B00"/>
                </a:solidFill>
                <a:latin typeface="Aptos"/>
              </a:rPr>
              <a:t>Grant conditions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83296" y="1417320"/>
            <a:ext cx="3447288" cy="425196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 i="0">
                <a:solidFill>
                  <a:srgbClr val="7A271A"/>
                </a:solidFill>
                <a:latin typeface="Aptos"/>
              </a:rPr>
              <a:t>EXECUTIVE RISK</a:t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/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>Automating the wrong constraint makes activity faster - not outcomes better.</a:t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/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>Success means an accepted handover, not a task completed.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27D98"/>
                </a:solidFill>
                <a:latin typeface="Aptos"/>
              </a:rPr>
              <a:t>Evidence status: case-study facts + company unknowns + risk hypothesis</a:t>
            </a:r>
          </a:p>
        </p:txBody>
      </p:sp>
      <p:sp>
        <p:nvSpPr>
          <p:cNvPr id="8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02A43"/>
                </a:solidFill>
                <a:latin typeface="Aptos Display"/>
              </a:rPr>
              <a:t>Current duties and funding milestones create a decision window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143000" y="3291840"/>
            <a:ext cx="9829800" cy="0"/>
          </a:xfrm>
          <a:prstGeom prst="line">
            <a:avLst/>
          </a:prstGeom>
          <a:ln w="38100">
            <a:solidFill>
              <a:srgbClr val="9FB3C8"/>
            </a:solidFill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97280" y="2999232"/>
            <a:ext cx="585216" cy="585216"/>
          </a:xfrm>
          <a:prstGeom prst="ellipse">
            <a:avLst/>
          </a:prstGeom>
          <a:solidFill>
            <a:srgbClr val="C44536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7A271A"/>
                </a:solidFill>
                <a:latin typeface="Aptos"/>
              </a:rPr>
              <a:t>27 OCT 2025</a:t>
            </a:r>
          </a:p>
          <a:p>
            <a:pPr algn="ctr"/>
            <a:r>
              <a:rPr sz="1700" b="1" i="0">
                <a:solidFill>
                  <a:srgbClr val="7A271A"/>
                </a:solidFill>
                <a:latin typeface="Aptos"/>
              </a:rPr>
              <a:t>Awaab's Law Phase 1 in force</a:t>
            </a:r>
          </a:p>
        </p:txBody>
      </p:sp>
      <p:sp>
        <p:nvSpPr>
          <p:cNvPr id="7" name="Oval 6"/>
          <p:cNvSpPr/>
          <p:nvPr/>
        </p:nvSpPr>
        <p:spPr>
          <a:xfrm>
            <a:off x="3767328" y="2999232"/>
            <a:ext cx="585216" cy="5852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3822191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5F4B00"/>
                </a:solidFill>
                <a:latin typeface="Aptos"/>
              </a:rPr>
              <a:t>30 NOV 2026</a:t>
            </a:r>
          </a:p>
          <a:p>
            <a:pPr algn="ctr"/>
            <a:r>
              <a:rPr sz="1700" b="1" i="0">
                <a:solidFill>
                  <a:srgbClr val="5F4B00"/>
                </a:solidFill>
                <a:latin typeface="Aptos"/>
              </a:rPr>
              <a:t>Phase 2 due; reconfirm applicability</a:t>
            </a:r>
          </a:p>
        </p:txBody>
      </p:sp>
      <p:sp>
        <p:nvSpPr>
          <p:cNvPr id="9" name="Oval 8"/>
          <p:cNvSpPr/>
          <p:nvPr/>
        </p:nvSpPr>
        <p:spPr>
          <a:xfrm>
            <a:off x="6720840" y="2999232"/>
            <a:ext cx="585216" cy="585216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0448" y="155448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74A7E"/>
                </a:solidFill>
                <a:latin typeface="Aptos"/>
              </a:rPr>
              <a:t>31 MAR 2028</a:t>
            </a:r>
          </a:p>
          <a:p>
            <a:pPr algn="ctr"/>
            <a:r>
              <a:rPr sz="1700" b="1" i="0">
                <a:solidFill>
                  <a:srgbClr val="174A7E"/>
                </a:solidFill>
                <a:latin typeface="Aptos"/>
              </a:rPr>
              <a:t>WH:SHF grant spend deadline recorded</a:t>
            </a:r>
          </a:p>
        </p:txBody>
      </p:sp>
      <p:sp>
        <p:nvSpPr>
          <p:cNvPr id="11" name="Oval 10"/>
          <p:cNvSpPr/>
          <p:nvPr/>
        </p:nvSpPr>
        <p:spPr>
          <a:xfrm>
            <a:off x="9729216" y="2999232"/>
            <a:ext cx="585216" cy="585216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3822191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B625B"/>
                </a:solidFill>
                <a:latin typeface="Aptos"/>
              </a:rPr>
              <a:t>2030</a:t>
            </a:r>
          </a:p>
          <a:p>
            <a:pPr algn="ctr"/>
            <a:r>
              <a:rPr sz="1700" b="1" i="0">
                <a:solidFill>
                  <a:srgbClr val="0B625B"/>
                </a:solidFill>
                <a:latin typeface="Aptos"/>
              </a:rPr>
              <a:t>EPC C remains a proposal in the case materials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9312" y="5504688"/>
            <a:ext cx="4919472" cy="56692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VERIFY AT EACH APPROVAL GATE</a:t>
            </a:r>
          </a:p>
        </p:txBody>
      </p:sp>
      <p:sp>
        <p:nvSpPr>
          <p:cNvPr id="14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02A43"/>
                </a:solidFill>
                <a:latin typeface="Aptos Display"/>
              </a:rPr>
              <a:t>One governed property journey across existing services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234440" cy="804672"/>
          </a:xfrm>
          <a:prstGeom prst="round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IDENTIFY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1572768"/>
            <a:ext cx="1234440" cy="804672"/>
          </a:xfrm>
          <a:prstGeom prst="roundRect">
            <a:avLst/>
          </a:prstGeom>
          <a:solidFill>
            <a:srgbClr val="2874C6"/>
          </a:solidFill>
          <a:ln w="12700">
            <a:solidFill>
              <a:srgbClr val="287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ASSESS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4992" y="1572768"/>
            <a:ext cx="1234440" cy="804672"/>
          </a:xfrm>
          <a:prstGeom prst="roundRect">
            <a:avLst/>
          </a:prstGeom>
          <a:solidFill>
            <a:srgbClr val="1B998B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AGREE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18304" y="1572768"/>
            <a:ext cx="1234440" cy="804672"/>
          </a:xfrm>
          <a:prstGeom prst="roundRect">
            <a:avLst/>
          </a:prstGeom>
          <a:solidFill>
            <a:srgbClr val="16847A"/>
          </a:solidFill>
          <a:ln w="12700">
            <a:solidFill>
              <a:srgbClr val="1684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FUND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71616" y="1572768"/>
            <a:ext cx="1234440" cy="804672"/>
          </a:xfrm>
          <a:prstGeom prst="roundRect">
            <a:avLst/>
          </a:prstGeom>
          <a:solidFill>
            <a:srgbClr val="D99C21"/>
          </a:solidFill>
          <a:ln w="12700">
            <a:solidFill>
              <a:srgbClr val="D99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SCHEDULE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24927" y="1572768"/>
            <a:ext cx="1234440" cy="804672"/>
          </a:xfrm>
          <a:prstGeom prst="roundRect">
            <a:avLst/>
          </a:prstGeom>
          <a:solidFill>
            <a:srgbClr val="C97F1A"/>
          </a:solidFill>
          <a:ln w="12700">
            <a:solidFill>
              <a:srgbClr val="C97F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INSTALL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572768"/>
            <a:ext cx="1234440" cy="804672"/>
          </a:xfrm>
          <a:prstGeom prst="roundRect">
            <a:avLst/>
          </a:prstGeom>
          <a:solidFill>
            <a:srgbClr val="C44536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ASSURE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31552" y="1572768"/>
            <a:ext cx="1234440" cy="804672"/>
          </a:xfrm>
          <a:prstGeom prst="roundRect">
            <a:avLst/>
          </a:prstGeom>
          <a:solidFill>
            <a:srgbClr val="A7352A"/>
          </a:solidFill>
          <a:ln w="12700">
            <a:solidFill>
              <a:srgbClr val="A73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HANDOVER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43B53"/>
                </a:solidFill>
                <a:latin typeface="Aptos"/>
              </a:rPr>
              <a:t>One visible lifecycle | Separate safety, resident, professional, supplier, funding and quality gates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03320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43B53"/>
                </a:solidFill>
                <a:latin typeface="Aptos"/>
              </a:rPr>
              <a:t>ASSET</a:t>
            </a:r>
          </a:p>
          <a:p>
            <a:r>
              <a:rPr sz="1600" b="1" i="0">
                <a:solidFill>
                  <a:srgbClr val="243B53"/>
                </a:solidFill>
                <a:latin typeface="Aptos"/>
              </a:rPr>
              <a:t>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703320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43B53"/>
                </a:solidFill>
                <a:latin typeface="Aptos"/>
              </a:rPr>
              <a:t>REPAIRS</a:t>
            </a:r>
          </a:p>
          <a:p>
            <a:r>
              <a:rPr sz="1600" b="1" i="0">
                <a:solidFill>
                  <a:srgbClr val="243B53"/>
                </a:solidFill>
                <a:latin typeface="Aptos"/>
              </a:rPr>
              <a:t>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28032" y="3703320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43B53"/>
                </a:solidFill>
                <a:latin typeface="Aptos"/>
              </a:rPr>
              <a:t>HOUSING</a:t>
            </a:r>
          </a:p>
          <a:p>
            <a:r>
              <a:rPr sz="1600" b="1" i="0">
                <a:solidFill>
                  <a:srgbClr val="243B53"/>
                </a:solidFill>
                <a:latin typeface="Aptos"/>
              </a:rPr>
              <a:t>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2864" y="3703320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43B53"/>
                </a:solidFill>
                <a:latin typeface="Aptos"/>
              </a:rPr>
              <a:t>FINANCE</a:t>
            </a:r>
          </a:p>
          <a:p>
            <a:r>
              <a:rPr sz="1600" b="1" i="0">
                <a:solidFill>
                  <a:srgbClr val="243B53"/>
                </a:solidFill>
                <a:latin typeface="Aptos"/>
              </a:rPr>
              <a:t>SYSTEM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3703320"/>
            <a:ext cx="2542032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43B53"/>
                </a:solidFill>
                <a:latin typeface="Aptos"/>
              </a:rPr>
              <a:t>CONTRACTOR</a:t>
            </a:r>
          </a:p>
          <a:p>
            <a:r>
              <a:rPr sz="1600" b="1" i="0">
                <a:solidFill>
                  <a:srgbClr val="243B53"/>
                </a:solidFill>
                <a:latin typeface="Aptos"/>
              </a:rPr>
              <a:t>SYSTEMS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38528" y="5230368"/>
            <a:ext cx="8321040" cy="68580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SHARED WORKFLOW + EVIDENCE LAYER - CONNECT, DO NOT REPLACE</a:t>
            </a:r>
          </a:p>
        </p:txBody>
      </p:sp>
      <p:sp>
        <p:nvSpPr>
          <p:cNvPr id="19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02A43"/>
                </a:solidFill>
                <a:latin typeface="Aptos Display"/>
              </a:rPr>
              <a:t>Automation handles evidence; people retain consequential authority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5257800" cy="4407408"/>
          </a:xfrm>
          <a:prstGeom prst="roundRect">
            <a:avLst/>
          </a:prstGeom>
          <a:solidFill>
            <a:srgbClr val="E7F6F3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0B625B"/>
                </a:solidFill>
                <a:latin typeface="Aptos"/>
              </a:rPr>
              <a:t>THE SERVICE MAY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/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Recommend priorities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Reconcile records and flag conflicts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Pre-populate sourced facts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Draft resident, grant and management packs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Suggest schedules within confirmed constraints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Check evidence and flag anomalies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2784" y="1371600"/>
            <a:ext cx="5257800" cy="4407408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7A271A"/>
                </a:solidFill>
                <a:latin typeface="Aptos"/>
              </a:rPr>
              <a:t>THE SERVICE MUST NOT</a:t>
            </a:r>
          </a:p>
          <a:p>
            <a:r>
              <a:rPr sz="1700" b="0" i="0">
                <a:solidFill>
                  <a:srgbClr val="7A271A"/>
                </a:solidFill>
                <a:latin typeface="Aptos"/>
              </a:rPr>
              <a:t/>
            </a:r>
          </a:p>
          <a:p>
            <a:r>
              <a:rPr sz="1700" b="0" i="0">
                <a:solidFill>
                  <a:srgbClr val="7A271A"/>
                </a:solidFill>
                <a:latin typeface="Aptos"/>
              </a:rPr>
              <a:t>Diagnose hazards</a:t>
            </a:r>
          </a:p>
          <a:p>
            <a:r>
              <a:rPr sz="1700" b="0" i="0">
                <a:solidFill>
                  <a:srgbClr val="7A271A"/>
                </a:solidFill>
                <a:latin typeface="Aptos"/>
              </a:rPr>
              <a:t>Release a safety hold</a:t>
            </a:r>
          </a:p>
          <a:p>
            <a:r>
              <a:rPr sz="1700" b="0" i="0">
                <a:solidFill>
                  <a:srgbClr val="7A271A"/>
                </a:solidFill>
                <a:latin typeface="Aptos"/>
              </a:rPr>
              <a:t>Approve PAS 2035 outputs</a:t>
            </a:r>
          </a:p>
          <a:p>
            <a:r>
              <a:rPr sz="1700" b="0" i="0">
                <a:solidFill>
                  <a:srgbClr val="7A271A"/>
                </a:solidFill>
                <a:latin typeface="Aptos"/>
              </a:rPr>
              <a:t>Infer resident consent</a:t>
            </a:r>
          </a:p>
          <a:p>
            <a:r>
              <a:rPr sz="1700" b="0" i="0">
                <a:solidFill>
                  <a:srgbClr val="7A271A"/>
                </a:solidFill>
                <a:latin typeface="Aptos"/>
              </a:rPr>
              <a:t>Commit capital or award work</a:t>
            </a:r>
          </a:p>
          <a:p>
            <a:r>
              <a:rPr sz="1700" b="0" i="0">
                <a:solidFill>
                  <a:srgbClr val="7A271A"/>
                </a:solidFill>
                <a:latin typeface="Aptos"/>
              </a:rPr>
              <a:t>Submit claims, accept quality or close defects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598932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43B53"/>
                </a:solidFill>
                <a:latin typeface="Aptos"/>
              </a:rPr>
              <a:t>Deterministic workflow enforces the gate. An authorised person makes the controlled decision.</a:t>
            </a:r>
          </a:p>
        </p:txBody>
      </p:sp>
      <p:sp>
        <p:nvSpPr>
          <p:cNvPr id="7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02A43"/>
                </a:solidFill>
                <a:latin typeface="Aptos Display"/>
              </a:rPr>
              <a:t>The programme earns the right to progress at each decision gate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25880"/>
            <a:ext cx="5303520" cy="960120"/>
          </a:xfrm>
          <a:prstGeom prst="roundRect">
            <a:avLst/>
          </a:prstGeom>
          <a:solidFill>
            <a:srgbClr val="EAF2F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74A7E"/>
                </a:solidFill>
                <a:latin typeface="Aptos"/>
              </a:rPr>
              <a:t>1  READINESS | 6-8 WEEKS</a:t>
            </a:r>
          </a:p>
          <a:p>
            <a:r>
              <a:rPr sz="1600" b="1" i="0">
                <a:solidFill>
                  <a:srgbClr val="174A7E"/>
                </a:solidFill>
                <a:latin typeface="Aptos"/>
              </a:rPr>
              <a:t>Establish the baseline, binding constraint and viable options.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514600"/>
            <a:ext cx="5303520" cy="960120"/>
          </a:xfrm>
          <a:prstGeom prst="roundRect">
            <a:avLst/>
          </a:prstGeom>
          <a:solidFill>
            <a:srgbClr val="E7F6F3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0B625B"/>
                </a:solidFill>
                <a:latin typeface="Aptos"/>
              </a:rPr>
              <a:t>2  SHADOW MODE</a:t>
            </a:r>
          </a:p>
          <a:p>
            <a:r>
              <a:rPr sz="1600" b="1" i="0">
                <a:solidFill>
                  <a:srgbClr val="0B625B"/>
                </a:solidFill>
                <a:latin typeface="Aptos"/>
              </a:rPr>
              <a:t>Test recommendations and drafts with no live consequences.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703320"/>
            <a:ext cx="5303520" cy="960120"/>
          </a:xfrm>
          <a:prstGeom prst="roundRect">
            <a:avLst/>
          </a:prstGeom>
          <a:solidFill>
            <a:srgbClr val="FFF8E6"/>
          </a:solidFill>
          <a:ln w="12700">
            <a:solidFill>
              <a:srgbClr val="F2C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5F4B00"/>
                </a:solidFill>
                <a:latin typeface="Aptos"/>
              </a:rPr>
              <a:t>3  CONTROLLED PILOT | 6-9 MONTHS</a:t>
            </a:r>
          </a:p>
          <a:p>
            <a:r>
              <a:rPr sz="1600" b="1" i="0">
                <a:solidFill>
                  <a:srgbClr val="5F4B00"/>
                </a:solidFill>
                <a:latin typeface="Aptos"/>
              </a:rPr>
              <a:t>Operate one bounded delivery cell under explicit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892040"/>
            <a:ext cx="5303520" cy="96012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7A271A"/>
                </a:solidFill>
                <a:latin typeface="Aptos"/>
              </a:rPr>
              <a:t>4  TRANCHE DECISIONS</a:t>
            </a:r>
          </a:p>
          <a:p>
            <a:r>
              <a:rPr sz="1600" b="1" i="0">
                <a:solidFill>
                  <a:srgbClr val="7A271A"/>
                </a:solidFill>
                <a:latin typeface="Aptos"/>
              </a:rPr>
              <a:t>Repeat or scale only where evidence supports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325880"/>
            <a:ext cx="5102352" cy="45262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"/>
              </a:rPr>
              <a:t>EVERY GATE CAN DECIDE</a:t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/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>PROCEED</a:t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/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>REDESIGN</a:t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/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>SELECT A NON-AGENTIC OPTION</a:t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/>
            </a:r>
          </a:p>
          <a:p>
            <a:r>
              <a:rPr sz="2000" b="1" i="0">
                <a:solidFill>
                  <a:srgbClr val="FFFFFF"/>
                </a:solidFill>
                <a:latin typeface="Aptos"/>
              </a:rPr>
              <a:t>PAUSE OR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016752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27D98"/>
                </a:solidFill>
                <a:latin typeface="Aptos"/>
              </a:rPr>
              <a:t>Sequence of decisions, not a commitment to scale</a:t>
            </a:r>
          </a:p>
        </p:txBody>
      </p:sp>
      <p:sp>
        <p:nvSpPr>
          <p:cNvPr id="10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02A43"/>
                </a:solidFill>
                <a:latin typeface="Aptos Display"/>
              </a:rPr>
              <a:t>Readiness will answer whether, where and how to pilot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25880"/>
            <a:ext cx="2514600" cy="1508760"/>
          </a:xfrm>
          <a:prstGeom prst="roundRect">
            <a:avLst/>
          </a:prstGeom>
          <a:solidFill>
            <a:srgbClr val="EAF2F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74A7E"/>
                </a:solidFill>
                <a:latin typeface="Aptos"/>
              </a:rPr>
              <a:t>BASELINE</a:t>
            </a:r>
          </a:p>
          <a:p>
            <a:r>
              <a:rPr sz="1500" b="1" i="0">
                <a:solidFill>
                  <a:srgbClr val="174A7E"/>
                </a:solidFill>
                <a:latin typeface="Aptos"/>
              </a:rPr>
              <a:t/>
            </a:r>
          </a:p>
          <a:p>
            <a:r>
              <a:rPr sz="1500" b="1" i="0">
                <a:solidFill>
                  <a:srgbClr val="174A7E"/>
                </a:solidFill>
                <a:latin typeface="Aptos"/>
              </a:rPr>
              <a:t>Property and building data</a:t>
            </a:r>
          </a:p>
          <a:p>
            <a:r>
              <a:rPr sz="1500" b="1" i="0">
                <a:solidFill>
                  <a:srgbClr val="174A7E"/>
                </a:solidFill>
                <a:latin typeface="Aptos"/>
              </a:rPr>
              <a:t>Throughput and delay causes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47288" y="1325880"/>
            <a:ext cx="2514600" cy="1508760"/>
          </a:xfrm>
          <a:prstGeom prst="roundRect">
            <a:avLst/>
          </a:prstGeom>
          <a:solidFill>
            <a:srgbClr val="E7F6F3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0B625B"/>
                </a:solidFill>
                <a:latin typeface="Aptos"/>
              </a:rPr>
              <a:t>RESIDENT</a:t>
            </a:r>
          </a:p>
          <a:p>
            <a:r>
              <a:rPr sz="1500" b="1" i="0">
                <a:solidFill>
                  <a:srgbClr val="0B625B"/>
                </a:solidFill>
                <a:latin typeface="Aptos"/>
              </a:rPr>
              <a:t/>
            </a:r>
          </a:p>
          <a:p>
            <a:r>
              <a:rPr sz="1500" b="1" i="0">
                <a:solidFill>
                  <a:srgbClr val="0B625B"/>
                </a:solidFill>
                <a:latin typeface="Aptos"/>
              </a:rPr>
              <a:t>Journeys and accessibility</a:t>
            </a:r>
          </a:p>
          <a:p>
            <a:r>
              <a:rPr sz="1500" b="1" i="0">
                <a:solidFill>
                  <a:srgbClr val="0B625B"/>
                </a:solidFill>
                <a:latin typeface="Aptos"/>
              </a:rPr>
              <a:t>Exceptions and redress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6208" y="1325880"/>
            <a:ext cx="2514600" cy="1508760"/>
          </a:xfrm>
          <a:prstGeom prst="roundRect">
            <a:avLst/>
          </a:prstGeom>
          <a:solidFill>
            <a:srgbClr val="FFF8E6"/>
          </a:solidFill>
          <a:ln w="12700">
            <a:solidFill>
              <a:srgbClr val="F2C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5F4B00"/>
                </a:solidFill>
                <a:latin typeface="Aptos"/>
              </a:rPr>
              <a:t>CAPACITY</a:t>
            </a:r>
          </a:p>
          <a:p>
            <a:r>
              <a:rPr sz="1500" b="1" i="0">
                <a:solidFill>
                  <a:srgbClr val="5F4B00"/>
                </a:solidFill>
                <a:latin typeface="Aptos"/>
              </a:rPr>
              <a:t/>
            </a:r>
          </a:p>
          <a:p>
            <a:r>
              <a:rPr sz="1500" b="1" i="0">
                <a:solidFill>
                  <a:srgbClr val="5F4B00"/>
                </a:solidFill>
                <a:latin typeface="Aptos"/>
              </a:rPr>
              <a:t>PAS 2035 competence</a:t>
            </a:r>
          </a:p>
          <a:p>
            <a:r>
              <a:rPr sz="1500" b="1" i="0">
                <a:solidFill>
                  <a:srgbClr val="5F4B00"/>
                </a:solidFill>
                <a:latin typeface="Aptos"/>
              </a:rPr>
              <a:t>Supplier route and contingency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25128" y="1325880"/>
            <a:ext cx="2514600" cy="150876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7A271A"/>
                </a:solidFill>
                <a:latin typeface="Aptos"/>
              </a:rPr>
              <a:t>FINANCE</a:t>
            </a:r>
          </a:p>
          <a:p>
            <a:r>
              <a:rPr sz="1500" b="1" i="0">
                <a:solidFill>
                  <a:srgbClr val="7A271A"/>
                </a:solidFill>
                <a:latin typeface="Aptos"/>
              </a:rPr>
              <a:t/>
            </a:r>
          </a:p>
          <a:p>
            <a:r>
              <a:rPr sz="1500" b="1" i="0">
                <a:solidFill>
                  <a:srgbClr val="7A271A"/>
                </a:solidFill>
                <a:latin typeface="Aptos"/>
              </a:rPr>
              <a:t>Grant and funding status</a:t>
            </a:r>
          </a:p>
          <a:p>
            <a:r>
              <a:rPr sz="1500" b="1" i="0">
                <a:solidFill>
                  <a:srgbClr val="7A271A"/>
                </a:solidFill>
                <a:latin typeface="Aptos"/>
              </a:rPr>
              <a:t>Headroom and downside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3154680"/>
            <a:ext cx="3886200" cy="15087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4865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43B53"/>
                </a:solidFill>
                <a:latin typeface="Aptos"/>
              </a:rPr>
              <a:t>OPTIONS APPRAISAL</a:t>
            </a:r>
          </a:p>
          <a:p>
            <a:r>
              <a:rPr sz="1500" b="1" i="0">
                <a:solidFill>
                  <a:srgbClr val="243B53"/>
                </a:solidFill>
                <a:latin typeface="Aptos"/>
              </a:rPr>
              <a:t/>
            </a:r>
          </a:p>
          <a:p>
            <a:r>
              <a:rPr sz="1500" b="1" i="0">
                <a:solidFill>
                  <a:srgbClr val="243B53"/>
                </a:solidFill>
                <a:latin typeface="Aptos"/>
              </a:rPr>
              <a:t>Process and existing platform</a:t>
            </a:r>
          </a:p>
          <a:p>
            <a:r>
              <a:rPr sz="1500" b="1" i="0">
                <a:solidFill>
                  <a:srgbClr val="243B53"/>
                </a:solidFill>
                <a:latin typeface="Aptos"/>
              </a:rPr>
              <a:t>Rules-based workflow or bounded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3154680"/>
            <a:ext cx="3886200" cy="15087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243B53"/>
                </a:solidFill>
                <a:latin typeface="Aptos"/>
              </a:rPr>
              <a:t>CONTROL OWNERS</a:t>
            </a:r>
          </a:p>
          <a:p>
            <a:r>
              <a:rPr sz="1500" b="1" i="0">
                <a:solidFill>
                  <a:srgbClr val="243B53"/>
                </a:solidFill>
                <a:latin typeface="Aptos"/>
              </a:rPr>
              <a:t/>
            </a:r>
          </a:p>
          <a:p>
            <a:r>
              <a:rPr sz="1500" b="1" i="0">
                <a:solidFill>
                  <a:srgbClr val="243B53"/>
                </a:solidFill>
                <a:latin typeface="Aptos"/>
              </a:rPr>
              <a:t>Safety, resident, finance and procurement</a:t>
            </a:r>
          </a:p>
          <a:p>
            <a:r>
              <a:rPr sz="1500" b="1" i="0">
                <a:solidFill>
                  <a:srgbClr val="243B53"/>
                </a:solidFill>
                <a:latin typeface="Aptos"/>
              </a:rPr>
              <a:t>Data, digital and professional roles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5138928"/>
            <a:ext cx="8065008" cy="74980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PILOT BUSINESS CASE + CONTROL PACK</a:t>
            </a:r>
          </a:p>
        </p:txBody>
      </p:sp>
      <p:sp>
        <p:nvSpPr>
          <p:cNvPr id="11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02A43"/>
                </a:solidFill>
                <a:latin typeface="Aptos Display"/>
              </a:rPr>
              <a:t>The pilot tests outcomes, controls and incremental value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25880"/>
            <a:ext cx="3337560" cy="1143000"/>
          </a:xfrm>
          <a:prstGeom prst="roundRect">
            <a:avLst/>
          </a:prstGeom>
          <a:solidFill>
            <a:srgbClr val="E7F6F3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0B625B"/>
                </a:solidFill>
                <a:latin typeface="Aptos"/>
              </a:rPr>
              <a:t>1  SAFETY + PROFESSIONAL AUTHORITY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25880"/>
            <a:ext cx="3337560" cy="1143000"/>
          </a:xfrm>
          <a:prstGeom prst="roundRect">
            <a:avLst/>
          </a:prstGeom>
          <a:solidFill>
            <a:srgbClr val="EAF2F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74A7E"/>
                </a:solidFill>
                <a:latin typeface="Aptos"/>
              </a:rPr>
              <a:t>2  RESIDENT DECISIONS +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3024" y="1325880"/>
            <a:ext cx="3337560" cy="1143000"/>
          </a:xfrm>
          <a:prstGeom prst="roundRect">
            <a:avLst/>
          </a:prstGeom>
          <a:solidFill>
            <a:srgbClr val="FFF8E6"/>
          </a:solidFill>
          <a:ln w="12700">
            <a:solidFill>
              <a:srgbClr val="F2C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5F4B00"/>
                </a:solidFill>
                <a:latin typeface="Aptos"/>
              </a:rPr>
              <a:t>3  QUALITY + EVIDENCE COMPLETENESS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88920"/>
            <a:ext cx="3337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43B53"/>
                </a:solidFill>
                <a:latin typeface="Aptos"/>
              </a:rPr>
              <a:t>4  ACCEPTED THROUGHPUT + EFFORT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2788920"/>
            <a:ext cx="3337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43B53"/>
                </a:solidFill>
                <a:latin typeface="Aptos"/>
              </a:rPr>
              <a:t>5  SUPPLIER + COMPETENT CAPACITY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4" y="2788920"/>
            <a:ext cx="3337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243B53"/>
                </a:solidFill>
                <a:latin typeface="Aptos"/>
              </a:rPr>
              <a:t>6  COST + GRANT + PEAK CASH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4279392"/>
            <a:ext cx="5971032" cy="1078992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7  BOUNDED AI VALUE VS CONVENTIONAL OR RULES-BASED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715000"/>
            <a:ext cx="10241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A271A"/>
                </a:solidFill>
                <a:latin typeface="Aptos"/>
              </a:rPr>
              <a:t>Control conditions: zero unauthorised starts | zero autonomous controlled approvals | no missed critical exception in agreed tests</a:t>
            </a:r>
          </a:p>
        </p:txBody>
      </p:sp>
      <p:sp>
        <p:nvSpPr>
          <p:cNvPr id="12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02A43"/>
                </a:solidFill>
                <a:latin typeface="Aptos Display"/>
              </a:rPr>
              <a:t>The value case is conversion and control - not gross programme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25880"/>
            <a:ext cx="5257800" cy="3493008"/>
          </a:xfrm>
          <a:prstGeom prst="roundRect">
            <a:avLst/>
          </a:prstGeom>
          <a:solidFill>
            <a:srgbClr val="E7F6F3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0B625B"/>
                </a:solidFill>
                <a:latin typeface="Aptos"/>
              </a:rPr>
              <a:t>VALUE HYPOTHESES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/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Fewer avoidable delays and repeat work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Better grant claim and cash conversion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Better alignment of retrofit and maintenance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Clearer capital and downside exposure</a:t>
            </a:r>
          </a:p>
          <a:p>
            <a:r>
              <a:rPr sz="1700" b="0" i="0">
                <a:solidFill>
                  <a:srgbClr val="0B625B"/>
                </a:solidFill>
                <a:latin typeface="Aptos"/>
              </a:rPr>
              <a:t>Stronger resident, Board and audit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2784" y="1325880"/>
            <a:ext cx="5257800" cy="3493008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 i="0">
                <a:solidFill>
                  <a:srgbClr val="7A271A"/>
                </a:solidFill>
                <a:latin typeface="Aptos"/>
              </a:rPr>
              <a:t>NOT YET PROVEN</a:t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/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>Doubled delivery</a:t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>GBP 40m secured grant</a:t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>Hundreds of millions protected borrowing capacity</a:t>
            </a:r>
          </a:p>
          <a:p>
            <a:r>
              <a:rPr sz="1800" b="0" i="0">
                <a:solidFill>
                  <a:srgbClr val="7A271A"/>
                </a:solidFill>
                <a:latin typeface="Aptos"/>
              </a:rPr>
              <a:t>Universal resident bill reductions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5166360"/>
            <a:ext cx="9628632" cy="84124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ATTRIBUTABLE BENEFIT - DATA - INTEGRATION - PEOPLE - REVIEW - ASSURANCE - SUPPORT - EXIT</a:t>
            </a:r>
          </a:p>
        </p:txBody>
      </p:sp>
      <p:sp>
        <p:nvSpPr>
          <p:cNvPr id="7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02A43"/>
                </a:solidFill>
                <a:latin typeface="Aptos Display"/>
              </a:rPr>
              <a:t>The scenarios justify readiness, not an investment commitment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325880"/>
          <a:ext cx="1088136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4114800"/>
              </a:tblGrid>
              <a:tr h="7086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Illustrative scenario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Evidence status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t>26% of 60,000 homes below EPC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15,600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Sector-derived planning cohort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t>15,600 homes over four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3,900 /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Derived accepted-completion trajectory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t>15,600 x GBP 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GBP 312m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Planning assumption, not a budget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t>GBP 7,500 ordinary grant cap x 15,600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GBP 117m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Maximum-ceiling illustration, not an award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t>GBP 40m at the 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~5,333 homes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Rounded scenario, not secured funding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246120" y="5715000"/>
            <a:ext cx="5696712" cy="502920"/>
          </a:xfrm>
          <a:prstGeom prst="roundRect">
            <a:avLst/>
          </a:prstGeom>
          <a:solidFill>
            <a:srgbClr val="FFF8E6"/>
          </a:solidFill>
          <a:ln w="12700">
            <a:solidFill>
              <a:srgbClr val="F2C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5F4B00"/>
                </a:solidFill>
                <a:latin typeface="Aptos"/>
              </a:rPr>
              <a:t>ILLUSTRATIVE - NOT A COMPANY FORECAST</a:t>
            </a:r>
          </a:p>
        </p:txBody>
      </p:sp>
      <p:sp>
        <p:nvSpPr>
          <p:cNvPr id="6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Aptos Display"/>
              </a:rPr>
              <a:t>Approve the bounded next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17320"/>
            <a:ext cx="5257800" cy="3310128"/>
          </a:xfrm>
          <a:prstGeom prst="roundRect">
            <a:avLst/>
          </a:prstGeom>
          <a:solidFill>
            <a:srgbClr val="173F5F"/>
          </a:solidFill>
          <a:ln w="254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 i="0">
                <a:solidFill>
                  <a:srgbClr val="FFFFFF"/>
                </a:solidFill>
                <a:latin typeface="Aptos"/>
              </a:rPr>
              <a:t>APPROVE NOW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/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Phase 0 purpose and 6-8 week timetable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Finance-approved cost ceiling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Named sponsor and control owners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Readiness evidence pack and return date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Conditional pilot reservation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2784" y="1417320"/>
            <a:ext cx="5257800" cy="3310128"/>
          </a:xfrm>
          <a:prstGeom prst="roundRect">
            <a:avLst/>
          </a:prstGeom>
          <a:solidFill>
            <a:srgbClr val="2A2630"/>
          </a:solidFill>
          <a:ln w="254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 i="0">
                <a:solidFill>
                  <a:srgbClr val="FFFFFF"/>
                </a:solidFill>
                <a:latin typeface="Aptos"/>
              </a:rPr>
              <a:t>DO NOT RELEASE YET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/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Live consequential automation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Resident contact through the new service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Works instruction or capital acceleration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Grant recognition or procurement commitment</a:t>
            </a:r>
          </a:p>
          <a:p>
            <a:r>
              <a:rPr sz="1800" b="0" i="0">
                <a:solidFill>
                  <a:srgbClr val="FFFFFF"/>
                </a:solidFill>
                <a:latin typeface="Aptos"/>
              </a:rPr>
              <a:t>Portfolio rollout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70432" y="5138928"/>
            <a:ext cx="9848088" cy="868680"/>
          </a:xfrm>
          <a:prstGeom prst="roundRect">
            <a:avLst/>
          </a:prstGeom>
          <a:solidFill>
            <a:srgbClr val="1B998B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RETURN WITH: PROCEED TO SHADOW MODE | REDESIGN | SELECT NON-AGENTIC OPTION | STOP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6172200"/>
            <a:ext cx="6702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CCCDC"/>
                </a:solidFill>
                <a:latin typeface="Aptos"/>
              </a:rPr>
              <a:t>Controlled momentum. Capped exposure. Evidence before scale.</a:t>
            </a:r>
          </a:p>
        </p:txBody>
      </p:sp>
      <p:sp>
        <p:nvSpPr>
          <p:cNvPr id="8" name="Zava logo contrast backing"/>
          <p:cNvSpPr/>
          <p:nvPr/>
        </p:nvSpPr>
        <p:spPr>
          <a:xfrm>
            <a:off x="11231575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Zava Forward - CxO Initial Proposal</dc:title>
  <dc:subject>Governed retrofit delivery service and readiness decision</dc:subject>
  <dc:creator>Zava North Homes</dc:creator>
  <cp:keywords>Zava Forward, retrofit, executive proposal, agentic solution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Executive Presentation</cp:category>
</cp:coreProperties>
</file>