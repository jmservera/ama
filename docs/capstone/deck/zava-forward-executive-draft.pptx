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Sixty thousand homes. Behind that number are residents waiting for warmth, and a small team trying to hold a complex retrofit programme together. Zava North Homes asked for five agents. That is a reasonable request: help us move faster.</a:t>
            </a:r>
          </a:p>
          <a:p/>
          <a:p>
            <a:r>
              <a:t>The promise is safe, resident-accepted homes and explainable decisions. Our proposal changes how work becomes accountable, not the whole company.</a:t>
            </a:r>
          </a:p>
          <a:p/>
          <a:p>
            <a:r>
              <a:t>Today, endorse preparation of a gated evidence-stage proposal. No procurement, spending or production authority is requested. First, let me show why the evidence changed what we should build.</a:t>
            </a:r>
          </a:p>
          <a:p/>
          <a:p>
            <a:r>
              <a:t>Evidence:</a:t>
            </a:r>
          </a:p>
          <a:p>
            <a:r>
              <a:t>docs/case_study_48_original.md — Business Challenge; Agentic Architecture Brief; Expected Outcomes (2026-09-10, immutable request).</a:t>
            </a:r>
          </a:p>
          <a:p>
            <a:r>
              <a:t>docs/case_study_48_addendum.md — Zava Forward at Zava North Homes; Business Challenge; Executive Assessment (2026-10-11, proposal).</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five requests follow a home: prioritise, assess, fund, coordinate, verify. The original asks for recommendations, drafts, coordination and quality flags while preserving investment approval and resident consent.</a:t>
            </a:r>
          </a:p>
          <a:p/>
          <a:p>
            <a:r>
              <a:t>We are not dismissing that request. We are asking what must be true for each capability to be useful. A better draft cannot unlock a missing survey; a schedule cannot manufacture a competent crew.</a:t>
            </a:r>
          </a:p>
          <a:p/>
          <a:p>
            <a:r>
              <a:t>Doubled delivery, grant capture and lower bills are original ambitions, not demonstrated outcomes. Accepted handover is the endpoint that keeps all five capabilities honest.</a:t>
            </a:r>
          </a:p>
          <a:p/>
          <a:p>
            <a:r>
              <a:t>Evidence:</a:t>
            </a:r>
          </a:p>
          <a:p>
            <a:r>
              <a:t>docs/case_study_48_original.md — Transformation Objective; Agentic Architecture Brief; Expected Outcomes; Business Case (2026-09-10).</a:t>
            </a:r>
          </a:p>
          <a:p>
            <a:r>
              <a:t>docs/reference/research/company/pilot-measurement-challenge.md — Summary (2026-09-26, research hypotheses).</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We challenged the request through eight role-agent instruments: Assets, Programme, Finance, Procurement, Resident Engagement, Building Safety, Data and Performance, and a Neighbourhood Housing Officer. These were sector-informed research instruments, not interviews with employees or company approvals.</a:t>
            </a:r>
          </a:p>
          <a:p/>
          <a:p>
            <a:r>
              <a:t>Their shared finding was a reversal: every end-to-end request bundles controls, accountable decisions and narrower AI work. Each proposed agent needs the same reliable records and lifecycle underneath it. Richer photos, invoices or sensor inputs do not remove that need.</a:t>
            </a:r>
          </a:p>
          <a:p/>
          <a:p>
            <a:r>
              <a:t>We do not yet know the binding delivery constraint. Capital, capacity, access or quality may dominate administration. That uncertainty argues for visibility and measurement before automation—not for five larger black boxes.</a:t>
            </a:r>
          </a:p>
          <a:p/>
          <a:p>
            <a:r>
              <a:t>Evidence:</a:t>
            </a:r>
          </a:p>
          <a:p>
            <a:r>
              <a:t>docs/reference/research/company/agent-request-challenge.md — Purpose and Method; Summary (2026-09-26).</a:t>
            </a:r>
          </a:p>
          <a:p>
            <a:r>
              <a:t>docs/reference/research/company/agent-what-if-study.md — Purpose and Method; Summary of Revised Verdicts (2026-09-27).</a:t>
            </a:r>
          </a:p>
          <a:p>
            <a:r>
              <a:t>docs/case_study_48_addendum.md — Business Challenge (2026-10-11).</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Three examples make the scope change concrete.</a:t>
            </a:r>
          </a:p>
          <a:p/>
          <a:p>
            <a:r>
              <a:t>You asked for ranking. The challenge found that ranking weights are investment policy, and eligibility is a rules question. If a model guesses either, we cannot justify who waits. Build an approved cohort policy, reproducible rules and field-level sources; let AI reconcile or explain, not set priority.</a:t>
            </a:r>
          </a:p>
          <a:p/>
          <a:p>
            <a:r>
              <a:t>You asked for scheduling. The challenge found that a viable appointment needs committed competent capacity and informed resident choice. A calendar invitation supplies neither. Build capacity and measure-choice records with a named liaison; AI may suggest slots inside those boundaries.</a:t>
            </a:r>
          </a:p>
          <a:p/>
          <a:p>
            <a:r>
              <a:t>You asked for grant drafts. The challenge found that claimable evidence and the ledger come first. Application, award, claim and cash are different states. Build accepted evidence and independent financial review; AI may assemble the sourced draft.</a:t>
            </a:r>
          </a:p>
          <a:p/>
          <a:p>
            <a:r>
              <a:t>These are hypotheses to validate, but each exposes a prerequisite the requested capability cannot safely skip.</a:t>
            </a:r>
          </a:p>
          <a:p/>
          <a:p>
            <a:r>
              <a:t>Evidence:</a:t>
            </a:r>
          </a:p>
          <a:p>
            <a:r>
              <a:t>docs/reference/research/company/agent-request-challenge.md — Summary; Stock Prioritisation Agent; Grant and Funding Agent; Contractor and Resident Coordination (2026-09-26).</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the bold proposal: do not put faster agents on top of invisible work. Make work visible, measurable and explainable so assistance can help safely.</a:t>
            </a:r>
          </a:p>
          <a:p/>
          <a:p>
            <a:r>
              <a:t>The expansion is explicit. Alongside the five capabilities, we propose a shared case, owned transitions and evidence. Those are repeated prerequisites, not a cloud-fashion detour. Without them, five assistants can produce five incompatible accounts of the same home.</a:t>
            </a:r>
          </a:p>
          <a:p/>
          <a:p>
            <a:r>
              <a:t>This is modernisation of existing work, not a replacement operating model, headcount redesign or all-systems migration. Keep the teams, suppliers and useful source systems. Keep Excel for reporting. Start with one connected home.</a:t>
            </a:r>
          </a:p>
          <a:p/>
          <a:p>
            <a:r>
              <a:t>Technology alone creates no crew capacity, consent, money or technical acceptance.</a:t>
            </a:r>
          </a:p>
          <a:p/>
          <a:p>
            <a:r>
              <a:t>Evidence:</a:t>
            </a:r>
          </a:p>
          <a:p>
            <a:r>
              <a:t>docs/reference/research/company/agent-request-challenge.md — Summary (2026-09-26).</a:t>
            </a:r>
          </a:p>
          <a:p>
            <a:r>
              <a:t>docs/reference/research/company/pilot-measurement-challenge.md — Owner Decision, 2026-09-26.</a:t>
            </a:r>
          </a:p>
          <a:p>
            <a:r>
              <a:t>docs/prds/zava-forward-retrofit-programme-demonstrator.md — Executive Summary; CON-009/AC-057 (v0.13.0 candidate, 2026-10-11).</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Measurable work does not begin with a dashboard. It begins with a contract for each step.</a:t>
            </a:r>
          </a:p>
          <a:p/>
          <a:p>
            <a:r>
              <a:t>Record the case owner and the person accepting the handoff. Give the work a named state. Capture entry, exit and pause timestamps, a coded blocker, the next action, and the evidence version behind acceptance.</a:t>
            </a:r>
          </a:p>
          <a:p/>
          <a:p>
            <a:r>
              <a:t>The sender retains chase responsibility until the receiver accepts. Changed evidence returns only dependent decisions for review. Safety concerns take a separate human response route.</a:t>
            </a:r>
          </a:p>
          <a:p/>
          <a:p>
            <a:r>
              <a:t>Now the team can distinguish waiting for a survey from waiting for consent or capacity. Leaders can see where effort accumulates. Agree definitions first and count recording effort too; visibility is a proposed mechanism, not a saving.</a:t>
            </a:r>
          </a:p>
          <a:p/>
          <a:p>
            <a:r>
              <a:t>Evidence:</a:t>
            </a:r>
          </a:p>
          <a:p>
            <a:r>
              <a:t>docs/reference/research/company/agent-request-challenge.md — Summary; Programme supervisor (2026-09-26).</a:t>
            </a:r>
          </a:p>
          <a:p>
            <a:r>
              <a:t>docs/reference/research/company/pilot-measurement-challenge.md — Freeze Before Measurement; Analysis Rules (2026-09-26).</a:t>
            </a:r>
          </a:p>
          <a:p>
            <a:r>
              <a:t>docs/case_study_48_addendum.md — EXA-002/008/013 (historical exercise assumptions, 2026-10-10).</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Follow one fictional home. Its EPC sources conflict. Rather than invent an answer, the case holds the dependent decision and names a resolver. After correction, approved rules establish priority.</a:t>
            </a:r>
          </a:p>
          <a:p/>
          <a:p>
            <a:r>
              <a:t>The assessor supplies observations; the coordinator reviews the design. The resident chooses the measures through supported contact. Finance checks funding, and a competent crew is committed before a person releases work.</a:t>
            </a:r>
          </a:p>
          <a:p/>
          <a:p>
            <a:r>
              <a:t>The contractor returns versioned evidence. Independent quality review finds a defect and returns it to an owner. Only after correction and acceptance does resident handover proceed. Financial closure has its own evidence; it is not inferred from installation.</a:t>
            </a:r>
          </a:p>
          <a:p/>
          <a:p>
            <a:r>
              <a:t>The win to prove is continuity: no lost owner, silent exception or unexplained acceptance. This is an exercise story, not live proof.</a:t>
            </a:r>
          </a:p>
          <a:p/>
          <a:p>
            <a:r>
              <a:t>Evidence:</a:t>
            </a:r>
          </a:p>
          <a:p>
            <a:r>
              <a:t>docs/case_study_48_addendum.md — EXA-002/003/005/007/008/015; Four-Week Plan and Tribunal Defence (2026-10-10 exercise).</a:t>
            </a:r>
          </a:p>
          <a:p>
            <a:r>
              <a:t>docs/prds/zava-forward-retrofit-programme-demonstrator.md — Executive Summary; Exercise Acceptance Contract (v0.13 candidate).</a:t>
            </a:r>
          </a:p>
          <a:p/>
          <a:p>
            <a:r>
              <a:t>Demo/recovery cue (not spoken): show actual executed scope in under two minutes; if unavailable, use this illustrative trace, never call it proof.</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At that appointment, two realities meet: a resident's informed choice and a supplier's actual capacity. Neither is a prediction for an agent to invent.</a:t>
            </a:r>
          </a:p>
          <a:p/>
          <a:p>
            <a:r>
              <a:t>Residents need clear options, a named contact and safe phone, letter or officer-assisted routes. No compulsory portal. Contact preference, accessibility adjustment and consent to a measure are separate records. Silence is not consent, and no-access is not automatically refusal.</a:t>
            </a:r>
          </a:p>
          <a:p/>
          <a:p>
            <a:r>
              <a:t>Contractors need agreed scope, competence, materials and necessary adjustments—not sensitive diagnoses. A named liaison owns the handoff through approved channels.</a:t>
            </a:r>
          </a:p>
          <a:p/>
          <a:p>
            <a:r>
              <a:t>AI can help prepare an update or suggest an available slot. Staff still review and act. Real co-design must test clarity and burden; fewer failed visits remain unmeasured.</a:t>
            </a:r>
          </a:p>
          <a:p/>
          <a:p>
            <a:r>
              <a:t>Evidence:</a:t>
            </a:r>
          </a:p>
          <a:p>
            <a:r>
              <a:t>docs/reference/research/company/agent-request-challenge.md — Coordination; Damp-and-mould loop (2026-09-26).</a:t>
            </a:r>
          </a:p>
          <a:p>
            <a:r>
              <a:t>docs/case_study_48_addendum.md — EXA-004/005/007/008 (exercise assumptions).</a:t>
            </a:r>
          </a:p>
          <a:p>
            <a:r>
              <a:t>docs/reference/research/ux/zava-forward-prototype-profile-review.md — Owner Usability Feedback; Proposed Acceptance Checks (2026-10-07).</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A regulated landlord needs more than a persuasive explanation. It needs a trace another person can inspect.</a:t>
            </a:r>
          </a:p>
          <a:p/>
          <a:p>
            <a:r>
              <a:t>For each decision, retain the source and evidence version, applicable rule version, result and reason, named reviewer, approval event and timestamp. If someone overrides the result, capture their authority and reason. If evidence changes, reopen dependent reviews and preserve the earlier story.</a:t>
            </a:r>
          </a:p>
          <a:p/>
          <a:p>
            <a:r>
              <a:t>That is how an executive answers: why this home, why this release, why this payment? AI-generated prose cannot substitute for the trace.</a:t>
            </a:r>
          </a:p>
          <a:p/>
          <a:p>
            <a:r>
              <a:t>Regulatory updates enter a managed source register; accountable professionals approve changed interpretations and rules. This pitch uses dated repository evidence, not a fresh legal-currentness review. Compliance and technical acceptance stay human-owned.</a:t>
            </a:r>
          </a:p>
          <a:p/>
          <a:p>
            <a:r>
              <a:t>Evidence:</a:t>
            </a:r>
          </a:p>
          <a:p>
            <a:r>
              <a:t>docs/case_study_48_addendum.md — Regulatory Evidence and Service Design; EXA-003/005/006 (2026-10-11).</a:t>
            </a:r>
          </a:p>
          <a:p>
            <a:r>
              <a:t>docs/adrs/0001-azure-architecture.md — Decisions; Exercise Applicability (2026-10-11, proposed).</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Here is the product in its context. Existing workbooks, housing and stock records, surveys and funding rules feed the workbench through validated intake. The arrow runs from sources into the shared case—not backwards.</a:t>
            </a:r>
          </a:p>
          <a:p/>
          <a:p>
            <a:r>
              <a:t>Staff use role queues over that case. Residents receive supported contact, contractors exchange scoped work and evidence through approved channels, and Excel receives reporting views. Neither residents nor contractors need open access to the internal tool.</a:t>
            </a:r>
          </a:p>
          <a:p/>
          <a:p>
            <a:r>
              <a:t>We keep useful systems and clarify which source owns each fact. Conflicting identifiers are quarantined, not silently merged. This is a proposed landscape, not a deployed topology or an all-systems migration.</a:t>
            </a:r>
          </a:p>
          <a:p/>
          <a:p>
            <a:r>
              <a:t>Evidence:</a:t>
            </a:r>
          </a:p>
          <a:p>
            <a:r>
              <a:t>docs/case_study_48_addendum.md — EXA-003/004/005 (2026-10-10 exercise assumptions).</a:t>
            </a:r>
          </a:p>
          <a:p>
            <a:r>
              <a:t>docs/prds/zava-forward-retrofit-programme-demonstrator.md — Executive Summary (v0.13 candidate).</a:t>
            </a:r>
          </a:p>
          <a:p>
            <a:r>
              <a:t>docs/adrs/0001-azure-architecture.md — Hybrid M365 and Excel transition; Decisions (2026-10-11 proposed).</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One controlled API mediates intake and staff action requests. It checks role, case and field permissions, evidence versions and approvals before SQL state changes. Versioned Blob evidence supports the trace. Deterministic workflow controls ranking, gates and routing.</a:t>
            </a:r>
          </a:p>
          <a:p/>
          <a:p>
            <a:r>
              <a:t>AI receives permitted inputs and returns a cited draft or flag to staff. It has no write credentials. Human review comes before a controlled action; model failure retains the manual route without bypassing gates.</a:t>
            </a:r>
          </a:p>
          <a:p/>
          <a:p>
            <a:r>
              <a:t>Actual Azure, SQL and AI are the exercise direction—not customer procurement approval or a universal requirement for agent transformation. Pinned #58 documents narrow feasibility, not this entire design. CIO assurance still requires permission, leakage, recovery and resilience tests.</a:t>
            </a:r>
          </a:p>
          <a:p/>
          <a:p>
            <a:r>
              <a:t>Evidence:</a:t>
            </a:r>
          </a:p>
          <a:p>
            <a:r>
              <a:t>docs/case_study_48_addendum.md — Subsequent Application Exercise Builds; Current Learning and Parallel Experiment (2026-10-11).</a:t>
            </a:r>
          </a:p>
          <a:p>
            <a:r>
              <a:t>docs/adrs/0001-azure-architecture.md; docs/adrs/0002-pilot-readiness-architecture.md — Exercise Applicability; Decisions (proposed).</a:t>
            </a:r>
          </a:p>
          <a:p>
            <a:r>
              <a:t>docs/ideas/typesafe-system-one-agent-fit.md — Observed Feasibility and Parallel Value Experiment (pinned #58).</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Give AI a bounded task, not an office of authority. A decision model may select among supplied, source-bound candidates when verified task fit supports it. It must allow no-match or uncertainty. A generative model may assemble a cited narrative from permitted evidence.</a:t>
            </a:r>
          </a:p>
          <a:p/>
          <a:p>
            <a:r>
              <a:t>Staff check required fields and own the decision. Priority policy, consent, technical acceptance, claims, quality and payment are never AI-owned.</a:t>
            </a:r>
          </a:p>
          <a:p/>
          <a:p>
            <a:r>
              <a:t>Pinned #58 records source-bound EPC selection and cited generation feasibility. That does not establish calibration, broader screening or net benefit.</a:t>
            </a:r>
          </a:p>
          <a:p/>
          <a:p>
            <a:r>
              <a:t>If review and correction erase the benefit, keep the simpler path. Real inference is exercise evidence; usefulness needs a separate test.</a:t>
            </a:r>
          </a:p>
          <a:p/>
          <a:p>
            <a:r>
              <a:t>Evidence:</a:t>
            </a:r>
          </a:p>
          <a:p>
            <a:r>
              <a:t>docs/ideas/typesafe-system-one-agent-fit.md — Microsoft Decision 1 Reassessment; Observed Feasibility and Parallel Value Experiment (2026-10-10/11, #58 pinned at 5136f192d583a5bf53adeeec4b0f21369b005c9d).</a:t>
            </a:r>
          </a:p>
          <a:p>
            <a:r>
              <a:t>docs/case_study_48_addendum.md — Subsequent Application Exercise Builds (2026-10-11).</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For the CEO, this is mission stewardship; for Assets, safe accepted handover. For the CFO, it must also be honest cash exposure.</a:t>
            </a:r>
          </a:p>
          <a:p/>
          <a:p>
            <a:r>
              <a:t>This fictional home costs twenty thousand pounds. Its illustrative grant is seven thousand five hundred, leaving twelve thousand five hundred provider funding if received. Before receipt, gross exposure is still twenty thousand. Fully spent contingency raises the envelope to twenty-two thousand and provider exposure to fourteen thousand five hundred.</a:t>
            </a:r>
          </a:p>
          <a:p/>
          <a:p>
            <a:r>
              <a:t>Application, award, claim and cash must remain separate. These are exercise figures, not a real budget, grant or liquidity position.</a:t>
            </a:r>
          </a:p>
          <a:p/>
          <a:p>
            <a:r>
              <a:t>The workbench needs its own whole-life cost and authority review. Count net effort and cost per accepted outcome, not headline minutes saved.</a:t>
            </a:r>
          </a:p>
          <a:p/>
          <a:p>
            <a:r>
              <a:t>Evidence:</a:t>
            </a:r>
          </a:p>
          <a:p>
            <a:r>
              <a:t>docs/case_study_48_addendum.md — EXA-010/015; Numerical Targets and Attribution (2026-10-10).</a:t>
            </a:r>
          </a:p>
          <a:p>
            <a:r>
              <a:t>docs/reference/research/company/company-profile-research.md — Confirmed Company Information (2026-09-26).</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ambition is large; the first change should be small enough to learn from. Start with existing teams and suppliers, and one connected home.</a:t>
            </a:r>
          </a:p>
          <a:p/>
          <a:p>
            <a:r>
              <a:t>The Programme Manager and staff co-design tasks and profile workbook ownership. The Data owner shadows one-way imports and owns quarantine and reconciliation. Team leads rehearse role-specific tasks with named support. Digital and the work owner agree exit tests and prove rollback before switching the write path.</a:t>
            </a:r>
          </a:p>
          <a:p/>
          <a:p>
            <a:r>
              <a:t>Keep parallel entry short and explicitly owned. After sign-off, the workbench writes and Excel reports through the API. No permanent dual entry, compulsory portal or big-bang replacement.</a:t>
            </a:r>
          </a:p>
          <a:p/>
          <a:p>
            <a:r>
              <a:t>These are proposed owner roles, not confirmed delegations. Validate tenant, workbook quality, accessibility and staff readiness. Count transition and training effort in the business case.</a:t>
            </a:r>
          </a:p>
          <a:p/>
          <a:p>
            <a:r>
              <a:t>Evidence:</a:t>
            </a:r>
          </a:p>
          <a:p>
            <a:r>
              <a:t>docs/reference/research/company/pilot-measurement-challenge.md — Owner Decision, 2026-09-26.</a:t>
            </a:r>
          </a:p>
          <a:p>
            <a:r>
              <a:t>docs/adrs/0001-azure-architecture.md — Hybrid M365 and Excel transition (proposed).</a:t>
            </a:r>
          </a:p>
          <a:p>
            <a:r>
              <a:t>docs/reference/research/ux/zava-forward-prototype-profile-review.md — Owner Usability Feedback; Proposed Acceptance Checks (2026-10-07).</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A dashboard tells us what is happening; it does not establish what caused it. Separate two questions.</a:t>
            </a:r>
          </a:p>
          <a:p/>
          <a:p>
            <a:r>
              <a:t>First, does modernisation improve accepted outcomes? Compare an assisted locality with a matched locality using existing delivery without agents, both with existing teams, identical event capture and a frozen cohort. Compare changes against each area's instrumented pre-period. Log shared suppliers and staff so improvement is not borrowed from elsewhere. Do not introduce a protected delivery cell and call its capacity an AI benefit.</a:t>
            </a:r>
          </a:p>
          <a:p/>
          <a:p>
            <a:r>
              <a:t>Second, does a capability add value over the same workflow without it? Pair identical inputs and reviewed tasks. Count review, correction, recording, errors, latency and cost.</a:t>
            </a:r>
          </a:p>
          <a:p/>
          <a:p>
            <a:r>
              <a:t>Include unfinished, paused and withdrawn homes. Safety, resident choice, quality, equity and peak cash cannot be traded for speed. Protocol and thresholds need owner agreement. No numerical effects are measured here; a negative AI result means simplify.</a:t>
            </a:r>
          </a:p>
          <a:p/>
          <a:p>
            <a:r>
              <a:t>Evidence:</a:t>
            </a:r>
          </a:p>
          <a:p>
            <a:r>
              <a:t>docs/reference/research/company/pilot-measurement-challenge.md — Summary; Owner Decision, 2026-09-26; Proposed Measurement Design; Analysis Rules.</a:t>
            </a:r>
          </a:p>
          <a:p>
            <a:r>
              <a:t>docs/ideas/typesafe-system-one-agent-fit.md — Observed Feasibility and Parallel Value Experiment (2026-10-11, protocol not results).</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Four gates turn ambition into a controlled next step. Sponsor and Assets review the current requirements candidate, assign control owners, and define scope and authority. Programme and Digital then connect the same-home trace on continuing generated data, with actual exercise services and negative-control tests.</a:t>
            </a:r>
          </a:p>
          <a:p/>
          <a:p>
            <a:r>
              <a:t>Data, Finance and the CIO require evidence of net task value, whole-life cost, enforceable permissions, accessibility and recovery. The sponsor and owners receive pass, fail, blocked and not-run findings and decide whether to continue, simplify or stop.</a:t>
            </a:r>
          </a:p>
          <a:p/>
          <a:p>
            <a:r>
              <a:t>PRD v0.13 needs fresh review and acceptance. Historical v0.12 approval and #58 feasibility do not transfer. Missing authority blocks billable work. A later live pilot requires separate operational, privacy, professional and user approval.</a:t>
            </a:r>
          </a:p>
          <a:p/>
          <a:p>
            <a:r>
              <a:t>Evidence:</a:t>
            </a:r>
          </a:p>
          <a:p>
            <a:r>
              <a:t>docs/case_study_48_addendum.md — EXA-001; Subsequent Application Exercise Builds; Current Learning and Parallel Experiment (2026-10-11).</a:t>
            </a:r>
          </a:p>
          <a:p>
            <a:r>
              <a:t>docs/prds/zava-forward-retrofit-programme-demonstrator.md — front matter; CON-009/AC-057 (v0.13 candidate).</a:t>
            </a:r>
          </a:p>
          <a:p>
            <a:r>
              <a:t>docs/adrs/0002-pilot-readiness-architecture.md — Exercise Applicability; Decisions (proposed).</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ask is not to replace how the whole company works. Endorse preparation of a gated evidence-stage proposal for the shared foundation these five capabilities need.</a:t>
            </a:r>
          </a:p>
          <a:p/>
          <a:p>
            <a:r>
              <a:t>CEO and Assets: name a sponsor and workflow and control owners. CFO: define the affordability, whole-life cost and spending-authority review. CIO and Programme: define enforceable controls, resilience and supported transition evidence. Confirm actual delegations.</a:t>
            </a:r>
          </a:p>
          <a:p/>
          <a:p>
            <a:r>
              <a:t>Return at a date you agree with reviewed requirements, fair Excel-only and M365 alternatives, scoped costs, acceptance tests and stop conditions. No purchase, deployment or production is authorized today.</a:t>
            </a:r>
          </a:p>
          <a:p/>
          <a:p>
            <a:r>
              <a:t>You asked for agents to help deliver the promise. Our recommendation is to make the work visible, measurable and explainable—so assistance can earn its place, and every accepted home has a story you can stand behind.</a:t>
            </a:r>
          </a:p>
          <a:p/>
          <a:p>
            <a:r>
              <a:t>Evidence:</a:t>
            </a:r>
          </a:p>
          <a:p>
            <a:r>
              <a:t>docs/case_study_48_addendum.md — Executive Assessment; Recommended Executive Decision; Subsequent Application Exercise Builds (2026-10-11, proposal).</a:t>
            </a:r>
          </a:p>
          <a:p>
            <a:r>
              <a:t>docs/reference/research/company/company-profile-research.md — Role and Decision Map (2026-09-26, proposed role boundaries).</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Threats include unauthorized writes, stale approvals, cross-case leakage, malicious content in evidence, model hallucination and lost or competing state. Proposed controls are one API write path, server-side role/case/field projections, source-bound inputs, schema validation, independent reviewers, row-version concurrency, idempotent transitions and replayable audit.</a:t>
            </a:r>
          </a:p>
          <a:p/>
          <a:p>
            <a:r>
              <a:t>SQL indexes and server-side paging/clustering address full-file and full-map mechanisms. Queue-separated workers and private-only access remain proposed topology, not deployed facts. Model failure retains manual work; unsupported source facts stay unknown; retries must not duplicate transitions. Blob versions and SQL metadata must identify exactly which evidence was approved. Recovery, ledger verification, replicas, user identity, leakage/injection tests and legal retention decisions need explicit observed evidence before readiness claims.</a:t>
            </a:r>
          </a:p>
          <a:p/>
          <a:p>
            <a:r>
              <a:t>Evidence:</a:t>
            </a:r>
          </a:p>
          <a:p>
            <a:r>
              <a:t>docs/prds/zava-forward-retrofit-programme-demonstrator.md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Why not fix Excel? We should cost that option; the proposed control mechanisms, not familiarity alone, decide the comparison. Why not Power Platform? Tenant/licensing and operational fit are unverified and require equivalent appraisal before production selection. Why buy AI now? Do not buy an assumed benefit; verify access, terms and scoped authority, then run paired task tests. Why not launch from #58? Narrow observed feasibility is not full workflow/control or human acceptance.</a:t>
            </a:r>
          </a:p>
          <a:p/>
          <a:p>
            <a:r>
              <a:t>What is the budget? No new corporate amount is approved. Historical EXA-012 allocated USD450 per month, reviewed at USD360 and paused at USD405; #58 removed that cap only for its rebuild. Each subsequent build needs an effective scoped approval with accrued liabilities. Stop if controls fail, authority is absent or liabilities exceed the agreed envelope. Simplify any AI task that fails net-value testing; keep required real-platform evidence independent.</a:t>
            </a:r>
          </a:p>
          <a:p/>
          <a:p>
            <a:r>
              <a:t>Evidence:</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docs/adrs/0001-azure-architecture.md — Exercise Applicability (2026-10-11); Decisions; Hybrid M365 and Excel transition; Options still to compare (proposed)</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Evidence categories: REQUEST is the immutable case ambition; RESEARCH is sector evidence or role-agent hypothesis; EXERCISE is a selected fictional fixture or historical owner-approved baseline; DIRECTION is the current owner's delivery requirement; PROPOSED is design or evaluation not yet accepted; OBSERVED FEASIBILITY is a precisely pinned recorded service result; UNPROVED is benefit or readiness still lacking evidence.</a:t>
            </a:r>
          </a:p>
          <a:p/>
          <a:p>
            <a:r>
              <a:t>All consequential legal adoption requires fresh official-source verification and professional/control-owner approval. v0.12 acceptance on 10 October does not transfer to v0.13. PR #58 evidence is pinned at 5136f192d583a5bf53adeeec4b0f21369b005c9d in maintained main documentation, not imported source or a re-inspected runtime.</a:t>
            </a:r>
          </a:p>
          <a:p/>
          <a:p>
            <a:r>
              <a:t>The full capstone guide informed the narrative. A deck cannot establish live delivery, Q&amp;A behaviour, working autonomy, operations or publication floors. Earlier reviews applied to earlier narratives and are historical, not current approval. Independent final review of this rebuilt narrative is handled by the parent; a timed rehearsal remains pending. Detailed source/provision/date/status references are in notes and research/evidence-register.md.</a:t>
            </a:r>
          </a:p>
          <a:p/>
          <a:p>
            <a:r>
              <a:t>Evidence:</a:t>
            </a:r>
          </a:p>
          <a:p>
            <a:r>
              <a:t>docs/case_study_48_original.md — Business Challenge; Agentic Architecture Brief; Expected Outcomes (2026-09-10, immutable request)</a:t>
            </a:r>
          </a:p>
          <a:p>
            <a:r>
              <a:t>docs/reference/research/company/agent-request-challenge.md — Purpose and Method; Summary (2026-09-26, role-agent hypotheses)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docs/prds/zava-forward-retrofit-programme-demonstrator.md — front matter; Executive Summary; CON-009/AC-057 (v0.13.0 candidate 2026-10-11; historical v0.12.0 accepted 2026-10-10)</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a:p>
            <a:r>
              <a:t>docs/reference/method/ama-capstone-assessment-guide.md — Sections A-D; How the outcome is determined; How to prepare (2026-09-30 published rubric)</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a comparison framework, not a scored recommendation. Excel-only improvement may minimize change, but control fit and the manual baseline still need evidence. The greenfield Power Apps/Dataverse business-platform option and Azure-led hybrid both need fair, equal-scope appraisal. Tenant fit, licences, workflows and resident access have not been tested. The Azure-led hybrid is the exercise direction for connected workflows and real AI, SQL and Azure evidence; it is not a production decision and costs are not measured.</a:t>
            </a:r>
          </a:p>
          <a:p>
            <a:r>
              <a:t>Ask owners to compare the routes on the same workload, controls, transition risk, accessibility, integration, support and whole-life cost. Identify tenant capability, workbook quality, baseline effort and failure fallback. Score only when comparable evidence exists; mandatory safety, privacy, resident and approval controls are gates, not tradeable points.</a:t>
            </a:r>
          </a:p>
          <a:p>
            <a:r>
              <a:t>Evidence:</a:t>
            </a:r>
          </a:p>
          <a:p>
            <a:r>
              <a:t>docs/adrs/0001-azure-architecture.md — Hybrid M365 and Excel transition; Options still to compare; Provisional options appraisal (architect illustration is not an approved decision)</a:t>
            </a:r>
          </a:p>
          <a:p>
            <a:r>
              <a:t>docs/case_study_48_addendum.md — Implementation Options and Provisional Platform Recommendation; EXA-012 / OQ-012</a:t>
            </a:r>
          </a:p>
          <a:p>
            <a:r>
              <a:t>docs/case_study_48_original.md — Business Challenge (spreadsheets stated; specific workbook failure modes not measured)</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F7F2E7"/>
                </a:solidFill>
                <a:latin typeface="Aptos"/>
              </a:rPr>
              <a:t>ZAVA NORTH HOMES / ZAVA FORWARD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400" b="1" i="0">
                <a:solidFill>
                  <a:srgbClr val="F7F2E7"/>
                </a:solidFill>
                <a:latin typeface="Aptos Display"/>
              </a:rPr>
              <a:t>60,000 homes. One promise.</a:t>
            </a:r>
          </a:p>
        </p:txBody>
      </p:sp>
      <p:sp>
        <p:nvSpPr>
          <p:cNvPr id="4" name="TextBox 3"/>
          <p:cNvSpPr txBox="1"/>
          <p:nvPr/>
        </p:nvSpPr>
        <p:spPr>
          <a:xfrm>
            <a:off x="594360" y="2606040"/>
            <a:ext cx="6858000" cy="1371600"/>
          </a:xfrm>
          <a:prstGeom prst="rect">
            <a:avLst/>
          </a:prstGeom>
          <a:noFill/>
        </p:spPr>
        <p:txBody>
          <a:bodyPr wrap="square" lIns="0" rIns="0" tIns="0" bIns="0">
            <a:spAutoFit/>
          </a:bodyPr>
          <a:lstStyle/>
          <a:p>
            <a:r>
              <a:rPr sz="3000" b="0" i="0">
                <a:solidFill>
                  <a:srgbClr val="F7F2E7"/>
                </a:solidFill>
                <a:latin typeface="Aptos"/>
              </a:rPr>
              <a:t>Warmer homes.</a:t>
            </a:r>
          </a:p>
          <a:p>
            <a:r>
              <a:rPr sz="3000" b="0" i="0">
                <a:solidFill>
                  <a:srgbClr val="F7F2E7"/>
                </a:solidFill>
                <a:latin typeface="Aptos"/>
              </a:rPr>
              <a:t>Safe, accepted handovers.</a:t>
            </a:r>
          </a:p>
          <a:p>
            <a:r>
              <a:rPr sz="3000" b="0" i="0">
                <a:solidFill>
                  <a:srgbClr val="F7F2E7"/>
                </a:solidFill>
                <a:latin typeface="Aptos"/>
              </a:rPr>
              <a:t>Decisions we can explain.</a:t>
            </a:r>
          </a:p>
        </p:txBody>
      </p:sp>
      <p:sp>
        <p:nvSpPr>
          <p:cNvPr id="5" name="Rounded Rectangle 4"/>
          <p:cNvSpPr/>
          <p:nvPr/>
        </p:nvSpPr>
        <p:spPr>
          <a:xfrm>
            <a:off x="7909560" y="2606040"/>
            <a:ext cx="3657600" cy="242316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400" b="0" i="0">
                <a:solidFill>
                  <a:srgbClr val="183A31"/>
                </a:solidFill>
                <a:latin typeface="Aptos"/>
              </a:rPr>
              <a:t>THE REQUEST</a:t>
            </a:r>
          </a:p>
          <a:p>
            <a:pPr algn="l">
              <a:lnSpc>
                <a:spcPct val="105000"/>
              </a:lnSpc>
            </a:pPr>
            <a:r>
              <a:rPr sz="2400" b="0" i="0">
                <a:solidFill>
                  <a:srgbClr val="183A31"/>
                </a:solidFill>
                <a:latin typeface="Aptos"/>
              </a:rPr>
              <a:t>Five agents to help</a:t>
            </a:r>
          </a:p>
          <a:p>
            <a:pPr algn="l">
              <a:lnSpc>
                <a:spcPct val="105000"/>
              </a:lnSpc>
            </a:pPr>
            <a:r>
              <a:rPr sz="2400" b="0" i="0">
                <a:solidFill>
                  <a:srgbClr val="183A31"/>
                </a:solidFill>
                <a:latin typeface="Aptos"/>
              </a:rPr>
              <a:t>an overstretched</a:t>
            </a:r>
          </a:p>
          <a:p>
            <a:pPr algn="l">
              <a:lnSpc>
                <a:spcPct val="105000"/>
              </a:lnSpc>
            </a:pPr>
            <a:r>
              <a:rPr sz="2400" b="0" i="0">
                <a:solidFill>
                  <a:srgbClr val="183A31"/>
                </a:solidFill>
                <a:latin typeface="Aptos"/>
              </a:rPr>
              <a:t>retrofit programme</a:t>
            </a:r>
          </a:p>
        </p:txBody>
      </p:sp>
      <p:sp>
        <p:nvSpPr>
          <p:cNvPr id="6" name="TextBox 5"/>
          <p:cNvSpPr txBox="1"/>
          <p:nvPr/>
        </p:nvSpPr>
        <p:spPr>
          <a:xfrm>
            <a:off x="594360" y="5330952"/>
            <a:ext cx="10972800" cy="484632"/>
          </a:xfrm>
          <a:prstGeom prst="rect">
            <a:avLst/>
          </a:prstGeom>
          <a:noFill/>
        </p:spPr>
        <p:txBody>
          <a:bodyPr wrap="square" lIns="0" rIns="0" tIns="0" bIns="0">
            <a:spAutoFit/>
          </a:bodyPr>
          <a:lstStyle/>
          <a:p>
            <a:r>
              <a:rPr sz="1900" b="0" i="0">
                <a:solidFill>
                  <a:srgbClr val="F7F2E7"/>
                </a:solidFill>
                <a:latin typeface="Aptos"/>
              </a:rPr>
              <a:t>Not faster agents on invisible work. A clearer path from effort to accepted home.</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01 / REQUEST + PROPOSED RESPONSE / E01–E02 / 11 OCT 2026</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THE ORIGINAL ASK</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You asked for help at five pressure points</a:t>
            </a:r>
          </a:p>
        </p:txBody>
      </p:sp>
      <p:sp>
        <p:nvSpPr>
          <p:cNvPr id="4" name="Rounded Rectangle 3"/>
          <p:cNvSpPr/>
          <p:nvPr/>
        </p:nvSpPr>
        <p:spPr>
          <a:xfrm>
            <a:off x="5943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1 / PRIORITISE</a:t>
            </a:r>
          </a:p>
          <a:p>
            <a:pPr algn="l">
              <a:lnSpc>
                <a:spcPct val="105000"/>
              </a:lnSpc>
            </a:pPr>
            <a:r>
              <a:rPr sz="2100" b="0" i="0">
                <a:solidFill>
                  <a:srgbClr val="F7F2E7"/>
                </a:solidFill>
                <a:latin typeface="Aptos"/>
              </a:rPr>
              <a:t>Which homes first?</a:t>
            </a:r>
          </a:p>
        </p:txBody>
      </p:sp>
      <p:sp>
        <p:nvSpPr>
          <p:cNvPr id="5" name="Rounded Rectangle 4"/>
          <p:cNvSpPr/>
          <p:nvPr/>
        </p:nvSpPr>
        <p:spPr>
          <a:xfrm>
            <a:off x="43662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2 / ASSESS</a:t>
            </a:r>
          </a:p>
          <a:p>
            <a:pPr algn="l">
              <a:lnSpc>
                <a:spcPct val="105000"/>
              </a:lnSpc>
            </a:pPr>
            <a:r>
              <a:rPr sz="2100" b="0" i="0">
                <a:solidFill>
                  <a:srgbClr val="F7F2E7"/>
                </a:solidFill>
                <a:latin typeface="Aptos"/>
              </a:rPr>
              <a:t>What does the home need?</a:t>
            </a:r>
          </a:p>
        </p:txBody>
      </p:sp>
      <p:sp>
        <p:nvSpPr>
          <p:cNvPr id="6" name="Rounded Rectangle 5"/>
          <p:cNvSpPr/>
          <p:nvPr/>
        </p:nvSpPr>
        <p:spPr>
          <a:xfrm>
            <a:off x="81381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3 / FUND</a:t>
            </a:r>
          </a:p>
          <a:p>
            <a:pPr algn="l">
              <a:lnSpc>
                <a:spcPct val="105000"/>
              </a:lnSpc>
            </a:pPr>
            <a:r>
              <a:rPr sz="2100" b="0" i="0">
                <a:solidFill>
                  <a:srgbClr val="F7F2E7"/>
                </a:solidFill>
                <a:latin typeface="Aptos"/>
              </a:rPr>
              <a:t>Can we prepare the application?</a:t>
            </a:r>
          </a:p>
        </p:txBody>
      </p:sp>
      <p:sp>
        <p:nvSpPr>
          <p:cNvPr id="7" name="Rounded Rectangle 6"/>
          <p:cNvSpPr/>
          <p:nvPr/>
        </p:nvSpPr>
        <p:spPr>
          <a:xfrm>
            <a:off x="594360" y="4114800"/>
            <a:ext cx="532638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4 / COORDINATE</a:t>
            </a:r>
          </a:p>
          <a:p>
            <a:pPr algn="l">
              <a:lnSpc>
                <a:spcPct val="105000"/>
              </a:lnSpc>
            </a:pPr>
            <a:r>
              <a:rPr sz="2100" b="0" i="0">
                <a:solidFill>
                  <a:srgbClr val="183A31"/>
                </a:solidFill>
                <a:latin typeface="Aptos"/>
              </a:rPr>
              <a:t>Can the crew and resident agree?</a:t>
            </a:r>
          </a:p>
        </p:txBody>
      </p:sp>
      <p:sp>
        <p:nvSpPr>
          <p:cNvPr id="8" name="Rounded Rectangle 7"/>
          <p:cNvSpPr/>
          <p:nvPr/>
        </p:nvSpPr>
        <p:spPr>
          <a:xfrm>
            <a:off x="6240780" y="4114800"/>
            <a:ext cx="532638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5 / VERIFY</a:t>
            </a:r>
          </a:p>
          <a:p>
            <a:pPr algn="l">
              <a:lnSpc>
                <a:spcPct val="105000"/>
              </a:lnSpc>
            </a:pPr>
            <a:r>
              <a:rPr sz="2100" b="0" i="0">
                <a:solidFill>
                  <a:srgbClr val="183A31"/>
                </a:solidFill>
                <a:latin typeface="Aptos"/>
              </a:rPr>
              <a:t>Is the work safe and acceptable?</a:t>
            </a:r>
          </a:p>
        </p:txBody>
      </p:sp>
      <p:sp>
        <p:nvSpPr>
          <p:cNvPr id="9" name="TextBox 8"/>
          <p:cNvSpPr txBox="1"/>
          <p:nvPr/>
        </p:nvSpPr>
        <p:spPr>
          <a:xfrm>
            <a:off x="594360" y="5623560"/>
            <a:ext cx="10972800" cy="274320"/>
          </a:xfrm>
          <a:prstGeom prst="rect">
            <a:avLst/>
          </a:prstGeom>
          <a:noFill/>
        </p:spPr>
        <p:txBody>
          <a:bodyPr wrap="square" lIns="0" rIns="0" tIns="0" bIns="0">
            <a:spAutoFit/>
          </a:bodyPr>
          <a:lstStyle/>
          <a:p>
            <a:r>
              <a:rPr sz="1800" b="0" i="0">
                <a:solidFill>
                  <a:srgbClr val="183A31"/>
                </a:solidFill>
                <a:latin typeface="Aptos"/>
              </a:rPr>
              <a:t>The objective is accepted handover—not more activity, messages or drafts.</a:t>
            </a:r>
          </a:p>
        </p:txBody>
      </p:sp>
      <p:sp>
        <p:nvSpPr>
          <p:cNvPr id="10" name="TextBox 9"/>
          <p:cNvSpPr txBox="1"/>
          <p:nvPr/>
        </p:nvSpPr>
        <p:spPr>
          <a:xfrm>
            <a:off x="594360" y="6217920"/>
            <a:ext cx="10972800" cy="182880"/>
          </a:xfrm>
          <a:prstGeom prst="rect">
            <a:avLst/>
          </a:prstGeom>
          <a:noFill/>
        </p:spPr>
        <p:txBody>
          <a:bodyPr wrap="square" lIns="0" rIns="0" tIns="0" bIns="0">
            <a:spAutoFit/>
          </a:bodyPr>
          <a:lstStyle/>
          <a:p>
            <a:r>
              <a:rPr sz="1000" b="0" i="0">
                <a:solidFill>
                  <a:srgbClr val="183A31"/>
                </a:solidFill>
                <a:latin typeface="Aptos"/>
              </a:rPr>
              <a:t>02 / REQUEST / E01 / DOUBLED DELIVERY AND GRANT CAPTURE ARE AMBITIONS, NOT RESULTS</a:t>
            </a:r>
          </a:p>
        </p:txBody>
      </p:sp>
      <p:sp>
        <p:nvSpPr>
          <p:cNvPr id="11"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EIGHT ROLE-AGENT RESEARCH INSTRUMENTS / NOT EMPLOYEE INTERVIEWS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000" b="1" i="0">
                <a:solidFill>
                  <a:srgbClr val="183A31"/>
                </a:solidFill>
                <a:latin typeface="Aptos Display"/>
              </a:rPr>
              <a:t>The discovery reversal</a:t>
            </a:r>
          </a:p>
        </p:txBody>
      </p:sp>
      <p:sp>
        <p:nvSpPr>
          <p:cNvPr id="4" name="Rounded Rectangle 3"/>
          <p:cNvSpPr/>
          <p:nvPr/>
        </p:nvSpPr>
        <p:spPr>
          <a:xfrm>
            <a:off x="594360" y="2606040"/>
            <a:ext cx="3429000" cy="25603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200" b="0" i="0">
                <a:solidFill>
                  <a:srgbClr val="F7F2E7"/>
                </a:solidFill>
                <a:latin typeface="Aptos"/>
              </a:rPr>
              <a:t>RULES + CONTROLS</a:t>
            </a:r>
          </a:p>
          <a:p>
            <a:pPr algn="l">
              <a:lnSpc>
                <a:spcPct val="105000"/>
              </a:lnSpc>
            </a:pPr>
            <a:r>
              <a:rPr sz="2200" b="0" i="0">
                <a:solidFill>
                  <a:srgbClr val="F7F2E7"/>
                </a:solidFill>
                <a:latin typeface="Aptos"/>
              </a:rPr>
              <a:t>Holds, clocks</a:t>
            </a:r>
          </a:p>
          <a:p>
            <a:pPr algn="l">
              <a:lnSpc>
                <a:spcPct val="105000"/>
              </a:lnSpc>
            </a:pPr>
            <a:r>
              <a:rPr sz="2200" b="0" i="0">
                <a:solidFill>
                  <a:srgbClr val="F7F2E7"/>
                </a:solidFill>
                <a:latin typeface="Aptos"/>
              </a:rPr>
              <a:t>and evidence checks</a:t>
            </a:r>
          </a:p>
        </p:txBody>
      </p:sp>
      <p:sp>
        <p:nvSpPr>
          <p:cNvPr id="5" name="Rounded Rectangle 4"/>
          <p:cNvSpPr/>
          <p:nvPr/>
        </p:nvSpPr>
        <p:spPr>
          <a:xfrm>
            <a:off x="4366260" y="2606040"/>
            <a:ext cx="3429000" cy="25603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200" b="0" i="0">
                <a:solidFill>
                  <a:srgbClr val="183A31"/>
                </a:solidFill>
                <a:latin typeface="Aptos"/>
              </a:rPr>
              <a:t>ACCOUNTABLE PEOPLE</a:t>
            </a:r>
          </a:p>
          <a:p>
            <a:pPr algn="l">
              <a:lnSpc>
                <a:spcPct val="105000"/>
              </a:lnSpc>
            </a:pPr>
            <a:r>
              <a:rPr sz="2200" b="0" i="0">
                <a:solidFill>
                  <a:srgbClr val="183A31"/>
                </a:solidFill>
                <a:latin typeface="Aptos"/>
              </a:rPr>
              <a:t>Investment + consent</a:t>
            </a:r>
          </a:p>
          <a:p>
            <a:pPr algn="l">
              <a:lnSpc>
                <a:spcPct val="105000"/>
              </a:lnSpc>
            </a:pPr>
            <a:r>
              <a:rPr sz="2200" b="0" i="0">
                <a:solidFill>
                  <a:srgbClr val="183A31"/>
                </a:solidFill>
                <a:latin typeface="Aptos"/>
              </a:rPr>
              <a:t>Technical + quality</a:t>
            </a:r>
          </a:p>
          <a:p>
            <a:pPr algn="l">
              <a:lnSpc>
                <a:spcPct val="105000"/>
              </a:lnSpc>
            </a:pPr>
            <a:r>
              <a:rPr sz="2200" b="0" i="0">
                <a:solidFill>
                  <a:srgbClr val="183A31"/>
                </a:solidFill>
                <a:latin typeface="Aptos"/>
              </a:rPr>
              <a:t>acceptance</a:t>
            </a:r>
          </a:p>
        </p:txBody>
      </p:sp>
      <p:sp>
        <p:nvSpPr>
          <p:cNvPr id="6" name="Rounded Rectangle 5"/>
          <p:cNvSpPr/>
          <p:nvPr/>
        </p:nvSpPr>
        <p:spPr>
          <a:xfrm>
            <a:off x="8138160" y="2606040"/>
            <a:ext cx="3429000" cy="25603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200" b="0" i="0">
                <a:solidFill>
                  <a:srgbClr val="183A31"/>
                </a:solidFill>
                <a:latin typeface="Aptos"/>
              </a:rPr>
              <a:t>BOUNDED AI</a:t>
            </a:r>
          </a:p>
          <a:p>
            <a:pPr algn="l">
              <a:lnSpc>
                <a:spcPct val="105000"/>
              </a:lnSpc>
            </a:pPr>
            <a:r>
              <a:rPr sz="2200" b="0" i="0">
                <a:solidFill>
                  <a:srgbClr val="183A31"/>
                </a:solidFill>
                <a:latin typeface="Aptos"/>
              </a:rPr>
              <a:t>Read, reconcile,</a:t>
            </a:r>
          </a:p>
          <a:p>
            <a:pPr algn="l">
              <a:lnSpc>
                <a:spcPct val="105000"/>
              </a:lnSpc>
            </a:pPr>
            <a:r>
              <a:rPr sz="2200" b="0" i="0">
                <a:solidFill>
                  <a:srgbClr val="183A31"/>
                </a:solidFill>
                <a:latin typeface="Aptos"/>
              </a:rPr>
              <a:t>draft and flag</a:t>
            </a:r>
          </a:p>
        </p:txBody>
      </p:sp>
      <p:sp>
        <p:nvSpPr>
          <p:cNvPr id="7" name="TextBox 6"/>
          <p:cNvSpPr txBox="1"/>
          <p:nvPr/>
        </p:nvSpPr>
        <p:spPr>
          <a:xfrm>
            <a:off x="594360" y="5486400"/>
            <a:ext cx="10972800" cy="338328"/>
          </a:xfrm>
          <a:prstGeom prst="rect">
            <a:avLst/>
          </a:prstGeom>
          <a:noFill/>
        </p:spPr>
        <p:txBody>
          <a:bodyPr wrap="square" lIns="0" rIns="0" tIns="0" bIns="0">
            <a:spAutoFit/>
          </a:bodyPr>
          <a:lstStyle/>
          <a:p>
            <a:r>
              <a:rPr sz="2000" b="0" i="0">
                <a:solidFill>
                  <a:srgbClr val="183A31"/>
                </a:solidFill>
                <a:latin typeface="Aptos"/>
              </a:rPr>
              <a:t>Every end-to-end request combines all three. No model should own the whole journey.</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03 / RESEARCH HYPOTHESES / E03–E05 / 26–27 SEP 2026</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REQUEST → DISCOVERY → CONSEQUENCE → BUILD INSTEAD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Three requests. Three reasons to change.</a:t>
            </a:r>
          </a:p>
        </p:txBody>
      </p:sp>
      <p:sp>
        <p:nvSpPr>
          <p:cNvPr id="4" name="Rounded Rectangle 3"/>
          <p:cNvSpPr/>
          <p:nvPr/>
        </p:nvSpPr>
        <p:spPr>
          <a:xfrm>
            <a:off x="594360" y="2606040"/>
            <a:ext cx="3429000" cy="30175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1900" b="0" i="0">
                <a:solidFill>
                  <a:srgbClr val="F7F2E7"/>
                </a:solidFill>
                <a:latin typeface="Aptos"/>
              </a:rPr>
              <a:t>RANK HOMES</a:t>
            </a:r>
          </a:p>
          <a:p>
            <a:pPr algn="l">
              <a:lnSpc>
                <a:spcPct val="105000"/>
              </a:lnSpc>
            </a:pPr>
            <a:r>
              <a:rPr sz="1900" b="0" i="0">
                <a:solidFill>
                  <a:srgbClr val="F7F2E7"/>
                </a:solidFill>
                <a:latin typeface="Aptos"/>
              </a:rPr>
              <a:t>Weights are policy.</a:t>
            </a:r>
          </a:p>
          <a:p>
            <a:pPr algn="l">
              <a:lnSpc>
                <a:spcPct val="105000"/>
              </a:lnSpc>
            </a:pPr>
            <a:r>
              <a:rPr sz="1900" b="0" i="0">
                <a:solidFill>
                  <a:srgbClr val="F7F2E7"/>
                </a:solidFill>
                <a:latin typeface="Aptos"/>
              </a:rPr>
              <a:t>Guessing cannot defend</a:t>
            </a:r>
          </a:p>
          <a:p>
            <a:pPr algn="l">
              <a:lnSpc>
                <a:spcPct val="105000"/>
              </a:lnSpc>
            </a:pPr>
            <a:r>
              <a:rPr sz="1900" b="0" i="0">
                <a:solidFill>
                  <a:srgbClr val="F7F2E7"/>
                </a:solidFill>
                <a:latin typeface="Aptos"/>
              </a:rPr>
              <a:t>who waits.</a:t>
            </a:r>
          </a:p>
          <a:p>
            <a:pPr algn="l">
              <a:lnSpc>
                <a:spcPct val="105000"/>
              </a:lnSpc>
            </a:pPr>
            <a:r>
              <a:rPr sz="1900" b="0" i="0">
                <a:solidFill>
                  <a:srgbClr val="F7F2E7"/>
                </a:solidFill>
                <a:latin typeface="Aptos"/>
              </a:rPr>
              <a:t/>
            </a:r>
          </a:p>
          <a:p>
            <a:pPr algn="l">
              <a:lnSpc>
                <a:spcPct val="105000"/>
              </a:lnSpc>
            </a:pPr>
            <a:r>
              <a:rPr sz="1900" b="0" i="0">
                <a:solidFill>
                  <a:srgbClr val="F7F2E7"/>
                </a:solidFill>
                <a:latin typeface="Aptos"/>
              </a:rPr>
              <a:t>BUILD</a:t>
            </a:r>
          </a:p>
          <a:p>
            <a:pPr algn="l">
              <a:lnSpc>
                <a:spcPct val="105000"/>
              </a:lnSpc>
            </a:pPr>
            <a:r>
              <a:rPr sz="1900" b="0" i="0">
                <a:solidFill>
                  <a:srgbClr val="F7F2E7"/>
                </a:solidFill>
                <a:latin typeface="Aptos"/>
              </a:rPr>
              <a:t>Approved policy;</a:t>
            </a:r>
          </a:p>
          <a:p>
            <a:pPr algn="l">
              <a:lnSpc>
                <a:spcPct val="105000"/>
              </a:lnSpc>
            </a:pPr>
            <a:r>
              <a:rPr sz="1900" b="0" i="0">
                <a:solidFill>
                  <a:srgbClr val="F7F2E7"/>
                </a:solidFill>
                <a:latin typeface="Aptos"/>
              </a:rPr>
              <a:t>versioned rules + sources</a:t>
            </a:r>
          </a:p>
        </p:txBody>
      </p:sp>
      <p:sp>
        <p:nvSpPr>
          <p:cNvPr id="5" name="Rounded Rectangle 4"/>
          <p:cNvSpPr/>
          <p:nvPr/>
        </p:nvSpPr>
        <p:spPr>
          <a:xfrm>
            <a:off x="4366260" y="2606040"/>
            <a:ext cx="3429000" cy="30175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1900" b="0" i="0">
                <a:solidFill>
                  <a:srgbClr val="183A31"/>
                </a:solidFill>
                <a:latin typeface="Aptos"/>
              </a:rPr>
              <a:t>SCHEDULE WORK</a:t>
            </a:r>
          </a:p>
          <a:p>
            <a:pPr algn="l">
              <a:lnSpc>
                <a:spcPct val="105000"/>
              </a:lnSpc>
            </a:pPr>
            <a:r>
              <a:rPr sz="1900" b="0" i="0">
                <a:solidFill>
                  <a:srgbClr val="183A31"/>
                </a:solidFill>
                <a:latin typeface="Aptos"/>
              </a:rPr>
              <a:t>Real capacity AND</a:t>
            </a:r>
          </a:p>
          <a:p>
            <a:pPr algn="l">
              <a:lnSpc>
                <a:spcPct val="105000"/>
              </a:lnSpc>
            </a:pPr>
            <a:r>
              <a:rPr sz="1900" b="0" i="0">
                <a:solidFill>
                  <a:srgbClr val="183A31"/>
                </a:solidFill>
                <a:latin typeface="Aptos"/>
              </a:rPr>
              <a:t>informed resident choice.</a:t>
            </a:r>
          </a:p>
          <a:p>
            <a:pPr algn="l">
              <a:lnSpc>
                <a:spcPct val="105000"/>
              </a:lnSpc>
            </a:pPr>
            <a:r>
              <a:rPr sz="1900" b="0" i="0">
                <a:solidFill>
                  <a:srgbClr val="183A31"/>
                </a:solidFill>
                <a:latin typeface="Aptos"/>
              </a:rPr>
              <a:t>A slot is not consent.</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BUILD</a:t>
            </a:r>
          </a:p>
          <a:p>
            <a:pPr algn="l">
              <a:lnSpc>
                <a:spcPct val="105000"/>
              </a:lnSpc>
            </a:pPr>
            <a:r>
              <a:rPr sz="1900" b="0" i="0">
                <a:solidFill>
                  <a:srgbClr val="183A31"/>
                </a:solidFill>
                <a:latin typeface="Aptos"/>
              </a:rPr>
              <a:t>Capacity + choice records;</a:t>
            </a:r>
          </a:p>
          <a:p>
            <a:pPr algn="l">
              <a:lnSpc>
                <a:spcPct val="105000"/>
              </a:lnSpc>
            </a:pPr>
            <a:r>
              <a:rPr sz="1900" b="0" i="0">
                <a:solidFill>
                  <a:srgbClr val="183A31"/>
                </a:solidFill>
                <a:latin typeface="Aptos"/>
              </a:rPr>
              <a:t>owned handoff</a:t>
            </a:r>
          </a:p>
        </p:txBody>
      </p:sp>
      <p:sp>
        <p:nvSpPr>
          <p:cNvPr id="6" name="Rounded Rectangle 5"/>
          <p:cNvSpPr/>
          <p:nvPr/>
        </p:nvSpPr>
        <p:spPr>
          <a:xfrm>
            <a:off x="8138160" y="2606040"/>
            <a:ext cx="3429000" cy="30175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1900" b="0" i="0">
                <a:solidFill>
                  <a:srgbClr val="183A31"/>
                </a:solidFill>
                <a:latin typeface="Aptos"/>
              </a:rPr>
              <a:t>DRAFT GRANTS</a:t>
            </a:r>
          </a:p>
          <a:p>
            <a:pPr algn="l">
              <a:lnSpc>
                <a:spcPct val="105000"/>
              </a:lnSpc>
            </a:pPr>
            <a:r>
              <a:rPr sz="1900" b="0" i="0">
                <a:solidFill>
                  <a:srgbClr val="183A31"/>
                </a:solidFill>
                <a:latin typeface="Aptos"/>
              </a:rPr>
              <a:t>Accepted evidence first.</a:t>
            </a:r>
          </a:p>
          <a:p>
            <a:pPr algn="l">
              <a:lnSpc>
                <a:spcPct val="105000"/>
              </a:lnSpc>
            </a:pPr>
            <a:r>
              <a:rPr sz="1900" b="0" i="0">
                <a:solidFill>
                  <a:srgbClr val="183A31"/>
                </a:solidFill>
                <a:latin typeface="Aptos"/>
              </a:rPr>
              <a:t>Award ≠ claim ≠ cash.</a:t>
            </a:r>
          </a:p>
          <a:p>
            <a:pPr algn="l">
              <a:lnSpc>
                <a:spcPct val="105000"/>
              </a:lnSpc>
            </a:pPr>
            <a:r>
              <a:rPr sz="1900" b="0" i="0">
                <a:solidFill>
                  <a:srgbClr val="183A31"/>
                </a:solidFill>
                <a:latin typeface="Aptos"/>
              </a:rPr>
              <a:t>A form is not funding.</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BUILD</a:t>
            </a:r>
          </a:p>
          <a:p>
            <a:pPr algn="l">
              <a:lnSpc>
                <a:spcPct val="105000"/>
              </a:lnSpc>
            </a:pPr>
            <a:r>
              <a:rPr sz="1900" b="0" i="0">
                <a:solidFill>
                  <a:srgbClr val="183A31"/>
                </a:solidFill>
                <a:latin typeface="Aptos"/>
              </a:rPr>
              <a:t>Evidence pack;</a:t>
            </a:r>
          </a:p>
          <a:p>
            <a:pPr algn="l">
              <a:lnSpc>
                <a:spcPct val="105000"/>
              </a:lnSpc>
            </a:pPr>
            <a:r>
              <a:rPr sz="1900" b="0" i="0">
                <a:solidFill>
                  <a:srgbClr val="183A31"/>
                </a:solidFill>
                <a:latin typeface="Aptos"/>
              </a:rPr>
              <a:t>ledger states + review</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04 / ROLE-AGENT FINDINGS → PROPOSED RESPONSE / E03 / NOT VERIFIED COMPANY BOTTLENECKS</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F7F2E7"/>
                </a:solidFill>
                <a:latin typeface="Aptos"/>
              </a:rPr>
              <a:t>THE MINIMUM SHARED FOUNDATION FOR FIVE CAPABILITIES</a:t>
            </a:r>
          </a:p>
        </p:txBody>
      </p:sp>
      <p:sp>
        <p:nvSpPr>
          <p:cNvPr id="3" name="TextBox 2"/>
          <p:cNvSpPr txBox="1"/>
          <p:nvPr/>
        </p:nvSpPr>
        <p:spPr>
          <a:xfrm>
            <a:off x="594360" y="1115568"/>
            <a:ext cx="10972800" cy="1188720"/>
          </a:xfrm>
          <a:prstGeom prst="rect">
            <a:avLst/>
          </a:prstGeom>
          <a:noFill/>
        </p:spPr>
        <p:txBody>
          <a:bodyPr wrap="square" lIns="0" rIns="0" tIns="0" bIns="0">
            <a:spAutoFit/>
          </a:bodyPr>
          <a:lstStyle/>
          <a:p>
            <a:r>
              <a:rPr sz="3800" b="1" i="0">
                <a:solidFill>
                  <a:srgbClr val="F7F2E7"/>
                </a:solidFill>
                <a:latin typeface="Aptos Display"/>
              </a:rPr>
              <a:t>Change the handoffs.</a:t>
            </a:r>
          </a:p>
          <a:p>
            <a:r>
              <a:rPr sz="3800" b="1" i="0">
                <a:solidFill>
                  <a:srgbClr val="F7F2E7"/>
                </a:solidFill>
                <a:latin typeface="Aptos Display"/>
              </a:rPr>
              <a:t>Not the whole company.</a:t>
            </a:r>
          </a:p>
        </p:txBody>
      </p:sp>
      <p:sp>
        <p:nvSpPr>
          <p:cNvPr id="4" name="TextBox 3"/>
          <p:cNvSpPr txBox="1"/>
          <p:nvPr/>
        </p:nvSpPr>
        <p:spPr>
          <a:xfrm>
            <a:off x="594360" y="2606040"/>
            <a:ext cx="10972800" cy="914400"/>
          </a:xfrm>
          <a:prstGeom prst="rect">
            <a:avLst/>
          </a:prstGeom>
          <a:noFill/>
        </p:spPr>
        <p:txBody>
          <a:bodyPr wrap="square" lIns="0" rIns="0" tIns="0" bIns="0">
            <a:spAutoFit/>
          </a:bodyPr>
          <a:lstStyle/>
          <a:p>
            <a:r>
              <a:rPr sz="3000" b="0" i="0">
                <a:solidFill>
                  <a:srgbClr val="F7F2E7"/>
                </a:solidFill>
                <a:latin typeface="Aptos"/>
              </a:rPr>
              <a:t>Make work visible, measurable and explainable.</a:t>
            </a:r>
          </a:p>
          <a:p>
            <a:r>
              <a:rPr sz="3000" b="0" i="0">
                <a:solidFill>
                  <a:srgbClr val="F7F2E7"/>
                </a:solidFill>
                <a:latin typeface="Aptos"/>
              </a:rPr>
              <a:t>Then assistance can help safely.</a:t>
            </a:r>
          </a:p>
        </p:txBody>
      </p:sp>
      <p:sp>
        <p:nvSpPr>
          <p:cNvPr id="5" name="Rounded Rectangle 4"/>
          <p:cNvSpPr/>
          <p:nvPr/>
        </p:nvSpPr>
        <p:spPr>
          <a:xfrm>
            <a:off x="594360" y="3886200"/>
            <a:ext cx="5326380" cy="1554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200" b="0" i="0">
                <a:solidFill>
                  <a:srgbClr val="183A31"/>
                </a:solidFill>
                <a:latin typeface="Aptos"/>
              </a:rPr>
              <a:t>ADD</a:t>
            </a:r>
          </a:p>
          <a:p>
            <a:pPr algn="l">
              <a:lnSpc>
                <a:spcPct val="105000"/>
              </a:lnSpc>
            </a:pPr>
            <a:r>
              <a:rPr sz="2200" b="0" i="0">
                <a:solidFill>
                  <a:srgbClr val="183A31"/>
                </a:solidFill>
                <a:latin typeface="Aptos"/>
              </a:rPr>
              <a:t>One shared case, owned transitions,</a:t>
            </a:r>
          </a:p>
          <a:p>
            <a:pPr algn="l">
              <a:lnSpc>
                <a:spcPct val="105000"/>
              </a:lnSpc>
            </a:pPr>
            <a:r>
              <a:rPr sz="2200" b="0" i="0">
                <a:solidFill>
                  <a:srgbClr val="183A31"/>
                </a:solidFill>
                <a:latin typeface="Aptos"/>
              </a:rPr>
              <a:t>evidence and bounded assistance</a:t>
            </a:r>
          </a:p>
        </p:txBody>
      </p:sp>
      <p:sp>
        <p:nvSpPr>
          <p:cNvPr id="6" name="Rounded Rectangle 5"/>
          <p:cNvSpPr/>
          <p:nvPr/>
        </p:nvSpPr>
        <p:spPr>
          <a:xfrm>
            <a:off x="6240780" y="3886200"/>
            <a:ext cx="5326380" cy="155448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200" b="0" i="0">
                <a:solidFill>
                  <a:srgbClr val="183A31"/>
                </a:solidFill>
                <a:latin typeface="Aptos"/>
              </a:rPr>
              <a:t>KEEP</a:t>
            </a:r>
          </a:p>
          <a:p>
            <a:pPr algn="l">
              <a:lnSpc>
                <a:spcPct val="105000"/>
              </a:lnSpc>
            </a:pPr>
            <a:r>
              <a:rPr sz="2200" b="0" i="0">
                <a:solidFill>
                  <a:srgbClr val="183A31"/>
                </a:solidFill>
                <a:latin typeface="Aptos"/>
              </a:rPr>
              <a:t>Existing teams and suppliers;</a:t>
            </a:r>
          </a:p>
          <a:p>
            <a:pPr algn="l">
              <a:lnSpc>
                <a:spcPct val="105000"/>
              </a:lnSpc>
            </a:pPr>
            <a:r>
              <a:rPr sz="2200" b="0" i="0">
                <a:solidFill>
                  <a:srgbClr val="183A31"/>
                </a:solidFill>
                <a:latin typeface="Aptos"/>
              </a:rPr>
              <a:t>source systems and Excel reporting</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05 / PROPOSED MODERNISATION / E03/E05/E08 / NO HEADCOUNT REDESIGN OR ALL-SYSTEMS MIGRATION</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THE NEW WAY OF WORKING / AN ACCOUNTABLE WORK RECORD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Give every step a name, an owner and a clock</a:t>
            </a:r>
          </a:p>
        </p:txBody>
      </p:sp>
      <p:sp>
        <p:nvSpPr>
          <p:cNvPr id="4" name="Rounded Rectangle 3"/>
          <p:cNvSpPr/>
          <p:nvPr/>
        </p:nvSpPr>
        <p:spPr>
          <a:xfrm>
            <a:off x="5943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WHO</a:t>
            </a:r>
          </a:p>
          <a:p>
            <a:pPr algn="l">
              <a:lnSpc>
                <a:spcPct val="105000"/>
              </a:lnSpc>
            </a:pPr>
            <a:r>
              <a:rPr sz="2100" b="0" i="0">
                <a:solidFill>
                  <a:srgbClr val="F7F2E7"/>
                </a:solidFill>
                <a:latin typeface="Aptos"/>
              </a:rPr>
              <a:t>Case owner + receiving owner</a:t>
            </a:r>
          </a:p>
        </p:txBody>
      </p:sp>
      <p:sp>
        <p:nvSpPr>
          <p:cNvPr id="5" name="Rounded Rectangle 4"/>
          <p:cNvSpPr/>
          <p:nvPr/>
        </p:nvSpPr>
        <p:spPr>
          <a:xfrm>
            <a:off x="43662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WHERE</a:t>
            </a:r>
          </a:p>
          <a:p>
            <a:pPr algn="l">
              <a:lnSpc>
                <a:spcPct val="105000"/>
              </a:lnSpc>
            </a:pPr>
            <a:r>
              <a:rPr sz="2100" b="0" i="0">
                <a:solidFill>
                  <a:srgbClr val="F7F2E7"/>
                </a:solidFill>
                <a:latin typeface="Aptos"/>
              </a:rPr>
              <a:t>Named lifecycle state</a:t>
            </a:r>
          </a:p>
        </p:txBody>
      </p:sp>
      <p:sp>
        <p:nvSpPr>
          <p:cNvPr id="6" name="Rounded Rectangle 5"/>
          <p:cNvSpPr/>
          <p:nvPr/>
        </p:nvSpPr>
        <p:spPr>
          <a:xfrm>
            <a:off x="81381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WHEN</a:t>
            </a:r>
          </a:p>
          <a:p>
            <a:pPr algn="l">
              <a:lnSpc>
                <a:spcPct val="105000"/>
              </a:lnSpc>
            </a:pPr>
            <a:r>
              <a:rPr sz="2100" b="0" i="0">
                <a:solidFill>
                  <a:srgbClr val="F7F2E7"/>
                </a:solidFill>
                <a:latin typeface="Aptos"/>
              </a:rPr>
              <a:t>Entry, exit + pause timestamps</a:t>
            </a:r>
          </a:p>
        </p:txBody>
      </p:sp>
      <p:sp>
        <p:nvSpPr>
          <p:cNvPr id="7" name="Rounded Rectangle 6"/>
          <p:cNvSpPr/>
          <p:nvPr/>
        </p:nvSpPr>
        <p:spPr>
          <a:xfrm>
            <a:off x="594360" y="4114800"/>
            <a:ext cx="342900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WHY WAITING</a:t>
            </a:r>
          </a:p>
          <a:p>
            <a:pPr algn="l">
              <a:lnSpc>
                <a:spcPct val="105000"/>
              </a:lnSpc>
            </a:pPr>
            <a:r>
              <a:rPr sz="2100" b="0" i="0">
                <a:solidFill>
                  <a:srgbClr val="183A31"/>
                </a:solidFill>
                <a:latin typeface="Aptos"/>
              </a:rPr>
              <a:t>Blocker + next action</a:t>
            </a:r>
          </a:p>
        </p:txBody>
      </p:sp>
      <p:sp>
        <p:nvSpPr>
          <p:cNvPr id="8" name="Rounded Rectangle 7"/>
          <p:cNvSpPr/>
          <p:nvPr/>
        </p:nvSpPr>
        <p:spPr>
          <a:xfrm>
            <a:off x="4366260" y="4114800"/>
            <a:ext cx="342900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WHAT PROVES IT</a:t>
            </a:r>
          </a:p>
          <a:p>
            <a:pPr algn="l">
              <a:lnSpc>
                <a:spcPct val="105000"/>
              </a:lnSpc>
            </a:pPr>
            <a:r>
              <a:rPr sz="2100" b="0" i="0">
                <a:solidFill>
                  <a:srgbClr val="183A31"/>
                </a:solidFill>
                <a:latin typeface="Aptos"/>
              </a:rPr>
              <a:t>Evidence version + acceptance</a:t>
            </a:r>
          </a:p>
        </p:txBody>
      </p:sp>
      <p:sp>
        <p:nvSpPr>
          <p:cNvPr id="9" name="Rounded Rectangle 8"/>
          <p:cNvSpPr/>
          <p:nvPr/>
        </p:nvSpPr>
        <p:spPr>
          <a:xfrm>
            <a:off x="8138160" y="4114800"/>
            <a:ext cx="3429000" cy="11887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WHAT CHANGED</a:t>
            </a:r>
          </a:p>
          <a:p>
            <a:pPr algn="l">
              <a:lnSpc>
                <a:spcPct val="105000"/>
              </a:lnSpc>
            </a:pPr>
            <a:r>
              <a:rPr sz="2100" b="0" i="0">
                <a:solidFill>
                  <a:srgbClr val="183A31"/>
                </a:solidFill>
                <a:latin typeface="Aptos"/>
              </a:rPr>
              <a:t>Decision + event + reason</a:t>
            </a:r>
          </a:p>
        </p:txBody>
      </p:sp>
      <p:sp>
        <p:nvSpPr>
          <p:cNvPr id="10" name="TextBox 9"/>
          <p:cNvSpPr txBox="1"/>
          <p:nvPr/>
        </p:nvSpPr>
        <p:spPr>
          <a:xfrm>
            <a:off x="594360" y="5623560"/>
            <a:ext cx="10972800" cy="274320"/>
          </a:xfrm>
          <a:prstGeom prst="rect">
            <a:avLst/>
          </a:prstGeom>
          <a:noFill/>
        </p:spPr>
        <p:txBody>
          <a:bodyPr wrap="square" lIns="0" rIns="0" tIns="0" bIns="0">
            <a:spAutoFit/>
          </a:bodyPr>
          <a:lstStyle/>
          <a:p>
            <a:r>
              <a:rPr sz="1800" b="0" i="0">
                <a:solidFill>
                  <a:srgbClr val="183A31"/>
                </a:solidFill>
                <a:latin typeface="Aptos"/>
              </a:rPr>
              <a:t>A sent task is not an accepted handoff. A completion is not accepted handover.</a:t>
            </a:r>
          </a:p>
        </p:txBody>
      </p:sp>
      <p:sp>
        <p:nvSpPr>
          <p:cNvPr id="11" name="TextBox 10"/>
          <p:cNvSpPr txBox="1"/>
          <p:nvPr/>
        </p:nvSpPr>
        <p:spPr>
          <a:xfrm>
            <a:off x="594360" y="6217920"/>
            <a:ext cx="10972800" cy="182880"/>
          </a:xfrm>
          <a:prstGeom prst="rect">
            <a:avLst/>
          </a:prstGeom>
          <a:noFill/>
        </p:spPr>
        <p:txBody>
          <a:bodyPr wrap="square" lIns="0" rIns="0" tIns="0" bIns="0">
            <a:spAutoFit/>
          </a:bodyPr>
          <a:lstStyle/>
          <a:p>
            <a:r>
              <a:rPr sz="1000" b="0" i="0">
                <a:solidFill>
                  <a:srgbClr val="183A31"/>
                </a:solidFill>
                <a:latin typeface="Aptos"/>
              </a:rPr>
              <a:t>06 / PROPOSED WORK CONTRACT / E03/E05/E06 / DEFINITIONS AND TARGETS REQUIRE OWNER AGREEMENT</a:t>
            </a:r>
          </a:p>
        </p:txBody>
      </p:sp>
      <p:sp>
        <p:nvSpPr>
          <p:cNvPr id="12"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ONE-HOME STORY / CONSTRUCTED EXERCISE, NOT A LIVE CUSTOMER OUTCOME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home makes the whole argument real</a:t>
            </a:r>
          </a:p>
        </p:txBody>
      </p:sp>
      <p:sp>
        <p:nvSpPr>
          <p:cNvPr id="4" name="Rounded Rectangle 3"/>
          <p:cNvSpPr/>
          <p:nvPr/>
        </p:nvSpPr>
        <p:spPr>
          <a:xfrm>
            <a:off x="594360" y="2606040"/>
            <a:ext cx="2468880"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F7F2E7"/>
                </a:solidFill>
                <a:latin typeface="Aptos"/>
              </a:rPr>
              <a:t>1 / IDENTIFY</a:t>
            </a:r>
          </a:p>
          <a:p>
            <a:pPr algn="l">
              <a:lnSpc>
                <a:spcPct val="105000"/>
              </a:lnSpc>
            </a:pPr>
            <a:r>
              <a:rPr sz="2000" b="0" i="0">
                <a:solidFill>
                  <a:srgbClr val="F7F2E7"/>
                </a:solidFill>
                <a:latin typeface="Aptos"/>
              </a:rPr>
              <a:t>Conflicting EPC?</a:t>
            </a:r>
          </a:p>
          <a:p>
            <a:pPr algn="l">
              <a:lnSpc>
                <a:spcPct val="105000"/>
              </a:lnSpc>
            </a:pPr>
            <a:r>
              <a:rPr sz="2000" b="0" i="0">
                <a:solidFill>
                  <a:srgbClr val="F7F2E7"/>
                </a:solidFill>
                <a:latin typeface="Aptos"/>
              </a:rPr>
              <a:t>Hold decision.</a:t>
            </a:r>
          </a:p>
          <a:p>
            <a:pPr algn="l">
              <a:lnSpc>
                <a:spcPct val="105000"/>
              </a:lnSpc>
            </a:pPr>
            <a:r>
              <a:rPr sz="2000" b="0" i="0">
                <a:solidFill>
                  <a:srgbClr val="F7F2E7"/>
                </a:solidFill>
                <a:latin typeface="Aptos"/>
              </a:rPr>
              <a:t>Name resolver.</a:t>
            </a:r>
          </a:p>
        </p:txBody>
      </p:sp>
      <p:sp>
        <p:nvSpPr>
          <p:cNvPr id="5" name="Rounded Rectangle 4"/>
          <p:cNvSpPr/>
          <p:nvPr/>
        </p:nvSpPr>
        <p:spPr>
          <a:xfrm>
            <a:off x="3429000" y="2606040"/>
            <a:ext cx="2468880"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183A31"/>
                </a:solidFill>
                <a:latin typeface="Aptos"/>
              </a:rPr>
              <a:t>2 / AGREE</a:t>
            </a:r>
          </a:p>
          <a:p>
            <a:pPr algn="l">
              <a:lnSpc>
                <a:spcPct val="105000"/>
              </a:lnSpc>
            </a:pPr>
            <a:r>
              <a:rPr sz="2000" b="0" i="0">
                <a:solidFill>
                  <a:srgbClr val="183A31"/>
                </a:solidFill>
                <a:latin typeface="Aptos"/>
              </a:rPr>
              <a:t>Survey + design</a:t>
            </a:r>
          </a:p>
          <a:p>
            <a:pPr algn="l">
              <a:lnSpc>
                <a:spcPct val="105000"/>
              </a:lnSpc>
            </a:pPr>
            <a:r>
              <a:rPr sz="2000" b="0" i="0">
                <a:solidFill>
                  <a:srgbClr val="183A31"/>
                </a:solidFill>
                <a:latin typeface="Aptos"/>
              </a:rPr>
              <a:t>Resident choice</a:t>
            </a:r>
          </a:p>
          <a:p>
            <a:pPr algn="l">
              <a:lnSpc>
                <a:spcPct val="105000"/>
              </a:lnSpc>
            </a:pPr>
            <a:r>
              <a:rPr sz="2000" b="0" i="0">
                <a:solidFill>
                  <a:srgbClr val="183A31"/>
                </a:solidFill>
                <a:latin typeface="Aptos"/>
              </a:rPr>
              <a:t>Funding + capacity</a:t>
            </a:r>
          </a:p>
          <a:p>
            <a:pPr algn="l">
              <a:lnSpc>
                <a:spcPct val="105000"/>
              </a:lnSpc>
            </a:pPr>
            <a:r>
              <a:rPr sz="2000" b="0" i="0">
                <a:solidFill>
                  <a:srgbClr val="183A31"/>
                </a:solidFill>
                <a:latin typeface="Aptos"/>
              </a:rPr>
              <a:t>before release</a:t>
            </a:r>
          </a:p>
        </p:txBody>
      </p:sp>
      <p:sp>
        <p:nvSpPr>
          <p:cNvPr id="6" name="Rounded Rectangle 5"/>
          <p:cNvSpPr/>
          <p:nvPr/>
        </p:nvSpPr>
        <p:spPr>
          <a:xfrm>
            <a:off x="6263640" y="2606040"/>
            <a:ext cx="2468880"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183A31"/>
                </a:solidFill>
                <a:latin typeface="Aptos"/>
              </a:rPr>
              <a:t>3 / DELIVER</a:t>
            </a:r>
          </a:p>
          <a:p>
            <a:pPr algn="l">
              <a:lnSpc>
                <a:spcPct val="105000"/>
              </a:lnSpc>
            </a:pPr>
            <a:r>
              <a:rPr sz="2000" b="0" i="0">
                <a:solidFill>
                  <a:srgbClr val="183A31"/>
                </a:solidFill>
                <a:latin typeface="Aptos"/>
              </a:rPr>
              <a:t>Evidence returned</a:t>
            </a:r>
          </a:p>
          <a:p>
            <a:pPr algn="l">
              <a:lnSpc>
                <a:spcPct val="105000"/>
              </a:lnSpc>
            </a:pPr>
            <a:r>
              <a:rPr sz="2000" b="0" i="0">
                <a:solidFill>
                  <a:srgbClr val="183A31"/>
                </a:solidFill>
                <a:latin typeface="Aptos"/>
              </a:rPr>
              <a:t>Independent QA</a:t>
            </a:r>
          </a:p>
          <a:p>
            <a:pPr algn="l">
              <a:lnSpc>
                <a:spcPct val="105000"/>
              </a:lnSpc>
            </a:pPr>
            <a:r>
              <a:rPr sz="2000" b="0" i="0">
                <a:solidFill>
                  <a:srgbClr val="183A31"/>
                </a:solidFill>
                <a:latin typeface="Aptos"/>
              </a:rPr>
              <a:t>Defect? Return</a:t>
            </a:r>
          </a:p>
          <a:p>
            <a:pPr algn="l">
              <a:lnSpc>
                <a:spcPct val="105000"/>
              </a:lnSpc>
            </a:pPr>
            <a:r>
              <a:rPr sz="2000" b="0" i="0">
                <a:solidFill>
                  <a:srgbClr val="183A31"/>
                </a:solidFill>
                <a:latin typeface="Aptos"/>
              </a:rPr>
              <a:t>to owner.</a:t>
            </a:r>
          </a:p>
        </p:txBody>
      </p:sp>
      <p:sp>
        <p:nvSpPr>
          <p:cNvPr id="7" name="Rounded Rectangle 6"/>
          <p:cNvSpPr/>
          <p:nvPr/>
        </p:nvSpPr>
        <p:spPr>
          <a:xfrm>
            <a:off x="9098280" y="2606040"/>
            <a:ext cx="2468880" cy="25146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183A31"/>
                </a:solidFill>
                <a:latin typeface="Aptos"/>
              </a:rPr>
              <a:t>4 / ACCEPT</a:t>
            </a:r>
          </a:p>
          <a:p>
            <a:pPr algn="l">
              <a:lnSpc>
                <a:spcPct val="105000"/>
              </a:lnSpc>
            </a:pPr>
            <a:r>
              <a:rPr sz="2000" b="0" i="0">
                <a:solidFill>
                  <a:srgbClr val="183A31"/>
                </a:solidFill>
                <a:latin typeface="Aptos"/>
              </a:rPr>
              <a:t>Defects resolved</a:t>
            </a:r>
          </a:p>
          <a:p>
            <a:pPr algn="l">
              <a:lnSpc>
                <a:spcPct val="105000"/>
              </a:lnSpc>
            </a:pPr>
            <a:r>
              <a:rPr sz="2000" b="0" i="0">
                <a:solidFill>
                  <a:srgbClr val="183A31"/>
                </a:solidFill>
                <a:latin typeface="Aptos"/>
              </a:rPr>
              <a:t>Resident handover</a:t>
            </a:r>
          </a:p>
          <a:p>
            <a:pPr algn="l">
              <a:lnSpc>
                <a:spcPct val="105000"/>
              </a:lnSpc>
            </a:pPr>
            <a:r>
              <a:rPr sz="2000" b="0" i="0">
                <a:solidFill>
                  <a:srgbClr val="183A31"/>
                </a:solidFill>
                <a:latin typeface="Aptos"/>
              </a:rPr>
              <a:t>Separate financial</a:t>
            </a:r>
          </a:p>
          <a:p>
            <a:pPr algn="l">
              <a:lnSpc>
                <a:spcPct val="105000"/>
              </a:lnSpc>
            </a:pPr>
            <a:r>
              <a:rPr sz="2000" b="0" i="0">
                <a:solidFill>
                  <a:srgbClr val="183A31"/>
                </a:solidFill>
                <a:latin typeface="Aptos"/>
              </a:rPr>
              <a:t>closure</a:t>
            </a:r>
          </a:p>
        </p:txBody>
      </p:sp>
      <p:sp>
        <p:nvSpPr>
          <p:cNvPr id="8" name="TextBox 7"/>
          <p:cNvSpPr txBox="1"/>
          <p:nvPr/>
        </p:nvSpPr>
        <p:spPr>
          <a:xfrm>
            <a:off x="594360" y="5440680"/>
            <a:ext cx="10972800" cy="411480"/>
          </a:xfrm>
          <a:prstGeom prst="rect">
            <a:avLst/>
          </a:prstGeom>
          <a:noFill/>
        </p:spPr>
        <p:txBody>
          <a:bodyPr wrap="square" lIns="0" rIns="0" tIns="0" bIns="0">
            <a:spAutoFit/>
          </a:bodyPr>
          <a:lstStyle/>
          <a:p>
            <a:r>
              <a:rPr sz="2000" b="0" i="0">
                <a:solidFill>
                  <a:srgbClr val="183A31"/>
                </a:solidFill>
                <a:latin typeface="Aptos"/>
              </a:rPr>
              <a:t>The win to prove: no lost ownership, no silent exception, no unexplained acceptance.</a:t>
            </a:r>
          </a:p>
        </p:txBody>
      </p:sp>
      <p:sp>
        <p:nvSpPr>
          <p:cNvPr id="9" name="TextBox 8"/>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07 / EXERCISE JOURNEY + PROPOSED GATES / E06/E08 / NOT PROOF OF EXECUTED END-TO-END ACCEPTANCE</a:t>
            </a:r>
          </a:p>
        </p:txBody>
      </p:sp>
      <p:sp>
        <p:nvSpPr>
          <p:cNvPr id="10"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DIGNITY AND CAPACITY / BOTH MUST BE REAL</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A resident is not a scheduling variable</a:t>
            </a:r>
          </a:p>
        </p:txBody>
      </p:sp>
      <p:sp>
        <p:nvSpPr>
          <p:cNvPr id="4" name="Rounded Rectangle 3"/>
          <p:cNvSpPr/>
          <p:nvPr/>
        </p:nvSpPr>
        <p:spPr>
          <a:xfrm>
            <a:off x="594360" y="2606040"/>
            <a:ext cx="532638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F7F2E7"/>
                </a:solidFill>
                <a:latin typeface="Aptos"/>
              </a:rPr>
              <a:t>RESIDENT CHOICE</a:t>
            </a:r>
          </a:p>
          <a:p>
            <a:pPr algn="l">
              <a:lnSpc>
                <a:spcPct val="105000"/>
              </a:lnSpc>
            </a:pPr>
            <a:r>
              <a:rPr sz="2200" b="0" i="0">
                <a:solidFill>
                  <a:srgbClr val="F7F2E7"/>
                </a:solidFill>
                <a:latin typeface="Aptos"/>
              </a:rPr>
              <a:t>Clear measure options + named contact</a:t>
            </a:r>
          </a:p>
          <a:p>
            <a:pPr algn="l">
              <a:lnSpc>
                <a:spcPct val="105000"/>
              </a:lnSpc>
            </a:pPr>
            <a:r>
              <a:rPr sz="2200" b="0" i="0">
                <a:solidFill>
                  <a:srgbClr val="F7F2E7"/>
                </a:solidFill>
                <a:latin typeface="Aptos"/>
              </a:rPr>
              <a:t>Safe phone, letter or assisted route</a:t>
            </a:r>
          </a:p>
          <a:p>
            <a:pPr algn="l">
              <a:lnSpc>
                <a:spcPct val="105000"/>
              </a:lnSpc>
            </a:pPr>
            <a:r>
              <a:rPr sz="2200" b="0" i="0">
                <a:solidFill>
                  <a:srgbClr val="F7F2E7"/>
                </a:solidFill>
                <a:latin typeface="Aptos"/>
              </a:rPr>
              <a:t>Preferences are not works consent</a:t>
            </a:r>
          </a:p>
          <a:p>
            <a:pPr algn="l">
              <a:lnSpc>
                <a:spcPct val="105000"/>
              </a:lnSpc>
            </a:pPr>
            <a:r>
              <a:rPr sz="2200" b="0" i="0">
                <a:solidFill>
                  <a:srgbClr val="F7F2E7"/>
                </a:solidFill>
                <a:latin typeface="Aptos"/>
              </a:rPr>
              <a:t>Silence is not consent</a:t>
            </a:r>
          </a:p>
        </p:txBody>
      </p:sp>
      <p:sp>
        <p:nvSpPr>
          <p:cNvPr id="5" name="Rounded Rectangle 4"/>
          <p:cNvSpPr/>
          <p:nvPr/>
        </p:nvSpPr>
        <p:spPr>
          <a:xfrm>
            <a:off x="6240780" y="2606040"/>
            <a:ext cx="53263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183A31"/>
                </a:solidFill>
                <a:latin typeface="Aptos"/>
              </a:rPr>
              <a:t>DELIVERY CAPACITY</a:t>
            </a:r>
          </a:p>
          <a:p>
            <a:pPr algn="l">
              <a:lnSpc>
                <a:spcPct val="105000"/>
              </a:lnSpc>
            </a:pPr>
            <a:r>
              <a:rPr sz="2200" b="0" i="0">
                <a:solidFill>
                  <a:srgbClr val="183A31"/>
                </a:solidFill>
                <a:latin typeface="Aptos"/>
              </a:rPr>
              <a:t>Committed crew + competence</a:t>
            </a:r>
          </a:p>
          <a:p>
            <a:pPr algn="l">
              <a:lnSpc>
                <a:spcPct val="105000"/>
              </a:lnSpc>
            </a:pPr>
            <a:r>
              <a:rPr sz="2200" b="0" i="0">
                <a:solidFill>
                  <a:srgbClr val="183A31"/>
                </a:solidFill>
                <a:latin typeface="Aptos"/>
              </a:rPr>
              <a:t>Materials + client-side review capacity</a:t>
            </a:r>
          </a:p>
          <a:p>
            <a:pPr algn="l">
              <a:lnSpc>
                <a:spcPct val="105000"/>
              </a:lnSpc>
            </a:pPr>
            <a:r>
              <a:rPr sz="2200" b="0" i="0">
                <a:solidFill>
                  <a:srgbClr val="183A31"/>
                </a:solidFill>
                <a:latin typeface="Aptos"/>
              </a:rPr>
              <a:t>Necessary adjustments, not diagnoses</a:t>
            </a:r>
          </a:p>
          <a:p>
            <a:pPr algn="l">
              <a:lnSpc>
                <a:spcPct val="105000"/>
              </a:lnSpc>
            </a:pPr>
            <a:r>
              <a:rPr sz="2200" b="0" i="0">
                <a:solidFill>
                  <a:srgbClr val="183A31"/>
                </a:solidFill>
                <a:latin typeface="Aptos"/>
              </a:rPr>
              <a:t>Named liaison owns the handoff</a:t>
            </a:r>
          </a:p>
        </p:txBody>
      </p:sp>
      <p:sp>
        <p:nvSpPr>
          <p:cNvPr id="6" name="TextBox 5"/>
          <p:cNvSpPr txBox="1"/>
          <p:nvPr/>
        </p:nvSpPr>
        <p:spPr>
          <a:xfrm>
            <a:off x="594360" y="5532120"/>
            <a:ext cx="10972800" cy="320040"/>
          </a:xfrm>
          <a:prstGeom prst="rect">
            <a:avLst/>
          </a:prstGeom>
          <a:noFill/>
        </p:spPr>
        <p:txBody>
          <a:bodyPr wrap="square" lIns="0" rIns="0" tIns="0" bIns="0">
            <a:spAutoFit/>
          </a:bodyPr>
          <a:lstStyle/>
          <a:p>
            <a:r>
              <a:rPr sz="2000" b="0" i="0">
                <a:solidFill>
                  <a:srgbClr val="183A31"/>
                </a:solidFill>
                <a:latin typeface="Aptos"/>
              </a:rPr>
              <a:t>No compulsory resident portal. Hazards reach people outside routine scheduling.</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08 / PROPOSED SERVICE / E03/E06/E12 / DIRECT RESIDENT AND STAFF VALIDATION STILL REQUIRED</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TRANSPARENCY / AN INSPECTABLE DECISION TRACE, NOT JUST AN AI EXPLANATION</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000" b="1" i="0">
                <a:solidFill>
                  <a:srgbClr val="183A31"/>
                </a:solidFill>
                <a:latin typeface="Aptos Display"/>
              </a:rPr>
              <a:t>Every decision must tell its story</a:t>
            </a:r>
          </a:p>
        </p:txBody>
      </p:sp>
      <p:sp>
        <p:nvSpPr>
          <p:cNvPr id="4" name="Rounded Rectangle 3"/>
          <p:cNvSpPr/>
          <p:nvPr/>
        </p:nvSpPr>
        <p:spPr>
          <a:xfrm>
            <a:off x="594360" y="2606040"/>
            <a:ext cx="3429000" cy="2697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000" b="0" i="0">
                <a:solidFill>
                  <a:srgbClr val="F7F2E7"/>
                </a:solidFill>
                <a:latin typeface="Aptos"/>
              </a:rPr>
              <a:t>WHAT DID WE KNOW?</a:t>
            </a:r>
          </a:p>
          <a:p>
            <a:pPr algn="l">
              <a:lnSpc>
                <a:spcPct val="105000"/>
              </a:lnSpc>
            </a:pPr>
            <a:r>
              <a:rPr sz="2000" b="0" i="0">
                <a:solidFill>
                  <a:srgbClr val="F7F2E7"/>
                </a:solidFill>
                <a:latin typeface="Aptos"/>
              </a:rPr>
              <a:t>Source + evidence version</a:t>
            </a:r>
          </a:p>
          <a:p>
            <a:pPr algn="l">
              <a:lnSpc>
                <a:spcPct val="105000"/>
              </a:lnSpc>
            </a:pPr>
            <a:r>
              <a:rPr sz="2000" b="0" i="0">
                <a:solidFill>
                  <a:srgbClr val="F7F2E7"/>
                </a:solidFill>
                <a:latin typeface="Aptos"/>
              </a:rPr>
              <a:t>Applicable rule version</a:t>
            </a:r>
          </a:p>
          <a:p>
            <a:pPr algn="l">
              <a:lnSpc>
                <a:spcPct val="105000"/>
              </a:lnSpc>
            </a:pPr>
            <a:r>
              <a:rPr sz="2000" b="0" i="0">
                <a:solidFill>
                  <a:srgbClr val="F7F2E7"/>
                </a:solidFill>
                <a:latin typeface="Aptos"/>
              </a:rPr>
              <a:t>Unknowns + conflicts</a:t>
            </a:r>
          </a:p>
        </p:txBody>
      </p:sp>
      <p:sp>
        <p:nvSpPr>
          <p:cNvPr id="5" name="Rounded Rectangle 4"/>
          <p:cNvSpPr/>
          <p:nvPr/>
        </p:nvSpPr>
        <p:spPr>
          <a:xfrm>
            <a:off x="4366260" y="2606040"/>
            <a:ext cx="3429000" cy="2697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000" b="0" i="0">
                <a:solidFill>
                  <a:srgbClr val="183A31"/>
                </a:solidFill>
                <a:latin typeface="Aptos"/>
              </a:rPr>
              <a:t>WHY THIS DECISION?</a:t>
            </a:r>
          </a:p>
          <a:p>
            <a:pPr algn="l">
              <a:lnSpc>
                <a:spcPct val="105000"/>
              </a:lnSpc>
            </a:pPr>
            <a:r>
              <a:rPr sz="2000" b="0" i="0">
                <a:solidFill>
                  <a:srgbClr val="183A31"/>
                </a:solidFill>
                <a:latin typeface="Aptos"/>
              </a:rPr>
              <a:t>Rule result + reason</a:t>
            </a:r>
          </a:p>
          <a:p>
            <a:pPr algn="l">
              <a:lnSpc>
                <a:spcPct val="105000"/>
              </a:lnSpc>
            </a:pPr>
            <a:r>
              <a:rPr sz="2000" b="0" i="0">
                <a:solidFill>
                  <a:srgbClr val="183A31"/>
                </a:solidFill>
                <a:latin typeface="Aptos"/>
              </a:rPr>
              <a:t>Named reviewer + approval</a:t>
            </a:r>
          </a:p>
          <a:p>
            <a:pPr algn="l">
              <a:lnSpc>
                <a:spcPct val="105000"/>
              </a:lnSpc>
            </a:pPr>
            <a:r>
              <a:rPr sz="2000" b="0" i="0">
                <a:solidFill>
                  <a:srgbClr val="183A31"/>
                </a:solidFill>
                <a:latin typeface="Aptos"/>
              </a:rPr>
              <a:t>Event + timestamp</a:t>
            </a:r>
          </a:p>
        </p:txBody>
      </p:sp>
      <p:sp>
        <p:nvSpPr>
          <p:cNvPr id="6" name="Rounded Rectangle 5"/>
          <p:cNvSpPr/>
          <p:nvPr/>
        </p:nvSpPr>
        <p:spPr>
          <a:xfrm>
            <a:off x="8138160" y="2606040"/>
            <a:ext cx="3429000" cy="269748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000" b="0" i="0">
                <a:solidFill>
                  <a:srgbClr val="183A31"/>
                </a:solidFill>
                <a:latin typeface="Aptos"/>
              </a:rPr>
              <a:t>WHAT IF IT CHANGES?</a:t>
            </a:r>
          </a:p>
          <a:p>
            <a:pPr algn="l">
              <a:lnSpc>
                <a:spcPct val="105000"/>
              </a:lnSpc>
            </a:pPr>
            <a:r>
              <a:rPr sz="2000" b="0" i="0">
                <a:solidFill>
                  <a:srgbClr val="183A31"/>
                </a:solidFill>
                <a:latin typeface="Aptos"/>
              </a:rPr>
              <a:t>Override: authority + reason</a:t>
            </a:r>
          </a:p>
          <a:p>
            <a:pPr algn="l">
              <a:lnSpc>
                <a:spcPct val="105000"/>
              </a:lnSpc>
            </a:pPr>
            <a:r>
              <a:rPr sz="2000" b="0" i="0">
                <a:solidFill>
                  <a:srgbClr val="183A31"/>
                </a:solidFill>
                <a:latin typeface="Aptos"/>
              </a:rPr>
              <a:t>Dependent reviews reopen</a:t>
            </a:r>
          </a:p>
          <a:p>
            <a:pPr algn="l">
              <a:lnSpc>
                <a:spcPct val="105000"/>
              </a:lnSpc>
            </a:pPr>
            <a:r>
              <a:rPr sz="2000" b="0" i="0">
                <a:solidFill>
                  <a:srgbClr val="183A31"/>
                </a:solidFill>
                <a:latin typeface="Aptos"/>
              </a:rPr>
              <a:t>Earlier versions preserved</a:t>
            </a:r>
          </a:p>
        </p:txBody>
      </p:sp>
      <p:sp>
        <p:nvSpPr>
          <p:cNvPr id="7" name="TextBox 6"/>
          <p:cNvSpPr txBox="1"/>
          <p:nvPr/>
        </p:nvSpPr>
        <p:spPr>
          <a:xfrm>
            <a:off x="594360" y="5623560"/>
            <a:ext cx="10972800" cy="274320"/>
          </a:xfrm>
          <a:prstGeom prst="rect">
            <a:avLst/>
          </a:prstGeom>
          <a:noFill/>
        </p:spPr>
        <p:txBody>
          <a:bodyPr wrap="square" lIns="0" rIns="0" tIns="0" bIns="0">
            <a:spAutoFit/>
          </a:bodyPr>
          <a:lstStyle/>
          <a:p>
            <a:r>
              <a:rPr sz="1800" b="0" i="0">
                <a:solidFill>
                  <a:srgbClr val="183A31"/>
                </a:solidFill>
                <a:latin typeface="Aptos"/>
              </a:rPr>
              <a:t>A new source is not a new policy. Accountable owners approve rule changes.</a:t>
            </a:r>
          </a:p>
        </p:txBody>
      </p:sp>
      <p:sp>
        <p:nvSpPr>
          <p:cNvPr id="8" name="TextBox 7"/>
          <p:cNvSpPr txBox="1"/>
          <p:nvPr/>
        </p:nvSpPr>
        <p:spPr>
          <a:xfrm>
            <a:off x="594360" y="6217920"/>
            <a:ext cx="10972800" cy="182880"/>
          </a:xfrm>
          <a:prstGeom prst="rect">
            <a:avLst/>
          </a:prstGeom>
          <a:noFill/>
        </p:spPr>
        <p:txBody>
          <a:bodyPr wrap="square" lIns="0" rIns="0" tIns="0" bIns="0">
            <a:spAutoFit/>
          </a:bodyPr>
          <a:lstStyle/>
          <a:p>
            <a:r>
              <a:rPr sz="1000" b="0" i="0">
                <a:solidFill>
                  <a:srgbClr val="183A31"/>
                </a:solidFill>
                <a:latin typeface="Aptos"/>
              </a:rPr>
              <a:t>09 / PROPOSED CONTROL DESIGN / E02/E06/E09 / LEGAL CURRENTNESS AND CONTROL PROOF REMAIN OPEN</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SYSTEM CONTEXT / PROPOSED, NOT DEPLOYED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workbench beside the systems you keep</a:t>
            </a:r>
          </a:p>
        </p:txBody>
      </p:sp>
      <p:sp>
        <p:nvSpPr>
          <p:cNvPr id="4" name="Rounded Rectangle 3"/>
          <p:cNvSpPr/>
          <p:nvPr/>
        </p:nvSpPr>
        <p:spPr>
          <a:xfrm>
            <a:off x="594360" y="2606040"/>
            <a:ext cx="283464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EXISTING SOURCES</a:t>
            </a:r>
          </a:p>
          <a:p>
            <a:pPr algn="l">
              <a:lnSpc>
                <a:spcPct val="105000"/>
              </a:lnSpc>
            </a:pPr>
            <a:r>
              <a:rPr sz="1900" b="0" i="0">
                <a:solidFill>
                  <a:srgbClr val="183A31"/>
                </a:solidFill>
                <a:latin typeface="Aptos"/>
              </a:rPr>
              <a:t>Excel + stock</a:t>
            </a:r>
          </a:p>
          <a:p>
            <a:pPr algn="l">
              <a:lnSpc>
                <a:spcPct val="105000"/>
              </a:lnSpc>
            </a:pPr>
            <a:r>
              <a:rPr sz="1900" b="0" i="0">
                <a:solidFill>
                  <a:srgbClr val="183A31"/>
                </a:solidFill>
                <a:latin typeface="Aptos"/>
              </a:rPr>
              <a:t>Housing + assets</a:t>
            </a:r>
          </a:p>
          <a:p>
            <a:pPr algn="l">
              <a:lnSpc>
                <a:spcPct val="105000"/>
              </a:lnSpc>
            </a:pPr>
            <a:r>
              <a:rPr sz="1900" b="0" i="0">
                <a:solidFill>
                  <a:srgbClr val="183A31"/>
                </a:solidFill>
                <a:latin typeface="Aptos"/>
              </a:rPr>
              <a:t>Surveys + evidence</a:t>
            </a:r>
          </a:p>
          <a:p>
            <a:pPr algn="l">
              <a:lnSpc>
                <a:spcPct val="105000"/>
              </a:lnSpc>
            </a:pPr>
            <a:r>
              <a:rPr sz="1900" b="0" i="0">
                <a:solidFill>
                  <a:srgbClr val="183A31"/>
                </a:solidFill>
                <a:latin typeface="Aptos"/>
              </a:rPr>
              <a:t>Funding rules</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Validated intake</a:t>
            </a:r>
          </a:p>
        </p:txBody>
      </p:sp>
      <p:sp>
        <p:nvSpPr>
          <p:cNvPr id="5" name="Chevron 4"/>
          <p:cNvSpPr/>
          <p:nvPr/>
        </p:nvSpPr>
        <p:spPr>
          <a:xfrm>
            <a:off x="3703320" y="3794760"/>
            <a:ext cx="365760" cy="45720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a:off x="4343400" y="2606040"/>
            <a:ext cx="3474720"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F7F2E7"/>
                </a:solidFill>
                <a:latin typeface="Aptos"/>
              </a:rPr>
              <a:t>ZAVA FORWARD</a:t>
            </a:r>
          </a:p>
          <a:p>
            <a:pPr algn="l">
              <a:lnSpc>
                <a:spcPct val="105000"/>
              </a:lnSpc>
            </a:pPr>
            <a:r>
              <a:rPr sz="1900" b="0" i="0">
                <a:solidFill>
                  <a:srgbClr val="F7F2E7"/>
                </a:solidFill>
                <a:latin typeface="Aptos"/>
              </a:rPr>
              <a:t>One linked case</a:t>
            </a:r>
          </a:p>
          <a:p>
            <a:pPr algn="l">
              <a:lnSpc>
                <a:spcPct val="105000"/>
              </a:lnSpc>
            </a:pPr>
            <a:r>
              <a:rPr sz="1900" b="0" i="0">
                <a:solidFill>
                  <a:srgbClr val="F7F2E7"/>
                </a:solidFill>
                <a:latin typeface="Aptos"/>
              </a:rPr>
              <a:t>Role queues + next action</a:t>
            </a:r>
          </a:p>
          <a:p>
            <a:pPr algn="l">
              <a:lnSpc>
                <a:spcPct val="105000"/>
              </a:lnSpc>
            </a:pPr>
            <a:r>
              <a:rPr sz="1900" b="0" i="0">
                <a:solidFill>
                  <a:srgbClr val="F7F2E7"/>
                </a:solidFill>
                <a:latin typeface="Aptos"/>
              </a:rPr>
              <a:t>Owner + blocker</a:t>
            </a:r>
          </a:p>
          <a:p>
            <a:pPr algn="l">
              <a:lnSpc>
                <a:spcPct val="105000"/>
              </a:lnSpc>
            </a:pPr>
            <a:r>
              <a:rPr sz="1900" b="0" i="0">
                <a:solidFill>
                  <a:srgbClr val="F7F2E7"/>
                </a:solidFill>
                <a:latin typeface="Aptos"/>
              </a:rPr>
              <a:t>Evidence + trace</a:t>
            </a:r>
          </a:p>
          <a:p>
            <a:pPr algn="l">
              <a:lnSpc>
                <a:spcPct val="105000"/>
              </a:lnSpc>
            </a:pPr>
            <a:r>
              <a:rPr sz="1900" b="0" i="0">
                <a:solidFill>
                  <a:srgbClr val="F7F2E7"/>
                </a:solidFill>
                <a:latin typeface="Aptos"/>
              </a:rPr>
              <a:t>Bounded assistance</a:t>
            </a:r>
          </a:p>
        </p:txBody>
      </p:sp>
      <p:sp>
        <p:nvSpPr>
          <p:cNvPr id="7" name="Chevron 6"/>
          <p:cNvSpPr/>
          <p:nvPr/>
        </p:nvSpPr>
        <p:spPr>
          <a:xfrm>
            <a:off x="8092440" y="3794760"/>
            <a:ext cx="365760" cy="45720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732520" y="2606040"/>
            <a:ext cx="283464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PEOPLE + CHANNELS</a:t>
            </a:r>
          </a:p>
          <a:p>
            <a:pPr algn="l">
              <a:lnSpc>
                <a:spcPct val="105000"/>
              </a:lnSpc>
            </a:pPr>
            <a:r>
              <a:rPr sz="1900" b="0" i="0">
                <a:solidFill>
                  <a:srgbClr val="183A31"/>
                </a:solidFill>
                <a:latin typeface="Aptos"/>
              </a:rPr>
              <a:t>Staff role views</a:t>
            </a:r>
          </a:p>
          <a:p>
            <a:pPr algn="l">
              <a:lnSpc>
                <a:spcPct val="105000"/>
              </a:lnSpc>
            </a:pPr>
            <a:r>
              <a:rPr sz="1900" b="0" i="0">
                <a:solidFill>
                  <a:srgbClr val="183A31"/>
                </a:solidFill>
                <a:latin typeface="Aptos"/>
              </a:rPr>
              <a:t>Resident contact</a:t>
            </a:r>
          </a:p>
          <a:p>
            <a:pPr algn="l">
              <a:lnSpc>
                <a:spcPct val="105000"/>
              </a:lnSpc>
            </a:pPr>
            <a:r>
              <a:rPr sz="1900" b="0" i="0">
                <a:solidFill>
                  <a:srgbClr val="183A31"/>
                </a:solidFill>
                <a:latin typeface="Aptos"/>
              </a:rPr>
              <a:t>Contractor exchange</a:t>
            </a:r>
          </a:p>
          <a:p>
            <a:pPr algn="l">
              <a:lnSpc>
                <a:spcPct val="105000"/>
              </a:lnSpc>
            </a:pPr>
            <a:r>
              <a:rPr sz="1900" b="0" i="0">
                <a:solidFill>
                  <a:srgbClr val="183A31"/>
                </a:solidFill>
                <a:latin typeface="Aptos"/>
              </a:rPr>
              <a:t>Excel reports</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Controlled access</a:t>
            </a:r>
          </a:p>
        </p:txBody>
      </p:sp>
      <p:sp>
        <p:nvSpPr>
          <p:cNvPr id="9" name="TextBox 8"/>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10 / TARGET LANDSCAPE / E06/E08/E09 / SOURCES FEED THE WORKBENCH; NO BLANKET REPLACEMENT</a:t>
            </a:r>
          </a:p>
        </p:txBody>
      </p:sp>
      <p:sp>
        <p:nvSpPr>
          <p:cNvPr id="10"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CONTROL FLOW / TARGET DESIGN, NOT FULL DEPLOYMENT PROOF</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controlled route from evidence to action</a:t>
            </a:r>
          </a:p>
        </p:txBody>
      </p:sp>
      <p:sp>
        <p:nvSpPr>
          <p:cNvPr id="4" name="Rounded Rectangle 3"/>
          <p:cNvSpPr/>
          <p:nvPr/>
        </p:nvSpPr>
        <p:spPr>
          <a:xfrm>
            <a:off x="594360" y="2606040"/>
            <a:ext cx="3429000" cy="128016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SOURCES + STAFF</a:t>
            </a:r>
          </a:p>
          <a:p>
            <a:pPr algn="l">
              <a:lnSpc>
                <a:spcPct val="105000"/>
              </a:lnSpc>
            </a:pPr>
            <a:r>
              <a:rPr sz="1900" b="0" i="0">
                <a:solidFill>
                  <a:srgbClr val="183A31"/>
                </a:solidFill>
                <a:latin typeface="Aptos"/>
              </a:rPr>
              <a:t>Intake + reviewed requests</a:t>
            </a:r>
          </a:p>
        </p:txBody>
      </p:sp>
      <p:cxnSp>
        <p:nvCxnSpPr>
          <p:cNvPr id="5" name="Connector 4"/>
          <p:cNvCxnSpPr/>
          <p:nvPr/>
        </p:nvCxnSpPr>
        <p:spPr>
          <a:xfrm>
            <a:off x="4023360" y="3246120"/>
            <a:ext cx="342900" cy="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366260" y="2606040"/>
            <a:ext cx="3429000" cy="12801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F7F2E7"/>
                </a:solidFill>
                <a:latin typeface="Aptos"/>
              </a:rPr>
              <a:t>CONTROLLED API</a:t>
            </a:r>
          </a:p>
          <a:p>
            <a:pPr algn="l">
              <a:lnSpc>
                <a:spcPct val="105000"/>
              </a:lnSpc>
            </a:pPr>
            <a:r>
              <a:rPr sz="1900" b="0" i="0">
                <a:solidFill>
                  <a:srgbClr val="F7F2E7"/>
                </a:solidFill>
                <a:latin typeface="Aptos"/>
              </a:rPr>
              <a:t>Rights, versions + approvals</a:t>
            </a:r>
          </a:p>
        </p:txBody>
      </p:sp>
      <p:cxnSp>
        <p:nvCxnSpPr>
          <p:cNvPr id="7" name="Connector 6"/>
          <p:cNvCxnSpPr/>
          <p:nvPr/>
        </p:nvCxnSpPr>
        <p:spPr>
          <a:xfrm>
            <a:off x="7795260" y="3246120"/>
            <a:ext cx="342900" cy="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138160" y="2606040"/>
            <a:ext cx="3429000" cy="128016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CASE + EVIDENCE</a:t>
            </a:r>
          </a:p>
          <a:p>
            <a:pPr algn="l">
              <a:lnSpc>
                <a:spcPct val="105000"/>
              </a:lnSpc>
            </a:pPr>
            <a:r>
              <a:rPr sz="1900" b="0" i="0">
                <a:solidFill>
                  <a:srgbClr val="183A31"/>
                </a:solidFill>
                <a:latin typeface="Aptos"/>
              </a:rPr>
              <a:t>Azure SQL state</a:t>
            </a:r>
          </a:p>
          <a:p>
            <a:pPr algn="l">
              <a:lnSpc>
                <a:spcPct val="105000"/>
              </a:lnSpc>
            </a:pPr>
            <a:r>
              <a:rPr sz="1900" b="0" i="0">
                <a:solidFill>
                  <a:srgbClr val="183A31"/>
                </a:solidFill>
                <a:latin typeface="Aptos"/>
              </a:rPr>
              <a:t>Versioned Blob evidence</a:t>
            </a:r>
          </a:p>
        </p:txBody>
      </p:sp>
      <p:sp>
        <p:nvSpPr>
          <p:cNvPr id="9" name="Rounded Rectangle 8"/>
          <p:cNvSpPr/>
          <p:nvPr/>
        </p:nvSpPr>
        <p:spPr>
          <a:xfrm>
            <a:off x="594360" y="4251960"/>
            <a:ext cx="3429000" cy="123444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AI → STAFF</a:t>
            </a:r>
          </a:p>
          <a:p>
            <a:pPr algn="l">
              <a:lnSpc>
                <a:spcPct val="105000"/>
              </a:lnSpc>
            </a:pPr>
            <a:r>
              <a:rPr sz="1900" b="0" i="0">
                <a:solidFill>
                  <a:srgbClr val="183A31"/>
                </a:solidFill>
                <a:latin typeface="Aptos"/>
              </a:rPr>
              <a:t>Permitted inputs; cited draft</a:t>
            </a:r>
          </a:p>
          <a:p>
            <a:pPr algn="l">
              <a:lnSpc>
                <a:spcPct val="105000"/>
              </a:lnSpc>
            </a:pPr>
            <a:r>
              <a:rPr sz="1900" b="0" i="0">
                <a:solidFill>
                  <a:srgbClr val="183A31"/>
                </a:solidFill>
                <a:latin typeface="Aptos"/>
              </a:rPr>
              <a:t>No write credentials</a:t>
            </a:r>
          </a:p>
        </p:txBody>
      </p:sp>
      <p:sp>
        <p:nvSpPr>
          <p:cNvPr id="10" name="Rounded Rectangle 9"/>
          <p:cNvSpPr/>
          <p:nvPr/>
        </p:nvSpPr>
        <p:spPr>
          <a:xfrm>
            <a:off x="4366260" y="4251960"/>
            <a:ext cx="342900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WORKFLOW RULES</a:t>
            </a:r>
          </a:p>
          <a:p>
            <a:pPr algn="l">
              <a:lnSpc>
                <a:spcPct val="105000"/>
              </a:lnSpc>
            </a:pPr>
            <a:r>
              <a:rPr sz="1900" b="0" i="0">
                <a:solidFill>
                  <a:srgbClr val="183A31"/>
                </a:solidFill>
                <a:latin typeface="Aptos"/>
              </a:rPr>
              <a:t>Ranking, gates + audit</a:t>
            </a:r>
          </a:p>
        </p:txBody>
      </p:sp>
      <p:sp>
        <p:nvSpPr>
          <p:cNvPr id="11" name="Rounded Rectangle 10"/>
          <p:cNvSpPr/>
          <p:nvPr/>
        </p:nvSpPr>
        <p:spPr>
          <a:xfrm>
            <a:off x="8138160" y="4251960"/>
            <a:ext cx="342900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PROOF STILL REQUIRED</a:t>
            </a:r>
          </a:p>
          <a:p>
            <a:pPr algn="l">
              <a:lnSpc>
                <a:spcPct val="105000"/>
              </a:lnSpc>
            </a:pPr>
            <a:r>
              <a:rPr sz="1900" b="0" i="0">
                <a:solidFill>
                  <a:srgbClr val="183A31"/>
                </a:solidFill>
                <a:latin typeface="Aptos"/>
              </a:rPr>
              <a:t>Permissions + leakage</a:t>
            </a:r>
          </a:p>
          <a:p>
            <a:pPr algn="l">
              <a:lnSpc>
                <a:spcPct val="105000"/>
              </a:lnSpc>
            </a:pPr>
            <a:r>
              <a:rPr sz="1900" b="0" i="0">
                <a:solidFill>
                  <a:srgbClr val="183A31"/>
                </a:solidFill>
                <a:latin typeface="Aptos"/>
              </a:rPr>
              <a:t>Recovery + resilience</a:t>
            </a:r>
          </a:p>
        </p:txBody>
      </p:sp>
      <p:cxnSp>
        <p:nvCxnSpPr>
          <p:cNvPr id="12" name="Connector 11"/>
          <p:cNvCxnSpPr/>
          <p:nvPr/>
        </p:nvCxnSpPr>
        <p:spPr>
          <a:xfrm flipV="1">
            <a:off x="2308860" y="3886200"/>
            <a:ext cx="0" cy="36576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080760" y="3886200"/>
            <a:ext cx="0" cy="36576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11 / EXERCISE AZURE/SQL/AI DIRECTION ≠ CUSTOMER PROCUREMENT APPROVAL / E07–E11</a:t>
            </a:r>
          </a:p>
        </p:txBody>
      </p:sp>
      <p:sp>
        <p:nvSpPr>
          <p:cNvPr id="15"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ASSISTANCE INSIDE THE BOUNDARY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000" b="1" i="0">
                <a:solidFill>
                  <a:srgbClr val="183A31"/>
                </a:solidFill>
                <a:latin typeface="Aptos Display"/>
              </a:rPr>
              <a:t>AI earns a task. Never the authority.</a:t>
            </a:r>
          </a:p>
        </p:txBody>
      </p:sp>
      <p:sp>
        <p:nvSpPr>
          <p:cNvPr id="4" name="Rounded Rectangle 3"/>
          <p:cNvSpPr/>
          <p:nvPr/>
        </p:nvSpPr>
        <p:spPr>
          <a:xfrm>
            <a:off x="594360" y="2606040"/>
            <a:ext cx="5326380" cy="24688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F7F2E7"/>
                </a:solidFill>
                <a:latin typeface="Aptos"/>
              </a:rPr>
              <a:t>BOUNDED SELECTION</a:t>
            </a:r>
          </a:p>
          <a:p>
            <a:pPr algn="l">
              <a:lnSpc>
                <a:spcPct val="105000"/>
              </a:lnSpc>
            </a:pPr>
            <a:r>
              <a:rPr sz="2200" b="0" i="0">
                <a:solidFill>
                  <a:srgbClr val="F7F2E7"/>
                </a:solidFill>
                <a:latin typeface="Aptos"/>
              </a:rPr>
              <a:t>Source-bound supplied candidates</a:t>
            </a:r>
          </a:p>
          <a:p>
            <a:pPr algn="l">
              <a:lnSpc>
                <a:spcPct val="105000"/>
              </a:lnSpc>
            </a:pPr>
            <a:r>
              <a:rPr sz="2200" b="0" i="0">
                <a:solidFill>
                  <a:srgbClr val="F7F2E7"/>
                </a:solidFill>
                <a:latin typeface="Aptos"/>
              </a:rPr>
              <a:t>Verified task fit; no-match is allowed</a:t>
            </a:r>
          </a:p>
          <a:p>
            <a:pPr algn="l">
              <a:lnSpc>
                <a:spcPct val="105000"/>
              </a:lnSpc>
            </a:pPr>
            <a:r>
              <a:rPr sz="2200" b="0" i="0">
                <a:solidFill>
                  <a:srgbClr val="F7F2E7"/>
                </a:solidFill>
                <a:latin typeface="Aptos"/>
              </a:rPr>
              <a:t>Compare against rules / manual</a:t>
            </a:r>
          </a:p>
        </p:txBody>
      </p:sp>
      <p:sp>
        <p:nvSpPr>
          <p:cNvPr id="5" name="Rounded Rectangle 4"/>
          <p:cNvSpPr/>
          <p:nvPr/>
        </p:nvSpPr>
        <p:spPr>
          <a:xfrm>
            <a:off x="6240780" y="2606040"/>
            <a:ext cx="5326380" cy="24688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183A31"/>
                </a:solidFill>
                <a:latin typeface="Aptos"/>
              </a:rPr>
              <a:t>CITED GENERATION</a:t>
            </a:r>
          </a:p>
          <a:p>
            <a:pPr algn="l">
              <a:lnSpc>
                <a:spcPct val="105000"/>
              </a:lnSpc>
            </a:pPr>
            <a:r>
              <a:rPr sz="2200" b="0" i="0">
                <a:solidFill>
                  <a:srgbClr val="183A31"/>
                </a:solidFill>
                <a:latin typeface="Aptos"/>
              </a:rPr>
              <a:t>Draft from permitted evidence</a:t>
            </a:r>
          </a:p>
          <a:p>
            <a:pPr algn="l">
              <a:lnSpc>
                <a:spcPct val="105000"/>
              </a:lnSpc>
            </a:pPr>
            <a:r>
              <a:rPr sz="2200" b="0" i="0">
                <a:solidFill>
                  <a:srgbClr val="183A31"/>
                </a:solidFill>
                <a:latin typeface="Aptos"/>
              </a:rPr>
              <a:t>Check every required field</a:t>
            </a:r>
          </a:p>
          <a:p>
            <a:pPr algn="l">
              <a:lnSpc>
                <a:spcPct val="105000"/>
              </a:lnSpc>
            </a:pPr>
            <a:r>
              <a:rPr sz="2200" b="0" i="0">
                <a:solidFill>
                  <a:srgbClr val="183A31"/>
                </a:solidFill>
                <a:latin typeface="Aptos"/>
              </a:rPr>
              <a:t>Count review and correction effort</a:t>
            </a:r>
          </a:p>
        </p:txBody>
      </p:sp>
      <p:sp>
        <p:nvSpPr>
          <p:cNvPr id="6" name="TextBox 5"/>
          <p:cNvSpPr txBox="1"/>
          <p:nvPr/>
        </p:nvSpPr>
        <p:spPr>
          <a:xfrm>
            <a:off x="594360" y="5394960"/>
            <a:ext cx="10972800" cy="457200"/>
          </a:xfrm>
          <a:prstGeom prst="rect">
            <a:avLst/>
          </a:prstGeom>
          <a:noFill/>
        </p:spPr>
        <p:txBody>
          <a:bodyPr wrap="square" lIns="0" rIns="0" tIns="0" bIns="0">
            <a:spAutoFit/>
          </a:bodyPr>
          <a:lstStyle/>
          <a:p>
            <a:r>
              <a:rPr sz="2000" b="0" i="0">
                <a:solidFill>
                  <a:srgbClr val="183A31"/>
                </a:solidFill>
                <a:latin typeface="Aptos"/>
              </a:rPr>
              <a:t>People own policy, consent, technical acceptance, grant submission, QA and payment.</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12 / NARROW OBSERVED FEASIBILITY ≠ TASK BENEFIT OR FULL ACCEPTANCE / E07/E11</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THE CFO TEST / FICTIONAL HOME ECONOMICS, NOT A BUDGET OR WORKBENCH PRICE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Stewardship means seeing cash before optimism</a:t>
            </a:r>
          </a:p>
        </p:txBody>
      </p:sp>
      <p:sp>
        <p:nvSpPr>
          <p:cNvPr id="4" name="Rounded Rectangle 3"/>
          <p:cNvSpPr/>
          <p:nvPr/>
        </p:nvSpPr>
        <p:spPr>
          <a:xfrm>
            <a:off x="594360" y="2606040"/>
            <a:ext cx="3429000" cy="21031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400" b="0" i="0">
                <a:solidFill>
                  <a:srgbClr val="F7F2E7"/>
                </a:solidFill>
                <a:latin typeface="Aptos"/>
              </a:rPr>
              <a:t>£20,000</a:t>
            </a:r>
          </a:p>
          <a:p>
            <a:pPr algn="l">
              <a:lnSpc>
                <a:spcPct val="105000"/>
              </a:lnSpc>
            </a:pPr>
            <a:r>
              <a:rPr sz="2400" b="0" i="0">
                <a:solidFill>
                  <a:srgbClr val="F7F2E7"/>
                </a:solidFill>
                <a:latin typeface="Aptos"/>
              </a:rPr>
              <a:t>Gross base exposure</a:t>
            </a:r>
          </a:p>
          <a:p>
            <a:pPr algn="l">
              <a:lnSpc>
                <a:spcPct val="105000"/>
              </a:lnSpc>
            </a:pPr>
            <a:r>
              <a:rPr sz="2400" b="0" i="0">
                <a:solidFill>
                  <a:srgbClr val="F7F2E7"/>
                </a:solidFill>
                <a:latin typeface="Aptos"/>
              </a:rPr>
              <a:t>before grant cash</a:t>
            </a:r>
          </a:p>
        </p:txBody>
      </p:sp>
      <p:sp>
        <p:nvSpPr>
          <p:cNvPr id="5" name="Rounded Rectangle 4"/>
          <p:cNvSpPr/>
          <p:nvPr/>
        </p:nvSpPr>
        <p:spPr>
          <a:xfrm>
            <a:off x="4366260" y="2606040"/>
            <a:ext cx="3429000" cy="21031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400" b="0" i="0">
                <a:solidFill>
                  <a:srgbClr val="183A31"/>
                </a:solidFill>
                <a:latin typeface="Aptos"/>
              </a:rPr>
              <a:t>£7,500</a:t>
            </a:r>
          </a:p>
          <a:p>
            <a:pPr algn="l">
              <a:lnSpc>
                <a:spcPct val="105000"/>
              </a:lnSpc>
            </a:pPr>
            <a:r>
              <a:rPr sz="2400" b="0" i="0">
                <a:solidFill>
                  <a:srgbClr val="183A31"/>
                </a:solidFill>
                <a:latin typeface="Aptos"/>
              </a:rPr>
              <a:t>Fictional grant</a:t>
            </a:r>
          </a:p>
          <a:p>
            <a:pPr algn="l">
              <a:lnSpc>
                <a:spcPct val="105000"/>
              </a:lnSpc>
            </a:pPr>
            <a:r>
              <a:rPr sz="2400" b="0" i="0">
                <a:solidFill>
                  <a:srgbClr val="183A31"/>
                </a:solidFill>
                <a:latin typeface="Aptos"/>
              </a:rPr>
              <a:t>—not cash yet</a:t>
            </a:r>
          </a:p>
        </p:txBody>
      </p:sp>
      <p:sp>
        <p:nvSpPr>
          <p:cNvPr id="6" name="Rounded Rectangle 5"/>
          <p:cNvSpPr/>
          <p:nvPr/>
        </p:nvSpPr>
        <p:spPr>
          <a:xfrm>
            <a:off x="8138160" y="2606040"/>
            <a:ext cx="3429000" cy="21031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400" b="0" i="0">
                <a:solidFill>
                  <a:srgbClr val="183A31"/>
                </a:solidFill>
                <a:latin typeface="Aptos"/>
              </a:rPr>
              <a:t>£12,500</a:t>
            </a:r>
          </a:p>
          <a:p>
            <a:pPr algn="l">
              <a:lnSpc>
                <a:spcPct val="105000"/>
              </a:lnSpc>
            </a:pPr>
            <a:r>
              <a:rPr sz="2400" b="0" i="0">
                <a:solidFill>
                  <a:srgbClr val="183A31"/>
                </a:solidFill>
                <a:latin typeface="Aptos"/>
              </a:rPr>
              <a:t>Provider funding</a:t>
            </a:r>
          </a:p>
          <a:p>
            <a:pPr algn="l">
              <a:lnSpc>
                <a:spcPct val="105000"/>
              </a:lnSpc>
            </a:pPr>
            <a:r>
              <a:rPr sz="2400" b="0" i="0">
                <a:solidFill>
                  <a:srgbClr val="183A31"/>
                </a:solidFill>
                <a:latin typeface="Aptos"/>
              </a:rPr>
              <a:t>if grant is received</a:t>
            </a:r>
          </a:p>
        </p:txBody>
      </p:sp>
      <p:sp>
        <p:nvSpPr>
          <p:cNvPr id="7" name="TextBox 6"/>
          <p:cNvSpPr txBox="1"/>
          <p:nvPr/>
        </p:nvSpPr>
        <p:spPr>
          <a:xfrm>
            <a:off x="594360" y="5029200"/>
            <a:ext cx="10972800" cy="777240"/>
          </a:xfrm>
          <a:prstGeom prst="rect">
            <a:avLst/>
          </a:prstGeom>
          <a:noFill/>
        </p:spPr>
        <p:txBody>
          <a:bodyPr wrap="square" lIns="0" rIns="0" tIns="0" bIns="0">
            <a:spAutoFit/>
          </a:bodyPr>
          <a:lstStyle/>
          <a:p>
            <a:r>
              <a:rPr sz="2200" b="0" i="0">
                <a:solidFill>
                  <a:srgbClr val="183A31"/>
                </a:solidFill>
                <a:latin typeface="Aptos"/>
              </a:rPr>
              <a:t>If contingency is spent: £22,000 gross / £14,500 provider exposure.</a:t>
            </a:r>
          </a:p>
          <a:p>
            <a:r>
              <a:rPr sz="2200" b="0" i="0">
                <a:solidFill>
                  <a:srgbClr val="183A31"/>
                </a:solidFill>
                <a:latin typeface="Aptos"/>
              </a:rPr>
              <a:t>Application ≠ award ≠ claim ≠ cash.</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13 / FICTIONAL EXA-010/015 / E06 / NO REAL AWARD, COVENANT HEADROOM OR SPENDING AUTHORITY CLAIMED</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SUPPORTED CHANGE / EXISTING TEAMS AND SUPPLIERS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Make the first change small enough to learn</a:t>
            </a:r>
          </a:p>
        </p:txBody>
      </p:sp>
      <p:sp>
        <p:nvSpPr>
          <p:cNvPr id="4" name="Rounded Rectangle 3"/>
          <p:cNvSpPr/>
          <p:nvPr/>
        </p:nvSpPr>
        <p:spPr>
          <a:xfrm>
            <a:off x="594360" y="2606040"/>
            <a:ext cx="246888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F7F2E7"/>
                </a:solidFill>
                <a:latin typeface="Aptos"/>
              </a:rPr>
              <a:t>1 / CO-DESIGN</a:t>
            </a:r>
          </a:p>
          <a:p>
            <a:pPr algn="l">
              <a:lnSpc>
                <a:spcPct val="105000"/>
              </a:lnSpc>
            </a:pPr>
            <a:r>
              <a:rPr sz="1900" b="0" i="0">
                <a:solidFill>
                  <a:srgbClr val="F7F2E7"/>
                </a:solidFill>
                <a:latin typeface="Aptos"/>
              </a:rPr>
              <a:t>Programme Manager</a:t>
            </a:r>
          </a:p>
          <a:p>
            <a:pPr algn="l">
              <a:lnSpc>
                <a:spcPct val="105000"/>
              </a:lnSpc>
            </a:pPr>
            <a:r>
              <a:rPr sz="1900" b="0" i="0">
                <a:solidFill>
                  <a:srgbClr val="F7F2E7"/>
                </a:solidFill>
                <a:latin typeface="Aptos"/>
              </a:rPr>
              <a:t>Workbook owners</a:t>
            </a:r>
          </a:p>
          <a:p>
            <a:pPr algn="l">
              <a:lnSpc>
                <a:spcPct val="105000"/>
              </a:lnSpc>
            </a:pPr>
            <a:r>
              <a:rPr sz="1900" b="0" i="0">
                <a:solidFill>
                  <a:srgbClr val="F7F2E7"/>
                </a:solidFill>
                <a:latin typeface="Aptos"/>
              </a:rPr>
              <a:t>Tasks + baseline</a:t>
            </a:r>
          </a:p>
        </p:txBody>
      </p:sp>
      <p:sp>
        <p:nvSpPr>
          <p:cNvPr id="5" name="Rounded Rectangle 4"/>
          <p:cNvSpPr/>
          <p:nvPr/>
        </p:nvSpPr>
        <p:spPr>
          <a:xfrm>
            <a:off x="3429000" y="2606040"/>
            <a:ext cx="24688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2 / CONNECT</a:t>
            </a:r>
          </a:p>
          <a:p>
            <a:pPr algn="l">
              <a:lnSpc>
                <a:spcPct val="105000"/>
              </a:lnSpc>
            </a:pPr>
            <a:r>
              <a:rPr sz="1900" b="0" i="0">
                <a:solidFill>
                  <a:srgbClr val="183A31"/>
                </a:solidFill>
                <a:latin typeface="Aptos"/>
              </a:rPr>
              <a:t>Data owner</a:t>
            </a:r>
          </a:p>
          <a:p>
            <a:pPr algn="l">
              <a:lnSpc>
                <a:spcPct val="105000"/>
              </a:lnSpc>
            </a:pPr>
            <a:r>
              <a:rPr sz="1900" b="0" i="0">
                <a:solidFill>
                  <a:srgbClr val="183A31"/>
                </a:solidFill>
                <a:latin typeface="Aptos"/>
              </a:rPr>
              <a:t>One home first</a:t>
            </a:r>
          </a:p>
          <a:p>
            <a:pPr algn="l">
              <a:lnSpc>
                <a:spcPct val="105000"/>
              </a:lnSpc>
            </a:pPr>
            <a:r>
              <a:rPr sz="1900" b="0" i="0">
                <a:solidFill>
                  <a:srgbClr val="183A31"/>
                </a:solidFill>
                <a:latin typeface="Aptos"/>
              </a:rPr>
              <a:t>Shadow import</a:t>
            </a:r>
          </a:p>
          <a:p>
            <a:pPr algn="l">
              <a:lnSpc>
                <a:spcPct val="105000"/>
              </a:lnSpc>
            </a:pPr>
            <a:r>
              <a:rPr sz="1900" b="0" i="0">
                <a:solidFill>
                  <a:srgbClr val="183A31"/>
                </a:solidFill>
                <a:latin typeface="Aptos"/>
              </a:rPr>
              <a:t>Quarantine conflicts</a:t>
            </a:r>
          </a:p>
        </p:txBody>
      </p:sp>
      <p:sp>
        <p:nvSpPr>
          <p:cNvPr id="6" name="Rounded Rectangle 5"/>
          <p:cNvSpPr/>
          <p:nvPr/>
        </p:nvSpPr>
        <p:spPr>
          <a:xfrm>
            <a:off x="6263640" y="2606040"/>
            <a:ext cx="24688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3 / REHEARSE</a:t>
            </a:r>
          </a:p>
          <a:p>
            <a:pPr algn="l">
              <a:lnSpc>
                <a:spcPct val="105000"/>
              </a:lnSpc>
            </a:pPr>
            <a:r>
              <a:rPr sz="1900" b="0" i="0">
                <a:solidFill>
                  <a:srgbClr val="183A31"/>
                </a:solidFill>
                <a:latin typeface="Aptos"/>
              </a:rPr>
              <a:t>Team leads</a:t>
            </a:r>
          </a:p>
          <a:p>
            <a:pPr algn="l">
              <a:lnSpc>
                <a:spcPct val="105000"/>
              </a:lnSpc>
            </a:pPr>
            <a:r>
              <a:rPr sz="1900" b="0" i="0">
                <a:solidFill>
                  <a:srgbClr val="183A31"/>
                </a:solidFill>
                <a:latin typeface="Aptos"/>
              </a:rPr>
              <a:t>Task walkthroughs</a:t>
            </a:r>
          </a:p>
          <a:p>
            <a:pPr algn="l">
              <a:lnSpc>
                <a:spcPct val="105000"/>
              </a:lnSpc>
            </a:pPr>
            <a:r>
              <a:rPr sz="1900" b="0" i="0">
                <a:solidFill>
                  <a:srgbClr val="183A31"/>
                </a:solidFill>
                <a:latin typeface="Aptos"/>
              </a:rPr>
              <a:t>Named support</a:t>
            </a:r>
          </a:p>
          <a:p>
            <a:pPr algn="l">
              <a:lnSpc>
                <a:spcPct val="105000"/>
              </a:lnSpc>
            </a:pPr>
            <a:r>
              <a:rPr sz="1900" b="0" i="0">
                <a:solidFill>
                  <a:srgbClr val="183A31"/>
                </a:solidFill>
                <a:latin typeface="Aptos"/>
              </a:rPr>
              <a:t>Short parallel run</a:t>
            </a:r>
          </a:p>
        </p:txBody>
      </p:sp>
      <p:sp>
        <p:nvSpPr>
          <p:cNvPr id="7" name="Rounded Rectangle 6"/>
          <p:cNvSpPr/>
          <p:nvPr/>
        </p:nvSpPr>
        <p:spPr>
          <a:xfrm>
            <a:off x="9098280" y="2606040"/>
            <a:ext cx="2468880" cy="260604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4 / SWITCH</a:t>
            </a:r>
          </a:p>
          <a:p>
            <a:pPr algn="l">
              <a:lnSpc>
                <a:spcPct val="105000"/>
              </a:lnSpc>
            </a:pPr>
            <a:r>
              <a:rPr sz="1900" b="0" i="0">
                <a:solidFill>
                  <a:srgbClr val="183A31"/>
                </a:solidFill>
                <a:latin typeface="Aptos"/>
              </a:rPr>
              <a:t>Digital + work owner</a:t>
            </a:r>
          </a:p>
          <a:p>
            <a:pPr algn="l">
              <a:lnSpc>
                <a:spcPct val="105000"/>
              </a:lnSpc>
            </a:pPr>
            <a:r>
              <a:rPr sz="1900" b="0" i="0">
                <a:solidFill>
                  <a:srgbClr val="183A31"/>
                </a:solidFill>
                <a:latin typeface="Aptos"/>
              </a:rPr>
              <a:t>Exit tests + rollback</a:t>
            </a:r>
          </a:p>
          <a:p>
            <a:pPr algn="l">
              <a:lnSpc>
                <a:spcPct val="105000"/>
              </a:lnSpc>
            </a:pPr>
            <a:r>
              <a:rPr sz="1900" b="0" i="0">
                <a:solidFill>
                  <a:srgbClr val="183A31"/>
                </a:solidFill>
                <a:latin typeface="Aptos"/>
              </a:rPr>
              <a:t>Workbench writes</a:t>
            </a:r>
          </a:p>
          <a:p>
            <a:pPr algn="l">
              <a:lnSpc>
                <a:spcPct val="105000"/>
              </a:lnSpc>
            </a:pPr>
            <a:r>
              <a:rPr sz="1900" b="0" i="0">
                <a:solidFill>
                  <a:srgbClr val="183A31"/>
                </a:solidFill>
                <a:latin typeface="Aptos"/>
              </a:rPr>
              <a:t>Excel reports</a:t>
            </a:r>
          </a:p>
        </p:txBody>
      </p:sp>
      <p:sp>
        <p:nvSpPr>
          <p:cNvPr id="8" name="TextBox 7"/>
          <p:cNvSpPr txBox="1"/>
          <p:nvPr/>
        </p:nvSpPr>
        <p:spPr>
          <a:xfrm>
            <a:off x="594360" y="5532120"/>
            <a:ext cx="10972800" cy="320040"/>
          </a:xfrm>
          <a:prstGeom prst="rect">
            <a:avLst/>
          </a:prstGeom>
          <a:noFill/>
        </p:spPr>
        <p:txBody>
          <a:bodyPr wrap="square" lIns="0" rIns="0" tIns="0" bIns="0">
            <a:spAutoFit/>
          </a:bodyPr>
          <a:lstStyle/>
          <a:p>
            <a:r>
              <a:rPr sz="2000" b="0" i="0">
                <a:solidFill>
                  <a:srgbClr val="183A31"/>
                </a:solidFill>
                <a:latin typeface="Aptos"/>
              </a:rPr>
              <a:t>No permanent dual entry. No compulsory portal. No big-bang replacement.</a:t>
            </a:r>
          </a:p>
        </p:txBody>
      </p:sp>
      <p:sp>
        <p:nvSpPr>
          <p:cNvPr id="9" name="TextBox 8"/>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14 / PROPOSED ADOPTION JOURNEY / E05/E09/E12 / ROLE ASSIGNMENTS AND EXIT THRESHOLDS TO CONFIRM</a:t>
            </a:r>
          </a:p>
        </p:txBody>
      </p:sp>
      <p:sp>
        <p:nvSpPr>
          <p:cNvPr id="10"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A DASHBOARD RUNS THE WORK / A FROZEN COMPARISON TESTS THE CLAIM</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Prove the programme. Test the AI separately.</a:t>
            </a:r>
          </a:p>
        </p:txBody>
      </p:sp>
      <p:sp>
        <p:nvSpPr>
          <p:cNvPr id="4" name="Rounded Rectangle 3"/>
          <p:cNvSpPr/>
          <p:nvPr/>
        </p:nvSpPr>
        <p:spPr>
          <a:xfrm>
            <a:off x="594360" y="2606040"/>
            <a:ext cx="532638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100" b="0" i="0">
                <a:solidFill>
                  <a:srgbClr val="F7F2E7"/>
                </a:solidFill>
                <a:latin typeface="Aptos"/>
              </a:rPr>
              <a:t>1 / PROGRAMME COMPARISON</a:t>
            </a:r>
          </a:p>
          <a:p>
            <a:pPr algn="l">
              <a:lnSpc>
                <a:spcPct val="105000"/>
              </a:lnSpc>
            </a:pPr>
            <a:r>
              <a:rPr sz="2100" b="0" i="0">
                <a:solidFill>
                  <a:srgbClr val="F7F2E7"/>
                </a:solidFill>
                <a:latin typeface="Aptos"/>
              </a:rPr>
              <a:t>Existing teams: assisted vs usual delivery</a:t>
            </a:r>
          </a:p>
          <a:p>
            <a:pPr algn="l">
              <a:lnSpc>
                <a:spcPct val="105000"/>
              </a:lnSpc>
            </a:pPr>
            <a:r>
              <a:rPr sz="2100" b="0" i="0">
                <a:solidFill>
                  <a:srgbClr val="F7F2E7"/>
                </a:solidFill>
                <a:latin typeface="Aptos"/>
              </a:rPr>
              <a:t>Same events + frozen cohort</a:t>
            </a:r>
          </a:p>
          <a:p>
            <a:pPr algn="l">
              <a:lnSpc>
                <a:spcPct val="105000"/>
              </a:lnSpc>
            </a:pPr>
            <a:r>
              <a:rPr sz="2100" b="0" i="0">
                <a:solidFill>
                  <a:srgbClr val="F7F2E7"/>
                </a:solidFill>
                <a:latin typeface="Aptos"/>
              </a:rPr>
              <a:t>Accepted handovers + whole-chain cost</a:t>
            </a:r>
          </a:p>
          <a:p>
            <a:pPr algn="l">
              <a:lnSpc>
                <a:spcPct val="105000"/>
              </a:lnSpc>
            </a:pPr>
            <a:r>
              <a:rPr sz="2100" b="0" i="0">
                <a:solidFill>
                  <a:srgbClr val="F7F2E7"/>
                </a:solidFill>
                <a:latin typeface="Aptos"/>
              </a:rPr>
              <a:t>Shared resources + displacement</a:t>
            </a:r>
          </a:p>
        </p:txBody>
      </p:sp>
      <p:sp>
        <p:nvSpPr>
          <p:cNvPr id="5" name="Rounded Rectangle 4"/>
          <p:cNvSpPr/>
          <p:nvPr/>
        </p:nvSpPr>
        <p:spPr>
          <a:xfrm>
            <a:off x="6240780" y="2606040"/>
            <a:ext cx="53263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100" b="0" i="0">
                <a:solidFill>
                  <a:srgbClr val="183A31"/>
                </a:solidFill>
                <a:latin typeface="Aptos"/>
              </a:rPr>
              <a:t>2 / AI TASK COMPARISON</a:t>
            </a:r>
          </a:p>
          <a:p>
            <a:pPr algn="l">
              <a:lnSpc>
                <a:spcPct val="105000"/>
              </a:lnSpc>
            </a:pPr>
            <a:r>
              <a:rPr sz="2100" b="0" i="0">
                <a:solidFill>
                  <a:srgbClr val="183A31"/>
                </a:solidFill>
                <a:latin typeface="Aptos"/>
              </a:rPr>
              <a:t>Same inputs; manual / rules vs AI</a:t>
            </a:r>
          </a:p>
          <a:p>
            <a:pPr algn="l">
              <a:lnSpc>
                <a:spcPct val="105000"/>
              </a:lnSpc>
            </a:pPr>
            <a:r>
              <a:rPr sz="2100" b="0" i="0">
                <a:solidFill>
                  <a:srgbClr val="183A31"/>
                </a:solidFill>
                <a:latin typeface="Aptos"/>
              </a:rPr>
              <a:t>Paired, reviewed outcomes</a:t>
            </a:r>
          </a:p>
          <a:p>
            <a:pPr algn="l">
              <a:lnSpc>
                <a:spcPct val="105000"/>
              </a:lnSpc>
            </a:pPr>
            <a:r>
              <a:rPr sz="2100" b="0" i="0">
                <a:solidFill>
                  <a:srgbClr val="183A31"/>
                </a:solidFill>
                <a:latin typeface="Aptos"/>
              </a:rPr>
              <a:t>Review + correction + recording effort</a:t>
            </a:r>
          </a:p>
          <a:p>
            <a:pPr algn="l">
              <a:lnSpc>
                <a:spcPct val="105000"/>
              </a:lnSpc>
            </a:pPr>
            <a:r>
              <a:rPr sz="2100" b="0" i="0">
                <a:solidFill>
                  <a:srgbClr val="183A31"/>
                </a:solidFill>
                <a:latin typeface="Aptos"/>
              </a:rPr>
              <a:t>Errors + delay + latency + cost</a:t>
            </a:r>
          </a:p>
        </p:txBody>
      </p:sp>
      <p:sp>
        <p:nvSpPr>
          <p:cNvPr id="6" name="TextBox 5"/>
          <p:cNvSpPr txBox="1"/>
          <p:nvPr/>
        </p:nvSpPr>
        <p:spPr>
          <a:xfrm>
            <a:off x="594360" y="5532120"/>
            <a:ext cx="10972800" cy="320040"/>
          </a:xfrm>
          <a:prstGeom prst="rect">
            <a:avLst/>
          </a:prstGeom>
          <a:noFill/>
        </p:spPr>
        <p:txBody>
          <a:bodyPr wrap="square" lIns="0" rIns="0" tIns="0" bIns="0">
            <a:spAutoFit/>
          </a:bodyPr>
          <a:lstStyle/>
          <a:p>
            <a:r>
              <a:rPr sz="1800" b="0" i="0">
                <a:solidFill>
                  <a:srgbClr val="183A31"/>
                </a:solidFill>
                <a:latin typeface="Aptos"/>
              </a:rPr>
              <a:t>Include unfinished and withdrawn homes. Protect safety, choice, quality, equity and cash.</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15 / PROPOSED EVALUATION / E05/E11 / EFFECTS UNMEASURED; PARALLEL EXPERIMENT HAS NO RESULTS HERE</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GATED EVIDENCE STAGE / PROPOSED OWNERS, NOT DELEGATED AUTHORITY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Earn the next gate. Do not leap into production.</a:t>
            </a:r>
          </a:p>
        </p:txBody>
      </p:sp>
      <p:sp>
        <p:nvSpPr>
          <p:cNvPr id="4" name="Rounded Rectangle 3"/>
          <p:cNvSpPr/>
          <p:nvPr/>
        </p:nvSpPr>
        <p:spPr>
          <a:xfrm>
            <a:off x="594360" y="2606040"/>
            <a:ext cx="2468880"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F7F2E7"/>
                </a:solidFill>
                <a:latin typeface="Aptos"/>
              </a:rPr>
              <a:t>1 / AGREE</a:t>
            </a:r>
          </a:p>
          <a:p>
            <a:pPr algn="l">
              <a:lnSpc>
                <a:spcPct val="105000"/>
              </a:lnSpc>
            </a:pPr>
            <a:r>
              <a:rPr sz="2000" b="0" i="0">
                <a:solidFill>
                  <a:srgbClr val="F7F2E7"/>
                </a:solidFill>
                <a:latin typeface="Aptos"/>
              </a:rPr>
              <a:t>Sponsor + Assets</a:t>
            </a:r>
          </a:p>
          <a:p>
            <a:pPr algn="l">
              <a:lnSpc>
                <a:spcPct val="105000"/>
              </a:lnSpc>
            </a:pPr>
            <a:r>
              <a:rPr sz="2000" b="0" i="0">
                <a:solidFill>
                  <a:srgbClr val="F7F2E7"/>
                </a:solidFill>
                <a:latin typeface="Aptos"/>
              </a:rPr>
              <a:t>Requirements</a:t>
            </a:r>
          </a:p>
          <a:p>
            <a:pPr algn="l">
              <a:lnSpc>
                <a:spcPct val="105000"/>
              </a:lnSpc>
            </a:pPr>
            <a:r>
              <a:rPr sz="2000" b="0" i="0">
                <a:solidFill>
                  <a:srgbClr val="F7F2E7"/>
                </a:solidFill>
                <a:latin typeface="Aptos"/>
              </a:rPr>
              <a:t>Control owners</a:t>
            </a:r>
          </a:p>
          <a:p>
            <a:pPr algn="l">
              <a:lnSpc>
                <a:spcPct val="105000"/>
              </a:lnSpc>
            </a:pPr>
            <a:r>
              <a:rPr sz="2000" b="0" i="0">
                <a:solidFill>
                  <a:srgbClr val="F7F2E7"/>
                </a:solidFill>
                <a:latin typeface="Aptos"/>
              </a:rPr>
              <a:t>Scope + authority</a:t>
            </a:r>
          </a:p>
        </p:txBody>
      </p:sp>
      <p:sp>
        <p:nvSpPr>
          <p:cNvPr id="5" name="Rounded Rectangle 4"/>
          <p:cNvSpPr/>
          <p:nvPr/>
        </p:nvSpPr>
        <p:spPr>
          <a:xfrm>
            <a:off x="3429000" y="2606040"/>
            <a:ext cx="246888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183A31"/>
                </a:solidFill>
                <a:latin typeface="Aptos"/>
              </a:rPr>
              <a:t>2 / CONNECT</a:t>
            </a:r>
          </a:p>
          <a:p>
            <a:pPr algn="l">
              <a:lnSpc>
                <a:spcPct val="105000"/>
              </a:lnSpc>
            </a:pPr>
            <a:r>
              <a:rPr sz="2000" b="0" i="0">
                <a:solidFill>
                  <a:srgbClr val="183A31"/>
                </a:solidFill>
                <a:latin typeface="Aptos"/>
              </a:rPr>
              <a:t>Programme + Digital</a:t>
            </a:r>
          </a:p>
          <a:p>
            <a:pPr algn="l">
              <a:lnSpc>
                <a:spcPct val="105000"/>
              </a:lnSpc>
            </a:pPr>
            <a:r>
              <a:rPr sz="2000" b="0" i="0">
                <a:solidFill>
                  <a:srgbClr val="183A31"/>
                </a:solidFill>
                <a:latin typeface="Aptos"/>
              </a:rPr>
              <a:t>Same-home trace</a:t>
            </a:r>
          </a:p>
          <a:p>
            <a:pPr algn="l">
              <a:lnSpc>
                <a:spcPct val="105000"/>
              </a:lnSpc>
            </a:pPr>
            <a:r>
              <a:rPr sz="2000" b="0" i="0">
                <a:solidFill>
                  <a:srgbClr val="183A31"/>
                </a:solidFill>
                <a:latin typeface="Aptos"/>
              </a:rPr>
              <a:t>Real services</a:t>
            </a:r>
          </a:p>
          <a:p>
            <a:pPr algn="l">
              <a:lnSpc>
                <a:spcPct val="105000"/>
              </a:lnSpc>
            </a:pPr>
            <a:r>
              <a:rPr sz="2000" b="0" i="0">
                <a:solidFill>
                  <a:srgbClr val="183A31"/>
                </a:solidFill>
                <a:latin typeface="Aptos"/>
              </a:rPr>
              <a:t>Negative tests</a:t>
            </a:r>
          </a:p>
        </p:txBody>
      </p:sp>
      <p:sp>
        <p:nvSpPr>
          <p:cNvPr id="6" name="Rounded Rectangle 5"/>
          <p:cNvSpPr/>
          <p:nvPr/>
        </p:nvSpPr>
        <p:spPr>
          <a:xfrm>
            <a:off x="6263640" y="2606040"/>
            <a:ext cx="246888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183A31"/>
                </a:solidFill>
                <a:latin typeface="Aptos"/>
              </a:rPr>
              <a:t>3 / PROVE</a:t>
            </a:r>
          </a:p>
          <a:p>
            <a:pPr algn="l">
              <a:lnSpc>
                <a:spcPct val="105000"/>
              </a:lnSpc>
            </a:pPr>
            <a:r>
              <a:rPr sz="2000" b="0" i="0">
                <a:solidFill>
                  <a:srgbClr val="183A31"/>
                </a:solidFill>
                <a:latin typeface="Aptos"/>
              </a:rPr>
              <a:t>Data + Finance + CIO</a:t>
            </a:r>
          </a:p>
          <a:p>
            <a:pPr algn="l">
              <a:lnSpc>
                <a:spcPct val="105000"/>
              </a:lnSpc>
            </a:pPr>
            <a:r>
              <a:rPr sz="2000" b="0" i="0">
                <a:solidFill>
                  <a:srgbClr val="183A31"/>
                </a:solidFill>
                <a:latin typeface="Aptos"/>
              </a:rPr>
              <a:t>Net value + cost</a:t>
            </a:r>
          </a:p>
          <a:p>
            <a:pPr algn="l">
              <a:lnSpc>
                <a:spcPct val="105000"/>
              </a:lnSpc>
            </a:pPr>
            <a:r>
              <a:rPr sz="2000" b="0" i="0">
                <a:solidFill>
                  <a:srgbClr val="183A31"/>
                </a:solidFill>
                <a:latin typeface="Aptos"/>
              </a:rPr>
              <a:t>Rights + recovery</a:t>
            </a:r>
          </a:p>
        </p:txBody>
      </p:sp>
      <p:sp>
        <p:nvSpPr>
          <p:cNvPr id="7" name="Rounded Rectangle 6"/>
          <p:cNvSpPr/>
          <p:nvPr/>
        </p:nvSpPr>
        <p:spPr>
          <a:xfrm>
            <a:off x="9098280" y="2606040"/>
            <a:ext cx="2468880" cy="283464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183A31"/>
                </a:solidFill>
                <a:latin typeface="Aptos"/>
              </a:rPr>
              <a:t>4 / DECIDE</a:t>
            </a:r>
          </a:p>
          <a:p>
            <a:pPr algn="l">
              <a:lnSpc>
                <a:spcPct val="105000"/>
              </a:lnSpc>
            </a:pPr>
            <a:r>
              <a:rPr sz="2000" b="0" i="0">
                <a:solidFill>
                  <a:srgbClr val="183A31"/>
                </a:solidFill>
                <a:latin typeface="Aptos"/>
              </a:rPr>
              <a:t>Sponsor + owners</a:t>
            </a:r>
          </a:p>
          <a:p>
            <a:pPr algn="l">
              <a:lnSpc>
                <a:spcPct val="105000"/>
              </a:lnSpc>
            </a:pPr>
            <a:r>
              <a:rPr sz="2000" b="0" i="0">
                <a:solidFill>
                  <a:srgbClr val="183A31"/>
                </a:solidFill>
                <a:latin typeface="Aptos"/>
              </a:rPr>
              <a:t>Evidence-led return</a:t>
            </a:r>
          </a:p>
          <a:p>
            <a:pPr algn="l">
              <a:lnSpc>
                <a:spcPct val="105000"/>
              </a:lnSpc>
            </a:pPr>
            <a:r>
              <a:rPr sz="2000" b="0" i="0">
                <a:solidFill>
                  <a:srgbClr val="183A31"/>
                </a:solidFill>
                <a:latin typeface="Aptos"/>
              </a:rPr>
              <a:t>Continue,</a:t>
            </a:r>
          </a:p>
          <a:p>
            <a:pPr algn="l">
              <a:lnSpc>
                <a:spcPct val="105000"/>
              </a:lnSpc>
            </a:pPr>
            <a:r>
              <a:rPr sz="2000" b="0" i="0">
                <a:solidFill>
                  <a:srgbClr val="183A31"/>
                </a:solidFill>
                <a:latin typeface="Aptos"/>
              </a:rPr>
              <a:t>simplify or stop</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16 / PROPOSED GATES / E06–E10 / NO NEW SPEND, DEPLOYMENT OR LIVE PILOT AUTHORITY</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F7F2E7"/>
                </a:solidFill>
                <a:latin typeface="Aptos"/>
              </a:rPr>
              <a:t>TODAY / ENDORSE PREPARATION OF A GATED EVIDENCE-STAGE PROPOSAL</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200" b="1" i="0">
                <a:solidFill>
                  <a:srgbClr val="F7F2E7"/>
                </a:solidFill>
                <a:latin typeface="Aptos Display"/>
              </a:rPr>
              <a:t>Back the evidence. Keep the promise.</a:t>
            </a:r>
          </a:p>
        </p:txBody>
      </p:sp>
      <p:sp>
        <p:nvSpPr>
          <p:cNvPr id="4" name="Rounded Rectangle 3"/>
          <p:cNvSpPr/>
          <p:nvPr/>
        </p:nvSpPr>
        <p:spPr>
          <a:xfrm>
            <a:off x="594360" y="2606040"/>
            <a:ext cx="3429000" cy="22860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100" b="0" i="0">
                <a:solidFill>
                  <a:srgbClr val="183A31"/>
                </a:solidFill>
                <a:latin typeface="Aptos"/>
              </a:rPr>
              <a:t>CEO + ASSETS</a:t>
            </a:r>
          </a:p>
          <a:p>
            <a:pPr algn="l">
              <a:lnSpc>
                <a:spcPct val="105000"/>
              </a:lnSpc>
            </a:pPr>
            <a:r>
              <a:rPr sz="2100" b="0" i="0">
                <a:solidFill>
                  <a:srgbClr val="183A31"/>
                </a:solidFill>
                <a:latin typeface="Aptos"/>
              </a:rPr>
              <a:t>Name sponsor + owners</a:t>
            </a:r>
          </a:p>
          <a:p>
            <a:pPr algn="l">
              <a:lnSpc>
                <a:spcPct val="105000"/>
              </a:lnSpc>
            </a:pPr>
            <a:r>
              <a:rPr sz="2100" b="0" i="0">
                <a:solidFill>
                  <a:srgbClr val="183A31"/>
                </a:solidFill>
                <a:latin typeface="Aptos"/>
              </a:rPr>
              <a:t>Protect safe,</a:t>
            </a:r>
          </a:p>
          <a:p>
            <a:pPr algn="l">
              <a:lnSpc>
                <a:spcPct val="105000"/>
              </a:lnSpc>
            </a:pPr>
            <a:r>
              <a:rPr sz="2100" b="0" i="0">
                <a:solidFill>
                  <a:srgbClr val="183A31"/>
                </a:solidFill>
                <a:latin typeface="Aptos"/>
              </a:rPr>
              <a:t>accepted handovers</a:t>
            </a:r>
          </a:p>
        </p:txBody>
      </p:sp>
      <p:sp>
        <p:nvSpPr>
          <p:cNvPr id="5" name="Rounded Rectangle 4"/>
          <p:cNvSpPr/>
          <p:nvPr/>
        </p:nvSpPr>
        <p:spPr>
          <a:xfrm>
            <a:off x="4366260" y="2606040"/>
            <a:ext cx="3429000" cy="22860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100" b="0" i="0">
                <a:solidFill>
                  <a:srgbClr val="183A31"/>
                </a:solidFill>
                <a:latin typeface="Aptos"/>
              </a:rPr>
              <a:t>CFO</a:t>
            </a:r>
          </a:p>
          <a:p>
            <a:pPr algn="l">
              <a:lnSpc>
                <a:spcPct val="105000"/>
              </a:lnSpc>
            </a:pPr>
            <a:r>
              <a:rPr sz="2100" b="0" i="0">
                <a:solidFill>
                  <a:srgbClr val="183A31"/>
                </a:solidFill>
                <a:latin typeface="Aptos"/>
              </a:rPr>
              <a:t>Affordability + net effort</a:t>
            </a:r>
          </a:p>
          <a:p>
            <a:pPr algn="l">
              <a:lnSpc>
                <a:spcPct val="105000"/>
              </a:lnSpc>
            </a:pPr>
            <a:r>
              <a:rPr sz="2100" b="0" i="0">
                <a:solidFill>
                  <a:srgbClr val="183A31"/>
                </a:solidFill>
                <a:latin typeface="Aptos"/>
              </a:rPr>
              <a:t>Cost + authority review</a:t>
            </a:r>
          </a:p>
          <a:p>
            <a:pPr algn="l">
              <a:lnSpc>
                <a:spcPct val="105000"/>
              </a:lnSpc>
            </a:pPr>
            <a:r>
              <a:rPr sz="2100" b="0" i="0">
                <a:solidFill>
                  <a:srgbClr val="183A31"/>
                </a:solidFill>
                <a:latin typeface="Aptos"/>
              </a:rPr>
              <a:t>No assumed grant cash</a:t>
            </a:r>
          </a:p>
        </p:txBody>
      </p:sp>
      <p:sp>
        <p:nvSpPr>
          <p:cNvPr id="6" name="Rounded Rectangle 5"/>
          <p:cNvSpPr/>
          <p:nvPr/>
        </p:nvSpPr>
        <p:spPr>
          <a:xfrm>
            <a:off x="8138160" y="2606040"/>
            <a:ext cx="3429000" cy="22860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100" b="0" i="0">
                <a:solidFill>
                  <a:srgbClr val="183A31"/>
                </a:solidFill>
                <a:latin typeface="Aptos"/>
              </a:rPr>
              <a:t>CIO + PROGRAMME</a:t>
            </a:r>
          </a:p>
          <a:p>
            <a:pPr algn="l">
              <a:lnSpc>
                <a:spcPct val="105000"/>
              </a:lnSpc>
            </a:pPr>
            <a:r>
              <a:rPr sz="2100" b="0" i="0">
                <a:solidFill>
                  <a:srgbClr val="183A31"/>
                </a:solidFill>
                <a:latin typeface="Aptos"/>
              </a:rPr>
              <a:t>Enforceable permissions</a:t>
            </a:r>
          </a:p>
          <a:p>
            <a:pPr algn="l">
              <a:lnSpc>
                <a:spcPct val="105000"/>
              </a:lnSpc>
            </a:pPr>
            <a:r>
              <a:rPr sz="2100" b="0" i="0">
                <a:solidFill>
                  <a:srgbClr val="183A31"/>
                </a:solidFill>
                <a:latin typeface="Aptos"/>
              </a:rPr>
              <a:t>Resilience + transition</a:t>
            </a:r>
          </a:p>
          <a:p>
            <a:pPr algn="l">
              <a:lnSpc>
                <a:spcPct val="105000"/>
              </a:lnSpc>
            </a:pPr>
            <a:r>
              <a:rPr sz="2100" b="0" i="0">
                <a:solidFill>
                  <a:srgbClr val="183A31"/>
                </a:solidFill>
                <a:latin typeface="Aptos"/>
              </a:rPr>
              <a:t>Proof, not cloud assurances</a:t>
            </a:r>
          </a:p>
        </p:txBody>
      </p:sp>
      <p:sp>
        <p:nvSpPr>
          <p:cNvPr id="7" name="TextBox 6"/>
          <p:cNvSpPr txBox="1"/>
          <p:nvPr/>
        </p:nvSpPr>
        <p:spPr>
          <a:xfrm>
            <a:off x="594360" y="5166360"/>
            <a:ext cx="10972800" cy="658368"/>
          </a:xfrm>
          <a:prstGeom prst="rect">
            <a:avLst/>
          </a:prstGeom>
          <a:noFill/>
        </p:spPr>
        <p:txBody>
          <a:bodyPr wrap="square" lIns="0" rIns="0" tIns="0" bIns="0">
            <a:spAutoFit/>
          </a:bodyPr>
          <a:lstStyle/>
          <a:p>
            <a:r>
              <a:rPr sz="2100" b="0" i="0">
                <a:solidFill>
                  <a:srgbClr val="F7F2E7"/>
                </a:solidFill>
                <a:latin typeface="Aptos"/>
              </a:rPr>
              <a:t>Return with fair options, costs and stop tests at a date you agree.</a:t>
            </a:r>
          </a:p>
          <a:p>
            <a:r>
              <a:rPr sz="2100" b="0" i="0">
                <a:solidFill>
                  <a:srgbClr val="F7F2E7"/>
                </a:solidFill>
                <a:latin typeface="Aptos"/>
              </a:rPr>
              <a:t>Visible work. Measurable progress. Explainable decisions.</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17 / ENDORSE PLANNING ONLY / NO PROCUREMENT, PRODUCTION OR SPENDING AUTHORITY / E07/E08</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A • TARGET DESIGN, NOT DEPLOYMENT CLAIM</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Technical Q&amp;A: isolate failure, preserve control</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18  /  ZAVA FORWARD     •     PROPOSED PATTERNS + OPEN ASSURANCE • E08/E09/E10/E11</a:t>
            </a:r>
          </a:p>
        </p:txBody>
      </p:sp>
      <p:sp>
        <p:nvSpPr>
          <p:cNvPr id="5" name="Rounded Rectangle 4"/>
          <p:cNvSpPr/>
          <p:nvPr/>
        </p:nvSpPr>
        <p:spPr>
          <a:xfrm>
            <a:off x="594360"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STATE &amp; SCALE</a:t>
            </a:r>
          </a:p>
          <a:p>
            <a:pPr algn="l">
              <a:lnSpc>
                <a:spcPct val="105000"/>
              </a:lnSpc>
            </a:pPr>
            <a:r>
              <a:rPr sz="2000" b="0" i="0">
                <a:solidFill>
                  <a:srgbClr val="F7F2E7"/>
                </a:solidFill>
                <a:latin typeface="Aptos"/>
              </a:rPr>
              <a:t>SQL row versions / idempotency</a:t>
            </a:r>
          </a:p>
          <a:p>
            <a:pPr algn="l">
              <a:lnSpc>
                <a:spcPct val="105000"/>
              </a:lnSpc>
            </a:pPr>
            <a:r>
              <a:rPr sz="2000" b="0" i="0">
                <a:solidFill>
                  <a:srgbClr val="F7F2E7"/>
                </a:solidFill>
                <a:latin typeface="Aptos"/>
              </a:rPr>
              <a:t>Indexed queries / paging</a:t>
            </a:r>
          </a:p>
          <a:p>
            <a:pPr algn="l">
              <a:lnSpc>
                <a:spcPct val="105000"/>
              </a:lnSpc>
            </a:pPr>
            <a:r>
              <a:rPr sz="2000" b="0" i="0">
                <a:solidFill>
                  <a:srgbClr val="F7F2E7"/>
                </a:solidFill>
                <a:latin typeface="Aptos"/>
              </a:rPr>
              <a:t>Blob evidence versions</a:t>
            </a:r>
          </a:p>
          <a:p>
            <a:pPr algn="l">
              <a:lnSpc>
                <a:spcPct val="105000"/>
              </a:lnSpc>
            </a:pPr>
            <a:r>
              <a:rPr sz="2000" b="0" i="0">
                <a:solidFill>
                  <a:srgbClr val="F7F2E7"/>
                </a:solidFill>
                <a:latin typeface="Aptos"/>
              </a:rPr>
              <a:t>Restart and restore tests</a:t>
            </a:r>
          </a:p>
        </p:txBody>
      </p:sp>
      <p:sp>
        <p:nvSpPr>
          <p:cNvPr id="6" name="Rounded Rectangle 5"/>
          <p:cNvSpPr/>
          <p:nvPr/>
        </p:nvSpPr>
        <p:spPr>
          <a:xfrm>
            <a:off x="4361688" y="2606040"/>
            <a:ext cx="3465576"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TRUST BOUNDARIES</a:t>
            </a:r>
          </a:p>
          <a:p>
            <a:pPr algn="l">
              <a:lnSpc>
                <a:spcPct val="105000"/>
              </a:lnSpc>
            </a:pPr>
            <a:r>
              <a:rPr sz="2000" b="0" i="0">
                <a:solidFill>
                  <a:srgbClr val="183A31"/>
                </a:solidFill>
                <a:latin typeface="Aptos"/>
              </a:rPr>
              <a:t>Role / case / field rights</a:t>
            </a:r>
          </a:p>
          <a:p>
            <a:pPr algn="l">
              <a:lnSpc>
                <a:spcPct val="105000"/>
              </a:lnSpc>
            </a:pPr>
            <a:r>
              <a:rPr sz="2000" b="0" i="0">
                <a:solidFill>
                  <a:srgbClr val="183A31"/>
                </a:solidFill>
                <a:latin typeface="Aptos"/>
              </a:rPr>
              <a:t>Permitted model inputs</a:t>
            </a:r>
          </a:p>
          <a:p>
            <a:pPr algn="l">
              <a:lnSpc>
                <a:spcPct val="105000"/>
              </a:lnSpc>
            </a:pPr>
            <a:r>
              <a:rPr sz="2000" b="0" i="0">
                <a:solidFill>
                  <a:srgbClr val="183A31"/>
                </a:solidFill>
                <a:latin typeface="Aptos"/>
              </a:rPr>
              <a:t>Schema / source validation</a:t>
            </a:r>
          </a:p>
          <a:p>
            <a:pPr algn="l">
              <a:lnSpc>
                <a:spcPct val="105000"/>
              </a:lnSpc>
            </a:pPr>
            <a:r>
              <a:rPr sz="2000" b="0" i="0">
                <a:solidFill>
                  <a:srgbClr val="183A31"/>
                </a:solidFill>
                <a:latin typeface="Aptos"/>
              </a:rPr>
              <a:t>No agent decision writes</a:t>
            </a:r>
          </a:p>
        </p:txBody>
      </p:sp>
      <p:sp>
        <p:nvSpPr>
          <p:cNvPr id="7" name="Rounded Rectangle 6"/>
          <p:cNvSpPr/>
          <p:nvPr/>
        </p:nvSpPr>
        <p:spPr>
          <a:xfrm>
            <a:off x="8129016"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FAILURE &amp; OPERATIONS</a:t>
            </a:r>
          </a:p>
          <a:p>
            <a:pPr algn="l">
              <a:lnSpc>
                <a:spcPct val="105000"/>
              </a:lnSpc>
            </a:pPr>
            <a:r>
              <a:rPr sz="2000" b="0" i="0">
                <a:solidFill>
                  <a:srgbClr val="F7F2E7"/>
                </a:solidFill>
                <a:latin typeface="Aptos"/>
              </a:rPr>
              <a:t>Manual route on AI failure</a:t>
            </a:r>
          </a:p>
          <a:p>
            <a:pPr algn="l">
              <a:lnSpc>
                <a:spcPct val="105000"/>
              </a:lnSpc>
            </a:pPr>
            <a:r>
              <a:rPr sz="2000" b="0" i="0">
                <a:solidFill>
                  <a:srgbClr val="F7F2E7"/>
                </a:solidFill>
                <a:latin typeface="Aptos"/>
              </a:rPr>
              <a:t>Unknown facts hold reviews</a:t>
            </a:r>
          </a:p>
          <a:p>
            <a:pPr algn="l">
              <a:lnSpc>
                <a:spcPct val="105000"/>
              </a:lnSpc>
            </a:pPr>
            <a:r>
              <a:rPr sz="2000" b="0" i="0">
                <a:solidFill>
                  <a:srgbClr val="F7F2E7"/>
                </a:solidFill>
                <a:latin typeface="Aptos"/>
              </a:rPr>
              <a:t>Audit / cost telemetry</a:t>
            </a:r>
          </a:p>
          <a:p>
            <a:pPr algn="l">
              <a:lnSpc>
                <a:spcPct val="105000"/>
              </a:lnSpc>
            </a:pPr>
            <a:r>
              <a:rPr sz="2000" b="0" i="0">
                <a:solidFill>
                  <a:srgbClr val="F7F2E7"/>
                </a:solidFill>
                <a:latin typeface="Aptos"/>
              </a:rPr>
              <a:t>Recovery still to prove</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B • ANSWERS WITH REVERSAL CONDITIONS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Council Q&amp;A: the objections we welcome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19  /  ZAVA FORWARD     •     ALTERNATIVES, AFFORDABILITY, AUTHORITY • E05/E07/E09/E11</a:t>
            </a:r>
          </a:p>
        </p:txBody>
      </p:sp>
      <p:sp>
        <p:nvSpPr>
          <p:cNvPr id="5" name="Rounded Rectangle 4"/>
          <p:cNvSpPr/>
          <p:nvPr/>
        </p:nvSpPr>
        <p:spPr>
          <a:xfrm>
            <a:off x="594360" y="2606040"/>
            <a:ext cx="534924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WHY NOT EXCEL / M365?</a:t>
            </a:r>
          </a:p>
          <a:p>
            <a:pPr algn="l">
              <a:lnSpc>
                <a:spcPct val="105000"/>
              </a:lnSpc>
            </a:pPr>
            <a:r>
              <a:rPr sz="2000" b="0" i="0">
                <a:solidFill>
                  <a:srgbClr val="F7F2E7"/>
                </a:solidFill>
                <a:latin typeface="Aptos"/>
              </a:rPr>
              <a:t>Cost equivalent options; control mechanisms must win.</a:t>
            </a:r>
          </a:p>
        </p:txBody>
      </p:sp>
      <p:sp>
        <p:nvSpPr>
          <p:cNvPr id="6" name="Rounded Rectangle 5"/>
          <p:cNvSpPr/>
          <p:nvPr/>
        </p:nvSpPr>
        <p:spPr>
          <a:xfrm>
            <a:off x="6263640" y="2606040"/>
            <a:ext cx="530352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WHY NOT LAUNCH NOW?</a:t>
            </a:r>
          </a:p>
          <a:p>
            <a:pPr algn="l">
              <a:lnSpc>
                <a:spcPct val="105000"/>
              </a:lnSpc>
            </a:pPr>
            <a:r>
              <a:rPr sz="2000" b="0" i="0">
                <a:solidFill>
                  <a:srgbClr val="183A31"/>
                </a:solidFill>
                <a:latin typeface="Aptos"/>
              </a:rPr>
              <a:t>Feasibility is not full workflow or human acceptance.</a:t>
            </a:r>
          </a:p>
        </p:txBody>
      </p:sp>
      <p:sp>
        <p:nvSpPr>
          <p:cNvPr id="7" name="Rounded Rectangle 6"/>
          <p:cNvSpPr/>
          <p:nvPr/>
        </p:nvSpPr>
        <p:spPr>
          <a:xfrm>
            <a:off x="594360" y="4206240"/>
            <a:ext cx="534924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WHAT BUDGET?</a:t>
            </a:r>
          </a:p>
          <a:p>
            <a:pPr algn="l">
              <a:lnSpc>
                <a:spcPct val="105000"/>
              </a:lnSpc>
            </a:pPr>
            <a:r>
              <a:rPr sz="2000" b="0" i="0">
                <a:solidFill>
                  <a:srgbClr val="183A31"/>
                </a:solidFill>
                <a:latin typeface="Aptos"/>
              </a:rPr>
              <a:t>New scoped authority needed; prior cap/override is historical.</a:t>
            </a:r>
          </a:p>
        </p:txBody>
      </p:sp>
      <p:sp>
        <p:nvSpPr>
          <p:cNvPr id="8" name="Rounded Rectangle 7"/>
          <p:cNvSpPr/>
          <p:nvPr/>
        </p:nvSpPr>
        <p:spPr>
          <a:xfrm>
            <a:off x="6263640" y="4206240"/>
            <a:ext cx="530352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WHAT IF AI FAILS?</a:t>
            </a:r>
          </a:p>
          <a:p>
            <a:pPr algn="l">
              <a:lnSpc>
                <a:spcPct val="105000"/>
              </a:lnSpc>
            </a:pPr>
            <a:r>
              <a:rPr sz="2000" b="0" i="0">
                <a:solidFill>
                  <a:srgbClr val="F7F2E7"/>
                </a:solidFill>
                <a:latin typeface="Aptos"/>
              </a:rPr>
              <a:t>Keep manual work; simplify failed tasks; preserve gates.</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C • REVIEW AND PROVENANCE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Read the evidence label before reading the claim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20  /  ZAVA FORWARD     •     AS AT 11 Oct 2026 • REPOSITORY-ONLY • NO NEW LEGAL CURRENTNESS CHECK</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REQUEST / RESEARCH</a:t>
            </a:r>
          </a:p>
          <a:p>
            <a:pPr algn="l">
              <a:lnSpc>
                <a:spcPct val="105000"/>
              </a:lnSpc>
            </a:pPr>
            <a:r>
              <a:rPr sz="2000" b="0" i="0">
                <a:solidFill>
                  <a:srgbClr val="F7F2E7"/>
                </a:solidFill>
                <a:latin typeface="Aptos"/>
              </a:rPr>
              <a:t>Original ambition is not an outcome.</a:t>
            </a:r>
          </a:p>
          <a:p>
            <a:pPr algn="l">
              <a:lnSpc>
                <a:spcPct val="105000"/>
              </a:lnSpc>
            </a:pPr>
            <a:r>
              <a:rPr sz="2000" b="0" i="0">
                <a:solidFill>
                  <a:srgbClr val="F7F2E7"/>
                </a:solidFill>
                <a:latin typeface="Aptos"/>
              </a:rPr>
              <a:t>Sector patterns are not company facts.</a:t>
            </a:r>
          </a:p>
          <a:p>
            <a:pPr algn="l">
              <a:lnSpc>
                <a:spcPct val="105000"/>
              </a:lnSpc>
            </a:pPr>
            <a:r>
              <a:rPr sz="2000" b="0" i="0">
                <a:solidFill>
                  <a:srgbClr val="F7F2E7"/>
                </a:solidFill>
                <a:latin typeface="Aptos"/>
              </a:rPr>
              <a:t>Role instruments are not interviews.</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EXERCISE / DIRECTION</a:t>
            </a:r>
          </a:p>
          <a:p>
            <a:pPr algn="l">
              <a:lnSpc>
                <a:spcPct val="105000"/>
              </a:lnSpc>
            </a:pPr>
            <a:r>
              <a:rPr sz="2000" b="0" i="0">
                <a:solidFill>
                  <a:srgbClr val="183A31"/>
                </a:solidFill>
                <a:latin typeface="Aptos"/>
              </a:rPr>
              <a:t>Fictional fixtures are not budgets.</a:t>
            </a:r>
          </a:p>
          <a:p>
            <a:pPr algn="l">
              <a:lnSpc>
                <a:spcPct val="105000"/>
              </a:lnSpc>
            </a:pPr>
            <a:r>
              <a:rPr sz="2000" b="0" i="0">
                <a:solidFill>
                  <a:srgbClr val="183A31"/>
                </a:solidFill>
                <a:latin typeface="Aptos"/>
              </a:rPr>
              <a:t>Accepted v0.12 is historical.</a:t>
            </a:r>
          </a:p>
          <a:p>
            <a:pPr algn="l">
              <a:lnSpc>
                <a:spcPct val="105000"/>
              </a:lnSpc>
            </a:pPr>
            <a:r>
              <a:rPr sz="2000" b="0" i="0">
                <a:solidFill>
                  <a:srgbClr val="183A31"/>
                </a:solidFill>
                <a:latin typeface="Aptos"/>
              </a:rPr>
              <a:t>v0.13 is pending fresh review.</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PROPOSED / OBSERVED</a:t>
            </a:r>
          </a:p>
          <a:p>
            <a:pPr algn="l">
              <a:lnSpc>
                <a:spcPct val="105000"/>
              </a:lnSpc>
            </a:pPr>
            <a:r>
              <a:rPr sz="2000" b="0" i="0">
                <a:solidFill>
                  <a:srgbClr val="F7F2E7"/>
                </a:solidFill>
                <a:latin typeface="Aptos"/>
              </a:rPr>
              <a:t>Target topology is not deployed proof.</a:t>
            </a:r>
          </a:p>
          <a:p>
            <a:pPr algn="l">
              <a:lnSpc>
                <a:spcPct val="105000"/>
              </a:lnSpc>
            </a:pPr>
            <a:r>
              <a:rPr sz="2000" b="0" i="0">
                <a:solidFill>
                  <a:srgbClr val="F7F2E7"/>
                </a:solidFill>
                <a:latin typeface="Aptos"/>
              </a:rPr>
              <a:t>Pinned feasibility is narrow.</a:t>
            </a:r>
          </a:p>
          <a:p>
            <a:pPr algn="l">
              <a:lnSpc>
                <a:spcPct val="105000"/>
              </a:lnSpc>
            </a:pPr>
            <a:r>
              <a:rPr sz="2000" b="0" i="0">
                <a:solidFill>
                  <a:srgbClr val="F7F2E7"/>
                </a:solidFill>
                <a:latin typeface="Aptos"/>
              </a:rPr>
              <a:t>Benefit and readiness are unproved.</a:t>
            </a:r>
          </a:p>
        </p:txBody>
      </p:sp>
      <p:sp>
        <p:nvSpPr>
          <p:cNvPr id="8" name="TextBox 7"/>
          <p:cNvSpPr txBox="1"/>
          <p:nvPr/>
        </p:nvSpPr>
        <p:spPr>
          <a:xfrm>
            <a:off x="594360" y="5486400"/>
            <a:ext cx="10972800" cy="320040"/>
          </a:xfrm>
          <a:prstGeom prst="rect">
            <a:avLst/>
          </a:prstGeom>
          <a:noFill/>
        </p:spPr>
        <p:txBody>
          <a:bodyPr wrap="square" lIns="0" rIns="0" tIns="0" bIns="0">
            <a:spAutoFit/>
          </a:bodyPr>
          <a:lstStyle/>
          <a:p>
            <a:r>
              <a:rPr sz="1700" b="0" i="0">
                <a:solidFill>
                  <a:srgbClr val="183A31"/>
                </a:solidFill>
                <a:latin typeface="Aptos"/>
              </a:rPr>
              <a:t>Full source/date/status in notes • New narrative review pending • Timed rehearsal pending</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D • OPTIONS GATE • NO WINNER SCORED</a:t>
            </a:r>
          </a:p>
        </p:txBody>
      </p:sp>
      <p:sp>
        <p:nvSpPr>
          <p:cNvPr id="3" name="TextBox 2"/>
          <p:cNvSpPr txBox="1"/>
          <p:nvPr/>
        </p:nvSpPr>
        <p:spPr>
          <a:xfrm>
            <a:off x="594360" y="1097280"/>
            <a:ext cx="10972800" cy="640080"/>
          </a:xfrm>
          <a:prstGeom prst="rect">
            <a:avLst/>
          </a:prstGeom>
          <a:noFill/>
        </p:spPr>
        <p:txBody>
          <a:bodyPr wrap="square" lIns="0" rIns="0" tIns="0" bIns="0">
            <a:spAutoFit/>
          </a:bodyPr>
          <a:lstStyle/>
          <a:p>
            <a:r>
              <a:rPr sz="3400" b="1" i="0">
                <a:solidFill>
                  <a:srgbClr val="183A31"/>
                </a:solidFill>
                <a:latin typeface="Aptos Display"/>
              </a:rPr>
              <a:t>Compare the routes before selecting a winner</a:t>
            </a:r>
          </a:p>
        </p:txBody>
      </p:sp>
      <p:graphicFrame>
        <p:nvGraphicFramePr>
          <p:cNvPr id="4" name="Table 3"/>
          <p:cNvGraphicFramePr>
            <a:graphicFrameLocks noGrp="1"/>
          </p:cNvGraphicFramePr>
          <p:nvPr/>
        </p:nvGraphicFramePr>
        <p:xfrm>
          <a:off x="594360" y="2011680"/>
          <a:ext cx="11000231" cy="2971800"/>
        </p:xfrm>
        <a:graphic>
          <a:graphicData uri="http://schemas.openxmlformats.org/drawingml/2006/table">
            <a:tbl>
              <a:tblPr firstRow="1" bandRow="1">
                <a:tableStyleId>{5C22544A-7EE6-4342-B048-85BDC9FD1C3A}</a:tableStyleId>
              </a:tblPr>
              <a:tblGrid>
                <a:gridCol w="1874519"/>
                <a:gridCol w="2788920"/>
                <a:gridCol w="3017520"/>
                <a:gridCol w="3319272"/>
              </a:tblGrid>
              <a:tr h="371475">
                <a:tc>
                  <a:txBody>
                    <a:bodyPr/>
                    <a:lstStyle/>
                    <a:p>
                      <a:r>
                        <a:rPr b="1" sz="1300">
                          <a:solidFill>
                            <a:srgbClr val="F7F2E7"/>
                          </a:solidFill>
                        </a:rPr>
                        <a:t>Decision criterion</a:t>
                      </a:r>
                    </a:p>
                  </a:txBody>
                  <a:tcPr>
                    <a:solidFill>
                      <a:srgbClr val="173F35"/>
                    </a:solidFill>
                  </a:tcPr>
                </a:tc>
                <a:tc>
                  <a:txBody>
                    <a:bodyPr/>
                    <a:lstStyle/>
                    <a:p>
                      <a:r>
                        <a:rPr b="1" sz="1300">
                          <a:solidFill>
                            <a:srgbClr val="F7F2E7"/>
                          </a:solidFill>
                        </a:rPr>
                        <a:t>Excel-only improvement</a:t>
                      </a:r>
                    </a:p>
                  </a:txBody>
                  <a:tcPr>
                    <a:solidFill>
                      <a:srgbClr val="173F35"/>
                    </a:solidFill>
                  </a:tcPr>
                </a:tc>
                <a:tc>
                  <a:txBody>
                    <a:bodyPr/>
                    <a:lstStyle/>
                    <a:p>
                      <a:r>
                        <a:rPr b="1" sz="1300">
                          <a:solidFill>
                            <a:srgbClr val="F7F2E7"/>
                          </a:solidFill>
                        </a:rPr>
                        <a:t>M365 / business platform</a:t>
                      </a:r>
                    </a:p>
                  </a:txBody>
                  <a:tcPr>
                    <a:solidFill>
                      <a:srgbClr val="173F35"/>
                    </a:solidFill>
                  </a:tcPr>
                </a:tc>
                <a:tc>
                  <a:txBody>
                    <a:bodyPr/>
                    <a:lstStyle/>
                    <a:p>
                      <a:r>
                        <a:rPr b="1" sz="1300">
                          <a:solidFill>
                            <a:srgbClr val="F7F2E7"/>
                          </a:solidFill>
                        </a:rPr>
                        <a:t>Azure-led hybrid</a:t>
                      </a:r>
                    </a:p>
                  </a:txBody>
                  <a:tcPr>
                    <a:solidFill>
                      <a:srgbClr val="173F35"/>
                    </a:solidFill>
                  </a:tcPr>
                </a:tc>
              </a:tr>
              <a:tr h="371475">
                <a:tc>
                  <a:txBody>
                    <a:bodyPr/>
                    <a:lstStyle/>
                    <a:p>
                      <a:r>
                        <a:rPr sz="1300"/>
                        <a:t>Workflow / evidence</a:t>
                      </a:r>
                    </a:p>
                  </a:txBody>
                  <a:tcPr/>
                </a:tc>
                <a:tc>
                  <a:txBody>
                    <a:bodyPr/>
                    <a:lstStyle/>
                    <a:p>
                      <a:r>
                        <a:rPr sz="1300"/>
                        <a:t>Workbook stays; fit unverified</a:t>
                      </a:r>
                    </a:p>
                  </a:txBody>
                  <a:tcPr/>
                </a:tc>
                <a:tc>
                  <a:txBody>
                    <a:bodyPr/>
                    <a:lstStyle/>
                    <a:p>
                      <a:r>
                        <a:rPr sz="1300"/>
                        <a:t>Greenfield Power Apps / Dataverse</a:t>
                      </a:r>
                    </a:p>
                  </a:txBody>
                  <a:tcPr/>
                </a:tc>
                <a:tc>
                  <a:txBody>
                    <a:bodyPr/>
                    <a:lstStyle/>
                    <a:p>
                      <a:r>
                        <a:rPr sz="1300"/>
                        <a:t>Shared API; proposed</a:t>
                      </a:r>
                    </a:p>
                  </a:txBody>
                  <a:tcPr/>
                </a:tc>
              </a:tr>
              <a:tr h="371475">
                <a:tc>
                  <a:txBody>
                    <a:bodyPr/>
                    <a:lstStyle/>
                    <a:p>
                      <a:r>
                        <a:rPr sz="1300"/>
                        <a:t>Permissions</a:t>
                      </a:r>
                    </a:p>
                  </a:txBody>
                  <a:tcPr/>
                </a:tc>
                <a:tc>
                  <a:txBody>
                    <a:bodyPr/>
                    <a:lstStyle/>
                    <a:p>
                      <a:r>
                        <a:rPr sz="1300"/>
                        <a:t>Controls / roles unverified</a:t>
                      </a:r>
                    </a:p>
                  </a:txBody>
                  <a:tcPr/>
                </a:tc>
                <a:tc>
                  <a:txBody>
                    <a:bodyPr/>
                    <a:lstStyle/>
                    <a:p>
                      <a:r>
                        <a:rPr sz="1300"/>
                        <a:t>Roles proposed; tenant fit unverified</a:t>
                      </a:r>
                    </a:p>
                  </a:txBody>
                  <a:tcPr/>
                </a:tc>
                <a:tc>
                  <a:txBody>
                    <a:bodyPr/>
                    <a:lstStyle/>
                    <a:p>
                      <a:r>
                        <a:rPr sz="1300"/>
                        <a:t>Server API checks; proof needed</a:t>
                      </a:r>
                    </a:p>
                  </a:txBody>
                  <a:tcPr/>
                </a:tc>
              </a:tr>
              <a:tr h="371475">
                <a:tc>
                  <a:txBody>
                    <a:bodyPr/>
                    <a:lstStyle/>
                    <a:p>
                      <a:r>
                        <a:rPr sz="1300"/>
                        <a:t>Migration</a:t>
                      </a:r>
                    </a:p>
                  </a:txBody>
                  <a:tcPr/>
                </a:tc>
                <a:tc>
                  <a:txBody>
                    <a:bodyPr/>
                    <a:lstStyle/>
                    <a:p>
                      <a:r>
                        <a:rPr sz="1300"/>
                        <a:t>Less change possible; fit unverified</a:t>
                      </a:r>
                    </a:p>
                  </a:txBody>
                  <a:tcPr/>
                </a:tc>
                <a:tc>
                  <a:txBody>
                    <a:bodyPr/>
                    <a:lstStyle/>
                    <a:p>
                      <a:r>
                        <a:rPr sz="1300"/>
                        <a:t>Greenfield; migration unverified</a:t>
                      </a:r>
                    </a:p>
                  </a:txBody>
                  <a:tcPr/>
                </a:tc>
                <a:tc>
                  <a:txBody>
                    <a:bodyPr/>
                    <a:lstStyle/>
                    <a:p>
                      <a:r>
                        <a:rPr sz="1300"/>
                        <a:t>Staged import; exit test</a:t>
                      </a:r>
                    </a:p>
                  </a:txBody>
                  <a:tcPr/>
                </a:tc>
              </a:tr>
              <a:tr h="371475">
                <a:tc>
                  <a:txBody>
                    <a:bodyPr/>
                    <a:lstStyle/>
                    <a:p>
                      <a:r>
                        <a:rPr sz="1300"/>
                        <a:t>Integration</a:t>
                      </a:r>
                    </a:p>
                  </a:txBody>
                  <a:tcPr/>
                </a:tc>
                <a:tc>
                  <a:txBody>
                    <a:bodyPr/>
                    <a:lstStyle/>
                    <a:p>
                      <a:r>
                        <a:rPr sz="1300"/>
                        <a:t>Workbook / API links unverified</a:t>
                      </a:r>
                    </a:p>
                  </a:txBody>
                  <a:tcPr/>
                </a:tc>
                <a:tc>
                  <a:txBody>
                    <a:bodyPr/>
                    <a:lstStyle/>
                    <a:p>
                      <a:r>
                        <a:rPr sz="1300"/>
                        <a:t>Connectors / sources unverified</a:t>
                      </a:r>
                    </a:p>
                  </a:txBody>
                  <a:tcPr/>
                </a:tc>
                <a:tc>
                  <a:txBody>
                    <a:bodyPr/>
                    <a:lstStyle/>
                    <a:p>
                      <a:r>
                        <a:rPr sz="1300"/>
                        <a:t>API / source links proposed</a:t>
                      </a:r>
                    </a:p>
                  </a:txBody>
                  <a:tcPr/>
                </a:tc>
              </a:tr>
              <a:tr h="371475">
                <a:tc>
                  <a:txBody>
                    <a:bodyPr/>
                    <a:lstStyle/>
                    <a:p>
                      <a:r>
                        <a:rPr sz="1300"/>
                        <a:t>Resident access</a:t>
                      </a:r>
                    </a:p>
                  </a:txBody>
                  <a:tcPr/>
                </a:tc>
                <a:tc>
                  <a:txBody>
                    <a:bodyPr/>
                    <a:lstStyle/>
                    <a:p>
                      <a:r>
                        <a:rPr sz="1300"/>
                        <a:t>Non-digital required; untested</a:t>
                      </a:r>
                    </a:p>
                  </a:txBody>
                  <a:tcPr/>
                </a:tc>
                <a:tc>
                  <a:txBody>
                    <a:bodyPr/>
                    <a:lstStyle/>
                    <a:p>
                      <a:r>
                        <a:rPr sz="1300"/>
                        <a:t>Non-digital required; untested</a:t>
                      </a:r>
                    </a:p>
                  </a:txBody>
                  <a:tcPr/>
                </a:tc>
                <a:tc>
                  <a:txBody>
                    <a:bodyPr/>
                    <a:lstStyle/>
                    <a:p>
                      <a:r>
                        <a:rPr sz="1300"/>
                        <a:t>Non-digital required; untested</a:t>
                      </a:r>
                    </a:p>
                  </a:txBody>
                  <a:tcPr/>
                </a:tc>
              </a:tr>
              <a:tr h="371475">
                <a:tc>
                  <a:txBody>
                    <a:bodyPr/>
                    <a:lstStyle/>
                    <a:p>
                      <a:r>
                        <a:rPr sz="1300"/>
                        <a:t>Whole-life cost</a:t>
                      </a:r>
                    </a:p>
                  </a:txBody>
                  <a:tcPr/>
                </a:tc>
                <a:tc>
                  <a:txBody>
                    <a:bodyPr/>
                    <a:lstStyle/>
                    <a:p>
                      <a:r>
                        <a:rPr sz="1300"/>
                        <a:t>Not assessed</a:t>
                      </a:r>
                    </a:p>
                  </a:txBody>
                  <a:tcPr/>
                </a:tc>
                <a:tc>
                  <a:txBody>
                    <a:bodyPr/>
                    <a:lstStyle/>
                    <a:p>
                      <a:r>
                        <a:rPr sz="1300"/>
                        <a:t>Licence / support unverified</a:t>
                      </a:r>
                    </a:p>
                  </a:txBody>
                  <a:tcPr/>
                </a:tc>
                <a:tc>
                  <a:txBody>
                    <a:bodyPr/>
                    <a:lstStyle/>
                    <a:p>
                      <a:r>
                        <a:rPr sz="1300"/>
                        <a:t>Run cost not assessed</a:t>
                      </a:r>
                    </a:p>
                  </a:txBody>
                  <a:tcPr/>
                </a:tc>
              </a:tr>
              <a:tr h="371475">
                <a:tc>
                  <a:txBody>
                    <a:bodyPr/>
                    <a:lstStyle/>
                    <a:p>
                      <a:r>
                        <a:rPr sz="1300"/>
                        <a:t>Readiness</a:t>
                      </a:r>
                    </a:p>
                  </a:txBody>
                  <a:tcPr/>
                </a:tc>
                <a:tc>
                  <a:txBody>
                    <a:bodyPr/>
                    <a:lstStyle/>
                    <a:p>
                      <a:r>
                        <a:rPr sz="1300"/>
                        <a:t>Baseline / controls unverified</a:t>
                      </a:r>
                    </a:p>
                  </a:txBody>
                  <a:tcPr/>
                </a:tc>
                <a:tc>
                  <a:txBody>
                    <a:bodyPr/>
                    <a:lstStyle/>
                    <a:p>
                      <a:r>
                        <a:rPr sz="1300"/>
                        <a:t>Tenant check needed</a:t>
                      </a:r>
                    </a:p>
                  </a:txBody>
                  <a:tcPr/>
                </a:tc>
                <a:tc>
                  <a:txBody>
                    <a:bodyPr/>
                    <a:lstStyle/>
                    <a:p>
                      <a:r>
                        <a:rPr sz="1300"/>
                        <a:t>Exercise direction only</a:t>
                      </a:r>
                    </a:p>
                  </a:txBody>
                  <a:tcPr/>
                </a:tc>
              </a:tr>
            </a:tbl>
          </a:graphicData>
        </a:graphic>
      </p:graphicFrame>
      <p:sp>
        <p:nvSpPr>
          <p:cNvPr id="5" name="TextBox 4"/>
          <p:cNvSpPr txBox="1"/>
          <p:nvPr/>
        </p:nvSpPr>
        <p:spPr>
          <a:xfrm>
            <a:off x="594360" y="5257800"/>
            <a:ext cx="10972800" cy="411480"/>
          </a:xfrm>
          <a:prstGeom prst="rect">
            <a:avLst/>
          </a:prstGeom>
          <a:noFill/>
        </p:spPr>
        <p:txBody>
          <a:bodyPr wrap="square" lIns="0" rIns="0" tIns="0" bIns="0">
            <a:spAutoFit/>
          </a:bodyPr>
          <a:lstStyle/>
          <a:p>
            <a:r>
              <a:rPr sz="1200" b="0" i="0">
                <a:solidFill>
                  <a:srgbClr val="183A31"/>
                </a:solidFill>
                <a:latin typeface="Aptos"/>
              </a:rPr>
              <a:t>No common-basis cost or fit evidence yet. Compare controls, tenant, migration and support before choice.</a:t>
            </a:r>
          </a:p>
        </p:txBody>
      </p:sp>
      <p:sp>
        <p:nvSpPr>
          <p:cNvPr id="6" name="TextBox 5"/>
          <p:cNvSpPr txBox="1"/>
          <p:nvPr/>
        </p:nvSpPr>
        <p:spPr>
          <a:xfrm>
            <a:off x="594360" y="6126480"/>
            <a:ext cx="10972800" cy="228600"/>
          </a:xfrm>
          <a:prstGeom prst="rect">
            <a:avLst/>
          </a:prstGeom>
          <a:noFill/>
        </p:spPr>
        <p:txBody>
          <a:bodyPr wrap="square" lIns="0" rIns="0" tIns="0" bIns="0">
            <a:spAutoFit/>
          </a:bodyPr>
          <a:lstStyle/>
          <a:p>
            <a:r>
              <a:rPr sz="1100" b="0" i="0">
                <a:solidFill>
                  <a:srgbClr val="183A31"/>
                </a:solidFill>
                <a:latin typeface="Aptos"/>
              </a:rPr>
              <a:t>21  /  ZAVA FORWARD     •     QUALITATIVE DESIGN HYPOTHESES • ADR 0001 • OQ-012</a:t>
            </a:r>
          </a:p>
        </p:txBody>
      </p:sp>
      <p:sp>
        <p:nvSpPr>
          <p:cNvPr id="7"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Forward — Visible work, explainable decisions</dc:title>
  <dc:subject>Bounded next-stage proposal; not production approval</dc:subject>
  <dc:creator>AMA project</dc:creator>
  <cp:keywords>Zava Forward,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