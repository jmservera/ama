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58" autoAdjust="0"/>
  </p:normalViewPr>
  <p:slideViewPr>
    <p:cSldViewPr snapToGrid="0">
      <p:cViewPr varScale="1">
        <p:scale>
          <a:sx n="120" d="100"/>
          <a:sy n="120" d="100"/>
        </p:scale>
        <p:origin x="1136"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S01 | Zava Forward: a built foundation for accountable retrofit work.</a:t>
            </a:r>
          </a:p>
          <a:p>
            <a:pPr algn="l">
              <a:lnSpc>
                <a:spcPct val="105000"/>
              </a:lnSpc>
              <a:buNone/>
            </a:pPr>
            <a:r>
              <a:rPr lang="en-GB" sz="1200" b="0">
                <a:solidFill>
                  <a:srgbClr val="000000"/>
                </a:solidFill>
                <a:latin typeface="Arial"/>
              </a:rPr>
              <a:t>SAY within the retained 40-second opening: We built Zava Forward to turn fragmented retrofit work into an owned, evidence-linked next step. I will show the problem, how research and journey hypotheses shaped the design, and the Workbench we implemented. Then, near the close, I will propose how the product could become stronger with joined portfolio history and richer agent context. That future is not part of today's product. People retain resident choice, professional acceptance and Finance authority. We have meaningful engineering and historical real-service evidence to show; whole-service acceptance and measured customer benefit remain separate tests.</a:t>
            </a:r>
          </a:p>
          <a:p>
            <a:pPr algn="l">
              <a:lnSpc>
                <a:spcPct val="105000"/>
              </a:lnSpc>
              <a:buNone/>
            </a:pPr>
            <a:r>
              <a:rPr lang="en-GB" sz="1200" b="0">
                <a:solidFill>
                  <a:srgbClr val="000000"/>
                </a:solidFill>
                <a:latin typeface="Arial"/>
              </a:rPr>
              <a:t>SOURCES: original case, addendum, current component guides and DT journey evidence. This is a built demonstrator, not five autonomous managers or an accepted production service. Case ambition, synthetic scale, dated observations and measured housing outcomes remain distinct. No spending authority is granted.</a:t>
            </a:r>
          </a:p>
          <a:p>
            <a:pPr algn="l">
              <a:lnSpc>
                <a:spcPct val="105000"/>
              </a:lnSpc>
              <a:buNone/>
            </a:pPr>
            <a:r>
              <a:rPr lang="en-GB" sz="1200" b="0">
                <a:solidFill>
                  <a:srgbClr val="000000"/>
                </a:solidFill>
                <a:latin typeface="Arial"/>
              </a:rPr>
              <a:t>TIMING: 40 s for this slide (all builds together) · 00:00-00:40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S02 | Modelled scale, not a measured stock cohort or universal legal deadline.</a:t>
            </a:r>
          </a:p>
          <a:p>
            <a:pPr algn="l">
              <a:lnSpc>
                <a:spcPct val="105000"/>
              </a:lnSpc>
              <a:buNone/>
            </a:pPr>
            <a:r>
              <a:rPr lang="en-GB" sz="1200" b="0">
                <a:solidFill>
                  <a:srgbClr val="000000"/>
                </a:solidFill>
                <a:latin typeface="Arial"/>
              </a:rPr>
              <a:t>SAY: The case has 60,000 fictional homes. Applying the assumed 26 percent below-C share gives the displayed 15,600-home scenario, not a measured company survey. The other national rates applied to that stock are illustrations of potential scale, not identified residents, statutory hazard diagnoses or verified local demand. The 2030 date is the case/planning ambition; current legal applicability and commencement need separate verification.</a:t>
            </a:r>
          </a:p>
          <a:p>
            <a:pPr algn="l">
              <a:lnSpc>
                <a:spcPct val="105000"/>
              </a:lnSpc>
              <a:buNone/>
            </a:pPr>
            <a:r>
              <a:rPr lang="en-GB" sz="1200" b="0">
                <a:solidFill>
                  <a:srgbClr val="000000"/>
                </a:solidFill>
                <a:latin typeface="Arial"/>
              </a:rPr>
              <a:t>The service question is how to prepare evidence, keep the next action owned and reach accepted handover without weakening resident choice or independent review. This is a proposed value test, not proof of capacity, funding, legal compliance or a housing outcome.</a:t>
            </a:r>
          </a:p>
          <a:p>
            <a:pPr algn="l">
              <a:lnSpc>
                <a:spcPct val="105000"/>
              </a:lnSpc>
              <a:buNone/>
            </a:pPr>
            <a:r>
              <a:rPr lang="en-GB" sz="1200" b="0">
                <a:solidFill>
                  <a:srgbClr val="000000"/>
                </a:solidFill>
                <a:latin typeface="Arial"/>
              </a:rPr>
              <a:t>SOURCES: docs/case_study_48_original.md; docs/case_study_48_addendum.md; docs/reference/research/sector/uk-social-housing-retrofit-damp-stats-report.md; docs/reference/regulatory/README.md. Preserve national-versus-company denominators and source dates; do not convert scenario arithmetic into a legal obligation.</a:t>
            </a:r>
          </a:p>
          <a:p>
            <a:pPr algn="l">
              <a:lnSpc>
                <a:spcPct val="105000"/>
              </a:lnSpc>
              <a:buNone/>
            </a:pPr>
            <a:r>
              <a:rPr lang="en-GB" sz="1200" b="0">
                <a:solidFill>
                  <a:srgbClr val="000000"/>
                </a:solidFill>
                <a:latin typeface="Arial"/>
              </a:rPr>
              <a:t>TIMING: 70 s for this slide (all builds together) · 00:40-01:50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S03 | The dates matter. So does their legal status.</a:t>
            </a:r>
          </a:p>
          <a:p>
            <a:pPr algn="l">
              <a:lnSpc>
                <a:spcPct val="105000"/>
              </a:lnSpc>
              <a:buNone/>
            </a:pPr>
            <a:r>
              <a:rPr lang="en-GB" sz="1200" b="0">
                <a:solidFill>
                  <a:srgbClr val="000000"/>
                </a:solidFill>
                <a:latin typeface="Arial"/>
              </a:rPr>
              <a:t>VISUAL READING: the five dated milestones restore the original illustration. They are retained-source dates, not a fresh legal assessment. Phase 3 remains a plan; EPC and Decent Homes remain policy direction. The register's distinctions and competent-currentness gate below still apply.</a:t>
            </a:r>
          </a:p>
          <a:p>
            <a:pPr algn="l">
              <a:lnSpc>
                <a:spcPct val="105000"/>
              </a:lnSpc>
              <a:buNone/>
            </a:pPr>
            <a:r>
              <a:rPr lang="en-GB" sz="1200" b="0">
                <a:solidFill>
                  <a:srgbClr val="000000"/>
                </a:solidFill>
                <a:latin typeface="Arial"/>
              </a:rPr>
              <a:t>SAY within the existing 70-second slot: We need to distinguish three kinds of evidence. The retained register classifies Phase 1 regulations as in force, Phase 2 material as guidance for a planned expansion, and energy-efficiency and Decent Homes material as policy. These are not interchangeable legal duties. A cold or inefficient home is not automatically a legally classified hazard. Applicability, severity and the actual legal criteria require competent assessment. A policy ambition is not proof of a universal commenced EPC duty.</a:t>
            </a:r>
          </a:p>
          <a:p>
            <a:pPr algn="l">
              <a:lnSpc>
                <a:spcPct val="105000"/>
              </a:lnSpc>
              <a:buNone/>
            </a:pPr>
            <a:r>
              <a:rPr lang="en-GB" sz="1200" b="0">
                <a:solidFill>
                  <a:srgbClr val="000000"/>
                </a:solidFill>
                <a:latin typeface="Arial"/>
              </a:rPr>
              <a:t>The operating implication is still clear: know the state of the home, who owns the next action and which evidence supports it. A resident hazard report goes straight to the independent human safety service, never waits for retrofit analytics or an AI verdict.</a:t>
            </a:r>
          </a:p>
          <a:p>
            <a:pPr algn="l">
              <a:lnSpc>
                <a:spcPct val="105000"/>
              </a:lnSpc>
              <a:buNone/>
            </a:pPr>
            <a:r>
              <a:rPr lang="en-GB" sz="1200" b="0">
                <a:solidFill>
                  <a:srgbClr val="000000"/>
                </a:solidFill>
                <a:latin typeface="Arial"/>
              </a:rPr>
              <a:t>EVIDENCE: docs/reference/regulatory/README.md classifies the retained snapshots, their authority and monitoring cadence. The register states 19 September 2026 retrieval and a 15 October register update. This presentation synthesis is dated 29 October, but did not make a fresh official amendment, commencement or applicability check.</a:t>
            </a:r>
          </a:p>
          <a:p>
            <a:pPr algn="l">
              <a:lnSpc>
                <a:spcPct val="105000"/>
              </a:lnSpc>
              <a:buNone/>
            </a:pPr>
            <a:r>
              <a:rPr lang="en-GB" sz="1200" b="0">
                <a:solidFill>
                  <a:srgbClr val="000000"/>
                </a:solidFill>
                <a:latin typeface="Arial"/>
              </a:rPr>
              <a:t>BOUNDARY: no new statutory timetable, provider duty, legal interpretation, compliance finding or rule is activated here. Named legal/compliance/funding or competent professional review and current official-source checks remain required before consequential use. Keep the original case ambition separate from adopted operational duties.</a:t>
            </a:r>
          </a:p>
          <a:p>
            <a:pPr algn="l">
              <a:lnSpc>
                <a:spcPct val="105000"/>
              </a:lnSpc>
              <a:buNone/>
            </a:pPr>
            <a:r>
              <a:rPr lang="en-GB" sz="1200" b="0">
                <a:solidFill>
                  <a:srgbClr val="000000"/>
                </a:solidFill>
                <a:latin typeface="Arial"/>
              </a:rPr>
              <a:t>SOURCES: docs/reference/regulatory/README.md, Authority and Use and Change Assessment and Monitoring Register; docs/case_study_48_addendum.md. Original source snapshots and earlier claims remain in the pinned baseline and history, not silently rewritten as current law.</a:t>
            </a:r>
          </a:p>
          <a:p>
            <a:pPr algn="l">
              <a:lnSpc>
                <a:spcPct val="105000"/>
              </a:lnSpc>
              <a:buNone/>
            </a:pPr>
            <a:r>
              <a:rPr lang="en-GB" sz="1200" b="0">
                <a:solidFill>
                  <a:srgbClr val="000000"/>
                </a:solidFill>
                <a:latin typeface="Arial"/>
              </a:rPr>
              <a:t>NAVIGATION: source-currentness answer B24/page 51. Existing fixed slide-jump links remain; use the actual page number when returning.</a:t>
            </a:r>
          </a:p>
          <a:p>
            <a:pPr algn="l">
              <a:lnSpc>
                <a:spcPct val="105000"/>
              </a:lnSpc>
              <a:buNone/>
            </a:pPr>
            <a:r>
              <a:rPr lang="en-GB" sz="1200" b="0">
                <a:solidFill>
                  <a:srgbClr val="000000"/>
                </a:solidFill>
                <a:latin typeface="Arial"/>
              </a:rPr>
              <a:t>TIMING: 70 s for this slide (all builds together) · 01:50-03:00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S04 | Homes don't stall on ambition. They stall between teams.</a:t>
            </a:r>
          </a:p>
          <a:p>
            <a:pPr algn="l">
              <a:lnSpc>
                <a:spcPct val="105000"/>
              </a:lnSpc>
              <a:buNone/>
            </a:pPr>
            <a:r>
              <a:rPr lang="en-GB" sz="1200" b="0">
                <a:solidFill>
                  <a:srgbClr val="000000"/>
                </a:solidFill>
                <a:latin typeface="Arial"/>
              </a:rPr>
              <a:t>SAY: The case brief describes a programme behind plan. Our desk research and role instruments suggest a coordination problem to test, not a finding from observed staff or resident interviews. A stock record and survey may conflict; funding needs reviewed evidence; residents retain choice; contractor completion is not independent quality acceptance or handover. Funding availability and actual company capacity remain unknown.</a:t>
            </a:r>
          </a:p>
          <a:p>
            <a:pPr algn="l">
              <a:lnSpc>
                <a:spcPct val="105000"/>
              </a:lnSpc>
              <a:buNone/>
            </a:pPr>
            <a:r>
              <a:rPr lang="en-GB" sz="1200" b="0">
                <a:solidFill>
                  <a:srgbClr val="000000"/>
                </a:solidFill>
                <a:latin typeface="Arial"/>
              </a:rPr>
              <a:t>The proposed management question is not how many recommendations were generated. It is which homes reached accepted handover, what effort it took, and which unresolved exception has an accountable owner. Test that on one same-home journey before claiming the workflow changes outcomes.</a:t>
            </a:r>
          </a:p>
          <a:p>
            <a:pPr algn="l">
              <a:lnSpc>
                <a:spcPct val="105000"/>
              </a:lnSpc>
              <a:buNone/>
            </a:pPr>
            <a:r>
              <a:rPr lang="en-GB" sz="1200" b="0">
                <a:solidFill>
                  <a:srgbClr val="000000"/>
                </a:solidFill>
                <a:latin typeface="Arial"/>
              </a:rPr>
              <a:t>SOURCES: docs/case_study_48_addendum.md; docs/reference/research/ux/customer-journeys/customer-journey-atlas.md; docs/reference/research/company/agent-request-challenge.md. These are case facts, declared assumptions and research hypotheses, not company commitments or measured benefits.</a:t>
            </a:r>
          </a:p>
          <a:p>
            <a:pPr algn="l">
              <a:lnSpc>
                <a:spcPct val="105000"/>
              </a:lnSpc>
              <a:buNone/>
            </a:pPr>
            <a:r>
              <a:rPr lang="en-GB" sz="1200" b="0">
                <a:solidFill>
                  <a:srgbClr val="000000"/>
                </a:solidFill>
                <a:latin typeface="Arial"/>
              </a:rPr>
              <a:t>NAVIGATION: B01/page 28; question index page 27. Native links are fixed destinations, not dynamic caller return.</a:t>
            </a:r>
          </a:p>
          <a:p>
            <a:pPr algn="l">
              <a:lnSpc>
                <a:spcPct val="105000"/>
              </a:lnSpc>
              <a:buNone/>
            </a:pPr>
            <a:r>
              <a:rPr lang="en-GB" sz="1200" b="0">
                <a:solidFill>
                  <a:srgbClr val="000000"/>
                </a:solidFill>
                <a:latin typeface="Arial"/>
              </a:rPr>
              <a:t>TIMING: 50 s for this slide (all builds together) · 03:00-03:50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S05 | Modelled delivery pace and conditional economics, not a validated forecast.</a:t>
            </a:r>
          </a:p>
          <a:p>
            <a:pPr algn="l">
              <a:lnSpc>
                <a:spcPct val="105000"/>
              </a:lnSpc>
              <a:buNone/>
            </a:pPr>
            <a:r>
              <a:rPr lang="en-GB" sz="1200" b="0">
                <a:solidFill>
                  <a:srgbClr val="000000"/>
                </a:solidFill>
                <a:latin typeface="Arial"/>
              </a:rPr>
              <a:t>SAY: This is a scenario, not an assured delivery commitment. Applying the assumed 26 percent below-C share to the fictional 60,000-home stock gives 15,600 homes. A straight-line planning window gives the required pace shown on the chart; it does not demonstrate achievable throughput, confirmed stock condition or supplier capacity. Test the constraints before calling it a forecast.</a:t>
            </a:r>
          </a:p>
          <a:p>
            <a:pPr algn="l">
              <a:lnSpc>
                <a:spcPct val="105000"/>
              </a:lnSpc>
              <a:buNone/>
            </a:pPr>
            <a:r>
              <a:rPr lang="en-GB" sz="1200" b="0">
                <a:solidFill>
                  <a:srgbClr val="000000"/>
                </a:solidFill>
                <a:latin typeface="Arial"/>
              </a:rPr>
              <a:t>Click to the cost build. The dated GBP 6,082 benchmark gives about GBP 95 million of works for that modelled cohort. A hypothetical 50 percent share gives about GBP 47.4 million of conditional grant potential. This is arithmetic under assumptions, not an entitlement, a confirmed allocation, a current scheme offer or evidence that funding is available. Finance/funder review must verify eligibility, scheme rules, allocation, award and claim. A proportional share of a national pot is not a provider award.</a:t>
            </a:r>
          </a:p>
          <a:p>
            <a:pPr algn="l">
              <a:lnSpc>
                <a:spcPct val="105000"/>
              </a:lnSpc>
              <a:buNone/>
            </a:pPr>
            <a:r>
              <a:rPr lang="en-GB" sz="1200" b="0">
                <a:solidFill>
                  <a:srgbClr val="000000"/>
                </a:solidFill>
                <a:latin typeface="Arial"/>
              </a:rPr>
              <a:t>The exact recovered scenario and separate fictional package remain on the next build and in the protected cost appendices. Keep GBP works/funding and USD technology distinct. No cash, improved grant capture, AI saving, full TCO or accepted-outcome unit cost is established.</a:t>
            </a:r>
          </a:p>
          <a:p>
            <a:pPr algn="l">
              <a:lnSpc>
                <a:spcPct val="105000"/>
              </a:lnSpc>
              <a:buNone/>
            </a:pPr>
            <a:r>
              <a:rPr lang="en-GB" sz="1200" b="0">
                <a:solidFill>
                  <a:srgbClr val="000000"/>
                </a:solidFill>
                <a:latin typeface="Arial"/>
              </a:rPr>
              <a:t>SOURCES: docs/capstone/history/cowork-main-presentation/evidence/ai-cost-evidence.md, Recovered Council Comparison; docs/case_study_48_addendum.md, Numerical Targets and Attribution; docs/reference/research/sector/uk-social-housing-retrofit-damp-stats-report.md. These are dated benchmarks and modelled assumptions, not a quotation or measured company outcome.</a:t>
            </a:r>
          </a:p>
          <a:p>
            <a:pPr algn="l">
              <a:lnSpc>
                <a:spcPct val="105000"/>
              </a:lnSpc>
              <a:buNone/>
            </a:pPr>
            <a:r>
              <a:rPr lang="en-GB" sz="1200" b="0">
                <a:solidFill>
                  <a:srgbClr val="000000"/>
                </a:solidFill>
                <a:latin typeface="Arial"/>
              </a:rPr>
              <a:t>EVIDENCE: inherited chart labels are read as this explicitly qualified planning scenario. Current official scheme and legal applicability checks remain required before a consequential use. Related answer B08/page 35 and B09/page 36. Both build pages share the existing 90-second slot.</a:t>
            </a:r>
          </a:p>
          <a:p>
            <a:pPr algn="l">
              <a:lnSpc>
                <a:spcPct val="105000"/>
              </a:lnSpc>
              <a:buNone/>
            </a:pPr>
            <a:r>
              <a:rPr lang="en-GB" sz="1200" b="0">
                <a:solidFill>
                  <a:srgbClr val="000000"/>
                </a:solidFill>
                <a:latin typeface="Arial"/>
              </a:rPr>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S06 | Research and iterations made the design traceable.</a:t>
            </a:r>
          </a:p>
          <a:p>
            <a:pPr algn="l">
              <a:lnSpc>
                <a:spcPct val="105000"/>
              </a:lnSpc>
              <a:buNone/>
            </a:pPr>
            <a:r>
              <a:rPr lang="en-GB" sz="1200" b="0">
                <a:solidFill>
                  <a:srgbClr val="000000"/>
                </a:solidFill>
                <a:latin typeface="Arial"/>
              </a:rPr>
              <a:t>SAY in the retained 60-second slot: This is not a build assembled only for these slides. Requirements, architecture decisions, journey hypotheses, prototype feedback and bounded engineering tests sit behind the Workbench. The dated activity counts show the amount of work, not accepted customer value. The important chain is what we learned, which choice it changed and how we tested the boundary. Role instruments helped expose missing ownership, conflicting evidence and separate decisions; prototypes showed where labels and workflows needed simplification. Historical real-service exercises then demonstrated bounded integration. That is the product-management story to defend. The next page makes the evidence-to-design reasoning visible; it is not a claim that activity or agent output proves benefit.</a:t>
            </a:r>
          </a:p>
          <a:p>
            <a:pPr algn="l">
              <a:lnSpc>
                <a:spcPct val="105000"/>
              </a:lnSpc>
              <a:buNone/>
            </a:pPr>
            <a:r>
              <a:rPr lang="en-GB" sz="1200" b="0">
                <a:solidFill>
                  <a:srgbClr val="000000"/>
                </a:solidFill>
                <a:latin typeface="Arial"/>
              </a:rPr>
              <a:t>EVIDENCE: displayed repository/backlog counts are the retained 23 October snapshot, not today's totals, accepted features or a delivery forecast. The journey count is 27 companion maps plus one atlas map. Direct resident/staff research and measured improvement remain gaps.</a:t>
            </a:r>
          </a:p>
          <a:p>
            <a:pPr algn="l">
              <a:lnSpc>
                <a:spcPct val="105000"/>
              </a:lnSpc>
              <a:buNone/>
            </a:pPr>
            <a:r>
              <a:rPr lang="en-GB" sz="1200" b="0">
                <a:solidFill>
                  <a:srgbClr val="000000"/>
                </a:solidFill>
                <a:latin typeface="Arial"/>
              </a:rPr>
              <a:t>SOURCES: dated repository/board evidence in the retained authoring package; customer journey atlas; prototype/UX learnings; current component guides. No new count, interview, causal result or current live acceptance was established here.</a:t>
            </a:r>
          </a:p>
          <a:p>
            <a:pPr algn="l">
              <a:lnSpc>
                <a:spcPct val="105000"/>
              </a:lnSpc>
              <a:buNone/>
            </a:pPr>
            <a:r>
              <a:rPr lang="en-GB" sz="1200" b="0">
                <a:solidFill>
                  <a:srgbClr val="000000"/>
                </a:solidFill>
                <a:latin typeface="Arial"/>
              </a:rPr>
              <a:t>TIMING: 60 s for this slide (all builds together) · 05:20-06:20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From the brief to bounded design.</a:t>
            </a:r>
          </a:p>
          <a:p>
            <a:pPr algn="l">
              <a:lnSpc>
                <a:spcPct val="105000"/>
              </a:lnSpc>
              <a:buNone/>
            </a:pPr>
            <a:r>
              <a:rPr lang="en-GB" sz="1200" b="0">
                <a:solidFill>
                  <a:srgbClr val="000000"/>
                </a:solidFill>
                <a:latin typeface="Arial"/>
              </a:rPr>
              <a:t>SAY in the retained 60-second slot: We started with the case brief and official sector context, separating facts from unknown company details. Eight role research instruments challenged the original autonomy request. The later atlas used nine instruments to explore responsibilities, handoffs and exceptions. They were not interviews or company approvers. Twenty-seven companion maps plus one atlas map give twenty-eight journey hypotheses. We compared actions, needs, pains and proposed gains. Three patterns shaped the product: preserve the resident account, make commitments owned, and keep changed evidence tied to separate reviews. Zava Forward gives those hypotheses concrete engineering form. The next test is whether residents and staff complete the work with less total effort and no weakened choices.</a:t>
            </a:r>
          </a:p>
          <a:p>
            <a:pPr algn="l">
              <a:lnSpc>
                <a:spcPct val="105000"/>
              </a:lnSpc>
              <a:buNone/>
            </a:pPr>
            <a:r>
              <a:rPr lang="en-GB" sz="1200" b="0">
                <a:solidFill>
                  <a:srgbClr val="000000"/>
                </a:solidFill>
                <a:latin typeface="Arial"/>
              </a:rPr>
              <a:t>METHOD: case facts and dated official-sector sources -&gt; role research instruments -&gt; stage-based journey hypotheses -&gt; pain/gain synthesis -&gt; bounded design choice -&gt; falsifiable test. The arrow is reasoning traceability, not independent validation. Nine instruments share a source corpus, not nine empirical samples; the 28 maps are not interviewed people, validated journeys or accepted features.</a:t>
            </a:r>
          </a:p>
          <a:p>
            <a:pPr algn="l">
              <a:lnSpc>
                <a:spcPct val="105000"/>
              </a:lnSpc>
              <a:buNone/>
            </a:pPr>
            <a:r>
              <a:rPr lang="en-GB" sz="1200" b="0">
                <a:solidFill>
                  <a:srgbClr val="000000"/>
                </a:solidFill>
                <a:latin typeface="Arial"/>
              </a:rPr>
              <a:t>CONCLUSION TRACES: repeated explanations suggest a purpose-scoped account and named update contact; unaccepted handoffs suggest sender chase until a receiver accepts; changed scope suggests version-bound invalidation of dependent reviews. Keep professional, resident and Finance decisions distinct. The paired test retains the same workflow/rights with and without AI and counts failures, correction and displaced effort.</a:t>
            </a:r>
          </a:p>
          <a:p>
            <a:pPr algn="l">
              <a:lnSpc>
                <a:spcPct val="105000"/>
              </a:lnSpc>
              <a:buNone/>
            </a:pPr>
            <a:r>
              <a:rPr lang="en-GB" sz="1200" b="0">
                <a:solidFill>
                  <a:srgbClr val="000000"/>
                </a:solidFill>
                <a:latin typeface="Arial"/>
              </a:rPr>
              <a:t>SOURCES: docs/capstone/source/diagrams/discovery-journey/text-equivalent.md, method/evidence and D01-D05; docs/reference/research/ux/customer-journeys/customer-journey-atlas.md; docs/reference/research/company/agent-request-challenge.md. The DT Coach supplied the representative map and source-linked decision trace, not customer approval.</a:t>
            </a:r>
          </a:p>
          <a:p>
            <a:pPr algn="l">
              <a:lnSpc>
                <a:spcPct val="105000"/>
              </a:lnSpc>
              <a:buNone/>
            </a:pPr>
            <a:r>
              <a:rPr lang="en-GB" sz="1200" b="0">
                <a:solidFill>
                  <a:srgbClr val="000000"/>
                </a:solidFill>
                <a:latin typeface="Arial"/>
              </a:rPr>
              <a:t>TRANSITION: show how those findings changed the original agent request, then the actual Workbench. Page 13 illustrates a resident's actions, pain hypotheses and proposed gains rather than another technical process chart.</a:t>
            </a:r>
          </a:p>
          <a:p>
            <a:pPr algn="l">
              <a:lnSpc>
                <a:spcPct val="105000"/>
              </a:lnSpc>
              <a:buNone/>
            </a:pPr>
            <a:r>
              <a:rPr lang="en-GB" sz="1200" b="0">
                <a:solidFill>
                  <a:srgbClr val="000000"/>
                </a:solidFill>
                <a:latin typeface="Arial"/>
              </a:rPr>
              <a:t>TIMING: 60 s for this slide (all builds together) · 06:20-07:20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S08 | We challenged the brief and kept the useful responsibilities.</a:t>
            </a:r>
          </a:p>
          <a:p>
            <a:pPr algn="l">
              <a:lnSpc>
                <a:spcPct val="105000"/>
              </a:lnSpc>
              <a:buNone/>
            </a:pPr>
            <a:r>
              <a:rPr lang="en-GB" sz="1200" b="0">
                <a:solidFill>
                  <a:srgbClr val="000000"/>
                </a:solidFill>
                <a:latin typeface="Arial"/>
              </a:rPr>
              <a:t>SAY in the retained 70-second slot: The brief requested five autonomous agents. The earlier challenge used eight role research instruments, not nine interviewed stakeholders. Their source-backed analysis suggested that none of the five should own its whole consequential journey. We kept the five business responsibilities as bounded assistance, with workflow and named people retaining decisions. The later nine-instrument journey atlas reinforced the need for owned handoffs, source evidence and separate versions. That is why the first investment was data ownership and controlled work, not model-led consent or funding. Optional resident service was not rejected: later showcase, advisory and callback source now exists at its stated boundary, while operational enrolment, rights and live acceptance remain separate. Assisted routes stay.</a:t>
            </a:r>
          </a:p>
          <a:p>
            <a:pPr algn="l">
              <a:lnSpc>
                <a:spcPct val="105000"/>
              </a:lnSpc>
              <a:buNone/>
            </a:pPr>
            <a:r>
              <a:rPr lang="en-GB" sz="1200" b="0">
                <a:solidFill>
                  <a:srgbClr val="000000"/>
                </a:solidFill>
                <a:latin typeface="Arial"/>
              </a:rPr>
              <a:t>COUNTING: eight instruments in the 26 September agent-request challenge; nine in the later journey atlas, including the Executive Reviewer. The maps are hypotheses, not interviews, company delegations or approval. No role instrument supplied privileged customer facts.</a:t>
            </a:r>
          </a:p>
          <a:p>
            <a:pPr algn="l">
              <a:lnSpc>
                <a:spcPct val="105000"/>
              </a:lnSpc>
              <a:buNone/>
            </a:pPr>
            <a:r>
              <a:rPr lang="en-GB" sz="1200" b="0">
                <a:solidFill>
                  <a:srgbClr val="000000"/>
                </a:solidFill>
                <a:latin typeface="Arial"/>
              </a:rPr>
              <a:t>SOURCES: docs/reference/research/company/agent-request-challenge.md; customer-journey-atlas.md; resident-assistant-prototype.md and current API guide for later source status. Earlier 23 October 'unpublished local work only' statements are historical, not the current source inventory.</a:t>
            </a:r>
          </a:p>
          <a:p>
            <a:pPr algn="l">
              <a:lnSpc>
                <a:spcPct val="105000"/>
              </a:lnSpc>
              <a:buNone/>
            </a:pPr>
            <a:r>
              <a:rPr lang="en-GB" sz="1200" b="0">
                <a:solidFill>
                  <a:srgbClr val="000000"/>
                </a:solidFill>
                <a:latin typeface="Arial"/>
              </a:rPr>
              <a:t>TIMING: 70 s for this slide (all builds together) · 07:20-08:30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S09 | Every prototype taught us something we kept.</a:t>
            </a:r>
          </a:p>
          <a:p>
            <a:pPr algn="l">
              <a:lnSpc>
                <a:spcPct val="105000"/>
              </a:lnSpc>
              <a:buNone/>
            </a:pPr>
            <a:r>
              <a:rPr lang="en-GB" sz="1200" b="0">
                <a:solidFill>
                  <a:srgbClr val="000000"/>
                </a:solidFill>
                <a:latin typeface="Arial"/>
              </a:rPr>
              <a:t>SAY in the retained 50-second slot: We learned by building and inspecting boundaries. Early role perspectives led to clearer work queues. The October prototype review exposed inconsistent ownership and reset behaviour, which fed back into requirements and the shared Workbench. Later exercises recorded actual model calls, SQL-backed state and retained evidence across a restart. Those are dated technical observations, not proof that the whole current service or human review is accepted. The Tokenomics requirements merged on 23 October, not this morning; they define what complete accepted-outcome economics should measure, not a measured unit cost we already have. Each useful lesson became a requirement, decision or test rather than another unqualified feature claim.</a:t>
            </a:r>
          </a:p>
          <a:p>
            <a:pPr algn="l">
              <a:lnSpc>
                <a:spcPct val="105000"/>
              </a:lnSpc>
              <a:buNone/>
            </a:pPr>
            <a:r>
              <a:rPr lang="en-GB" sz="1200" b="0">
                <a:solidFill>
                  <a:srgbClr val="000000"/>
                </a:solidFill>
                <a:latin typeface="Arial"/>
              </a:rPr>
              <a:t>SOURCES: retained prototype/UX learnings, the addendum's 12-14 October operator evidence, current component guides and the dated Tokenomics brief. The 25-day historical interval is not a current delivery promise. Source/recorded evidence, fresh acceptance and benefit stay distinct.</a:t>
            </a:r>
          </a:p>
          <a:p>
            <a:pPr algn="l">
              <a:lnSpc>
                <a:spcPct val="105000"/>
              </a:lnSpc>
              <a:buNone/>
            </a:pPr>
            <a:r>
              <a:rPr lang="en-GB" sz="1200" b="0">
                <a:solidFill>
                  <a:srgbClr val="000000"/>
                </a:solidFill>
                <a:latin typeface="Arial"/>
              </a:rPr>
              <a:t>TIMING: 50 s for this slide (all builds together) · 08:30-09:20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S11 | Meet the Workbench: evidence, ownership and the next action.</a:t>
            </a:r>
          </a:p>
          <a:p>
            <a:pPr algn="l">
              <a:lnSpc>
                <a:spcPct val="105000"/>
              </a:lnSpc>
              <a:buNone/>
            </a:pPr>
            <a:r>
              <a:rPr lang="en-GB" sz="1200" b="0">
                <a:solidFill>
                  <a:srgbClr val="000000"/>
                </a:solidFill>
                <a:latin typeface="Arial"/>
              </a:rPr>
              <a:t>SAY in the retained 70-second slot: This is the Workbench we implemented. Its organising unit is a scoped case: what is known, what conflicts, who owns the next action and which evidence supports it. A handoff is not complete because it was sent, and a contractor's completion is not independent QA or resident handover. Bounded assistance prepares source-linked proposals; rules and separately authorised people keep control of progression. Existing progress views and exports explain the retained evidence. The source and dated technical exercises are more than a concept, but a backlog Done label is not a current end-to-end acceptance result. The resident journey on the next page shows why these controls matter to a person rather than only to an architecture diagram.</a:t>
            </a:r>
          </a:p>
          <a:p>
            <a:pPr algn="l">
              <a:lnSpc>
                <a:spcPct val="105000"/>
              </a:lnSpc>
              <a:buNone/>
            </a:pPr>
            <a:r>
              <a:rPr lang="en-GB" sz="1200" b="0">
                <a:solidFill>
                  <a:srgbClr val="000000"/>
                </a:solidFill>
                <a:latin typeface="Arial"/>
              </a:rPr>
              <a:t>SOURCES: current API/core/agents guides; dated board snapshot and prototype learnings. The image is a dated product view using fictional scope, not a live authenticated session or fresh private-case inspection. Current identity, SQL/model, human task and operational acceptance retain their own gates.</a:t>
            </a:r>
          </a:p>
          <a:p>
            <a:pPr algn="l">
              <a:lnSpc>
                <a:spcPct val="105000"/>
              </a:lnSpc>
              <a:buNone/>
            </a:pPr>
            <a:r>
              <a:rPr lang="en-GB" sz="1200" b="0">
                <a:solidFill>
                  <a:srgbClr val="000000"/>
                </a:solidFill>
                <a:latin typeface="Arial"/>
              </a:rPr>
              <a:t>TIMING: 70 s for this slide (all builds together) · 10:30-11:40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A resident's journey: less friction, more choice.</a:t>
            </a:r>
          </a:p>
          <a:p>
            <a:pPr algn="l">
              <a:lnSpc>
                <a:spcPct val="105000"/>
              </a:lnSpc>
              <a:buNone/>
            </a:pPr>
            <a:r>
              <a:rPr lang="en-GB" sz="1200" b="0">
                <a:solidFill>
                  <a:srgbClr val="000000"/>
                </a:solidFill>
                <a:latin typeface="Arial"/>
              </a:rPr>
              <a:t>SAY in the retained 60-second slot: Follow a representative resident, not an observed household. At contact, they need to be heard without repeating their story. At survey, they need a supported visit; access is not works consent. At the proposal, they can agree, defer, decline or withdraw for a specific scope. During installation, the design must respect ordinary routines and distinguish an offer from a confirmed arrangement. Afterwards, usable controls, aftercare and an owned concern matter beyond a completion label. Those needs explain the product: scoped evidence, explicit choices, owned commitments and separate reviews. These are designed gains, not measured resident outcomes. Phone, letters and assisted visits stay; urgent safety concerns go straight to human repairs.</a:t>
            </a:r>
          </a:p>
          <a:p>
            <a:pPr algn="l">
              <a:lnSpc>
                <a:spcPct val="105000"/>
              </a:lnSpc>
              <a:buNone/>
            </a:pPr>
            <a:r>
              <a:rPr lang="en-GB" sz="1200" b="0">
                <a:solidFill>
                  <a:srgbClr val="000000"/>
                </a:solidFill>
                <a:latin typeface="Arial"/>
              </a:rPr>
              <a:t>TEXT EQUIVALENT: five columns are Contact, Survey, Decide, Installation, Live with it. Proposed human roles are Housing, Assessor, Resident, Programme, QA/Housing. Actions/needs are Call/be heard, Plan visit, Choose works, Keep routines, Use/query. Pain hypotheses are Story repeated, Needs missed, Rushed choice, Disrupted day, Concern lost. Proposed gains/design responses are Clear contact, Visit support, Pause/defer, Agreed visit, Owned help.</a:t>
            </a:r>
          </a:p>
          <a:p>
            <a:pPr algn="l">
              <a:lnSpc>
                <a:spcPct val="105000"/>
              </a:lnSpc>
              <a:buNone/>
            </a:pPr>
            <a:r>
              <a:rPr lang="en-GB" sz="1200" b="0">
                <a:solidFill>
                  <a:srgbClr val="000000"/>
                </a:solidFill>
                <a:latin typeface="Arial"/>
              </a:rPr>
              <a:t>DESIGN TRACE: D01 purpose-scoped account and update owner; D02 visit support and sourced preparation; D03 supplied scope-specific choice with withdrawal; D04 capacity/household/staff confirmation before a booking; D05 independent QA and owned aftercare/remedy. Technical readiness, provider completion, QA acceptance, resident handover, complaint response, remedy and financial closure remain separate. Normal sensor values never negate a resident report.</a:t>
            </a:r>
          </a:p>
          <a:p>
            <a:pPr algn="l">
              <a:lnSpc>
                <a:spcPct val="105000"/>
              </a:lnSpc>
              <a:buNone/>
            </a:pPr>
            <a:r>
              <a:rPr lang="en-GB" sz="1200" b="0">
                <a:solidFill>
                  <a:srgbClr val="000000"/>
                </a:solidFill>
                <a:latin typeface="Arial"/>
              </a:rPr>
              <a:t>EVIDENCE: desk-research hypotheses and proposed role responsibilities, not resident testimony, observed emotions, validated pain priorities, measured gains or a live trace. Existing bounded record/control engineering and historical operator results support the product's implementation story, not whole-service or housing-outcome acceptance.</a:t>
            </a:r>
          </a:p>
          <a:p>
            <a:pPr algn="l">
              <a:lnSpc>
                <a:spcPct val="105000"/>
              </a:lnSpc>
              <a:buNone/>
            </a:pPr>
            <a:r>
              <a:rPr lang="en-GB" sz="1200" b="0">
                <a:solidFill>
                  <a:srgbClr val="000000"/>
                </a:solidFill>
                <a:latin typeface="Arial"/>
              </a:rPr>
              <a:t>ASSETS: editable resident-journey.excalidraw, same-geometry SVG, native-rasterized PNG, generator and text-equivalent.md are retained together. The approved Excalidraw browser required sign-in; no native browser export or customer-content upload is claimed. The displayed PNG was rendered by PowerPoint from the same-geometry SVG.</a:t>
            </a:r>
          </a:p>
          <a:p>
            <a:pPr algn="l">
              <a:lnSpc>
                <a:spcPct val="105000"/>
              </a:lnSpc>
              <a:buNone/>
            </a:pPr>
            <a:r>
              <a:rPr lang="en-GB" sz="1200" b="0">
                <a:solidFill>
                  <a:srgbClr val="000000"/>
                </a:solidFill>
                <a:latin typeface="Arial"/>
              </a:rPr>
              <a:t>SOURCES: docs/capstone/source/diagrams/discovery-journey/text-equivalent.md contains source provisions and five proposed tests; residents.md, programme.md and finance.md remain the original hypothesis maps. DT Coach collaboration is synthesis, not stakeholder validation.</a:t>
            </a:r>
          </a:p>
          <a:p>
            <a:pPr algn="l">
              <a:lnSpc>
                <a:spcPct val="105000"/>
              </a:lnSpc>
              <a:buNone/>
            </a:pPr>
            <a:r>
              <a:rPr lang="en-GB" sz="1200" b="0">
                <a:solidFill>
                  <a:srgbClr val="000000"/>
                </a:solidFill>
                <a:latin typeface="Arial"/>
              </a:rPr>
              <a:t>TRANSITION: now show what we built to make that journey accountable, keeping achieved engineering distinct from unmeasured resident value.</a:t>
            </a:r>
          </a:p>
          <a:p>
            <a:pPr algn="l">
              <a:lnSpc>
                <a:spcPct val="105000"/>
              </a:lnSpc>
              <a:buNone/>
            </a:pPr>
            <a:r>
              <a:rPr lang="en-GB" sz="1200" b="0">
                <a:solidFill>
                  <a:srgbClr val="000000"/>
                </a:solidFill>
                <a:latin typeface="Arial"/>
              </a:rPr>
              <a:t>TIMING: 60 s for this slide (all builds together) · 11:40-12:40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S13 | What we built: one accountable workbench.</a:t>
            </a:r>
          </a:p>
          <a:p>
            <a:pPr algn="l">
              <a:lnSpc>
                <a:spcPct val="105000"/>
              </a:lnSpc>
              <a:buNone/>
            </a:pPr>
            <a:r>
              <a:rPr lang="en-GB" sz="1200" b="0">
                <a:solidFill>
                  <a:srgbClr val="000000"/>
                </a:solidFill>
                <a:latin typeface="Arial"/>
              </a:rPr>
              <a:t>SAY in the retained 50-second slot: This is the foundation we built, not a platform shopping list. The Workbench connects a scoped case and its evidence to an owned next action, with consequential decisions kept separate. The engineering handles unaccepted handoffs, changed scope and dependent reviews, source-linked proposals, QA returns and financial distinctions. Rules keep calculations and gates deterministic; AI prepares permitted help. Existing read-model reporting explains progress without another analytics platform. Historical real model paths and SQL restart evidence establish technical feasibility at their dated boundary. Current whole-journey acceptance and resident or staff benefit still need proof. That is a substantial product foundation to build on.</a:t>
            </a:r>
          </a:p>
          <a:p>
            <a:pPr algn="l">
              <a:lnSpc>
                <a:spcPct val="105000"/>
              </a:lnSpc>
              <a:buNone/>
            </a:pPr>
            <a:r>
              <a:rPr lang="en-GB" sz="1200" b="0">
                <a:solidFill>
                  <a:srgbClr val="000000"/>
                </a:solidFill>
                <a:latin typeface="Arial"/>
              </a:rPr>
              <a:t>PRODUCT BOUNDARY: current components are the employee Workbench/shared API, core domain logic and SQL/Blob state/evidence, deterministic controls, bounded assistant paths and current reporting. Neither of the future analytics products belongs in this current-product architecture. Field-specific authoritative sources, permission projections and human review remain distinct; SQL owns programme state, not the truth of every property fact.</a:t>
            </a:r>
          </a:p>
          <a:p>
            <a:pPr algn="l">
              <a:lnSpc>
                <a:spcPct val="105000"/>
              </a:lnSpc>
              <a:buNone/>
            </a:pPr>
            <a:r>
              <a:rPr lang="en-GB" sz="1200" b="0">
                <a:solidFill>
                  <a:srgbClr val="000000"/>
                </a:solidFill>
                <a:latin typeface="Arial"/>
              </a:rPr>
              <a:t>IMPLEMENTATION CREDIT: bounded appointment/commitment mechanics, measure-specific QA, version-dependent invalidation, resident choice and remedy records, plus historical five-path generative and SQL persistence observations. Preserve source, constructed-test and actual-operator evidence classifications. A backlog Done label alone is not delivery or acceptance.</a:t>
            </a:r>
          </a:p>
          <a:p>
            <a:pPr algn="l">
              <a:lnSpc>
                <a:spcPct val="105000"/>
              </a:lnSpc>
              <a:buNone/>
            </a:pPr>
            <a:r>
              <a:rPr lang="en-GB" sz="1200" b="0">
                <a:solidFill>
                  <a:srgbClr val="000000"/>
                </a:solidFill>
                <a:latin typeface="Arial"/>
              </a:rPr>
              <a:t>SOURCES: src/api/README.md; src/core/README.md; src/agents/README.md; docs/capstone/source/diagrams/discovery-journey/text-equivalent.md, What the Product Can Earn Credit For. No private dataset or deployed build was freshly inspected by this presentation task.</a:t>
            </a:r>
          </a:p>
          <a:p>
            <a:pPr algn="l">
              <a:lnSpc>
                <a:spcPct val="105000"/>
              </a:lnSpc>
              <a:buNone/>
            </a:pPr>
            <a:r>
              <a:rPr lang="en-GB" sz="1200" b="0">
                <a:solidFill>
                  <a:srgbClr val="000000"/>
                </a:solidFill>
                <a:latin typeface="Arial"/>
              </a:rPr>
              <a:t>TRANSITION: explain the bounded adoption path and the existing file tools, then why rules and assistance have different jobs. The optional future roadmap comes near the close, after the current product story.</a:t>
            </a:r>
          </a:p>
          <a:p>
            <a:pPr algn="l">
              <a:lnSpc>
                <a:spcPct val="105000"/>
              </a:lnSpc>
              <a:buNone/>
            </a:pPr>
            <a:r>
              <a:rPr lang="en-GB" sz="1200" b="0">
                <a:solidFill>
                  <a:srgbClr val="000000"/>
                </a:solidFill>
                <a:latin typeface="Arial"/>
              </a:rPr>
              <a:t>TIMING: 50 s for this slide (all builds together) · 12:40-13:30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S14 | Adopt without a big-bang replacement.</a:t>
            </a:r>
          </a:p>
          <a:p>
            <a:pPr algn="l">
              <a:lnSpc>
                <a:spcPct val="105000"/>
              </a:lnSpc>
              <a:buNone/>
            </a:pPr>
            <a:r>
              <a:rPr lang="en-GB" sz="1200" b="0">
                <a:solidFill>
                  <a:srgbClr val="000000"/>
                </a:solidFill>
                <a:latin typeface="Arial"/>
              </a:rPr>
              <a:t>SAY in the retained 70-second slot: A product only helps if people can adopt it without losing their current work. The existing transition library and command line preview declared workbook structures, retain row and source lineage, quarantine conflicts and keep the original file unchanged. Review and supersession are explicit, with CSV and one-way Excel outputs for familiar comparison. That is useful engineering, not a claim that the web import journey or enterprise connectors are live. Owners still need to accept source mapping, reconciliation and the rollout. Keep manual and assisted routes usable. We do not replace the housing system or close spreadsheets by declaration; move only when the evidence and people are ready.</a:t>
            </a:r>
          </a:p>
          <a:p>
            <a:pPr algn="l">
              <a:lnSpc>
                <a:spcPct val="105000"/>
              </a:lnSpc>
              <a:buNone/>
            </a:pPr>
            <a:r>
              <a:rPr lang="en-GB" sz="1200" b="0">
                <a:solidFill>
                  <a:srgbClr val="000000"/>
                </a:solidFill>
                <a:latin typeface="Arial"/>
              </a:rPr>
              <a:t>EXACT CURRENT SCOPE: src/importer/README.md describes the XLSX reader/writer, declared case-list mapping, row preview, source hash/lineage, quarantine, approval separation, supersession, CSV/XLSX export and CLI. It explicitly lists web/HTTP import surface, all-list export buttons, queue transport, importer deployment behaviour and transition thresholds as not built or not set at that boundary. Do not turn the module into a claimed completed browser journey.</a:t>
            </a:r>
          </a:p>
          <a:p>
            <a:pPr algn="l">
              <a:lnSpc>
                <a:spcPct val="105000"/>
              </a:lnSpc>
              <a:buNone/>
            </a:pPr>
            <a:r>
              <a:rPr lang="en-GB" sz="1200" b="0">
                <a:solidFill>
                  <a:srgbClr val="000000"/>
                </a:solidFill>
                <a:latin typeface="Arial"/>
              </a:rPr>
              <a:t>VALUE TEST: compare mapping, checking, correction and reconciliation effort with the present file process. Test conflicts, supersession, retries and forbidden consequential bulk actions; acceptance must include staff and resident continuity. Familiar output formats do not authorize a wider data copy or live sending.</a:t>
            </a:r>
          </a:p>
          <a:p>
            <a:pPr algn="l">
              <a:lnSpc>
                <a:spcPct val="105000"/>
              </a:lnSpc>
              <a:buNone/>
            </a:pPr>
            <a:r>
              <a:rPr lang="en-GB" sz="1200" b="0">
                <a:solidFill>
                  <a:srgbClr val="000000"/>
                </a:solidFill>
                <a:latin typeface="Arial"/>
              </a:rPr>
              <a:t>SOURCES: src/importer/README.md; src/api/README.md; src/core/README.md. Historical sign-in and profile observations do not establish current staff/enterprise acceptance. The future options are addressed only near the close.</a:t>
            </a:r>
          </a:p>
          <a:p>
            <a:pPr algn="l">
              <a:lnSpc>
                <a:spcPct val="105000"/>
              </a:lnSpc>
              <a:buNone/>
            </a:pPr>
            <a:r>
              <a:rPr lang="en-GB" sz="1200" b="0">
                <a:solidFill>
                  <a:srgbClr val="000000"/>
                </a:solidFill>
                <a:latin typeface="Arial"/>
              </a:rPr>
              <a:t>TIMING: 70 s for this slide (all builds together) · 13:30-14:40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S15 | Five assists. One workflow. People decide.</a:t>
            </a:r>
          </a:p>
          <a:p>
            <a:pPr algn="l">
              <a:lnSpc>
                <a:spcPct val="105000"/>
              </a:lnSpc>
              <a:buNone/>
            </a:pPr>
            <a:r>
              <a:rPr lang="en-GB" sz="1200" b="0">
                <a:solidFill>
                  <a:srgbClr val="000000"/>
                </a:solidFill>
                <a:latin typeface="Arial"/>
              </a:rPr>
              <a:t>SAY within the retained 70-second slot: We kept the five business responsibilities, not five autonomous managers. The shared API owns permissions, versions and workflow. Rules do arithmetic and ranking; Decision 1 can select a supplied value or abstain; generative AI can prepare a sourced draft. A person still owns consequential decisions. We did not assume every structured field needs AI: a parser is the comparator. A separate worker or another model must earn its place through measured quality, effort, latency or recovery need. Integration has been observed historically; useful human-accepted work and current end-to-end acceptance remain separate.</a:t>
            </a:r>
          </a:p>
          <a:p>
            <a:pPr algn="l">
              <a:lnSpc>
                <a:spcPct val="105000"/>
              </a:lnSpc>
              <a:buNone/>
            </a:pPr>
            <a:r>
              <a:rPr lang="en-GB" sz="1200" b="0">
                <a:solidFill>
                  <a:srgbClr val="000000"/>
                </a:solidFill>
                <a:latin typeface="Arial"/>
              </a:rPr>
              <a:t>RATIONALE: ADR 0002 retains deterministic priorities and shared-API proposal services. Decision 1 is not a workflow engine and provides no provider rationale. Thresholds are application rules, not calibrated accuracy guarantees. Azure hosting preference does not establish a model-quality advantage.</a:t>
            </a:r>
          </a:p>
          <a:p>
            <a:pPr algn="l">
              <a:lnSpc>
                <a:spcPct val="105000"/>
              </a:lnSpc>
              <a:buNone/>
            </a:pPr>
            <a:r>
              <a:rPr lang="en-GB" sz="1200" b="0">
                <a:solidFill>
                  <a:srgbClr val="000000"/>
                </a:solidFill>
                <a:latin typeface="Arial"/>
              </a:rPr>
              <a:t>CURRENT SOURCE DISTINCTION: the employee chat has one read-only agent with five explicitly selected advisory skills; these are not five independently deployed managers or a new approval channel. Five proposal capabilities and the chat skill set are different surfaces.</a:t>
            </a:r>
          </a:p>
          <a:p>
            <a:pPr algn="l">
              <a:lnSpc>
                <a:spcPct val="105000"/>
              </a:lnSpc>
              <a:buNone/>
            </a:pPr>
            <a:r>
              <a:rPr lang="en-GB" sz="1200" b="0">
                <a:solidFill>
                  <a:srgbClr val="000000"/>
                </a:solidFill>
                <a:latin typeface="Arial"/>
              </a:rPr>
              <a:t>QUALITY LIMIT: the current agents guide retains an unsupported-claim-with-valid-citation counterexample as a critical enablement failure. Citation identifiers are not semantic truth. Named human review is not itself proof of effective review.</a:t>
            </a:r>
          </a:p>
          <a:p>
            <a:pPr algn="l">
              <a:lnSpc>
                <a:spcPct val="105000"/>
              </a:lnSpc>
              <a:buNone/>
            </a:pPr>
            <a:r>
              <a:rPr lang="en-GB" sz="1200" b="0">
                <a:solidFill>
                  <a:srgbClr val="000000"/>
                </a:solidFill>
                <a:latin typeface="Arial"/>
              </a:rPr>
              <a:t>NOT SELECTED: AI-owned ranking, consent, safety release, signatures, funding or payment approval. Deferred workers/queues are an operating option only when measured need justifies them. No task or proactive authority is enabled here.</a:t>
            </a:r>
          </a:p>
          <a:p>
            <a:pPr algn="l">
              <a:lnSpc>
                <a:spcPct val="105000"/>
              </a:lnSpc>
              <a:buNone/>
            </a:pPr>
            <a:r>
              <a:rPr lang="en-GB" sz="1200" b="0">
                <a:solidFill>
                  <a:srgbClr val="000000"/>
                </a:solidFill>
                <a:latin typeface="Arial"/>
              </a:rPr>
              <a:t>SOURCES: docs/adrs/0002-pilot-readiness-architecture.md; docs/ideas/typesafe-system-one-agent-fit.md; docs/reference/research/decision-1-behaviour-specification.md; src/agents/README.md; src/api/README.md.</a:t>
            </a:r>
          </a:p>
          <a:p>
            <a:pPr algn="l">
              <a:lnSpc>
                <a:spcPct val="105000"/>
              </a:lnSpc>
              <a:buNone/>
            </a:pPr>
            <a:r>
              <a:rPr lang="en-GB" sz="1200" b="0">
                <a:solidFill>
                  <a:srgbClr val="000000"/>
                </a:solidFill>
                <a:latin typeface="Arial"/>
              </a:rPr>
              <a:t>EVIDENCE: repository synthesis dated 2026-10-29; historical real-inference observations, source controls and missing acceptance are distinct. Value is a hypothesis, not a saving.</a:t>
            </a:r>
          </a:p>
          <a:p>
            <a:pPr algn="l">
              <a:lnSpc>
                <a:spcPct val="105000"/>
              </a:lnSpc>
              <a:buNone/>
            </a:pPr>
            <a:r>
              <a:rPr lang="en-GB" sz="1200" b="0">
                <a:solidFill>
                  <a:srgbClr val="000000"/>
                </a:solidFill>
                <a:latin typeface="Arial"/>
              </a:rPr>
              <a:t>DELIVERY: gesture once across the five responsibilities, then contrast the three tools. Pause on 'a person still owns consequential decisions'. For detail use B04 on page 31, B10 on page 37 and B20 on page 47. Native fixed slide-jump navigation is preserved, not reclassified as dynamic caller return.</a:t>
            </a:r>
          </a:p>
          <a:p>
            <a:pPr algn="l">
              <a:lnSpc>
                <a:spcPct val="105000"/>
              </a:lnSpc>
              <a:buNone/>
            </a:pPr>
            <a:r>
              <a:rPr lang="en-GB" sz="1200" b="0">
                <a:solidFill>
                  <a:srgbClr val="000000"/>
                </a:solidFill>
                <a:latin typeface="Arial"/>
              </a:rPr>
              <a:t>TIMING: 70 s for this slide (all builds together) · 14:40-15:50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test usability, not just output.</a:t>
            </a:r>
          </a:p>
          <a:p>
            <a:pPr algn="l">
              <a:lnSpc>
                <a:spcPct val="105000"/>
              </a:lnSpc>
              <a:buNone/>
            </a:pPr>
            <a:r>
              <a:rPr lang="en-GB" sz="1200" b="0">
                <a:solidFill>
                  <a:srgbClr val="000000"/>
                </a:solidFill>
                <a:latin typeface="Arial"/>
              </a:rPr>
              <a:t>SAY in the retained 60-second slot: There is one delivery lesson behind this roadmap. Our exploratory paper distinguishes activity from a usable outcome; more pull requests are not proof that the replacement works for its user. It is a single case with competing explanations, not a causal result. The proposed consolidation experiment is separate, paused and without results in the retained record. For this customer, the practical next step is simpler: use one home journey, test it against the comparator, inspect failures and total effort, then keep, change or stop before adding another capability. That is why the roadmap has evidence gates rather than a platform shopping list.</a:t>
            </a:r>
          </a:p>
          <a:p>
            <a:pPr algn="l">
              <a:lnSpc>
                <a:spcPct val="105000"/>
              </a:lnSpc>
              <a:buNone/>
            </a:pPr>
            <a:r>
              <a:rPr lang="en-GB" sz="1200" b="0">
                <a:solidFill>
                  <a:srgbClr val="000000"/>
                </a:solidFill>
                <a:latin typeface="Arial"/>
              </a:rPr>
              <a:t>DETAIL: the original PR/log observation windows, proposed experiment arms and rival explanations remain in the dated paper/story evidence and B13/page 40. They are not new housing results or an authority to execute research. Do not spend the main-route minute explaining the experimental arms.</a:t>
            </a:r>
          </a:p>
          <a:p>
            <a:pPr algn="l">
              <a:lnSpc>
                <a:spcPct val="105000"/>
              </a:lnSpc>
              <a:buNone/>
            </a:pPr>
            <a:r>
              <a:rPr lang="en-GB" sz="1200" b="0">
                <a:solidFill>
                  <a:srgbClr val="000000"/>
                </a:solidFill>
                <a:latin typeface="Arial"/>
              </a:rPr>
              <a:t>SOURCES: docs/capstone/thought-leadership/everything-but-the-software/README.md; retained 25 October story review in docs/capstone/history/cowork-generated/presentation-review-2026-10-25.md. This narration does not edit or freshly peer-review the paper.</a:t>
            </a:r>
          </a:p>
          <a:p>
            <a:pPr algn="l">
              <a:lnSpc>
                <a:spcPct val="105000"/>
              </a:lnSpc>
              <a:buNone/>
            </a:pPr>
            <a:r>
              <a:rPr lang="en-GB" sz="1200" b="0">
                <a:solidFill>
                  <a:srgbClr val="000000"/>
                </a:solidFill>
                <a:latin typeface="Arial"/>
              </a:rPr>
              <a:t>TRANSITION: now show what could earn its way onto the customer roadmap, with a value hypothesis and an explicit unlock for each lane. Existing fixed links remain unchanged.</a:t>
            </a:r>
          </a:p>
          <a:p>
            <a:pPr algn="l">
              <a:lnSpc>
                <a:spcPct val="105000"/>
              </a:lnSpc>
              <a:buNone/>
            </a:pPr>
            <a:r>
              <a:rPr lang="en-GB" sz="1200" b="0">
                <a:solidFill>
                  <a:srgbClr val="000000"/>
                </a:solidFill>
                <a:latin typeface="Arial"/>
              </a:rPr>
              <a:t>TIMING: 60 s for this slide (all builds together) · 19:30-20:30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S20 | Future: connected history and better agent context.</a:t>
            </a:r>
          </a:p>
          <a:p>
            <a:pPr algn="l">
              <a:lnSpc>
                <a:spcPct val="105000"/>
              </a:lnSpc>
              <a:buNone/>
            </a:pPr>
            <a:r>
              <a:rPr lang="en-GB" sz="1200" b="0">
                <a:solidFill>
                  <a:srgbClr val="000000"/>
                </a:solidFill>
                <a:latin typeface="Arial"/>
              </a:rPr>
              <a:t>SAY in the retained 60-second slot: Our built foundation is the Workbench, API, SQL and Blob, rules, bounded assistance and read-model reporting. Fabric and Power BI are not part of today's product. They are a future option for joined portfolio history. Keep the scales separate: sixty thousand fictional homes, nine hundred and eighty retained programme cases, and 43.8 million synthetic daily readings over 730 days. Managed analytics could reuse history and shared measures. A semantic model or preview ontology could make relationships between homes, assessments, measures and evidence explicit for permitted agent context. That might improve relevance, but we have not demonstrated a quality gain. Neither stock size nor row volume proves SQL inadequate. Context grants no permissions or decision authority.</a:t>
            </a:r>
          </a:p>
          <a:p>
            <a:pPr algn="l">
              <a:lnSpc>
                <a:spcPct val="105000"/>
              </a:lnSpc>
              <a:buNone/>
            </a:pPr>
            <a:r>
              <a:rPr lang="en-GB" sz="1200" b="0">
                <a:solidFill>
                  <a:srgbClr val="000000"/>
                </a:solidFill>
                <a:latin typeface="Arial"/>
              </a:rPr>
              <a:t>AI OPPORTUNITY: the 30 October official-documentation check describes ontology as a preview business-context layer, with entity types, properties, relationships, rules, metrics and source bindings. Supported agents can consume that context. A proposed Zava vocabulary might link Home, Building, Assessment, Measure, Evidence and Quality Review with source/version/time ownership. It is not a new operational store, a guaranteed integration with the existing assistants or a deterministic approval engine.</a:t>
            </a:r>
          </a:p>
          <a:p>
            <a:pPr algn="l">
              <a:lnSpc>
                <a:spcPct val="105000"/>
              </a:lnSpc>
              <a:buNone/>
            </a:pPr>
            <a:r>
              <a:rPr lang="en-GB" sz="1200" b="0">
                <a:solidFill>
                  <a:srgbClr val="000000"/>
                </a:solidFill>
                <a:latin typeface="Arial"/>
              </a:rPr>
              <a:t>ILLUSTRATIVE QUESTION: which current assessment and permitted evidence support this measure, and which related reviews would be affected by a source change? Unknown stock-to-case links, stale or disputed evidence and forbidden relationships remain unknown/refused; no guessed joins, inferred vulnerability or consent. Application checks still enforce role, case, field and representative rights. Ontology rules in natural language cannot replace the domain's deterministic gates or named human decisions.</a:t>
            </a:r>
          </a:p>
          <a:p>
            <a:pPr algn="l">
              <a:lnSpc>
                <a:spcPct val="105000"/>
              </a:lnSpc>
              <a:buNone/>
            </a:pPr>
            <a:r>
              <a:rPr lang="en-GB" sz="1200" b="0">
                <a:solidFill>
                  <a:srgbClr val="000000"/>
                </a:solidFill>
                <a:latin typeface="Arial"/>
              </a:rPr>
              <a:t>WHY LATER: prove the connected product journey and value first, select a recurring historical decision and define the minimum governed projection. Compare existing SQL/read-model context/reporting, a curated SQL projection and the optional managed semantic path on quality, preparation/review effort, freshness, latency, operating burden and full cost. Preview maturity, consumer compatibility, permissions across every read path, retention/corrections and recovery remain separate checks.</a:t>
            </a:r>
          </a:p>
          <a:p>
            <a:pPr algn="l">
              <a:lnSpc>
                <a:spcPct val="105000"/>
              </a:lnSpc>
              <a:buNone/>
            </a:pPr>
            <a:r>
              <a:rPr lang="en-GB" sz="1200" b="0">
                <a:solidFill>
                  <a:srgbClr val="000000"/>
                </a:solidFill>
                <a:latin typeface="Arial"/>
              </a:rPr>
              <a:t>SCALE CLASSIFICATION: 60,000 is fictional stock, not devices, residents, concurrent users or current cases. The 980-case lineage is separate. The 43.8M generated daily observations over 730 days are reconciled synthetic history, not actual sensors, calibrated conditions, a live throughput test or evidence of platform inadequacy.</a:t>
            </a:r>
          </a:p>
          <a:p>
            <a:pPr algn="l">
              <a:lnSpc>
                <a:spcPct val="105000"/>
              </a:lnSpc>
              <a:buNone/>
            </a:pPr>
            <a:r>
              <a:rPr lang="en-GB" sz="1200" b="0">
                <a:solidFill>
                  <a:srgbClr val="000000"/>
                </a:solidFill>
                <a:latin typeface="Arial"/>
              </a:rPr>
              <a:t>SOURCES: docs/reference/research/microsoft-fabric-fit-assessment.md, Future Agent Context Option (30 October); official Learn Fabric IQ and ontology overviews retrieved 30 October, ontology source/update 16 October and explicitly preview; docs/reference/research/iot-sensor-analytics-research-plan.md. The research follow-up records URLs and evidence limits. Official icons indicate the proposal, not deployment or partnership.</a:t>
            </a:r>
          </a:p>
          <a:p>
            <a:pPr algn="l">
              <a:lnSpc>
                <a:spcPct val="105000"/>
              </a:lnSpc>
              <a:buNone/>
            </a:pPr>
            <a:r>
              <a:rPr lang="en-GB" sz="1200" b="0">
                <a:solidFill>
                  <a:srgbClr val="000000"/>
                </a:solidFill>
                <a:latin typeface="Arial"/>
              </a:rPr>
              <a:t>TRANSITION: the final decision is to keep the current product's strengths, then evaluate the next need in stages rather than buy the whole future architecture.</a:t>
            </a:r>
          </a:p>
          <a:p>
            <a:pPr algn="l">
              <a:lnSpc>
                <a:spcPct val="105000"/>
              </a:lnSpc>
              <a:buNone/>
            </a:pPr>
            <a:r>
              <a:rPr lang="en-GB" sz="1200" b="0">
                <a:solidFill>
                  <a:srgbClr val="000000"/>
                </a:solidFill>
                <a:latin typeface="Arial"/>
              </a:rPr>
              <a:t>TIMING: 60 s for this slide (all builds together) · 20:30-21:30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S21 | Prove the need. Choose the smallest next step.</a:t>
            </a:r>
          </a:p>
          <a:p>
            <a:pPr algn="l">
              <a:lnSpc>
                <a:spcPct val="105000"/>
              </a:lnSpc>
              <a:buNone/>
            </a:pPr>
            <a:r>
              <a:rPr lang="en-GB" sz="1200" b="0">
                <a:solidFill>
                  <a:srgbClr val="000000"/>
                </a:solidFill>
                <a:latin typeface="Arial"/>
              </a:rPr>
              <a:t>SAY in the retained 60-second slot: The next decision is not to add a platform. First verify one connected home journey, including access denial, recovery, meaningful review and assisted service. Then define one recurring portfolio question and a costed, permission-bounded comparison. Start with existing SQL and read-model reporting; Power BI Import is another future option, not something already installed. Use the same permitted data, cohort, history and definitions. Compare reconciliation, preparation and review effort, freshness, source load and full cost. Separately compare existing scoped context, curated SQL context and optional preview ontology context against checked reference answers. A context improvement need not depend on adopting managed analytics. Include stale and forbidden relationships. Keep the simpler route if it wins. Agree owners and a review point; obtain separate authority before paid execution or expansion.</a:t>
            </a:r>
          </a:p>
          <a:p>
            <a:pPr algn="l">
              <a:lnSpc>
                <a:spcPct val="105000"/>
              </a:lnSpc>
              <a:buNone/>
            </a:pPr>
            <a:r>
              <a:rPr lang="en-GB" sz="1200" b="0">
                <a:solidFill>
                  <a:srgbClr val="000000"/>
                </a:solidFill>
                <a:latin typeface="Arial"/>
              </a:rPr>
              <a:t>PRODUCT MANAGEMENT: current-product verification, an analytics comparison and a context-quality experiment are different decisions and evidence sets. Bound planning effort too; propose no dates, staffing, pricing, deployment or platform commitment without actual ownership and authorization. A rejected technology increment does not diminish the engineered product foundation.</a:t>
            </a:r>
          </a:p>
          <a:p>
            <a:pPr algn="l">
              <a:lnSpc>
                <a:spcPct val="105000"/>
              </a:lnSpc>
              <a:buNone/>
            </a:pPr>
            <a:r>
              <a:rPr lang="en-GB" sz="1200" b="0">
                <a:solidFill>
                  <a:srgbClr val="000000"/>
                </a:solidFill>
                <a:latin typeface="Arial"/>
              </a:rPr>
              <a:t>COMPARATORS: current workflow without AI versus bounded help on the same permitted tasks; current SQL/read-model reporting versus a justified future Power BI/Fabric path for the same portfolio question; existing scoped agent context versus a curated SQL context and optional ontology context. Compare quality floors, critical misses, abstention, reviewer correction and complete effort/cost, not tokens or graph size alone.</a:t>
            </a:r>
          </a:p>
          <a:p>
            <a:pPr algn="l">
              <a:lnSpc>
                <a:spcPct val="105000"/>
              </a:lnSpc>
              <a:buNone/>
            </a:pPr>
            <a:r>
              <a:rPr lang="en-GB" sz="1200" b="0">
                <a:solidFill>
                  <a:srgbClr val="000000"/>
                </a:solidFill>
                <a:latin typeface="Arial"/>
              </a:rPr>
              <a:t>AUTHORITY: no approval transfers to an agent, ontology, semantic model or analytics report. Resident choice, professional acceptance, Finance decisions, data/privacy rights and safety handling remain independently owned. Named roles are proposed review functions, not appointed company postholders. Later narrow exercise approvals do not automatically fund this future option.</a:t>
            </a:r>
          </a:p>
          <a:p>
            <a:pPr algn="l">
              <a:lnSpc>
                <a:spcPct val="105000"/>
              </a:lnSpc>
              <a:buNone/>
            </a:pPr>
            <a:r>
              <a:rPr lang="en-GB" sz="1200" b="0">
                <a:solidFill>
                  <a:srgbClr val="000000"/>
                </a:solidFill>
                <a:latin typeface="Arial"/>
              </a:rPr>
              <a:t>SOURCES: docs/reference/research/company/pilot-measurement-challenge.md; docs/reference/research/microsoft-fabric-fit-assessment.md; docs/capstone/source/roadmap-recommendations.md. No paid experiment, current acceptance, benefit result or production decision is claimed.</a:t>
            </a:r>
          </a:p>
          <a:p>
            <a:pPr algn="l">
              <a:lnSpc>
                <a:spcPct val="105000"/>
              </a:lnSpc>
              <a:buNone/>
            </a:pPr>
            <a:r>
              <a:rPr lang="en-GB" sz="1200" b="0">
                <a:solidFill>
                  <a:srgbClr val="000000"/>
                </a:solidFill>
                <a:latin typeface="Arial"/>
              </a:rPr>
              <a:t>TRANSITION: the demo is the current same-home evidence/ownership story, not a demonstration of the future platform. The close returns to the built foundation and the next proof, before optional questions.</a:t>
            </a:r>
          </a:p>
          <a:p>
            <a:pPr algn="l">
              <a:lnSpc>
                <a:spcPct val="105000"/>
              </a:lnSpc>
              <a:buNone/>
            </a:pPr>
            <a:r>
              <a:rPr lang="en-GB" sz="1200" b="0">
                <a:solidFill>
                  <a:srgbClr val="000000"/>
                </a:solidFill>
                <a:latin typeface="Arial"/>
              </a:rPr>
              <a:t>TIMING: 60 s for this slide (all builds together) · 21:30-22:30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S22 | One home, one exception, one accountable next step.</a:t>
            </a:r>
          </a:p>
          <a:p>
            <a:pPr algn="l">
              <a:lnSpc>
                <a:spcPct val="105000"/>
              </a:lnSpc>
              <a:buNone/>
            </a:pPr>
            <a:r>
              <a:rPr lang="en-GB" sz="1200" b="0">
                <a:solidFill>
                  <a:srgbClr val="000000"/>
                </a:solidFill>
                <a:latin typeface="Arial"/>
              </a:rPr>
              <a:t>SAY: We confirm the route at preflight. The default is a labelled repository-evidence walkthrough, not a recording and not fresh inference. Use the live exercise only when the exact build, role, SQL state, permitted task and effective finite authority have actually passed preflight. If neither route has inspectable evidence, say that the demo is unavailable.</a:t>
            </a:r>
          </a:p>
          <a:p>
            <a:pPr algn="l">
              <a:lnSpc>
                <a:spcPct val="105000"/>
              </a:lnSpc>
              <a:buNone/>
            </a:pPr>
            <a:r>
              <a:rPr lang="en-GB" sz="1200" b="0">
                <a:solidFill>
                  <a:srgbClr val="000000"/>
                </a:solidFill>
                <a:latin typeface="Arial"/>
              </a:rPr>
              <a:t>Within two minutes show the fictional home, the evidence conflict, its accountable owner and the boundary between a draft and a human decision. The full prepared route is eight minutes plus two for questions or one recovery. Do not promise every step as working in a live system. Name what is observed, what is a source contract and what remains unproved.</a:t>
            </a:r>
          </a:p>
          <a:p>
            <a:pPr algn="l">
              <a:lnSpc>
                <a:spcPct val="105000"/>
              </a:lnSpc>
              <a:buNone/>
            </a:pPr>
            <a:r>
              <a:rPr lang="en-GB" sz="1200" b="0">
                <a:solidFill>
                  <a:srgbClr val="000000"/>
                </a:solidFill>
                <a:latin typeface="Arial"/>
              </a:rPr>
              <a:t>SOURCES: docs/capstone/demo/runbook.md; docs/capstone/pitch/README.md; current src component guides. No live operation, data export, sending, approval, paid model call or spending authority is granted by this introduction.</a:t>
            </a:r>
          </a:p>
          <a:p>
            <a:pPr algn="l">
              <a:lnSpc>
                <a:spcPct val="105000"/>
              </a:lnSpc>
              <a:buNone/>
            </a:pPr>
            <a:r>
              <a:rPr lang="en-GB" sz="1200" b="0">
                <a:solidFill>
                  <a:srgbClr val="000000"/>
                </a:solidFill>
                <a:latin typeface="Arial"/>
              </a:rPr>
              <a:t>NAVIGATION: S23/page 26 is the close after the separate demo. Its retained 30 seconds already belong to the presentation narration allocation.</a:t>
            </a:r>
          </a:p>
          <a:p>
            <a:pPr algn="l">
              <a:lnSpc>
                <a:spcPct val="105000"/>
              </a:lnSpc>
              <a:buNone/>
            </a:pPr>
            <a:r>
              <a:rPr lang="en-GB" sz="1200" b="0">
                <a:solidFill>
                  <a:srgbClr val="000000"/>
                </a:solidFill>
                <a:latin typeface="Arial"/>
              </a:rPr>
              <a:t>TIMING: 45 s for this slide (all builds together) · 22:30-23:15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S23 | A strong foundation, with an evidence-led future.</a:t>
            </a:r>
          </a:p>
          <a:p>
            <a:pPr algn="l">
              <a:lnSpc>
                <a:spcPct val="105000"/>
              </a:lnSpc>
              <a:buNone/>
            </a:pPr>
            <a:r>
              <a:rPr lang="en-GB" sz="1200" b="0">
                <a:solidFill>
                  <a:srgbClr val="000000"/>
                </a:solidFill>
                <a:latin typeface="Arial"/>
              </a:rPr>
              <a:t>SAY in the retained 30-second close: We built a Workbench around the home, the evidence and the next accountable action. The journey explains why its controls matter. Keep that foundation, prove the user value, then evaluate the next need: shared history and better context could make it stronger. The proposed future platform is not today's product. Agree owners and the next proof; return with evidence before expanding. People keep the authority.</a:t>
            </a:r>
          </a:p>
          <a:p>
            <a:pPr algn="l">
              <a:lnSpc>
                <a:spcPct val="105000"/>
              </a:lnSpc>
              <a:buNone/>
            </a:pPr>
            <a:r>
              <a:rPr lang="en-GB" sz="1200" b="0">
                <a:solidFill>
                  <a:srgbClr val="000000"/>
                </a:solidFill>
                <a:latin typeface="Arial"/>
              </a:rPr>
              <a:t>No delivered housing benefit, platform purchase, automatic scale-up or renewed spending approval follows. The current-product demo and optional future roadmap remain distinct before the Q&amp;A.</a:t>
            </a:r>
          </a:p>
          <a:p>
            <a:pPr algn="l">
              <a:lnSpc>
                <a:spcPct val="105000"/>
              </a:lnSpc>
              <a:buNone/>
            </a:pPr>
            <a:r>
              <a:rPr lang="en-GB" sz="1200" b="0">
                <a:solidFill>
                  <a:srgbClr val="000000"/>
                </a:solidFill>
                <a:latin typeface="Arial"/>
              </a:rPr>
              <a:t>TIMING: 30 s for this slide (all builds together) · 23:15-23:45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QX | Question index: optional depth after the current-product story and future proposal.</a:t>
            </a:r>
          </a:p>
          <a:p>
            <a:pPr algn="l">
              <a:lnSpc>
                <a:spcPct val="105000"/>
              </a:lnSpc>
              <a:buNone/>
            </a:pPr>
            <a:r>
              <a:rPr lang="en-GB" sz="1200" b="0">
                <a:solidFill>
                  <a:srgbClr val="000000"/>
                </a:solidFill>
                <a:latin typeface="Arial"/>
              </a:rPr>
              <a:t>Pages 1-22 establish the built product and design reasoning; pages 23-24 propose the separate future portfolio/history/context opportunity. Pages 25-26 demonstrate/debrief the current product and close. Fabric and Power BI are not current components. All 54 page numbers and fixed native action targets are preserved.</a:t>
            </a:r>
          </a:p>
          <a:p>
            <a:pPr algn="l">
              <a:lnSpc>
                <a:spcPct val="105000"/>
              </a:lnSpc>
              <a:buNone/>
            </a:pPr>
            <a:r>
              <a:rPr lang="en-GB" sz="1200" b="0">
                <a:solidFill>
                  <a:srgbClr val="000000"/>
                </a:solidFill>
                <a:latin typeface="Arial"/>
              </a:rPr>
              <a:t>B20/page 47 provides future-platform alternatives. Its retained Topic button still goes to page 15, the current adoption boundary, not the future roadmap. Type page 23 deliberately when discussing the future option. B04/page 31 is conditional model value, not established savings. PDF back-history is viewer-specific.</a:t>
            </a:r>
          </a:p>
          <a:p>
            <a:pPr algn="l">
              <a:lnSpc>
                <a:spcPct val="105000"/>
              </a:lnSpc>
              <a:buNone/>
            </a:pPr>
            <a:r>
              <a:rPr lang="en-GB" sz="1200" b="0">
                <a:solidFill>
                  <a:srgbClr val="000000"/>
                </a:solidFill>
                <a:latin typeface="Arial"/>
              </a:rPr>
              <a:t>Restate the question, answer it directly, then add evidence and its limit. Return to the actual interrupted page deliberately. Optional depth consumes the discussion reserve; silence is not consent or approval. Native/keyboard and human acceptance are separate checks.</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B01 | Why not fix the process and hire more people instead?</a:t>
            </a:r>
          </a:p>
          <a:p>
            <a:pPr algn="l">
              <a:lnSpc>
                <a:spcPct val="105000"/>
              </a:lnSpc>
              <a:buNone/>
            </a:pPr>
            <a:r>
              <a:rPr lang="en-GB" sz="1200" b="0">
                <a:solidFill>
                  <a:srgbClr val="000000"/>
                </a:solidFill>
                <a:latin typeface="Arial"/>
              </a:rPr>
              <a:t>Question-led appendix answer | Audience: CEO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 improvement is the baseline</a:t>
            </a:r>
          </a:p>
          <a:p>
            <a:pPr algn="l">
              <a:lnSpc>
                <a:spcPct val="105000"/>
              </a:lnSpc>
              <a:buNone/>
            </a:pPr>
            <a:r>
              <a:rPr lang="en-GB" sz="1200" b="0">
                <a:solidFill>
                  <a:srgbClr val="000000"/>
                </a:solidFill>
                <a:latin typeface="Arial"/>
              </a:rPr>
              <a:t>- AI must beat the same workflow without AI</a:t>
            </a:r>
          </a:p>
          <a:p>
            <a:pPr algn="l">
              <a:lnSpc>
                <a:spcPct val="105000"/>
              </a:lnSpc>
              <a:buNone/>
            </a:pPr>
            <a:r>
              <a:rPr lang="en-GB" sz="1200" b="0">
                <a:solidFill>
                  <a:srgbClr val="000000"/>
                </a:solidFill>
                <a:latin typeface="Arial"/>
              </a:rPr>
              <a:t>- Physical delivery capacity still limits throughput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options with explicit trade-offs: manual/process only; workflow + rules; workflow + bounded AI.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S04 (slide 4), the bottleneck between teams.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Saved time is capacity until Finance confirms a real value destination.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B02 | Is this replacing our housing system or integrating with it?</a:t>
            </a:r>
          </a:p>
          <a:p>
            <a:pPr algn="l">
              <a:lnSpc>
                <a:spcPct val="105000"/>
              </a:lnSpc>
              <a:buNone/>
            </a:pPr>
            <a:r>
              <a:rPr lang="en-GB" sz="1200" b="0">
                <a:solidFill>
                  <a:srgbClr val="000000"/>
                </a:solidFill>
                <a:latin typeface="Arial"/>
              </a:rPr>
              <a:t>Question-led appendix answer | Audience: CIO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Demonstrator of coordination and evidence contracts</a:t>
            </a:r>
          </a:p>
          <a:p>
            <a:pPr algn="l">
              <a:lnSpc>
                <a:spcPct val="105000"/>
              </a:lnSpc>
              <a:buNone/>
            </a:pPr>
            <a:r>
              <a:rPr lang="en-GB" sz="1200" b="0">
                <a:solidFill>
                  <a:srgbClr val="000000"/>
                </a:solidFill>
                <a:latin typeface="Arial"/>
              </a:rPr>
              <a:t>- No live housing/repairs integration proven</a:t>
            </a:r>
          </a:p>
          <a:p>
            <a:pPr algn="l">
              <a:lnSpc>
                <a:spcPct val="105000"/>
              </a:lnSpc>
              <a:buNone/>
            </a:pPr>
            <a:r>
              <a:rPr lang="en-GB" sz="1200" b="0">
                <a:solidFill>
                  <a:srgbClr val="000000"/>
                </a:solidFill>
                <a:latin typeface="Arial"/>
              </a:rPr>
              <a:t>- Integration scope, authority and migration need separate discovery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Current workbench solid; customer systems outlined and labelled 'future integration appraisal'.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S11 (slide 12), meet the workbench.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B03 | Why did you not build exactly the five agents we requested?</a:t>
            </a:r>
          </a:p>
          <a:p>
            <a:pPr algn="l">
              <a:lnSpc>
                <a:spcPct val="105000"/>
              </a:lnSpc>
              <a:buNone/>
            </a:pPr>
            <a:r>
              <a:rPr lang="en-GB" sz="1200" b="0">
                <a:solidFill>
                  <a:srgbClr val="000000"/>
                </a:solidFill>
                <a:latin typeface="Arial"/>
              </a:rPr>
              <a:t>Question-led appendix answer | Audience: CEO / sponsor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Five requested responsibilities are preserved</a:t>
            </a:r>
          </a:p>
          <a:p>
            <a:pPr algn="l">
              <a:lnSpc>
                <a:spcPct val="105000"/>
              </a:lnSpc>
              <a:buNone/>
            </a:pPr>
            <a:r>
              <a:rPr lang="en-GB" sz="1200" b="0">
                <a:solidFill>
                  <a:srgbClr val="000000"/>
                </a:solidFill>
                <a:latin typeface="Arial"/>
              </a:rPr>
              <a:t>- Autonomy is bounded by decision rights and risk</a:t>
            </a:r>
          </a:p>
          <a:p>
            <a:pPr algn="l">
              <a:lnSpc>
                <a:spcPct val="105000"/>
              </a:lnSpc>
              <a:buNone/>
            </a:pPr>
            <a:r>
              <a:rPr lang="en-GB" sz="1200" b="0">
                <a:solidFill>
                  <a:srgbClr val="000000"/>
                </a:solidFill>
                <a:latin typeface="Arial"/>
              </a:rPr>
              <a:t>- Five assistants != five independent runtimes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Five-row mapping: original responsibility -&gt; bounded help -&gt; human decision owner. Funding -&gt; Finance submits; quality -&gt; independent professional accepts; coordination -&gt; resident agrees; stock -&gt; approved policy/human review; assessment -&gt; qualified reviewer.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B04 | Decision 1 must beat the simpler baseline.</a:t>
            </a:r>
          </a:p>
          <a:p>
            <a:pPr algn="l">
              <a:lnSpc>
                <a:spcPct val="105000"/>
              </a:lnSpc>
              <a:buNone/>
            </a:pPr>
            <a:r>
              <a:rPr lang="en-GB" sz="1200" b="0">
                <a:solidFill>
                  <a:srgbClr val="000000"/>
                </a:solidFill>
                <a:latin typeface="Arial"/>
              </a:rPr>
              <a:t>SHORT ANSWER: It is a conditional closed-question scoring tool, not a proven cost or latency improvement. Use deterministic parsing for a clear labelled EPC field unless a like-for-like comparison demonstrates an incremental benefit.</a:t>
            </a:r>
          </a:p>
          <a:p>
            <a:pPr algn="l">
              <a:lnSpc>
                <a:spcPct val="105000"/>
              </a:lnSpc>
              <a:buNone/>
            </a:pPr>
            <a:r>
              <a:rPr lang="en-GB" sz="1200" b="0">
                <a:solidFill>
                  <a:srgbClr val="000000"/>
                </a:solidFill>
                <a:latin typeface="Arial"/>
              </a:rPr>
              <a:t>CHOICE: Decision 1 selects one supplied candidate or abstains; the evidence-support task is binary. Generative inference produces the cited narrative. Rules retain calculations, priorities, source freshness and approval gates. Neither model receives workflow credentials or approval authority.</a:t>
            </a:r>
          </a:p>
          <a:p>
            <a:pPr algn="l">
              <a:lnSpc>
                <a:spcPct val="105000"/>
              </a:lnSpc>
              <a:buNone/>
            </a:pPr>
            <a:r>
              <a:rPr lang="en-GB" sz="1200" b="0">
                <a:solidFill>
                  <a:srgbClr val="000000"/>
                </a:solidFill>
                <a:latin typeface="Arial"/>
              </a:rPr>
              <a:t>DISCARDED ASSUMPTION: one general-purpose agent for every task. A model call is not required for deterministic arithmetic or an exact labelled field. Decision 1 does not generate an explanation; the application must not invent a provider rationale.</a:t>
            </a:r>
          </a:p>
          <a:p>
            <a:pPr algn="l">
              <a:lnSpc>
                <a:spcPct val="105000"/>
              </a:lnSpc>
              <a:buNone/>
            </a:pPr>
            <a:r>
              <a:rPr lang="en-GB" sz="1200" b="0">
                <a:solidFill>
                  <a:srgbClr val="000000"/>
                </a:solidFill>
                <a:latin typeface="Arial"/>
              </a:rPr>
              <a:t>EVALUATE: the same held-out cases across manual/template, parser/rules, Decision/templates, generation and hybrid arms where relevant. Include errors, abstentions, reviewer checks, corrections, re-review, latency, operating costs and failure/manual handling. Binary support results cannot establish three-class macro-F1.</a:t>
            </a:r>
          </a:p>
          <a:p>
            <a:pPr algn="l">
              <a:lnSpc>
                <a:spcPct val="105000"/>
              </a:lnSpc>
              <a:buNone/>
            </a:pPr>
            <a:r>
              <a:rPr lang="en-GB" sz="1200" b="0">
                <a:solidFill>
                  <a:srgbClr val="000000"/>
                </a:solidFill>
                <a:latin typeface="Arial"/>
              </a:rPr>
              <a:t>LIMITS: the historical probability/margin thresholds were not calibrated on held-out human-labelled data. Actual source-bound calls show feasibility, not accuracy or human value. The current critical unsupported-claim-with-valid-citation finding stays open; a valid citation ID does not prove a supported claim.</a:t>
            </a:r>
          </a:p>
          <a:p>
            <a:pPr algn="l">
              <a:lnSpc>
                <a:spcPct val="105000"/>
              </a:lnSpc>
              <a:buNone/>
            </a:pPr>
            <a:r>
              <a:rPr lang="en-GB" sz="1200" b="0">
                <a:solidFill>
                  <a:srgbClr val="000000"/>
                </a:solidFill>
                <a:latin typeface="Arial"/>
              </a:rPr>
              <a:t>REVERSAL: retain the simpler parser/workflow if quality or net effort does not improve. This is a proposed adoption test, not a funded experiment or approval to enable a task.</a:t>
            </a:r>
          </a:p>
          <a:p>
            <a:pPr algn="l">
              <a:lnSpc>
                <a:spcPct val="105000"/>
              </a:lnSpc>
              <a:buNone/>
            </a:pPr>
            <a:r>
              <a:rPr lang="en-GB" sz="1200" b="0">
                <a:solidFill>
                  <a:srgbClr val="000000"/>
                </a:solidFill>
                <a:latin typeface="Arial"/>
              </a:rPr>
              <a:t>SOURCES: docs/reference/research/decision-1-behaviour-specification.md (2026-10-11 specification of pinned historical behaviour); docs/ideas/typesafe-system-one-agent-fit.md; src/agents/README.md. Repository synthesis dated 2026-10-29, not fresh provider documentation or a new model run.</a:t>
            </a:r>
          </a:p>
          <a:p>
            <a:pPr algn="l">
              <a:lnSpc>
                <a:spcPct val="105000"/>
              </a:lnSpc>
              <a:buNone/>
            </a:pPr>
            <a:r>
              <a:rPr lang="en-GB" sz="1200" b="0">
                <a:solidFill>
                  <a:srgbClr val="000000"/>
                </a:solidFill>
                <a:latin typeface="Arial"/>
              </a:rPr>
              <a:t>NAVIGATION: B04, page 31; question index page 27; fixed topic S15/page 16. Existing native slide-jump links are retained exactly.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B05 | What does the technology cost today?</a:t>
            </a:r>
          </a:p>
          <a:p>
            <a:pPr algn="l">
              <a:lnSpc>
                <a:spcPct val="105000"/>
              </a:lnSpc>
              <a:buNone/>
            </a:pPr>
            <a:r>
              <a:rPr lang="en-GB" sz="1200" b="0">
                <a:solidFill>
                  <a:srgbClr val="000000"/>
                </a:solidFill>
                <a:latin typeface="Arial"/>
              </a:rPr>
              <a:t>Question-led appendix answer, CFO; outside spoken route.</a:t>
            </a:r>
          </a:p>
          <a:p>
            <a:pPr algn="l">
              <a:lnSpc>
                <a:spcPct val="105000"/>
              </a:lnSpc>
              <a:buNone/>
            </a:pPr>
            <a:r>
              <a:rPr lang="en-GB" sz="1200" b="0">
                <a:solidFill>
                  <a:srgbClr val="000000"/>
                </a:solidFill>
                <a:latin typeface="Arial"/>
              </a:rPr>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pPr algn="l">
              <a:lnSpc>
                <a:spcPct val="105000"/>
              </a:lnSpc>
              <a:buNone/>
            </a:pPr>
            <a:r>
              <a:rPr lang="en-GB" sz="1200" b="0">
                <a:solidFill>
                  <a:srgbClr val="000000"/>
                </a:solidFill>
                <a:latin typeface="Arial"/>
              </a:rPr>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pPr algn="l">
              <a:lnSpc>
                <a:spcPct val="105000"/>
              </a:lnSpc>
              <a:buNone/>
            </a:pPr>
            <a:r>
              <a:rPr lang="en-GB" sz="1200" b="0">
                <a:solidFill>
                  <a:srgbClr val="000000"/>
                </a:solidFill>
                <a:latin typeface="Arial"/>
              </a:rPr>
              <a:t>E11 dated owner decision; E05 unexecuted money-control requirements; E21 recovered inference scenario in evidence/ai-cost-evidence.md (2026-10-24), secondary price as at 2026-10-23. No issue #435 acceptance.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B06 | How do residents retain choice, especially without digital access?</a:t>
            </a:r>
          </a:p>
          <a:p>
            <a:pPr algn="l">
              <a:lnSpc>
                <a:spcPct val="105000"/>
              </a:lnSpc>
              <a:buNone/>
            </a:pPr>
            <a:r>
              <a:rPr lang="en-GB" sz="1200" b="0">
                <a:solidFill>
                  <a:srgbClr val="000000"/>
                </a:solidFill>
                <a:latin typeface="Arial"/>
              </a:rPr>
              <a:t>ANSWER FIRST: assisted phone, letter and visit routes remain; an optional digital channel never creates works consent or removes human help. A household can ask, defer, decline or withdraw for a specific scope. Representative permission is task-limited and checked separately from login, communication access and works choice.</a:t>
            </a:r>
          </a:p>
          <a:p>
            <a:pPr algn="l">
              <a:lnSpc>
                <a:spcPct val="105000"/>
              </a:lnSpc>
              <a:buNone/>
            </a:pPr>
            <a:r>
              <a:rPr lang="en-GB" sz="1200" b="0">
                <a:solidFill>
                  <a:srgbClr val="000000"/>
                </a:solidFill>
                <a:latin typeface="Arial"/>
              </a:rPr>
              <a:t>CURRENT SOURCE STATUS: later bounded resident showcase, advisory-answer and callback source exists, as described in the current API and resident-assistant guides. That engineering does not establish operational enrolment, appointments, meaningful consent, direct comprehension or live acceptance. The old 23 October portal-under-assessment and unpublished-local-work account is historical, not the current source inventory. The displayed under-assessment status still applies to operational service/acceptance, not absence of all source work.</a:t>
            </a:r>
          </a:p>
          <a:p>
            <a:pPr algn="l">
              <a:lnSpc>
                <a:spcPct val="105000"/>
              </a:lnSpc>
              <a:buNone/>
            </a:pPr>
            <a:r>
              <a:rPr lang="en-GB" sz="1200" b="0">
                <a:solidFill>
                  <a:srgbClr val="000000"/>
                </a:solidFill>
                <a:latin typeface="Arial"/>
              </a:rPr>
              <a:t>DESIGN AND TEST: preserve safe contact, language/format support, task-specific representative grants, explicit supplied scope choices and owned exceptions. No silence, booking, login or normal sensor value establishes consent or safety. Test recovery, cross-case denial, representative revocation, assisted continuity and actual resident/staff effort; roles and capabilities do not prove availability or human effectiveness.</a:t>
            </a:r>
          </a:p>
          <a:p>
            <a:pPr algn="l">
              <a:lnSpc>
                <a:spcPct val="105000"/>
              </a:lnSpc>
              <a:buNone/>
            </a:pPr>
            <a:r>
              <a:rPr lang="en-GB" sz="1200" b="0">
                <a:solidFill>
                  <a:srgbClr val="000000"/>
                </a:solidFill>
                <a:latin typeface="Arial"/>
              </a:rPr>
              <a:t>SOURCES: docs/reference/research/ux/customer-journeys/residents.md; docs/architecture/resident-assistant-prototype.md; src/api/README.md; addendum optional resident proposal. The main resident journey is a DT Coach synthesis of pain/gain hypotheses, not direct testimony or a completed user study.</a:t>
            </a:r>
          </a:p>
          <a:p>
            <a:pPr algn="l">
              <a:lnSpc>
                <a:spcPct val="105000"/>
              </a:lnSpc>
              <a:buNone/>
            </a:pPr>
            <a:r>
              <a:rPr lang="en-GB" sz="1200" b="0">
                <a:solidFill>
                  <a:srgbClr val="000000"/>
                </a:solidFill>
                <a:latin typeface="Arial"/>
              </a:rPr>
              <a:t>NAVIGATION: B06/page 33; fixed topic S12/page 13 now shows the editable resident journey. Native actions remain fixed; return to the actual interrupted page deliberately.</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B07 | What stops a human from rubber-stamping AI?</a:t>
            </a:r>
          </a:p>
          <a:p>
            <a:pPr algn="l">
              <a:lnSpc>
                <a:spcPct val="105000"/>
              </a:lnSpc>
              <a:buNone/>
            </a:pPr>
            <a:r>
              <a:rPr lang="en-GB" sz="1200" b="0">
                <a:solidFill>
                  <a:srgbClr val="000000"/>
                </a:solidFill>
                <a:latin typeface="Arial"/>
              </a:rPr>
              <a:t>Question-led appendix answer | Audience: Risk / compliance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Source verification before proposal acceptance</a:t>
            </a:r>
          </a:p>
          <a:p>
            <a:pPr algn="l">
              <a:lnSpc>
                <a:spcPct val="105000"/>
              </a:lnSpc>
              <a:buNone/>
            </a:pPr>
            <a:r>
              <a:rPr lang="en-GB" sz="1200" b="0">
                <a:solidFill>
                  <a:srgbClr val="000000"/>
                </a:solidFill>
                <a:latin typeface="Arial"/>
              </a:rPr>
              <a:t>- Current permission, evidence and independent authority</a:t>
            </a:r>
          </a:p>
          <a:p>
            <a:pPr algn="l">
              <a:lnSpc>
                <a:spcPct val="105000"/>
              </a:lnSpc>
              <a:buNone/>
            </a:pPr>
            <a:r>
              <a:rPr lang="en-GB" sz="1200" b="0">
                <a:solidFill>
                  <a:srgbClr val="000000"/>
                </a:solidFill>
                <a:latin typeface="Arial"/>
              </a:rPr>
              <a:t>- Meaningful oversight remains a human acceptance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review and separate domain action highlighted.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B08 | Will this double retrofit delivery and capture GBP 40 million?</a:t>
            </a:r>
          </a:p>
          <a:p>
            <a:pPr algn="l">
              <a:lnSpc>
                <a:spcPct val="105000"/>
              </a:lnSpc>
              <a:buNone/>
            </a:pPr>
            <a:r>
              <a:rPr lang="en-GB" sz="1200" b="0">
                <a:solidFill>
                  <a:srgbClr val="000000"/>
                </a:solidFill>
                <a:latin typeface="Arial"/>
              </a:rPr>
              <a:t>Question-led appendix answer | Audience: CEO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Original brief ambitions: the outcomes the pilot measures</a:t>
            </a:r>
          </a:p>
          <a:p>
            <a:pPr algn="l">
              <a:lnSpc>
                <a:spcPct val="105000"/>
              </a:lnSpc>
              <a:buNone/>
            </a:pPr>
            <a:r>
              <a:rPr lang="en-GB" sz="1200" b="0">
                <a:solidFill>
                  <a:srgbClr val="000000"/>
                </a:solidFill>
                <a:latin typeface="Arial"/>
              </a:rPr>
              <a:t>- Capacity, scope, eligibility and cash all constrain value</a:t>
            </a:r>
          </a:p>
          <a:p>
            <a:pPr algn="l">
              <a:lnSpc>
                <a:spcPct val="105000"/>
              </a:lnSpc>
              <a:buNone/>
            </a:pPr>
            <a:r>
              <a:rPr lang="en-GB" sz="1200" b="0">
                <a:solidFill>
                  <a:srgbClr val="000000"/>
                </a:solidFill>
                <a:latin typeface="Arial"/>
              </a:rPr>
              <a:t>- Frozen cohorts and attributable comparisons required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Ambition -&gt; dependencies -&gt; test -&gt; observed result, with the final cell explicitly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S05 (slide 6), the forecast.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The 60,000-home stock, the 980-case retained programme and small test cohorts are different populations.</a:t>
            </a:r>
          </a:p>
          <a:p>
            <a:pPr algn="l">
              <a:lnSpc>
                <a:spcPct val="105000"/>
              </a:lnSpc>
              <a:buNone/>
            </a:pPr>
            <a:r>
              <a:rPr lang="en-GB" sz="1200" b="0">
                <a:solidFill>
                  <a:srgbClr val="000000"/>
                </a:solidFill>
                <a:latin typeface="Arial"/>
              </a:rPr>
              <a:t>- Saved time is capacity until Finance confirms a real value destination.</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B09 | What is the per-home business case and cash exposure?</a:t>
            </a:r>
          </a:p>
          <a:p>
            <a:pPr algn="l">
              <a:lnSpc>
                <a:spcPct val="105000"/>
              </a:lnSpc>
              <a:buNone/>
            </a:pPr>
            <a:r>
              <a:rPr lang="en-GB" sz="1200" b="0">
                <a:solidFill>
                  <a:srgbClr val="000000"/>
                </a:solidFill>
                <a:latin typeface="Arial"/>
              </a:rPr>
              <a:t>Question-led appendix answer, CFO/asset executive; outside spoken route.</a:t>
            </a:r>
          </a:p>
          <a:p>
            <a:pPr algn="l">
              <a:lnSpc>
                <a:spcPct val="105000"/>
              </a:lnSpc>
              <a:buNone/>
            </a:pPr>
            <a:r>
              <a:rPr lang="en-GB" sz="1200" b="0">
                <a:solidFill>
                  <a:srgbClr val="000000"/>
                </a:solidFill>
                <a:latin typeface="Arial"/>
              </a:rPr>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pPr algn="l">
              <a:lnSpc>
                <a:spcPct val="105000"/>
              </a:lnSpc>
              <a:buNone/>
            </a:pPr>
            <a:r>
              <a:rPr lang="en-GB" sz="1200" b="0">
                <a:solidFill>
                  <a:srgbClr val="000000"/>
                </a:solidFill>
                <a:latin typeface="Arial"/>
              </a:rPr>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pPr algn="l">
              <a:lnSpc>
                <a:spcPct val="105000"/>
              </a:lnSpc>
              <a:buNone/>
            </a:pPr>
            <a:r>
              <a:rPr lang="en-GB" sz="1200" b="0">
                <a:solidFill>
                  <a:srgbClr val="000000"/>
                </a:solidFill>
                <a:latin typeface="Arial"/>
              </a:rPr>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pPr algn="l">
              <a:lnSpc>
                <a:spcPct val="105000"/>
              </a:lnSpc>
              <a:buNone/>
            </a:pPr>
            <a:r>
              <a:rPr lang="en-GB" sz="1200" b="0">
                <a:solidFill>
                  <a:srgbClr val="000000"/>
                </a:solidFill>
                <a:latin typeface="Arial"/>
              </a:rPr>
              <a:t>E02 exercise fixtures; E21 evidence/ai-cost-evidence.md, Recovered Council Comparison (2026-10-24). Keep GBP works distinct from USD technology; no comparison percentage without approved FX. Native buttons use fixed slide jumps, not dynamic caller return. Navigate deliberately to the interrupted page; topic S10 slide 11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B10 | One controlled API now; split only for measured need.</a:t>
            </a:r>
          </a:p>
          <a:p>
            <a:pPr algn="l">
              <a:lnSpc>
                <a:spcPct val="105000"/>
              </a:lnSpc>
              <a:buNone/>
            </a:pPr>
            <a:r>
              <a:rPr lang="en-GB" sz="1200" b="0">
                <a:solidFill>
                  <a:srgbClr val="000000"/>
                </a:solidFill>
                <a:latin typeface="Arial"/>
              </a:rPr>
              <a:t>SHORT ANSWER: Five business responsibilities do not require five independently operated services. The retained shared-API design avoids extra distributed state, retry and deployment boundaries while testing controlled end-to-end work.</a:t>
            </a:r>
          </a:p>
          <a:p>
            <a:pPr algn="l">
              <a:lnSpc>
                <a:spcPct val="105000"/>
              </a:lnSpc>
              <a:buNone/>
            </a:pPr>
            <a:r>
              <a:rPr lang="en-GB" sz="1200" b="0">
                <a:solidFill>
                  <a:srgbClr val="000000"/>
                </a:solidFill>
                <a:latin typeface="Arial"/>
              </a:rPr>
              <a:t>RUNTIME: ADR 0002 chooses Container Apps over AKS for the application baseline to avoid cluster operating overhead. No measured claim of lower total cost or higher availability is made. Introduce a queue or worker only for a demonstrated isolation, scaling, long-running work or recovery requirement. Deferred topology is not the deployed five-assistant runtime.</a:t>
            </a:r>
          </a:p>
          <a:p>
            <a:pPr algn="l">
              <a:lnSpc>
                <a:spcPct val="105000"/>
              </a:lnSpc>
              <a:buNone/>
            </a:pPr>
            <a:r>
              <a:rPr lang="en-GB" sz="1200" b="0">
                <a:solidFill>
                  <a:srgbClr val="000000"/>
                </a:solidFill>
                <a:latin typeface="Arial"/>
              </a:rPr>
              <a:t>PERSISTENCE: Azure SQL owns relational transitions, versioned state and the audit/ledger design; Blob holds evidence bytes with references and hashes in SQL. A shared JSON file has concurrency weaknesses. Cosmos DB is not ruled out universally, but a document-oriented store is a less direct fit for this retained relational/gated transition contract. PostgreSQL remains a viable alternative when portability matters, with separate audit/control engineering. No benchmark or completed migration appraisal is implied.</a:t>
            </a:r>
          </a:p>
          <a:p>
            <a:pPr algn="l">
              <a:lnSpc>
                <a:spcPct val="105000"/>
              </a:lnSpc>
              <a:buNone/>
            </a:pPr>
            <a:r>
              <a:rPr lang="en-GB" sz="1200" b="0">
                <a:solidFill>
                  <a:srgbClr val="000000"/>
                </a:solidFill>
                <a:latin typeface="Arial"/>
              </a:rPr>
              <a:t>IDENTITY: Entra plus trusted platform ingress authenticates; every request still needs server-enforced role, case and field checks. A shared password, browser hiding or model prompt is not equivalent authorisation. Sign-in is not professional, resident or financial authority.</a:t>
            </a:r>
          </a:p>
          <a:p>
            <a:pPr algn="l">
              <a:lnSpc>
                <a:spcPct val="105000"/>
              </a:lnSpc>
              <a:buNone/>
            </a:pPr>
            <a:r>
              <a:rPr lang="en-GB" sz="1200" b="0">
                <a:solidFill>
                  <a:srgbClr val="000000"/>
                </a:solidFill>
                <a:latin typeface="Arial"/>
              </a:rPr>
              <a:t>CURRENT STRUCTURE: the five src distributions are core, agents, api, orchestrator and importer. Python package boundaries are not evidence of five deployed autonomous workers. Use src/README.md for current commands; preserve old mvp paths only in explicitly historical evidence.</a:t>
            </a:r>
          </a:p>
          <a:p>
            <a:pPr algn="l">
              <a:lnSpc>
                <a:spcPct val="105000"/>
              </a:lnSpc>
              <a:buNone/>
            </a:pPr>
            <a:r>
              <a:rPr lang="en-GB" sz="1200" b="0">
                <a:solidFill>
                  <a:srgbClr val="000000"/>
                </a:solidFill>
                <a:latin typeface="Arial"/>
              </a:rPr>
              <a:t>VALUE HYPOTHESIS: fewer conflicting updates and fewer operating boundaries. Verify human effort, recovery and load before treating architectural simplicity as a measured benefit.</a:t>
            </a:r>
          </a:p>
          <a:p>
            <a:pPr algn="l">
              <a:lnSpc>
                <a:spcPct val="105000"/>
              </a:lnSpc>
              <a:buNone/>
            </a:pPr>
            <a:r>
              <a:rPr lang="en-GB" sz="1200" b="0">
                <a:solidFill>
                  <a:srgbClr val="000000"/>
                </a:solidFill>
                <a:latin typeface="Arial"/>
              </a:rPr>
              <a:t>SOURCES: docs/adrs/0002-pilot-readiness-architecture.md (runtime, data-store and identity decisions); docs/adrs/0006-src-layout-and-cutover.md; src/README.md. Repository synthesis 2026-10-29; no fresh deployment or platform test.</a:t>
            </a:r>
          </a:p>
          <a:p>
            <a:pPr algn="l">
              <a:lnSpc>
                <a:spcPct val="105000"/>
              </a:lnSpc>
              <a:buNone/>
            </a:pPr>
            <a:r>
              <a:rPr lang="en-GB" sz="1200" b="0">
                <a:solidFill>
                  <a:srgbClr val="000000"/>
                </a:solidFill>
                <a:latin typeface="Arial"/>
              </a:rPr>
              <a:t>NAVIGATION: B10, page 37; question index page 27; fixed topic S16/page 19. Existing native slide-jump links remain unchanged.</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B11 | What proves the AI is real and useful rather than a template?</a:t>
            </a:r>
          </a:p>
          <a:p>
            <a:pPr algn="l">
              <a:lnSpc>
                <a:spcPct val="105000"/>
              </a:lnSpc>
              <a:buNone/>
            </a:pPr>
            <a:r>
              <a:rPr lang="en-GB" sz="1200" b="0">
                <a:solidFill>
                  <a:srgbClr val="000000"/>
                </a:solidFill>
                <a:latin typeface="Arial"/>
              </a:rPr>
              <a:t>Question-led appendix answer | Audience: CTO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Provider/model/usage and source=ai evidence</a:t>
            </a:r>
          </a:p>
          <a:p>
            <a:pPr algn="l">
              <a:lnSpc>
                <a:spcPct val="105000"/>
              </a:lnSpc>
              <a:buNone/>
            </a:pPr>
            <a:r>
              <a:rPr lang="en-GB" sz="1200" b="0">
                <a:solidFill>
                  <a:srgbClr val="000000"/>
                </a:solidFill>
                <a:latin typeface="Arial"/>
              </a:rPr>
              <a:t>- Template/replay is clearly labelled as a fallback</a:t>
            </a:r>
          </a:p>
          <a:p>
            <a:pPr algn="l">
              <a:lnSpc>
                <a:spcPct val="105000"/>
              </a:lnSpc>
              <a:buNone/>
            </a:pPr>
            <a:r>
              <a:rPr lang="en-GB" sz="1200" b="0">
                <a:solidFill>
                  <a:srgbClr val="000000"/>
                </a:solidFill>
                <a:latin typeface="Arial"/>
              </a:rPr>
              <a:t>- Real invocation proven; calibrated quality and value come from the pilot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evidence cards: invocation; semantic acceptance; incremental value. Keep the latter gates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S15 (slide 16), AI where it earns its place.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- 6,884 tokens across five runs is a historical observation without human acceptance - not a price, a quality result or an accepted-outcome denominator.</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Did you validate this with real residents and staff?</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a:p>
            <a:pPr algn="l">
              <a:lnSpc>
                <a:spcPct val="105000"/>
              </a:lnSpc>
              <a:buNone/>
            </a:pPr>
            <a:r>
              <a:rPr lang="en-GB" sz="1200" b="0">
                <a:solidFill>
                  <a:srgbClr val="000000"/>
                </a:solidFill>
                <a:latin typeface="Arial"/>
              </a:rPr>
              <a:t>VISUAL UPDATE, 30 OCT: The value-proposition canvas links proposed products/services, gain creators and pain relievers to hypothesised resident jobs, gains and pains. Fit is a testable design proposition, not a delivered result. No quantified or observed sentiment curve is invented. The retained representative assessor and Finance maps remain research depth in the source and notes, not new interview evidence.</a:t>
            </a:r>
          </a:p>
          <a:p>
            <a:pPr algn="l">
              <a:lnSpc>
                <a:spcPct val="105000"/>
              </a:lnSpc>
              <a:buNone/>
            </a:pPr>
            <a:r>
              <a:rPr lang="en-GB" sz="1200" b="0">
                <a:solidFill>
                  <a:srgbClr val="000000"/>
                </a:solidFill>
                <a:latin typeface="Arial"/>
              </a:rPr>
              <a:t>Resident jobs: choose specific works, keep ordinary routines and use or query the measures. Pains to test: repeated stories and pressure. Gains sought: meaningful choice and owned aftercare. Proposed response: scoped case, supported visit, aftercare, named contact and visible remedies; direct resident/staff testing remains next.</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B13 | HVE delivery context and planned consolidation experiment</a:t>
            </a: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docs/capstone/deck/zava-forward-cowork-v2-draft.pptx</a:t>
            </a:r>
          </a:p>
          <a:p>
            <a:pPr algn="l">
              <a:lnSpc>
                <a:spcPct val="105000"/>
              </a:lnSpc>
              <a:buNone/>
            </a:pPr>
            <a:r>
              <a:rPr lang="en-GB" sz="1200" b="0">
                <a:solidFill>
                  <a:srgbClr val="000000"/>
                </a:solidFill>
                <a:latin typeface="Arial"/>
              </a:rPr>
              <a:t>docs/capstone/thought-leadership/everything-but-the-software/</a:t>
            </a:r>
          </a:p>
          <a:p>
            <a:pPr algn="l">
              <a:lnSpc>
                <a:spcPct val="105000"/>
              </a:lnSpc>
              <a:buNone/>
            </a:pPr>
            <a:r>
              <a:rPr lang="en-GB" sz="1200" b="0">
                <a:solidFill>
                  <a:srgbClr val="000000"/>
                </a:solidFill>
                <a:latin typeface="Arial"/>
              </a:rPr>
              <a:t>main.tex</a:t>
            </a:r>
          </a:p>
          <a:p>
            <a:pPr algn="l">
              <a:lnSpc>
                <a:spcPct val="105000"/>
              </a:lnSpc>
              <a:buNone/>
            </a:pPr>
            <a:r>
              <a:rPr lang="en-GB" sz="1200" b="0">
                <a:solidFill>
                  <a:srgbClr val="000000"/>
                </a:solidFill>
                <a:latin typeface="Arial"/>
              </a:rPr>
              <a:t>docs/capstone/thought-leadership/everything-but-the-software/README.md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NAVIGATION: Native controls retain their fixed Topic and Index destinations. Return deliberately to the actual interrupted page; no dynamic Last Slide Viewed behaviour is claimed. Other content and action targets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B14 | Is this actually agentic if so much is deterministic?</a:t>
            </a:r>
          </a:p>
          <a:p>
            <a:pPr algn="l">
              <a:lnSpc>
                <a:spcPct val="105000"/>
              </a:lnSpc>
              <a:buNone/>
            </a:pPr>
            <a:r>
              <a:rPr lang="en-GB" sz="1200" b="0">
                <a:solidFill>
                  <a:srgbClr val="000000"/>
                </a:solidFill>
                <a:latin typeface="Arial"/>
              </a:rPr>
              <a:t>Question-led appendix answer | Audience: Innovation leader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Reasoning and preparation are bounded capabilities</a:t>
            </a:r>
          </a:p>
          <a:p>
            <a:pPr algn="l">
              <a:lnSpc>
                <a:spcPct val="105000"/>
              </a:lnSpc>
              <a:buNone/>
            </a:pPr>
            <a:r>
              <a:rPr lang="en-GB" sz="1200" b="0">
                <a:solidFill>
                  <a:srgbClr val="000000"/>
                </a:solidFill>
                <a:latin typeface="Arial"/>
              </a:rPr>
              <a:t>- Deterministic orchestration protects controlled state</a:t>
            </a:r>
          </a:p>
          <a:p>
            <a:pPr algn="l">
              <a:lnSpc>
                <a:spcPct val="105000"/>
              </a:lnSpc>
              <a:buNone/>
            </a:pPr>
            <a:r>
              <a:rPr lang="en-GB" sz="1200" b="0">
                <a:solidFill>
                  <a:srgbClr val="000000"/>
                </a:solidFill>
                <a:latin typeface="Arial"/>
              </a:rPr>
              <a:t>- Autonomy is task-specific, not a marketing label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ownership bands: policy/state; reasoning/preparation; accountable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B15 | What exactly must happen before a pilot or production decision?</a:t>
            </a:r>
          </a:p>
          <a:p>
            <a:pPr algn="l">
              <a:lnSpc>
                <a:spcPct val="105000"/>
              </a:lnSpc>
              <a:buNone/>
            </a:pPr>
            <a:r>
              <a:rPr lang="en-GB" sz="1200" b="0">
                <a:solidFill>
                  <a:srgbClr val="000000"/>
                </a:solidFill>
                <a:latin typeface="Arial"/>
              </a:rPr>
              <a:t>Question-led appendix answer | Audience: CEO / CIO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Current deployment, roles, SQL and real-AI evidence</a:t>
            </a:r>
          </a:p>
          <a:p>
            <a:pPr algn="l">
              <a:lnSpc>
                <a:spcPct val="105000"/>
              </a:lnSpc>
              <a:buNone/>
            </a:pPr>
            <a:r>
              <a:rPr lang="en-GB" sz="1200" b="0">
                <a:solidFill>
                  <a:srgbClr val="000000"/>
                </a:solidFill>
                <a:latin typeface="Arial"/>
              </a:rPr>
              <a:t>- Human, privacy, professional and accessibility acceptance</a:t>
            </a:r>
          </a:p>
          <a:p>
            <a:pPr algn="l">
              <a:lnSpc>
                <a:spcPct val="105000"/>
              </a:lnSpc>
              <a:buNone/>
            </a:pPr>
            <a:r>
              <a:rPr lang="en-GB" sz="1200" b="0">
                <a:solidFill>
                  <a:srgbClr val="000000"/>
                </a:solidFill>
                <a:latin typeface="Arial"/>
              </a:rPr>
              <a:t>- Measured value, cost, recovery and explicit release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mandatory gates with owner role and required artifact, all labelled pending until evidence exists.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S21 (slide 24), the decision.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E17 | docs/reference/method/ama-capstone-assessment-guide.md; delivery-method-evidence.md; docs/capstone/README.md | Full 20 assessment criteria, individual/section floors and required evidence</a:t>
            </a:r>
          </a:p>
          <a:p>
            <a:pPr algn="l">
              <a:lnSpc>
                <a:spcPct val="105000"/>
              </a:lnSpc>
              <a:buNone/>
            </a:pPr>
            <a:r>
              <a:rPr lang="en-GB" sz="1200" b="0">
                <a:solidFill>
                  <a:srgbClr val="000000"/>
                </a:solidFill>
                <a:latin typeface="Arial"/>
              </a:rPr>
              <a:t>   Classification: Published assessment requirements and preparation gap mapping</a:t>
            </a:r>
          </a:p>
          <a:p>
            <a:pPr algn="l">
              <a:lnSpc>
                <a:spcPct val="105000"/>
              </a:lnSpc>
              <a:buNone/>
            </a:pPr>
            <a:r>
              <a:rPr lang="en-GB" sz="1200" b="0">
                <a:solidFill>
                  <a:srgbClr val="000000"/>
                </a:solidFill>
                <a:latin typeface="Arial"/>
              </a:rPr>
              <a:t>   Supports: Full final deck/architecture/pitch challenge, including live delivery and thought-leadership evidence</a:t>
            </a:r>
          </a:p>
          <a:p>
            <a:pPr algn="l">
              <a:lnSpc>
                <a:spcPct val="105000"/>
              </a:lnSpc>
              <a:buNone/>
            </a:pPr>
            <a:r>
              <a:rPr lang="en-GB" sz="1200" b="0">
                <a:solidFill>
                  <a:srgbClr val="000000"/>
                </a:solidFill>
                <a:latin typeface="Arial"/>
              </a:rPr>
              <a:t>   Limit: This authoring package is not a fresh rubric score, final deck acceptance or a rehearsal transcript.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B16 | What happens if the model, cloud or deployment fails?</a:t>
            </a:r>
          </a:p>
          <a:p>
            <a:pPr algn="l">
              <a:lnSpc>
                <a:spcPct val="105000"/>
              </a:lnSpc>
              <a:buNone/>
            </a:pPr>
            <a:r>
              <a:rPr lang="en-GB" sz="1200" b="0">
                <a:solidFill>
                  <a:srgbClr val="000000"/>
                </a:solidFill>
                <a:latin typeface="Arial"/>
              </a:rPr>
              <a:t>Question-led appendix answer | Audience: COO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 approval from failure or stale evidence</a:t>
            </a:r>
          </a:p>
          <a:p>
            <a:pPr algn="l">
              <a:lnSpc>
                <a:spcPct val="105000"/>
              </a:lnSpc>
              <a:buNone/>
            </a:pPr>
            <a:r>
              <a:rPr lang="en-GB" sz="1200" b="0">
                <a:solidFill>
                  <a:srgbClr val="000000"/>
                </a:solidFill>
                <a:latin typeface="Arial"/>
              </a:rPr>
              <a:t>- Owned manual work and independent safety handling</a:t>
            </a:r>
          </a:p>
          <a:p>
            <a:pPr algn="l">
              <a:lnSpc>
                <a:spcPct val="105000"/>
              </a:lnSpc>
              <a:buNone/>
            </a:pPr>
            <a:r>
              <a:rPr lang="en-GB" sz="1200" b="0">
                <a:solidFill>
                  <a:srgbClr val="000000"/>
                </a:solidFill>
                <a:latin typeface="Arial"/>
              </a:rPr>
              <a:t>- Restart proven; full restore drill is the next milestone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diagrams/05-operations.svg. Use an explicit manual lane; no unsupported availability percentage, RTO or RPO.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05: operations)</a:t>
            </a:r>
          </a:p>
          <a:p>
            <a:pPr algn="l">
              <a:lnSpc>
                <a:spcPct val="105000"/>
              </a:lnSpc>
              <a:buNone/>
            </a:pPr>
            <a:r>
              <a:rPr lang="en-GB" sz="1200" b="0">
                <a:solidFill>
                  <a:srgbClr val="000000"/>
                </a:solidFill>
                <a:latin typeface="Arial"/>
              </a:rPr>
              <a:t>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a:t>
            </a:r>
          </a:p>
          <a:p>
            <a:pPr algn="l">
              <a:lnSpc>
                <a:spcPct val="105000"/>
              </a:lnSpc>
              <a:buNone/>
            </a:pPr>
            <a:r>
              <a:rPr lang="en-GB" sz="1200" b="0">
                <a:solidFill>
                  <a:srgbClr val="000000"/>
                </a:solidFill>
                <a:latin typeface="Arial"/>
              </a:rPr>
              <a:t>This is a responsibility/control view, not a deployment/network topology. No connectors are needed: the three columns are concerns, not request hops.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B17 | When can we go live and who owns the next step?</a:t>
            </a:r>
          </a:p>
          <a:p>
            <a:pPr algn="l">
              <a:lnSpc>
                <a:spcPct val="105000"/>
              </a:lnSpc>
              <a:buNone/>
            </a:pPr>
            <a:r>
              <a:rPr lang="en-GB" sz="1200" b="0">
                <a:solidFill>
                  <a:srgbClr val="000000"/>
                </a:solidFill>
                <a:latin typeface="Arial"/>
              </a:rPr>
              <a:t>Question-led appendix answer | Audience: CEO / sponsor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Dependency-led plan: dates follow the gates</a:t>
            </a:r>
          </a:p>
          <a:p>
            <a:pPr algn="l">
              <a:lnSpc>
                <a:spcPct val="105000"/>
              </a:lnSpc>
              <a:buNone/>
            </a:pPr>
            <a:r>
              <a:rPr lang="en-GB" sz="1200" b="0">
                <a:solidFill>
                  <a:srgbClr val="000000"/>
                </a:solidFill>
                <a:latin typeface="Arial"/>
              </a:rPr>
              <a:t>- Programme owns scope; Finance owns spend review</a:t>
            </a:r>
          </a:p>
          <a:p>
            <a:pPr algn="l">
              <a:lnSpc>
                <a:spcPct val="105000"/>
              </a:lnSpc>
              <a:buNone/>
            </a:pPr>
            <a:r>
              <a:rPr lang="en-GB" sz="1200" b="0">
                <a:solidFill>
                  <a:srgbClr val="000000"/>
                </a:solidFill>
                <a:latin typeface="Arial"/>
              </a:rPr>
              <a:t>- Technical and control owners supply acceptance evidence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Readiness sequence with dependencies rather than calendar dates.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S20 (slide 23), the roadmap.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E11 | docs/case_study_48_addendum.md; docs/reference/README.md | Finite Costed Execution Plan Options, 2026-10-20; 2026-10-22 USD 700 revision and post-change correction</a:t>
            </a:r>
          </a:p>
          <a:p>
            <a:pPr algn="l">
              <a:lnSpc>
                <a:spcPct val="105000"/>
              </a:lnSpc>
              <a:buNone/>
            </a:pPr>
            <a:r>
              <a:rPr lang="en-GB" sz="1200" b="0">
                <a:solidFill>
                  <a:srgbClr val="000000"/>
                </a:solidFill>
                <a:latin typeface="Arial"/>
              </a:rPr>
              <a:t>   Classification: 2026-10-22 owner budget decision, separate unexecuted planning proposals and historical scoped observations</a:t>
            </a:r>
          </a:p>
          <a:p>
            <a:pPr algn="l">
              <a:lnSpc>
                <a:spcPct val="105000"/>
              </a:lnSpc>
              <a:buNone/>
            </a:pPr>
            <a:r>
              <a:rPr lang="en-GB" sz="1200" b="0">
                <a:solidFill>
                  <a:srgbClr val="000000"/>
                </a:solidFill>
                <a:latin typeface="Arial"/>
              </a:rPr>
              <a:t>   Supports: USD 700 owner-set October all-in forecast ceiling with 2026-10-25T16:02Z expiry; USD 535.33 pre-change forecast requires refresh; outside-group costs unknown</a:t>
            </a:r>
          </a:p>
          <a:p>
            <a:pPr algn="l">
              <a:lnSpc>
                <a:spcPct val="105000"/>
              </a:lnSpc>
              <a:buNone/>
            </a:pPr>
            <a:r>
              <a:rPr lang="en-GB" sz="1200" b="0">
                <a:solidFill>
                  <a:srgbClr val="000000"/>
                </a:solidFill>
                <a:latin typeface="Arial"/>
              </a:rPr>
              <a:t>   Limit: Not a production price, current bill or unconditional tranche approval. Separate planning and acceptance gates remain blocked.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USD 700 is the owner-set October all-in forecast ceiling - not a monthly production cost or unconditional tranche authority. Execution prerequisites remain blocked and authority expires 2026-10-25T16:02Z. USD 450/month is historical.</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B18 | Can you demonstrate a new live action right now?</a:t>
            </a:r>
          </a:p>
          <a:p>
            <a:pPr algn="l">
              <a:lnSpc>
                <a:spcPct val="105000"/>
              </a:lnSpc>
              <a:buNone/>
            </a:pPr>
            <a:r>
              <a:rPr lang="en-GB" sz="1200" b="0">
                <a:solidFill>
                  <a:srgbClr val="000000"/>
                </a:solidFill>
                <a:latin typeface="Arial"/>
              </a:rPr>
              <a:t>Question-led appendix answer | Audience: Any executive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Only pre-authorised, reversible constructed scope</a:t>
            </a:r>
          </a:p>
          <a:p>
            <a:pPr algn="l">
              <a:lnSpc>
                <a:spcPct val="105000"/>
              </a:lnSpc>
              <a:buNone/>
            </a:pPr>
            <a:r>
              <a:rPr lang="en-GB" sz="1200" b="0">
                <a:solidFill>
                  <a:srgbClr val="000000"/>
                </a:solidFill>
                <a:latin typeface="Arial"/>
              </a:rPr>
              <a:t>- No unplanned role, network, spend or data changes</a:t>
            </a:r>
          </a:p>
          <a:p>
            <a:pPr algn="l">
              <a:lnSpc>
                <a:spcPct val="105000"/>
              </a:lnSpc>
              <a:buNone/>
            </a:pPr>
            <a:r>
              <a:rPr lang="en-GB" sz="1200" b="0">
                <a:solidFill>
                  <a:srgbClr val="000000"/>
                </a:solidFill>
                <a:latin typeface="Arial"/>
              </a:rPr>
              <a:t>- Fallback is visibly labelled evidence, never simulated live proof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Demo route selector: live passed / labelled evidence / unavailable. No silent mock fallback.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S22 (slide 25), the demo.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B19 | Device intake is not a diagnosis or safety decision.</a:t>
            </a:r>
          </a:p>
          <a:p>
            <a:pPr algn="l">
              <a:lnSpc>
                <a:spcPct val="105000"/>
              </a:lnSpc>
              <a:buNone/>
            </a:pPr>
            <a:r>
              <a:rPr lang="en-GB" sz="1200" b="0">
                <a:solidFill>
                  <a:srgbClr val="000000"/>
                </a:solidFill>
                <a:latin typeface="Arial"/>
              </a:rPr>
              <a:t>LATER ACTUAL OBSERVATION: on 29 October, a bounded existing-hub reconciliation succeeded with metrics-only diagnostics. Missing operator registry permission and the unapproved custom receive adapter still block live-to-SQL. This narrow real exercise does not prove the full source-only private Event Hub route, credential lifecycle or whole live acceptance. No Azure or sensor operation was performed by this presentation task.</a:t>
            </a:r>
          </a:p>
          <a:p>
            <a:pPr algn="l">
              <a:lnSpc>
                <a:spcPct val="105000"/>
              </a:lnSpc>
              <a:buNone/>
            </a:pPr>
            <a:r>
              <a:rPr lang="en-GB" sz="1200" b="0">
                <a:solidFill>
                  <a:srgbClr val="000000"/>
                </a:solidFill>
                <a:latin typeface="Arial"/>
              </a:rPr>
              <a:t>SHORT ANSWER: No diagnosis. The source design admits bounded synthetic observations and can request accountable human review. Reports from residents bypass this analytics route and go directly to the independent human safety service.</a:t>
            </a:r>
          </a:p>
          <a:p>
            <a:pPr algn="l">
              <a:lnSpc>
                <a:spcPct val="105000"/>
              </a:lnSpc>
              <a:buNone/>
            </a:pPr>
            <a:r>
              <a:rPr lang="en-GB" sz="1200" b="0">
                <a:solidFill>
                  <a:srgbClr val="000000"/>
                </a:solidFill>
                <a:latin typeface="Arial"/>
              </a:rPr>
              <a:t>UPDATED ROUTE: exact synthetic X.509 device binding -&gt; IoT Hub Basic B1/one unit -&gt; custom private Event Hub with Hub-only Data Sender -&gt; keyless receiver -&gt; API validation and SQL admission/replay/DQ -&gt; human review. Event Hubs alone was not selected as the device identity boundary; the adapter serves the separate private keyless-consumption requirement.</a:t>
            </a:r>
          </a:p>
          <a:p>
            <a:pPr algn="l">
              <a:lnSpc>
                <a:spcPct val="105000"/>
              </a:lnSpc>
              <a:buNone/>
            </a:pPr>
            <a:r>
              <a:rPr lang="en-GB" sz="1200" b="0">
                <a:solidFill>
                  <a:srgbClr val="000000"/>
                </a:solidFill>
                <a:latin typeface="Arial"/>
              </a:rPr>
              <a:t>WHY NOT STANDARD OR A STREAMING ESTATE: this exercise needs one-way intake, not remote device commands, twins, DPS or device-management automation. Tier or Eventhouse/Eventstream additions need their own workload, cost and control justification. No device provisioning, credential issue or paid run is authorised by a diagram.</a:t>
            </a:r>
          </a:p>
          <a:p>
            <a:pPr algn="l">
              <a:lnSpc>
                <a:spcPct val="105000"/>
              </a:lnSpc>
              <a:buNone/>
            </a:pPr>
            <a:r>
              <a:rPr lang="en-GB" sz="1200" b="0">
                <a:solidFill>
                  <a:srgbClr val="000000"/>
                </a:solidFill>
                <a:latin typeface="Arial"/>
              </a:rPr>
              <a:t>EVIDENCE: later 27 October work adds finite SDK adapters, exact canonical bindings, seeded replay, source metadata fencing, retained SQL outcomes, bounded rate/time/message admission and local fake-network/constructed-SQLite regressions. Do not describe that newer engineering as absent, but it does not prove actual routed identity, credential lifecycle, Azure SQL restart or live acceptance.</a:t>
            </a:r>
          </a:p>
          <a:p>
            <a:pPr algn="l">
              <a:lnSpc>
                <a:spcPct val="105000"/>
              </a:lnSpc>
              <a:buNone/>
            </a:pPr>
            <a:r>
              <a:rPr lang="en-GB" sz="1200" b="0">
                <a:solidFill>
                  <a:srgbClr val="000000"/>
                </a:solidFill>
                <a:latin typeface="Arial"/>
              </a:rPr>
              <a:t>SYNTHETIC SCALE: the separate reconciled 60,000 x 730 daily history contains 43.8 million paired observations. The separate three-per-day scenario averages 2.08 records/second at fictional full stock; neither is a burst, load or capacity result. Simulated choices are not real resident consent; constructed physics are not calibrated sensing.</a:t>
            </a:r>
          </a:p>
          <a:p>
            <a:pPr algn="l">
              <a:lnSpc>
                <a:spcPct val="105000"/>
              </a:lnSpc>
              <a:buNone/>
            </a:pPr>
            <a:r>
              <a:rPr lang="en-GB" sz="1200" b="0">
                <a:solidFill>
                  <a:srgbClr val="000000"/>
                </a:solidFill>
                <a:latin typeface="Arial"/>
              </a:rPr>
              <a:t>REMAINING GATES: actual issued/revoked identities, approved private routing and role propagation, current cost/headroom/alerts, live Hub/SQL reconciliation, retention, lawful basis, calibration and competent review. Source-only authorisation and declared references are not proof those gates passed.</a:t>
            </a:r>
          </a:p>
          <a:p>
            <a:pPr algn="l">
              <a:lnSpc>
                <a:spcPct val="105000"/>
              </a:lnSpc>
              <a:buNone/>
            </a:pPr>
            <a:r>
              <a:rPr lang="en-GB" sz="1200" b="0">
                <a:solidFill>
                  <a:srgbClr val="000000"/>
                </a:solidFill>
                <a:latin typeface="Arial"/>
              </a:rPr>
              <a:t>SOURCES: docs/adrs/0003-journey-derived-capabilities-runtime-fit.md; docs/reference/research/iot-sensor-analytics-research-plan.md; src/api/README.md; infra/README.md. Repository synthesis dated 2026-10-29; no Azure or sensor run performed.</a:t>
            </a:r>
          </a:p>
          <a:p>
            <a:pPr algn="l">
              <a:lnSpc>
                <a:spcPct val="105000"/>
              </a:lnSpc>
              <a:buNone/>
            </a:pPr>
            <a:r>
              <a:rPr lang="en-GB" sz="1200" b="0">
                <a:solidFill>
                  <a:srgbClr val="000000"/>
                </a:solidFill>
                <a:latin typeface="Arial"/>
              </a:rPr>
              <a:t>NAVIGATION: B19, page 46; question index page 27; fixed topic S16/page 19. Existing native navigation is preserved.</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B20 | Keep SQL for control. Evaluate Fabric for analytics.</a:t>
            </a:r>
          </a:p>
          <a:p>
            <a:pPr algn="l">
              <a:lnSpc>
                <a:spcPct val="105000"/>
              </a:lnSpc>
              <a:buNone/>
            </a:pPr>
            <a:r>
              <a:rPr lang="en-GB" sz="1200" b="0">
                <a:solidFill>
                  <a:srgbClr val="000000"/>
                </a:solidFill>
                <a:latin typeface="Arial"/>
              </a:rPr>
              <a:t>ONTOLOGY EVIDENCE FOLLOW-UP: the 29 October component assessment and W1-W16 remain dated evidence. The separately labelled 30 October Future Agent Context Option in that same research page records fresh official Fabric IQ/ontology overviews and explicitly preview ontology status. It supports the future context proposal, not current integration, quality, permissions or production approval.</a:t>
            </a:r>
          </a:p>
          <a:p>
            <a:pPr algn="l">
              <a:lnSpc>
                <a:spcPct val="105000"/>
              </a:lnSpc>
              <a:buNone/>
            </a:pPr>
            <a:r>
              <a:rPr lang="en-GB" sz="1200" b="0">
                <a:solidFill>
                  <a:srgbClr val="000000"/>
                </a:solidFill>
                <a:latin typeface="Arial"/>
              </a:rPr>
              <a:t>OWNER-CORRECTED NARRATIVE: Fabric and Power BI are not part of the current product. The future proposal is near the close on pages 23-24, covering governed portfolio history and potentially richer agent context through semantic definitions and ontology (preview). Page 14 is the built Workbench; page 15 is current bounded adoption. The retained Topic button targets page 15, not the future roadmap; navigate to page 23 explicitly.</a:t>
            </a:r>
          </a:p>
          <a:p>
            <a:pPr algn="l">
              <a:lnSpc>
                <a:spcPct val="105000"/>
              </a:lnSpc>
              <a:buNone/>
            </a:pPr>
            <a:r>
              <a:rPr lang="en-GB" sz="1200" b="0">
                <a:solidFill>
                  <a:srgbClr val="000000"/>
                </a:solidFill>
                <a:latin typeface="Arial"/>
              </a:rPr>
              <a:t>SHORT ANSWER: keep the API, core domain logic and Azure SQL as operational authority. Fabric has a credible conditional role as read-only analytics, not as the programme's transaction, consent or approval engine. Reporting requirements remain in scope even when a new platform is deferred.</a:t>
            </a:r>
          </a:p>
          <a:p>
            <a:pPr algn="l">
              <a:lnSpc>
                <a:spcPct val="105000"/>
              </a:lnSpc>
              <a:buNone/>
            </a:pPr>
            <a:r>
              <a:rPr lang="en-GB" sz="1200" b="0">
                <a:solidFill>
                  <a:srgbClr val="000000"/>
                </a:solidFill>
                <a:latin typeface="Arial"/>
              </a:rPr>
              <a:t>WHY AZURE / NOT SELECTED NOW: the retained application needs controlled relational transitions, version-bound reviews, scoped evidence and auditable human decisions. Container Apps, Entra, SQL and Blob reuse the established contracts. Keep Excel and M365 as bounded inputs and assisted working routes. Low-code and a bought product remain alternatives for a real fit/integration/control-cost appraisal; no completed procurement or categorical product inferiority is claimed.</a:t>
            </a:r>
          </a:p>
          <a:p>
            <a:pPr algn="l">
              <a:lnSpc>
                <a:spcPct val="105000"/>
              </a:lnSpc>
              <a:buNone/>
            </a:pPr>
            <a:r>
              <a:rPr lang="en-GB" sz="1200" b="0">
                <a:solidFill>
                  <a:srgbClr val="000000"/>
                </a:solidFill>
                <a:latin typeface="Arial"/>
              </a:rPr>
              <a:t>WHAT FABRIC COULD ADD: reusable cross-source portfolio history, shared business measures, repeatable extracts and stakeholder reporting. Data Factory could help recurring heterogeneous extracts; a small OneLake/semantic-model path could reduce repeated preparation across reports. Eventhouse/Eventstream need a distinct retained time-series or latency question, not automatic inclusion. The 43.8 million reconciled synthetic daily observations make historical analysis credible, but prove neither SQL inadequacy nor F2 sufficiency.</a:t>
            </a:r>
          </a:p>
          <a:p>
            <a:pPr algn="l">
              <a:lnSpc>
                <a:spcPct val="105000"/>
              </a:lnSpc>
              <a:buNone/>
            </a:pPr>
            <a:r>
              <a:rPr lang="en-GB" sz="1200" b="0">
                <a:solidFill>
                  <a:srgbClr val="000000"/>
                </a:solidFill>
                <a:latin typeface="Arial"/>
              </a:rPr>
              <a:t>SMALLER COMPARATOR: governed SQL aggregate/history views plus Power BI Import, or approved file-based extracts. Consider DirectQuery only for an evidenced freshness need because it adds source/network query load. Power BI does not inherently require a lakehouse or a new Fabric estate. Compare identical permitted synthetic data and KPI definitions: accepted handovers, stage dwell and returns for one frozen cohort, keeping unknown times and denominators explicit.</a:t>
            </a:r>
          </a:p>
          <a:p>
            <a:pPr algn="l">
              <a:lnSpc>
                <a:spcPct val="105000"/>
              </a:lnSpc>
              <a:buNone/>
            </a:pPr>
            <a:r>
              <a:rPr lang="en-GB" sz="1200" b="0">
                <a:solidFill>
                  <a:srgbClr val="000000"/>
                </a:solidFill>
                <a:latin typeface="Arial"/>
              </a:rPr>
              <a:t>REJECTION BOUNDARY: Fabric SQL currently cannot create ledger and ledger-history tables in the dated assessment, so it is not an equivalent replacement for the deliberate Azure SQL ledger control. This does not mean every current ledger table is ineligible for mirroring: eligible current-state tables and excluded ledger history are different. A warehouse or read-only endpoint cannot replace operational writes and concurrency contracts.</a:t>
            </a:r>
          </a:p>
          <a:p>
            <a:pPr algn="l">
              <a:lnSpc>
                <a:spcPct val="105000"/>
              </a:lnSpc>
              <a:buNone/>
            </a:pPr>
            <a:r>
              <a:rPr lang="en-GB" sz="1200" b="0">
                <a:solidFill>
                  <a:srgbClr val="000000"/>
                </a:solidFill>
                <a:latin typeface="Arial"/>
              </a:rPr>
              <a:t>SECURITY / HISTORY: application role/case/field projections are not invoked by mirroring. Source SQL row/column permissions, masking and sensitivity labels are not automatically propagated to OneLake; Direct Lake/file access needs its own protection. Do not copy case narratives, resident/staff chat, opt-in memory or representative grants by default. A current-state mirror and short Delta retention are not retained business-event history or an audit archive. Design corrections, withdrawal, retention and recovery explicitly.</a:t>
            </a:r>
          </a:p>
          <a:p>
            <a:pPr algn="l">
              <a:lnSpc>
                <a:spcPct val="105000"/>
              </a:lnSpc>
              <a:buNone/>
            </a:pPr>
            <a:r>
              <a:rPr lang="en-GB" sz="1200" b="0">
                <a:solidFill>
                  <a:srgbClr val="000000"/>
                </a:solidFill>
                <a:latin typeface="Arial"/>
              </a:rPr>
              <a:t>FULL COST: the assessment's public F2 USD 262.80/month view had no selected region and is not a UK South or agreement quote. A standard VNet gateway consumes four CU-hours/member-hour versus F2's two CU-hours/hour, before analytical work; do not apply that meter to every private route. Include capacity, storage, viewer licensing, gateway/private path, source load, operations, review and shared-capacity opportunity cost. Pausing compute does not erase retained storage charges. No saving or positive return is established.</a:t>
            </a:r>
          </a:p>
          <a:p>
            <a:pPr algn="l">
              <a:lnSpc>
                <a:spcPct val="105000"/>
              </a:lnSpc>
              <a:buNone/>
            </a:pPr>
            <a:r>
              <a:rPr lang="en-GB" sz="1200" b="0">
                <a:solidFill>
                  <a:srgbClr val="000000"/>
                </a:solidFill>
                <a:latin typeface="Arial"/>
              </a:rPr>
              <a:t>REVISIT GATE: a named recurring FR-020..024 question with source/history/freshness/concurrency and quality criteria; approved minimal data projection, security/privacy/retention owners; current shared-capacity headroom or a complete dedicated-capacity cost boundary; then a bounded like-for-like comparison of reconciliation, effort, refresh/query latency, source load, CU/cost, cross-role denial and stopped-capacity/recovery behaviour. Select the least complex configuration that answers the question. An approved shared capacity could make this worthwhile sooner.</a:t>
            </a:r>
          </a:p>
          <a:p>
            <a:pPr algn="l">
              <a:lnSpc>
                <a:spcPct val="105000"/>
              </a:lnSpc>
              <a:buNone/>
            </a:pPr>
            <a:r>
              <a:rPr lang="en-GB" sz="1200" b="0">
                <a:solidFill>
                  <a:srgbClr val="000000"/>
                </a:solidFill>
                <a:latin typeface="Arial"/>
              </a:rPr>
              <a:t>BUDGET / AUTHORITY: the recorded USD 700 all-in October ceiling was not extra Fabric funding. Its scoped execution authority expired on 2026-10-25T16:02Z; comparable current all-in headroom remains Unknown/Blocked. This presentation authorises no trial activation, tenant change, export, deployment, paid inference, spending or adoption and changes no accepted ADR or requirement.</a:t>
            </a:r>
          </a:p>
          <a:p>
            <a:pPr algn="l">
              <a:lnSpc>
                <a:spcPct val="105000"/>
              </a:lnSpc>
              <a:buNone/>
            </a:pPr>
            <a:r>
              <a:rPr lang="en-GB" sz="1200" b="0">
                <a:solidFill>
                  <a:srgbClr val="000000"/>
                </a:solidFill>
                <a:latin typeface="Arial"/>
              </a:rPr>
              <a:t>SOURCES: docs/reference/research/microsoft-fabric-fit-assessment.md (2026-10-29, including official-source register W1-W16); docs/adrs/0002-pilot-readiness-architecture.md; docs/prds/zava-forward-retrofit-programme-demonstrator.md (FR-020..024); docs/case_study_48_addendum.md (dated cost/authority boundary). Existing research synthesis, not fresh platform documentation or live validation.</a:t>
            </a:r>
          </a:p>
          <a:p>
            <a:pPr algn="l">
              <a:lnSpc>
                <a:spcPct val="105000"/>
              </a:lnSpc>
              <a:buNone/>
            </a:pPr>
            <a:r>
              <a:rPr lang="en-GB" sz="1200" b="0">
                <a:solidFill>
                  <a:srgbClr val="000000"/>
                </a:solidFill>
                <a:latin typeface="Arial"/>
              </a:rPr>
              <a:t>DELIVERY: lead with 'reporting is required; this new platform is conditional'. Explain value before permission/history/cost caveats. Ask for the next decision-user and comparison question, not a purchase approval.</a:t>
            </a:r>
          </a:p>
          <a:p>
            <a:pPr algn="l">
              <a:lnSpc>
                <a:spcPct val="105000"/>
              </a:lnSpc>
              <a:buNone/>
            </a:pPr>
            <a:r>
              <a:rPr lang="en-GB" sz="1200" b="0">
                <a:solidFill>
                  <a:srgbClr val="000000"/>
                </a:solidFill>
                <a:latin typeface="Arial"/>
              </a:rPr>
              <a:t>NAVIGATION: B20, page 47; question index page 27; fixed topic S14/page 15. Native fixed slide-jump links are preserved; they are not dynamic Last Slide Viewed actions.</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B21 | How do you prevent hallucinations and prompt injection?</a:t>
            </a:r>
          </a:p>
          <a:p>
            <a:pPr algn="l">
              <a:lnSpc>
                <a:spcPct val="105000"/>
              </a:lnSpc>
              <a:buNone/>
            </a:pPr>
            <a:r>
              <a:rPr lang="en-GB" sz="1200" b="0">
                <a:solidFill>
                  <a:srgbClr val="000000"/>
                </a:solidFill>
                <a:latin typeface="Arial"/>
              </a:rPr>
              <a:t>Question-led appendix answer | Audience: CISO / CTO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Permitted task context and source/version binding</a:t>
            </a:r>
          </a:p>
          <a:p>
            <a:pPr algn="l">
              <a:lnSpc>
                <a:spcPct val="105000"/>
              </a:lnSpc>
              <a:buNone/>
            </a:pPr>
            <a:r>
              <a:rPr lang="en-GB" sz="1200" b="0">
                <a:solidFill>
                  <a:srgbClr val="000000"/>
                </a:solidFill>
                <a:latin typeface="Arial"/>
              </a:rPr>
              <a:t>- Schema/citation checks plus independent semantic review</a:t>
            </a:r>
          </a:p>
          <a:p>
            <a:pPr algn="l">
              <a:lnSpc>
                <a:spcPct val="105000"/>
              </a:lnSpc>
              <a:buNone/>
            </a:pPr>
            <a:r>
              <a:rPr lang="en-GB" sz="1200" b="0">
                <a:solidFill>
                  <a:srgbClr val="000000"/>
                </a:solidFill>
                <a:latin typeface="Arial"/>
              </a:rPr>
              <a:t>- Built to contain vulnerabilities and hallucinations, not to deny them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untrusted evidence and review boundaries called out in notes.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B22 | Can customer data leave the UK or train a provider's model?</a:t>
            </a:r>
          </a:p>
          <a:p>
            <a:pPr algn="l">
              <a:lnSpc>
                <a:spcPct val="105000"/>
              </a:lnSpc>
              <a:buNone/>
            </a:pPr>
            <a:r>
              <a:rPr lang="en-GB" sz="1200" b="0">
                <a:solidFill>
                  <a:srgbClr val="000000"/>
                </a:solidFill>
                <a:latin typeface="Arial"/>
              </a:rPr>
              <a:t>Question-led appendix answer | Audience: DPO / CISO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Processing geography is set by the deployment type</a:t>
            </a:r>
          </a:p>
          <a:p>
            <a:pPr algn="l">
              <a:lnSpc>
                <a:spcPct val="105000"/>
              </a:lnSpc>
              <a:buNone/>
            </a:pPr>
            <a:r>
              <a:rPr lang="en-GB" sz="1200" b="0">
                <a:solidFill>
                  <a:srgbClr val="000000"/>
                </a:solidFill>
                <a:latin typeface="Arial"/>
              </a:rPr>
              <a:t>- Verify exact model, deployment type and contract</a:t>
            </a:r>
          </a:p>
          <a:p>
            <a:pPr algn="l">
              <a:lnSpc>
                <a:spcPct val="105000"/>
              </a:lnSpc>
              <a:buNone/>
            </a:pPr>
            <a:r>
              <a:rPr lang="en-GB" sz="1200" b="0">
                <a:solidFill>
                  <a:srgbClr val="000000"/>
                </a:solidFill>
                <a:latin typeface="Arial"/>
              </a:rPr>
              <a:t>- No real resident data or private dataset in this handoff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Processing decision checklist, no unverified UK-only green badge.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S16 (slide 19), architecture and security boundaries.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B23 | How will you know this is fair and accessible?</a:t>
            </a:r>
          </a:p>
          <a:p>
            <a:pPr algn="l">
              <a:lnSpc>
                <a:spcPct val="105000"/>
              </a:lnSpc>
              <a:buNone/>
            </a:pPr>
            <a:r>
              <a:rPr lang="en-GB" sz="1200" b="0">
                <a:solidFill>
                  <a:srgbClr val="000000"/>
                </a:solidFill>
                <a:latin typeface="Arial"/>
              </a:rPr>
              <a:t>Question-led appendix answer | Audience: CEO / resident services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No-digital route and understandable explanations</a:t>
            </a:r>
          </a:p>
          <a:p>
            <a:pPr algn="l">
              <a:lnSpc>
                <a:spcPct val="105000"/>
              </a:lnSpc>
              <a:buNone/>
            </a:pPr>
            <a:r>
              <a:rPr lang="en-GB" sz="1200" b="0">
                <a:solidFill>
                  <a:srgbClr val="000000"/>
                </a:solidFill>
                <a:latin typeface="Arial"/>
              </a:rPr>
              <a:t>- Cohort errors, exclusions and unknowns are visible</a:t>
            </a:r>
          </a:p>
          <a:p>
            <a:pPr algn="l">
              <a:lnSpc>
                <a:spcPct val="105000"/>
              </a:lnSpc>
              <a:buNone/>
            </a:pPr>
            <a:r>
              <a:rPr lang="en-GB" sz="1200" b="0">
                <a:solidFill>
                  <a:srgbClr val="000000"/>
                </a:solidFill>
                <a:latin typeface="Arial"/>
              </a:rPr>
              <a:t>- Engineering checks != resident or WCAG acceptance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Outcome comparison with guardrails and visible unknowns, not a compliance seal.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S12 (slide 13), one home, end to end.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E15 | docs/reference/research/ux/prototype-learnings-and-simplicity-review.md; docs/reference/research/ux/zava-forward-prototype-profile-review.md | Prototype learnings; owner feedback; shared workbench direction; profile review and validation limits</a:t>
            </a:r>
          </a:p>
          <a:p>
            <a:pPr algn="l">
              <a:lnSpc>
                <a:spcPct val="105000"/>
              </a:lnSpc>
              <a:buNone/>
            </a:pPr>
            <a:r>
              <a:rPr lang="en-GB" sz="1200" b="0">
                <a:solidFill>
                  <a:srgbClr val="000000"/>
                </a:solidFill>
                <a:latin typeface="Arial"/>
              </a:rPr>
              <a:t>   Classification: Owner feedback, expert artifact review and role-instrument hypotheses</a:t>
            </a:r>
          </a:p>
          <a:p>
            <a:pPr algn="l">
              <a:lnSpc>
                <a:spcPct val="105000"/>
              </a:lnSpc>
              <a:buNone/>
            </a:pPr>
            <a:r>
              <a:rPr lang="en-GB" sz="1200" b="0">
                <a:solidFill>
                  <a:srgbClr val="000000"/>
                </a:solidFill>
                <a:latin typeface="Arial"/>
              </a:rPr>
              <a:t>   Supports: Simpler workbench, ownership, evidence and assisted routes; prototype/MVP design learning</a:t>
            </a:r>
          </a:p>
          <a:p>
            <a:pPr algn="l">
              <a:lnSpc>
                <a:spcPct val="105000"/>
              </a:lnSpc>
              <a:buNone/>
            </a:pPr>
            <a:r>
              <a:rPr lang="en-GB" sz="1200" b="0">
                <a:solidFill>
                  <a:srgbClr val="000000"/>
                </a:solidFill>
                <a:latin typeface="Arial"/>
              </a:rPr>
              <a:t>   Limit: Not a resident interview, observed workforce acceptance or complete usability/accessibility result.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B24 | How will you keep policy, law and funding rules current?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Question-led appendix answer | Audience: Risk / legal / CFO | Not part of the spoken route; show only when asked.</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Dated sources with authority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Detected change -&gt; reviewed rule change -&gt; tests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silent model update to live controls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Source -&gt; reviewed change item -&gt; approved control version -&gt; regression evidence.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to S03 (slide 3), three clocks. Question index = slide 27. In Slide Show type the number and press Enter.</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 full backup explanation replaces detail on the main route; it does not add free time.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Declared exercise assumptions, subsequent owner directions and proposals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One-home story, human boundaries, GBP fixture arithmetic, real AI/SQL/Azure requirement and value hypotheses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Not company commitments, formal governance approval or operational outcomes.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Accepted Basic IoT Hub exercise direction; partial engineering; separate human/legal gates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current legal determination, live telemetry, qualified assessment, fairness or WCAG-conformance claim.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E18 | docs/reference/regulatory/README.md | Authority and Use; Change Assessment and Monitoring Register; Managed Update Workflow</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Repository source-governance convention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Dated sources, authority hierarchy, human approval and reviewed control updates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live legal-source currentness check or operational activation performed for this package.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B25 | What is your Tokenomics unit and can the AI bill run away?</a:t>
            </a:r>
          </a:p>
          <a:p>
            <a:pPr algn="l">
              <a:lnSpc>
                <a:spcPct val="105000"/>
              </a:lnSpc>
              <a:buNone/>
            </a:pPr>
            <a:r>
              <a:rPr lang="en-GB" sz="1200" b="0">
                <a:solidFill>
                  <a:srgbClr val="000000"/>
                </a:solidFill>
                <a:latin typeface="Arial"/>
              </a:rPr>
              <a:t>Question-led appendix answer, CFO/panel; outside spoken route.</a:t>
            </a:r>
          </a:p>
          <a:p>
            <a:pPr algn="l">
              <a:lnSpc>
                <a:spcPct val="105000"/>
              </a:lnSpc>
              <a:buNone/>
            </a:pPr>
            <a:r>
              <a:rPr lang="en-GB" sz="1200" b="0">
                <a:solidFill>
                  <a:srgbClr val="000000"/>
                </a:solidFill>
                <a:latin typeface="Arial"/>
              </a:rPr>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pPr algn="l">
              <a:lnSpc>
                <a:spcPct val="105000"/>
              </a:lnSpc>
              <a:buNone/>
            </a:pPr>
            <a:r>
              <a:rPr lang="en-GB" sz="1200" b="0">
                <a:solidFill>
                  <a:srgbClr val="000000"/>
                </a:solidFill>
                <a:latin typeface="Arial"/>
              </a:rPr>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pPr algn="l">
              <a:lnSpc>
                <a:spcPct val="105000"/>
              </a:lnSpc>
              <a:buNone/>
            </a:pPr>
            <a:r>
              <a:rPr lang="en-GB" sz="1200" b="0">
                <a:solidFill>
                  <a:srgbClr val="000000"/>
                </a:solidFill>
                <a:latin typeface="Arial"/>
              </a:rPr>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pPr algn="l">
              <a:lnSpc>
                <a:spcPct val="105000"/>
              </a:lnSpc>
              <a:buNone/>
            </a:pPr>
            <a:r>
              <a:rPr lang="en-GB" sz="1200" b="0">
                <a:solidFill>
                  <a:srgbClr val="000000"/>
                </a:solidFill>
                <a:latin typeface="Arial"/>
              </a:rPr>
              <a:t>E19 historical usage, E05 BRD FR-052/NFR-012/OD-51 and PRD acceptance requirements, E11 dated envelope, E21 evidence/ai-cost-evidence.md, Recovered Council Comparison (2026-10-24).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B26 | Why not cache every answer and route everything to the cheapest model?</a:t>
            </a:r>
          </a:p>
          <a:p>
            <a:pPr algn="l">
              <a:lnSpc>
                <a:spcPct val="105000"/>
              </a:lnSpc>
              <a:buNone/>
            </a:pPr>
            <a:r>
              <a:rPr lang="en-GB" sz="1200" b="0">
                <a:solidFill>
                  <a:srgbClr val="000000"/>
                </a:solidFill>
                <a:latin typeface="Arial"/>
              </a:rPr>
              <a:t>Question-led appendix answer | Audience: CIO / CTO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Same permission, evidence version and task validity required</a:t>
            </a:r>
          </a:p>
          <a:p>
            <a:pPr algn="l">
              <a:lnSpc>
                <a:spcPct val="105000"/>
              </a:lnSpc>
              <a:buNone/>
            </a:pPr>
            <a:r>
              <a:rPr lang="en-GB" sz="1200" b="0">
                <a:solidFill>
                  <a:srgbClr val="000000"/>
                </a:solidFill>
                <a:latin typeface="Arial"/>
              </a:rPr>
              <a:t>- Smallest model must clear held-out quality and latency thresholds</a:t>
            </a:r>
          </a:p>
          <a:p>
            <a:pPr algn="l">
              <a:lnSpc>
                <a:spcPct val="105000"/>
              </a:lnSpc>
              <a:buNone/>
            </a:pPr>
            <a:r>
              <a:rPr lang="en-GB" sz="1200" b="0">
                <a:solidFill>
                  <a:srgbClr val="000000"/>
                </a:solidFill>
                <a:latin typeface="Arial"/>
              </a:rPr>
              <a:t>- Change one lever, compare, then keep or 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One-lever experiment: baseline -&gt; routing OR context OR cache -&gt; quality/latency/cost check -&gt; retain/revert.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B27 | What stops chat and agent sprawl multiplying hidden calls?</a:t>
            </a:r>
          </a:p>
          <a:p>
            <a:pPr algn="l">
              <a:lnSpc>
                <a:spcPct val="105000"/>
              </a:lnSpc>
              <a:buNone/>
            </a:pPr>
            <a:r>
              <a:rPr lang="en-GB" sz="1200" b="0">
                <a:solidFill>
                  <a:srgbClr val="000000"/>
                </a:solidFill>
                <a:latin typeface="Arial"/>
              </a:rPr>
              <a:t>Question-led appendix answer | Audience: CTO / CIO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Deterministic state graph, not an open-ended agent loop</a:t>
            </a:r>
          </a:p>
          <a:p>
            <a:pPr algn="l">
              <a:lnSpc>
                <a:spcPct val="105000"/>
              </a:lnSpc>
              <a:buNone/>
            </a:pPr>
            <a:r>
              <a:rPr lang="en-GB" sz="1200" b="0">
                <a:solidFill>
                  <a:srgbClr val="000000"/>
                </a:solidFill>
                <a:latin typeface="Arial"/>
              </a:rPr>
              <a:t>- Existing bounded authority expires and exhausts</a:t>
            </a:r>
          </a:p>
          <a:p>
            <a:pPr algn="l">
              <a:lnSpc>
                <a:spcPct val="105000"/>
              </a:lnSpc>
              <a:buNone/>
            </a:pPr>
            <a:r>
              <a:rPr lang="en-GB" sz="1200" b="0">
                <a:solidFill>
                  <a:srgbClr val="000000"/>
                </a:solidFill>
                <a:latin typeface="Arial"/>
              </a:rPr>
              <a:t>- Per-request call/depth limits are proposed, Not run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 user request branching into a bounded call tree, all proposed request bounds marked dashed. Avoid presenting draft Big-T notation as an industry standard.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Public Tokenomics community framing is draft - not an industry or Microsoft standard. No internal Microsoft material is used.</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1.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 /><Relationship Id="rId1" Type="http://schemas.openxmlformats.org/officeDocument/2006/relationships/slideLayout" Target="../slideLayouts/slideLayout2.xml" /><Relationship Id="rIdRoadmap2000000" Type="http://schemas.openxmlformats.org/officeDocument/2006/relationships/image" Target="../media/journey-resident.png" /></Relationships>
</file>

<file path=ppt/slides/_rels/slide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23.png"/><Relationship Id="rId12" Type="http://schemas.openxmlformats.org/officeDocument/2006/relationships/image" Target="../media/image25.png"/><Relationship Id="rId17" Type="http://schemas.openxmlformats.org/officeDocument/2006/relationships/image" Target="../media/image6.png"/><Relationship Id="rId2" Type="http://schemas.openxmlformats.org/officeDocument/2006/relationships/notesSlide" Target="../notesSlides/notesSlide14.xml"/><Relationship Id="rId16"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5.png"/><Relationship Id="rId5" Type="http://schemas.openxmlformats.org/officeDocument/2006/relationships/image" Target="../media/image14.png"/><Relationship Id="rId15" Type="http://schemas.openxmlformats.org/officeDocument/2006/relationships/image" Target="../media/image18.png"/><Relationship Id="rId10"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7.png"/><Relationship Id="rId1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26.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26.png"/><Relationship Id="rId4" Type="http://schemas.openxmlformats.org/officeDocument/2006/relationships/image" Target="../media/image27.png"/><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 /><Relationship Id="rId2" Type="http://schemas.openxmlformats.org/officeDocument/2006/relationships/notesSlide" Target="../notesSlides/notesSlide23.xml" /><Relationship Id="rId1" Type="http://schemas.openxmlformats.org/officeDocument/2006/relationships/slideLayout" Target="../slideLayouts/slideLayout2.xml" /><Relationship Id="rId5" Type="http://schemas.openxmlformats.org/officeDocument/2006/relationships/image" Target="../media/image9.png" /><Relationship Id="rId4" Type="http://schemas.openxmlformats.org/officeDocument/2006/relationships/image" Target="../media/image23.png" /><Relationship Id="rIdRoadmap2000000" Type="http://schemas.openxmlformats.org/officeDocument/2006/relationships/image" Target="../media/roadmap-fabric.png" /><Relationship Id="rIdRoadmap2000001" Type="http://schemas.openxmlformats.org/officeDocument/2006/relationships/image" Target="../media/roadmap-power-bi.png" /></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2.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slide" Target="slide40.xml"/><Relationship Id="rId13" Type="http://schemas.openxmlformats.org/officeDocument/2006/relationships/slide" Target="slide29.xml"/><Relationship Id="rId18" Type="http://schemas.openxmlformats.org/officeDocument/2006/relationships/slide" Target="slide34.xml"/><Relationship Id="rId26" Type="http://schemas.openxmlformats.org/officeDocument/2006/relationships/slide" Target="slide54.xml"/><Relationship Id="rId3" Type="http://schemas.openxmlformats.org/officeDocument/2006/relationships/slide" Target="slide28.xml"/><Relationship Id="rId21" Type="http://schemas.openxmlformats.org/officeDocument/2006/relationships/slide" Target="slide50.xml"/><Relationship Id="rId7" Type="http://schemas.openxmlformats.org/officeDocument/2006/relationships/slide" Target="slide39.xml"/><Relationship Id="rId12" Type="http://schemas.openxmlformats.org/officeDocument/2006/relationships/slide" Target="slide53.xml"/><Relationship Id="rId17" Type="http://schemas.openxmlformats.org/officeDocument/2006/relationships/slide" Target="slide33.xml"/><Relationship Id="rId25" Type="http://schemas.openxmlformats.org/officeDocument/2006/relationships/slide" Target="slide42.xml"/><Relationship Id="rId2" Type="http://schemas.openxmlformats.org/officeDocument/2006/relationships/notesSlide" Target="../notesSlides/notesSlide27.xml"/><Relationship Id="rId16" Type="http://schemas.openxmlformats.org/officeDocument/2006/relationships/slide" Target="slide38.xml"/><Relationship Id="rId20" Type="http://schemas.openxmlformats.org/officeDocument/2006/relationships/slide" Target="slide49.xml"/><Relationship Id="rId29" Type="http://schemas.openxmlformats.org/officeDocument/2006/relationships/slide" Target="slide46.xml"/><Relationship Id="rId1" Type="http://schemas.openxmlformats.org/officeDocument/2006/relationships/slideLayout" Target="../slideLayouts/slideLayout2.xml"/><Relationship Id="rId6" Type="http://schemas.openxmlformats.org/officeDocument/2006/relationships/slide" Target="slide44.xml"/><Relationship Id="rId11" Type="http://schemas.openxmlformats.org/officeDocument/2006/relationships/slide" Target="slide52.xml"/><Relationship Id="rId24" Type="http://schemas.openxmlformats.org/officeDocument/2006/relationships/slide" Target="slide47.xml"/><Relationship Id="rId5" Type="http://schemas.openxmlformats.org/officeDocument/2006/relationships/slide" Target="slide36.xml"/><Relationship Id="rId15" Type="http://schemas.openxmlformats.org/officeDocument/2006/relationships/slide" Target="slide37.xml"/><Relationship Id="rId23" Type="http://schemas.openxmlformats.org/officeDocument/2006/relationships/slide" Target="slide45.xml"/><Relationship Id="rId28" Type="http://schemas.openxmlformats.org/officeDocument/2006/relationships/slide" Target="slide51.xml"/><Relationship Id="rId10" Type="http://schemas.openxmlformats.org/officeDocument/2006/relationships/slide" Target="slide32.xml"/><Relationship Id="rId19" Type="http://schemas.openxmlformats.org/officeDocument/2006/relationships/slide" Target="slide48.xml"/><Relationship Id="rId4" Type="http://schemas.openxmlformats.org/officeDocument/2006/relationships/slide" Target="slide35.xml"/><Relationship Id="rId9" Type="http://schemas.openxmlformats.org/officeDocument/2006/relationships/slide" Target="slide31.xml"/><Relationship Id="rId14" Type="http://schemas.openxmlformats.org/officeDocument/2006/relationships/slide" Target="slide30.xml"/><Relationship Id="rId22" Type="http://schemas.openxmlformats.org/officeDocument/2006/relationships/slide" Target="slide43.xml"/><Relationship Id="rId27" Type="http://schemas.openxmlformats.org/officeDocument/2006/relationships/slide" Target="slide41.xml"/></Relationships>
</file>

<file path=ppt/slides/_rels/slide2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2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3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3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3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3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3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6.xml"/></Relationships>
</file>

<file path=ppt/slides/_rels/slide3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11.xml"/></Relationships>
</file>

<file path=ppt/slides/_rels/slide3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3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2.xml"/></Relationships>
</file>

<file path=ppt/slides/_rels/slide4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4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slide" Target="slide24.xml"/></Relationships>
</file>

<file path=ppt/slides/_rels/slide43.xml.rels><?xml version="1.0" encoding="UTF-8" standalone="yes"?>
<Relationships xmlns="http://schemas.openxmlformats.org/package/2006/relationships"><Relationship Id="rId3" Type="http://schemas.openxmlformats.org/officeDocument/2006/relationships/slide" Target="slide27.xml"/><Relationship Id="rId7" Type="http://schemas.openxmlformats.org/officeDocument/2006/relationships/slide" Target="slide2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27.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slide" Target="slide23.xml"/></Relationships>
</file>

<file path=ppt/slides/_rels/slide4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slide" Target="slide25.xml"/></Relationships>
</file>

<file path=ppt/slides/_rels/slide4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image" Target="../media/image28.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4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4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5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5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5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image" Target="../media/image36.png"/><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5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scope, owners, then a costed plan</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The dates matter. So does their legal status.</a:t>
            </a:r>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retained regulatory register, 19 Sep / updated 15 Oct 2026. No fresh legal-currentness check.</a:t>
            </a:r>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p:nvSpPr>
          <p:cNvPr id="30453" name="Timeline rail">
            <a:extLst>
              <a:ext uri="{FF2B5EF4-FFF2-40B4-BE49-F238E27FC236}">
                <a16:creationId xmlns:a16="http://schemas.microsoft.com/office/drawing/2014/main" id="{8BA19CD8-C8F9-0380-1B46-40DD640BE961}"/>
              </a:ext>
            </a:extLst>
          </p:cNvPr>
          <p:cNvSpPr/>
          <p:nvPr/>
        </p:nvSpPr>
        <p:spPr>
          <a:xfrm>
            <a:off x="548640" y="244602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66" name="Milestone 1 disc">
            <a:extLst>
              <a:ext uri="{FF2B5EF4-FFF2-40B4-BE49-F238E27FC236}">
                <a16:creationId xmlns:a16="http://schemas.microsoft.com/office/drawing/2014/main" id="{60848FC5-0E7C-2544-974C-82A0690E8697}"/>
              </a:ext>
            </a:extLst>
          </p:cNvPr>
          <p:cNvSpPr/>
          <p:nvPr/>
        </p:nvSpPr>
        <p:spPr>
          <a:xfrm>
            <a:off x="1223772"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04" name="Milestone 2 disc">
            <a:extLst>
              <a:ext uri="{FF2B5EF4-FFF2-40B4-BE49-F238E27FC236}">
                <a16:creationId xmlns:a16="http://schemas.microsoft.com/office/drawing/2014/main" id="{6737DAFA-791B-76FD-4143-E409A6B0D5E5}"/>
              </a:ext>
            </a:extLst>
          </p:cNvPr>
          <p:cNvSpPr/>
          <p:nvPr/>
        </p:nvSpPr>
        <p:spPr>
          <a:xfrm>
            <a:off x="3442716" y="2125980"/>
            <a:ext cx="868680" cy="868680"/>
          </a:xfrm>
          <a:prstGeom prst="ellipse">
            <a:avLst/>
          </a:prstGeom>
          <a:solidFill>
            <a:srgbClr val="FFF1D6"/>
          </a:solidFill>
          <a:ln w="285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558" name="Milestone 3 disc">
            <a:extLst>
              <a:ext uri="{FF2B5EF4-FFF2-40B4-BE49-F238E27FC236}">
                <a16:creationId xmlns:a16="http://schemas.microsoft.com/office/drawing/2014/main" id="{385F79D5-FAF7-CA37-3970-8707DBB9CF3D}"/>
              </a:ext>
            </a:extLst>
          </p:cNvPr>
          <p:cNvSpPr/>
          <p:nvPr/>
        </p:nvSpPr>
        <p:spPr>
          <a:xfrm>
            <a:off x="5661660"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09" name="Milestone 4 disc">
            <a:extLst>
              <a:ext uri="{FF2B5EF4-FFF2-40B4-BE49-F238E27FC236}">
                <a16:creationId xmlns:a16="http://schemas.microsoft.com/office/drawing/2014/main" id="{03A9DEA1-6EB0-C99A-C4A5-DB3C051A3D2D}"/>
              </a:ext>
            </a:extLst>
          </p:cNvPr>
          <p:cNvSpPr/>
          <p:nvPr/>
        </p:nvSpPr>
        <p:spPr>
          <a:xfrm>
            <a:off x="7880604"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669" name="Milestone 5 disc">
            <a:extLst>
              <a:ext uri="{FF2B5EF4-FFF2-40B4-BE49-F238E27FC236}">
                <a16:creationId xmlns:a16="http://schemas.microsoft.com/office/drawing/2014/main" id="{1B85AC70-10D2-6160-8FA6-1D0CEB8F9389}"/>
              </a:ext>
            </a:extLst>
          </p:cNvPr>
          <p:cNvSpPr/>
          <p:nvPr/>
        </p:nvSpPr>
        <p:spPr>
          <a:xfrm>
            <a:off x="10099548" y="2125980"/>
            <a:ext cx="868680" cy="86868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14" name="Insight band">
            <a:extLst>
              <a:ext uri="{FF2B5EF4-FFF2-40B4-BE49-F238E27FC236}">
                <a16:creationId xmlns:a16="http://schemas.microsoft.com/office/drawing/2014/main" id="{35BC337C-D3ED-BBC7-DEBC-B55DF7C51623}"/>
              </a:ext>
            </a:extLst>
          </p:cNvPr>
          <p:cNvSpPr/>
          <p:nvPr/>
        </p:nvSpPr>
        <p:spPr>
          <a:xfrm>
            <a:off x="548640" y="4663440"/>
            <a:ext cx="11094720" cy="105156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38" name="Insight disc">
            <a:extLst>
              <a:ext uri="{FF2B5EF4-FFF2-40B4-BE49-F238E27FC236}">
                <a16:creationId xmlns:a16="http://schemas.microsoft.com/office/drawing/2014/main" id="{B67F8338-BE21-6A1F-237D-38191237BD3D}"/>
              </a:ext>
            </a:extLst>
          </p:cNvPr>
          <p:cNvSpPr/>
          <p:nvPr/>
        </p:nvSpPr>
        <p:spPr>
          <a:xfrm>
            <a:off x="777240" y="4846320"/>
            <a:ext cx="685800" cy="68580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0764" name="Milestone 1 icon" descr="Damp and mould icon">
            <a:extLst>
              <a:ext uri="{FF2B5EF4-FFF2-40B4-BE49-F238E27FC236}">
                <a16:creationId xmlns:a16="http://schemas.microsoft.com/office/drawing/2014/main" id="{093DFE65-8B16-229B-AC12-E8F468BBD614}"/>
              </a:ext>
            </a:extLst>
          </p:cNvPr>
          <p:cNvPicPr>
            <a:picLocks noChangeAspect="1"/>
          </p:cNvPicPr>
          <p:nvPr/>
        </p:nvPicPr>
        <p:blipFill>
          <a:blip r:embed="rId3"/>
          <a:stretch>
            <a:fillRect/>
          </a:stretch>
        </p:blipFill>
        <p:spPr>
          <a:xfrm>
            <a:off x="1383792" y="2286000"/>
            <a:ext cx="548640" cy="548640"/>
          </a:xfrm>
          <a:prstGeom prst="rect">
            <a:avLst/>
          </a:prstGeom>
        </p:spPr>
      </p:pic>
      <p:pic>
        <p:nvPicPr>
          <p:cNvPr id="30765" name="Milestone 2 icon" descr="Warmth icon">
            <a:extLst>
              <a:ext uri="{FF2B5EF4-FFF2-40B4-BE49-F238E27FC236}">
                <a16:creationId xmlns:a16="http://schemas.microsoft.com/office/drawing/2014/main" id="{6CFEE0A4-6843-A4D1-4C09-A4DB4370046C}"/>
              </a:ext>
            </a:extLst>
          </p:cNvPr>
          <p:cNvPicPr>
            <a:picLocks noChangeAspect="1"/>
          </p:cNvPicPr>
          <p:nvPr/>
        </p:nvPicPr>
        <p:blipFill>
          <a:blip r:embed="rId4"/>
          <a:stretch>
            <a:fillRect/>
          </a:stretch>
        </p:blipFill>
        <p:spPr>
          <a:xfrm>
            <a:off x="3602736" y="2286000"/>
            <a:ext cx="548640" cy="548640"/>
          </a:xfrm>
          <a:prstGeom prst="rect">
            <a:avLst/>
          </a:prstGeom>
        </p:spPr>
      </p:pic>
      <p:pic>
        <p:nvPicPr>
          <p:cNvPr id="30766" name="Milestone 3 icon" descr="Deadline icon">
            <a:extLst>
              <a:ext uri="{FF2B5EF4-FFF2-40B4-BE49-F238E27FC236}">
                <a16:creationId xmlns:a16="http://schemas.microsoft.com/office/drawing/2014/main" id="{DEB77B7D-BDC4-F9CD-3F4E-A4EFF7603560}"/>
              </a:ext>
            </a:extLst>
          </p:cNvPr>
          <p:cNvPicPr>
            <a:picLocks noChangeAspect="1"/>
          </p:cNvPicPr>
          <p:nvPr/>
        </p:nvPicPr>
        <p:blipFill>
          <a:blip r:embed="rId5"/>
          <a:stretch>
            <a:fillRect/>
          </a:stretch>
        </p:blipFill>
        <p:spPr>
          <a:xfrm>
            <a:off x="5821680" y="2286000"/>
            <a:ext cx="548640" cy="548640"/>
          </a:xfrm>
          <a:prstGeom prst="rect">
            <a:avLst/>
          </a:prstGeom>
        </p:spPr>
      </p:pic>
      <p:pic>
        <p:nvPicPr>
          <p:cNvPr id="30767" name="Milestone 4 icon" descr="Energy rating icon">
            <a:extLst>
              <a:ext uri="{FF2B5EF4-FFF2-40B4-BE49-F238E27FC236}">
                <a16:creationId xmlns:a16="http://schemas.microsoft.com/office/drawing/2014/main" id="{0D6113FA-93D5-E728-07C6-7940C9AE1ED2}"/>
              </a:ext>
            </a:extLst>
          </p:cNvPr>
          <p:cNvPicPr>
            <a:picLocks noChangeAspect="1"/>
          </p:cNvPicPr>
          <p:nvPr/>
        </p:nvPicPr>
        <p:blipFill>
          <a:blip r:embed="rId6"/>
          <a:stretch>
            <a:fillRect/>
          </a:stretch>
        </p:blipFill>
        <p:spPr>
          <a:xfrm>
            <a:off x="8040624" y="2286000"/>
            <a:ext cx="548640" cy="548640"/>
          </a:xfrm>
          <a:prstGeom prst="rect">
            <a:avLst/>
          </a:prstGeom>
        </p:spPr>
      </p:pic>
      <p:pic>
        <p:nvPicPr>
          <p:cNvPr id="30768" name="Milestone 5 icon" descr="House icon">
            <a:extLst>
              <a:ext uri="{FF2B5EF4-FFF2-40B4-BE49-F238E27FC236}">
                <a16:creationId xmlns:a16="http://schemas.microsoft.com/office/drawing/2014/main" id="{90ABDFF2-77CB-AF41-5BA6-987F6E92EBC5}"/>
              </a:ext>
            </a:extLst>
          </p:cNvPr>
          <p:cNvPicPr>
            <a:picLocks noChangeAspect="1"/>
          </p:cNvPicPr>
          <p:nvPr/>
        </p:nvPicPr>
        <p:blipFill>
          <a:blip r:embed="rId7"/>
          <a:stretch>
            <a:fillRect/>
          </a:stretch>
        </p:blipFill>
        <p:spPr>
          <a:xfrm>
            <a:off x="10259568" y="2286000"/>
            <a:ext cx="548640" cy="548640"/>
          </a:xfrm>
          <a:prstGeom prst="rect">
            <a:avLst/>
          </a:prstGeom>
        </p:spPr>
      </p:pic>
      <p:pic>
        <p:nvPicPr>
          <p:cNvPr id="30769" name="Insight icon" descr="Idea icon">
            <a:extLst>
              <a:ext uri="{FF2B5EF4-FFF2-40B4-BE49-F238E27FC236}">
                <a16:creationId xmlns:a16="http://schemas.microsoft.com/office/drawing/2014/main" id="{7C754C20-F751-9773-1D1B-D9B3C17B5134}"/>
              </a:ext>
            </a:extLst>
          </p:cNvPr>
          <p:cNvPicPr>
            <a:picLocks noChangeAspect="1"/>
          </p:cNvPicPr>
          <p:nvPr/>
        </p:nvPicPr>
        <p:blipFill>
          <a:blip r:embed="rId8"/>
          <a:stretch>
            <a:fillRect/>
          </a:stretch>
        </p:blipFill>
        <p:spPr>
          <a:xfrm>
            <a:off x="891540" y="4960620"/>
            <a:ext cx="457200" cy="457200"/>
          </a:xfrm>
          <a:prstGeom prst="rect">
            <a:avLst/>
          </a:prstGeom>
        </p:spPr>
      </p:pic>
      <p:sp xmlns:p="http://schemas.openxmlformats.org/presentationml/2006/main" xmlns:a="http://schemas.openxmlformats.org/drawingml/2006/main">
        <p:nvSpPr>
          <p:cNvPr id="900000" name="Story-3-milestone-0-date" descr="27 Oct 2025"/>
          <p:cNvSpPr txBox="1"/>
          <p:nvPr/>
        </p:nvSpPr>
        <p:spPr>
          <a:xfrm>
            <a:off x="548640"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27 Oct 2025</a:t>
            </a:r>
          </a:p>
        </p:txBody>
      </p:sp>
      <p:sp xmlns:p="http://schemas.openxmlformats.org/presentationml/2006/main" xmlns:a="http://schemas.openxmlformats.org/drawingml/2006/main">
        <p:nvSpPr>
          <p:cNvPr id="900001" name="Story-3-milestone-0-title" descr="Awaab's Law&#10;Phase 1"/>
          <p:cNvSpPr txBox="1"/>
          <p:nvPr/>
        </p:nvSpPr>
        <p:spPr>
          <a:xfrm>
            <a:off x="548640"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Awaab's Law</a:t>
            </a:r>
          </a:p>
          <a:p>
            <a:pPr algn="ctr">
              <a:lnSpc>
                <a:spcPct val="105000"/>
              </a:lnSpc>
              <a:buNone/>
            </a:pPr>
            <a:r>
              <a:rPr lang="en-GB" sz="1800" b="1">
                <a:solidFill>
                  <a:srgbClr val="173F35"/>
                </a:solidFill>
                <a:latin typeface="Arial"/>
              </a:rPr>
              <a:t>Phase 1</a:t>
            </a:r>
          </a:p>
        </p:txBody>
      </p:sp>
      <p:sp xmlns:p="http://schemas.openxmlformats.org/presentationml/2006/main" xmlns:a="http://schemas.openxmlformats.org/drawingml/2006/main">
        <p:nvSpPr>
          <p:cNvPr id="900002" name="Story-3-milestone-0-detail" descr="In-force regulations&#10;in retained register"/>
          <p:cNvSpPr txBox="1"/>
          <p:nvPr/>
        </p:nvSpPr>
        <p:spPr>
          <a:xfrm>
            <a:off x="576072"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In-force regulations</a:t>
            </a:r>
          </a:p>
          <a:p>
            <a:pPr algn="ctr">
              <a:lnSpc>
                <a:spcPct val="105000"/>
              </a:lnSpc>
              <a:buNone/>
            </a:pPr>
            <a:r>
              <a:rPr lang="en-GB" sz="1400" b="0">
                <a:solidFill>
                  <a:srgbClr val="50655E"/>
                </a:solidFill>
                <a:latin typeface="Arial"/>
              </a:rPr>
              <a:t>in retained register</a:t>
            </a:r>
          </a:p>
        </p:txBody>
      </p:sp>
      <p:sp xmlns:p="http://schemas.openxmlformats.org/presentationml/2006/main" xmlns:a="http://schemas.openxmlformats.org/drawingml/2006/main">
        <p:nvSpPr>
          <p:cNvPr id="900003" name="Story-3-milestone-1-date" descr="30 Nov 2026"/>
          <p:cNvSpPr txBox="1"/>
          <p:nvPr/>
        </p:nvSpPr>
        <p:spPr>
          <a:xfrm>
            <a:off x="2766974"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885500"/>
                </a:solidFill>
                <a:latin typeface="Arial"/>
              </a:rPr>
              <a:t>30 Nov 2026</a:t>
            </a:r>
          </a:p>
        </p:txBody>
      </p:sp>
      <p:sp xmlns:p="http://schemas.openxmlformats.org/presentationml/2006/main" xmlns:a="http://schemas.openxmlformats.org/drawingml/2006/main">
        <p:nvSpPr>
          <p:cNvPr id="900004" name="Story-3-milestone-1-title" descr="Cold and heat&#10;Phase 2 guidance"/>
          <p:cNvSpPr txBox="1"/>
          <p:nvPr/>
        </p:nvSpPr>
        <p:spPr>
          <a:xfrm>
            <a:off x="2766974"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Cold and heat</a:t>
            </a:r>
          </a:p>
          <a:p>
            <a:pPr algn="ctr">
              <a:lnSpc>
                <a:spcPct val="105000"/>
              </a:lnSpc>
              <a:buNone/>
            </a:pPr>
            <a:r>
              <a:rPr lang="en-GB" sz="1800" b="1">
                <a:solidFill>
                  <a:srgbClr val="173F35"/>
                </a:solidFill>
                <a:latin typeface="Arial"/>
              </a:rPr>
              <a:t>Phase 2 guidance</a:t>
            </a:r>
          </a:p>
        </p:txBody>
      </p:sp>
      <p:sp xmlns:p="http://schemas.openxmlformats.org/presentationml/2006/main" xmlns:a="http://schemas.openxmlformats.org/drawingml/2006/main">
        <p:nvSpPr>
          <p:cNvPr id="900005" name="Story-3-milestone-1-detail" descr="Planned expansion;&#10;check commencement"/>
          <p:cNvSpPr txBox="1"/>
          <p:nvPr/>
        </p:nvSpPr>
        <p:spPr>
          <a:xfrm>
            <a:off x="2794406"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Planned expansion;</a:t>
            </a:r>
          </a:p>
          <a:p>
            <a:pPr algn="ctr">
              <a:lnSpc>
                <a:spcPct val="105000"/>
              </a:lnSpc>
              <a:buNone/>
            </a:pPr>
            <a:r>
              <a:rPr lang="en-GB" sz="1400" b="0">
                <a:solidFill>
                  <a:srgbClr val="50655E"/>
                </a:solidFill>
                <a:latin typeface="Arial"/>
              </a:rPr>
              <a:t>check commencement</a:t>
            </a:r>
          </a:p>
        </p:txBody>
      </p:sp>
      <p:sp xmlns:p="http://schemas.openxmlformats.org/presentationml/2006/main" xmlns:a="http://schemas.openxmlformats.org/drawingml/2006/main">
        <p:nvSpPr>
          <p:cNvPr id="900006" name="Story-3-milestone-2-date" descr="2027"/>
          <p:cNvSpPr txBox="1"/>
          <p:nvPr/>
        </p:nvSpPr>
        <p:spPr>
          <a:xfrm>
            <a:off x="4985309"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2027</a:t>
            </a:r>
          </a:p>
        </p:txBody>
      </p:sp>
      <p:sp xmlns:p="http://schemas.openxmlformats.org/presentationml/2006/main" xmlns:a="http://schemas.openxmlformats.org/drawingml/2006/main">
        <p:nvSpPr>
          <p:cNvPr id="900007" name="Story-3-milestone-2-title" descr="Remaining hazards&#10;Phase 3 plan"/>
          <p:cNvSpPr txBox="1"/>
          <p:nvPr/>
        </p:nvSpPr>
        <p:spPr>
          <a:xfrm>
            <a:off x="4985309"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Remaining hazards</a:t>
            </a:r>
          </a:p>
          <a:p>
            <a:pPr algn="ctr">
              <a:lnSpc>
                <a:spcPct val="105000"/>
              </a:lnSpc>
              <a:buNone/>
            </a:pPr>
            <a:r>
              <a:rPr lang="en-GB" sz="1800" b="1">
                <a:solidFill>
                  <a:srgbClr val="173F35"/>
                </a:solidFill>
                <a:latin typeface="Arial"/>
              </a:rPr>
              <a:t>Phase 3 plan</a:t>
            </a:r>
          </a:p>
        </p:txBody>
      </p:sp>
      <p:sp xmlns:p="http://schemas.openxmlformats.org/presentationml/2006/main" xmlns:a="http://schemas.openxmlformats.org/drawingml/2006/main">
        <p:nvSpPr>
          <p:cNvPr id="900008" name="Story-3-milestone-2-detail" descr="Planned scope;&#10;not a live rule"/>
          <p:cNvSpPr txBox="1"/>
          <p:nvPr/>
        </p:nvSpPr>
        <p:spPr>
          <a:xfrm>
            <a:off x="5012741"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Planned scope;</a:t>
            </a:r>
          </a:p>
          <a:p>
            <a:pPr algn="ctr">
              <a:lnSpc>
                <a:spcPct val="105000"/>
              </a:lnSpc>
              <a:buNone/>
            </a:pPr>
            <a:r>
              <a:rPr lang="en-GB" sz="1400" b="0">
                <a:solidFill>
                  <a:srgbClr val="50655E"/>
                </a:solidFill>
                <a:latin typeface="Arial"/>
              </a:rPr>
              <a:t>not a live rule</a:t>
            </a:r>
          </a:p>
        </p:txBody>
      </p:sp>
      <p:sp xmlns:p="http://schemas.openxmlformats.org/presentationml/2006/main" xmlns:a="http://schemas.openxmlformats.org/drawingml/2006/main">
        <p:nvSpPr>
          <p:cNvPr id="900009" name="Story-3-milestone-3-date" descr="1 Apr 2030"/>
          <p:cNvSpPr txBox="1"/>
          <p:nvPr/>
        </p:nvSpPr>
        <p:spPr>
          <a:xfrm>
            <a:off x="7203643"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1 Apr 2030</a:t>
            </a:r>
          </a:p>
        </p:txBody>
      </p:sp>
      <p:sp xmlns:p="http://schemas.openxmlformats.org/presentationml/2006/main" xmlns:a="http://schemas.openxmlformats.org/drawingml/2006/main">
        <p:nvSpPr>
          <p:cNvPr id="900010" name="Story-3-milestone-3-title" descr="EPC C&#10;Policy direction"/>
          <p:cNvSpPr txBox="1"/>
          <p:nvPr/>
        </p:nvSpPr>
        <p:spPr>
          <a:xfrm>
            <a:off x="7203643"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EPC C</a:t>
            </a:r>
          </a:p>
          <a:p>
            <a:pPr algn="ctr">
              <a:lnSpc>
                <a:spcPct val="105000"/>
              </a:lnSpc>
              <a:buNone/>
            </a:pPr>
            <a:r>
              <a:rPr lang="en-GB" sz="1800" b="1">
                <a:solidFill>
                  <a:srgbClr val="173F35"/>
                </a:solidFill>
                <a:latin typeface="Arial"/>
              </a:rPr>
              <a:t>Policy direction</a:t>
            </a:r>
          </a:p>
        </p:txBody>
      </p:sp>
      <p:sp xmlns:p="http://schemas.openxmlformats.org/presentationml/2006/main" xmlns:a="http://schemas.openxmlformats.org/drawingml/2006/main">
        <p:nvSpPr>
          <p:cNvPr id="900011" name="Story-3-milestone-3-detail" descr="Applicability and&#10;exceptions need review"/>
          <p:cNvSpPr txBox="1"/>
          <p:nvPr/>
        </p:nvSpPr>
        <p:spPr>
          <a:xfrm>
            <a:off x="7231075"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Applicability and</a:t>
            </a:r>
          </a:p>
          <a:p>
            <a:pPr algn="ctr">
              <a:lnSpc>
                <a:spcPct val="105000"/>
              </a:lnSpc>
              <a:buNone/>
            </a:pPr>
            <a:r>
              <a:rPr lang="en-GB" sz="1400" b="0">
                <a:solidFill>
                  <a:srgbClr val="50655E"/>
                </a:solidFill>
                <a:latin typeface="Arial"/>
              </a:rPr>
              <a:t>exceptions need review</a:t>
            </a:r>
          </a:p>
        </p:txBody>
      </p:sp>
      <p:sp xmlns:p="http://schemas.openxmlformats.org/presentationml/2006/main" xmlns:a="http://schemas.openxmlformats.org/drawingml/2006/main">
        <p:nvSpPr>
          <p:cNvPr id="900012" name="Story-3-milestone-4-date" descr="2035"/>
          <p:cNvSpPr txBox="1"/>
          <p:nvPr/>
        </p:nvSpPr>
        <p:spPr>
          <a:xfrm>
            <a:off x="9421978" y="1719072"/>
            <a:ext cx="2218334" cy="384048"/>
          </a:xfrm>
          <a:prstGeom prst="rect">
            <a:avLst/>
          </a:prstGeom>
          <a:noFill/>
          <a:ln>
            <a:noFill/>
          </a:ln>
        </p:spPr>
        <p:txBody>
          <a:bodyPr wrap="square" lIns="18288" rIns="18288" tIns="9144" bIns="9144" anchor="t">
            <a:noAutofit/>
          </a:bodyPr>
          <a:lstStyle/>
          <a:p>
            <a:pPr algn="ctr">
              <a:lnSpc>
                <a:spcPct val="105000"/>
              </a:lnSpc>
              <a:buNone/>
            </a:pPr>
            <a:r>
              <a:rPr lang="en-GB" sz="2100" b="1">
                <a:solidFill>
                  <a:srgbClr val="173F35"/>
                </a:solidFill>
                <a:latin typeface="Arial"/>
              </a:rPr>
              <a:t>2035</a:t>
            </a:r>
          </a:p>
        </p:txBody>
      </p:sp>
      <p:sp xmlns:p="http://schemas.openxmlformats.org/presentationml/2006/main" xmlns:a="http://schemas.openxmlformats.org/drawingml/2006/main">
        <p:nvSpPr>
          <p:cNvPr id="900013" name="Story-3-milestone-4-title" descr="Decent Homes&#10;Policy direction"/>
          <p:cNvSpPr txBox="1"/>
          <p:nvPr/>
        </p:nvSpPr>
        <p:spPr>
          <a:xfrm>
            <a:off x="9421978" y="3182112"/>
            <a:ext cx="2218334" cy="612648"/>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Decent Homes</a:t>
            </a:r>
          </a:p>
          <a:p>
            <a:pPr algn="ctr">
              <a:lnSpc>
                <a:spcPct val="105000"/>
              </a:lnSpc>
              <a:buNone/>
            </a:pPr>
            <a:r>
              <a:rPr lang="en-GB" sz="1800" b="1">
                <a:solidFill>
                  <a:srgbClr val="173F35"/>
                </a:solidFill>
                <a:latin typeface="Arial"/>
              </a:rPr>
              <a:t>Policy direction</a:t>
            </a:r>
          </a:p>
        </p:txBody>
      </p:sp>
      <p:sp xmlns:p="http://schemas.openxmlformats.org/presentationml/2006/main" xmlns:a="http://schemas.openxmlformats.org/drawingml/2006/main">
        <p:nvSpPr>
          <p:cNvPr id="900014" name="Story-3-milestone-4-detail" descr="Implementation&#10;not proved here"/>
          <p:cNvSpPr txBox="1"/>
          <p:nvPr/>
        </p:nvSpPr>
        <p:spPr>
          <a:xfrm>
            <a:off x="9449410" y="3931920"/>
            <a:ext cx="2163470" cy="566928"/>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Implementation</a:t>
            </a:r>
          </a:p>
          <a:p>
            <a:pPr algn="ctr">
              <a:lnSpc>
                <a:spcPct val="105000"/>
              </a:lnSpc>
              <a:buNone/>
            </a:pPr>
            <a:r>
              <a:rPr lang="en-GB" sz="1400" b="0">
                <a:solidFill>
                  <a:srgbClr val="50655E"/>
                </a:solidFill>
                <a:latin typeface="Arial"/>
              </a:rPr>
              <a:t>not proved here</a:t>
            </a:r>
          </a:p>
        </p:txBody>
      </p:sp>
      <p:sp xmlns:p="http://schemas.openxmlformats.org/presentationml/2006/main" xmlns:a="http://schemas.openxmlformats.org/drawingml/2006/main">
        <p:nvSpPr>
          <p:cNvPr id="900015" name="Story-3-register-status" descr="Dated source milestones, not five interchangeable legal duties."/>
          <p:cNvSpPr txBox="1"/>
          <p:nvPr/>
        </p:nvSpPr>
        <p:spPr>
          <a:xfrm>
            <a:off x="548640" y="1380744"/>
            <a:ext cx="11091672" cy="24688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Dated source milestones, not five interchangeable legal duties.</a:t>
            </a:r>
          </a:p>
        </p:txBody>
      </p:sp>
      <p:sp xmlns:p="http://schemas.openxmlformats.org/presentationml/2006/main" xmlns:a="http://schemas.openxmlformats.org/drawingml/2006/main">
        <p:nvSpPr>
          <p:cNvPr id="900016" name="Story-3-insight" descr="One connected service. Distinct legal decisions."/>
          <p:cNvSpPr txBox="1"/>
          <p:nvPr/>
        </p:nvSpPr>
        <p:spPr>
          <a:xfrm>
            <a:off x="1600200" y="4846320"/>
            <a:ext cx="9820656" cy="393192"/>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D8AC4B"/>
                </a:solidFill>
                <a:latin typeface="Arial"/>
              </a:rPr>
              <a:t>One connected service. Distinct legal decisions.</a:t>
            </a:r>
          </a:p>
        </p:txBody>
      </p:sp>
      <p:sp xmlns:p="http://schemas.openxmlformats.org/presentationml/2006/main" xmlns:a="http://schemas.openxmlformats.org/drawingml/2006/main">
        <p:nvSpPr>
          <p:cNvPr id="900017" name="Story-3-review-boundary" descr="Verify current official sources and competent review before activating a rule."/>
          <p:cNvSpPr txBox="1"/>
          <p:nvPr/>
        </p:nvSpPr>
        <p:spPr>
          <a:xfrm>
            <a:off x="1600200" y="5367528"/>
            <a:ext cx="9820656" cy="246888"/>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FAF9F6"/>
                </a:solidFill>
                <a:latin typeface="Arial"/>
              </a:rPr>
              <a:t>Verify current official sources and competent review before activating a rule.</a:t>
            </a:r>
          </a:p>
        </p:txBody>
      </p:sp>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From the brief to bounded design.</a:t>
            </a:r>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original brief; sector evidence; role challenge; journey atlas; DT Coach decision trace (30 Oct).</a:t>
            </a:r>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xmlns:p="http://schemas.openxmlformats.org/presentationml/2006/main" xmlns:a="http://schemas.openxmlformats.org/drawingml/2006/main">
        <p:nvSpPr>
          <p:cNvPr id="900000" name="Story-8-method-0-number" descr="01"/>
          <p:cNvSpPr txBox="1"/>
          <p:nvPr/>
        </p:nvSpPr>
        <p:spPr>
          <a:xfrm>
            <a:off x="548640"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01</a:t>
            </a:r>
          </a:p>
        </p:txBody>
      </p:sp>
      <p:sp xmlns:p="http://schemas.openxmlformats.org/presentationml/2006/main" xmlns:a="http://schemas.openxmlformats.org/drawingml/2006/main">
        <p:nvSpPr>
          <p:cNvPr id="900001" name="Story-8-method-0-title" descr="Ground the brief"/>
          <p:cNvSpPr txBox="1"/>
          <p:nvPr/>
        </p:nvSpPr>
        <p:spPr>
          <a:xfrm>
            <a:off x="1261872"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Ground the brief</a:t>
            </a:r>
          </a:p>
        </p:txBody>
      </p:sp>
      <p:sp xmlns:p="http://schemas.openxmlformats.org/presentationml/2006/main" xmlns:a="http://schemas.openxmlformats.org/drawingml/2006/main">
        <p:nvSpPr>
          <p:cNvPr id="900002" name="Story-8-method-0-detail" descr="Case facts + official context&#10;Company unknowns stay unknown"/>
          <p:cNvSpPr txBox="1"/>
          <p:nvPr/>
        </p:nvSpPr>
        <p:spPr>
          <a:xfrm>
            <a:off x="548640"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Case facts + official context</a:t>
            </a:r>
          </a:p>
          <a:p>
            <a:pPr algn="l">
              <a:lnSpc>
                <a:spcPct val="105000"/>
              </a:lnSpc>
              <a:buNone/>
            </a:pPr>
            <a:r>
              <a:rPr lang="en-GB" sz="1700" b="0">
                <a:solidFill>
                  <a:srgbClr val="50655E"/>
                </a:solidFill>
                <a:latin typeface="Arial"/>
              </a:rPr>
              <a:t>Company unknowns stay unknown</a:t>
            </a:r>
          </a:p>
        </p:txBody>
      </p:sp>
      <p:sp xmlns:p="http://schemas.openxmlformats.org/presentationml/2006/main" xmlns:a="http://schemas.openxmlformats.org/drawingml/2006/main">
        <p:nvSpPr>
          <p:cNvPr id="900003" name="Story-8-method-0-arrow" descr=""/>
          <p:cNvSpPr txBox="1"/>
          <p:nvPr/>
        </p:nvSpPr>
        <p:spPr>
          <a:xfrm>
            <a:off x="3794760" y="1920240"/>
            <a:ext cx="347472"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8-method-1-number" descr="02"/>
          <p:cNvSpPr txBox="1"/>
          <p:nvPr/>
        </p:nvSpPr>
        <p:spPr>
          <a:xfrm>
            <a:off x="4325112"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02</a:t>
            </a:r>
          </a:p>
        </p:txBody>
      </p:sp>
      <p:sp xmlns:p="http://schemas.openxmlformats.org/presentationml/2006/main" xmlns:a="http://schemas.openxmlformats.org/drawingml/2006/main">
        <p:nvSpPr>
          <p:cNvPr id="900005" name="Story-8-method-1-title" descr="Challenge the ask"/>
          <p:cNvSpPr txBox="1"/>
          <p:nvPr/>
        </p:nvSpPr>
        <p:spPr>
          <a:xfrm>
            <a:off x="5038344"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Challenge the ask</a:t>
            </a:r>
          </a:p>
        </p:txBody>
      </p:sp>
      <p:sp xmlns:p="http://schemas.openxmlformats.org/presentationml/2006/main" xmlns:a="http://schemas.openxmlformats.org/drawingml/2006/main">
        <p:nvSpPr>
          <p:cNvPr id="900006" name="Story-8-method-1-detail" descr="8 role instruments first;&#10;9 in the later journey atlas"/>
          <p:cNvSpPr txBox="1"/>
          <p:nvPr/>
        </p:nvSpPr>
        <p:spPr>
          <a:xfrm>
            <a:off x="4325112"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8 role instruments first;</a:t>
            </a:r>
          </a:p>
          <a:p>
            <a:pPr algn="l">
              <a:lnSpc>
                <a:spcPct val="105000"/>
              </a:lnSpc>
              <a:buNone/>
            </a:pPr>
            <a:r>
              <a:rPr lang="en-GB" sz="1700" b="0">
                <a:solidFill>
                  <a:srgbClr val="50655E"/>
                </a:solidFill>
                <a:latin typeface="Arial"/>
              </a:rPr>
              <a:t>9 in the later journey atlas</a:t>
            </a:r>
          </a:p>
        </p:txBody>
      </p:sp>
      <p:sp xmlns:p="http://schemas.openxmlformats.org/presentationml/2006/main" xmlns:a="http://schemas.openxmlformats.org/drawingml/2006/main">
        <p:nvSpPr>
          <p:cNvPr id="900007" name="Story-8-method-1-arrow" descr=""/>
          <p:cNvSpPr txBox="1"/>
          <p:nvPr/>
        </p:nvSpPr>
        <p:spPr>
          <a:xfrm>
            <a:off x="7571232" y="1920240"/>
            <a:ext cx="347472"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8-method-2-number" descr="03"/>
          <p:cNvSpPr txBox="1"/>
          <p:nvPr/>
        </p:nvSpPr>
        <p:spPr>
          <a:xfrm>
            <a:off x="8101584" y="1764792"/>
            <a:ext cx="530352" cy="530352"/>
          </a:xfrm>
          <a:prstGeom prst="ellipse">
            <a:avLst/>
          </a:prstGeom>
          <a:solidFill>
            <a:srgbClr val="173F35"/>
          </a:solidFill>
          <a:ln>
            <a:noFill/>
          </a:ln>
        </p:spPr>
        <p:txBody>
          <a:bodyPr wrap="square" lIns="18288" rIns="18288" tIns="9144" bIns="9144" anchor="ctr">
            <a:noAutofit/>
          </a:bodyPr>
          <a:lstStyle/>
          <a:p>
            <a:pPr algn="ctr">
              <a:lnSpc>
                <a:spcPct val="105000"/>
              </a:lnSpc>
              <a:buNone/>
            </a:pPr>
            <a:r>
              <a:rPr lang="en-GB" sz="1900" b="1">
                <a:solidFill>
                  <a:srgbClr val="FAF9F6"/>
                </a:solidFill>
                <a:latin typeface="Arial"/>
              </a:rPr>
              <a:t>03</a:t>
            </a:r>
          </a:p>
        </p:txBody>
      </p:sp>
      <p:sp xmlns:p="http://schemas.openxmlformats.org/presentationml/2006/main" xmlns:a="http://schemas.openxmlformats.org/drawingml/2006/main">
        <p:nvSpPr>
          <p:cNvPr id="900009" name="Story-8-method-2-title" descr="Map the work"/>
          <p:cNvSpPr txBox="1"/>
          <p:nvPr/>
        </p:nvSpPr>
        <p:spPr>
          <a:xfrm>
            <a:off x="8814816" y="1810512"/>
            <a:ext cx="2377440" cy="438912"/>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Map the work</a:t>
            </a:r>
          </a:p>
        </p:txBody>
      </p:sp>
      <p:sp xmlns:p="http://schemas.openxmlformats.org/presentationml/2006/main" xmlns:a="http://schemas.openxmlformats.org/drawingml/2006/main">
        <p:nvSpPr>
          <p:cNvPr id="900010" name="Story-8-method-2-detail" descr="27 companion maps + 1 atlas map&#10;Actions, needs, pains and gains"/>
          <p:cNvSpPr txBox="1"/>
          <p:nvPr/>
        </p:nvSpPr>
        <p:spPr>
          <a:xfrm>
            <a:off x="8101584" y="2615184"/>
            <a:ext cx="3538728"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50655E"/>
                </a:solidFill>
                <a:latin typeface="Arial"/>
              </a:rPr>
              <a:t>27 companion maps + 1 atlas map</a:t>
            </a:r>
          </a:p>
          <a:p>
            <a:pPr algn="l">
              <a:lnSpc>
                <a:spcPct val="105000"/>
              </a:lnSpc>
              <a:buNone/>
            </a:pPr>
            <a:r>
              <a:rPr lang="en-GB" sz="1700" b="0">
                <a:solidFill>
                  <a:srgbClr val="50655E"/>
                </a:solidFill>
                <a:latin typeface="Arial"/>
              </a:rPr>
              <a:t>Actions, needs, pains and gains</a:t>
            </a:r>
          </a:p>
        </p:txBody>
      </p:sp>
      <p:sp xmlns:p="http://schemas.openxmlformats.org/presentationml/2006/main" xmlns:a="http://schemas.openxmlformats.org/drawingml/2006/main">
        <p:nvSpPr>
          <p:cNvPr id="900011" name="Story-8-method-rule" descr=""/>
          <p:cNvSpPr txBox="1"/>
          <p:nvPr/>
        </p:nvSpPr>
        <p:spPr>
          <a:xfrm>
            <a:off x="548640" y="3538728"/>
            <a:ext cx="11091672"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8-synthesis-label" descr="PAIN HYPOTHESIS  -&gt;  DESIGN RESPONSE  -&gt;  WHAT WE TEST"/>
          <p:cNvSpPr txBox="1"/>
          <p:nvPr/>
        </p:nvSpPr>
        <p:spPr>
          <a:xfrm>
            <a:off x="548640" y="3694176"/>
            <a:ext cx="11091672"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PAIN HYPOTHESIS  -&gt;  DESIGN RESPONSE  -&gt;  WHAT WE TEST</a:t>
            </a:r>
          </a:p>
        </p:txBody>
      </p:sp>
      <p:sp xmlns:p="http://schemas.openxmlformats.org/presentationml/2006/main" xmlns:a="http://schemas.openxmlformats.org/drawingml/2006/main">
        <p:nvSpPr>
          <p:cNvPr id="900013" name="Story-8-trace-0-rail" descr=""/>
          <p:cNvSpPr txBox="1"/>
          <p:nvPr/>
        </p:nvSpPr>
        <p:spPr>
          <a:xfrm>
            <a:off x="548640"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8-trace-0-pain" descr="Repeated story"/>
          <p:cNvSpPr txBox="1"/>
          <p:nvPr/>
        </p:nvSpPr>
        <p:spPr>
          <a:xfrm>
            <a:off x="731520"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Repeated story</a:t>
            </a:r>
          </a:p>
        </p:txBody>
      </p:sp>
      <p:sp xmlns:p="http://schemas.openxmlformats.org/presentationml/2006/main" xmlns:a="http://schemas.openxmlformats.org/drawingml/2006/main">
        <p:nvSpPr>
          <p:cNvPr id="900015" name="Story-8-trace-0-response" descr="Scoped case + named owner"/>
          <p:cNvSpPr txBox="1"/>
          <p:nvPr/>
        </p:nvSpPr>
        <p:spPr>
          <a:xfrm>
            <a:off x="731520"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Scoped case + named owner</a:t>
            </a:r>
          </a:p>
        </p:txBody>
      </p:sp>
      <p:sp xmlns:p="http://schemas.openxmlformats.org/presentationml/2006/main" xmlns:a="http://schemas.openxmlformats.org/drawingml/2006/main">
        <p:nvSpPr>
          <p:cNvPr id="900016" name="Story-8-trace-0-test" descr="Test: Effort and disclosure"/>
          <p:cNvSpPr txBox="1"/>
          <p:nvPr/>
        </p:nvSpPr>
        <p:spPr>
          <a:xfrm>
            <a:off x="731520"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Effort and disclosure</a:t>
            </a:r>
          </a:p>
        </p:txBody>
      </p:sp>
      <p:sp xmlns:p="http://schemas.openxmlformats.org/presentationml/2006/main" xmlns:a="http://schemas.openxmlformats.org/drawingml/2006/main">
        <p:nvSpPr>
          <p:cNvPr id="900017" name="Story-8-trace-1-rail" descr=""/>
          <p:cNvSpPr txBox="1"/>
          <p:nvPr/>
        </p:nvSpPr>
        <p:spPr>
          <a:xfrm>
            <a:off x="4325112"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8-trace-1-pain" descr="Unowned handoff"/>
          <p:cNvSpPr txBox="1"/>
          <p:nvPr/>
        </p:nvSpPr>
        <p:spPr>
          <a:xfrm>
            <a:off x="4507992"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Unowned handoff</a:t>
            </a:r>
          </a:p>
        </p:txBody>
      </p:sp>
      <p:sp xmlns:p="http://schemas.openxmlformats.org/presentationml/2006/main" xmlns:a="http://schemas.openxmlformats.org/drawingml/2006/main">
        <p:nvSpPr>
          <p:cNvPr id="900019" name="Story-8-trace-1-response" descr="Receiver + chase responsibility"/>
          <p:cNvSpPr txBox="1"/>
          <p:nvPr/>
        </p:nvSpPr>
        <p:spPr>
          <a:xfrm>
            <a:off x="4507992"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Receiver + chase responsibility</a:t>
            </a:r>
          </a:p>
        </p:txBody>
      </p:sp>
      <p:sp xmlns:p="http://schemas.openxmlformats.org/presentationml/2006/main" xmlns:a="http://schemas.openxmlformats.org/drawingml/2006/main">
        <p:nvSpPr>
          <p:cNvPr id="900020" name="Story-8-trace-1-test" descr="Test: Rejection and delay"/>
          <p:cNvSpPr txBox="1"/>
          <p:nvPr/>
        </p:nvSpPr>
        <p:spPr>
          <a:xfrm>
            <a:off x="4507992"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Rejection and delay</a:t>
            </a:r>
          </a:p>
        </p:txBody>
      </p:sp>
      <p:sp xmlns:p="http://schemas.openxmlformats.org/presentationml/2006/main" xmlns:a="http://schemas.openxmlformats.org/drawingml/2006/main">
        <p:nvSpPr>
          <p:cNvPr id="900021" name="Story-8-trace-2-rail" descr=""/>
          <p:cNvSpPr txBox="1"/>
          <p:nvPr/>
        </p:nvSpPr>
        <p:spPr>
          <a:xfrm>
            <a:off x="8101584" y="4233672"/>
            <a:ext cx="50292" cy="996696"/>
          </a:xfrm>
          <a:prstGeom prst="rect">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8-trace-2-pain" descr="Changed evidence"/>
          <p:cNvSpPr txBox="1"/>
          <p:nvPr/>
        </p:nvSpPr>
        <p:spPr>
          <a:xfrm>
            <a:off x="8284464" y="4178808"/>
            <a:ext cx="3355848" cy="3200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Changed evidence</a:t>
            </a:r>
          </a:p>
        </p:txBody>
      </p:sp>
      <p:sp xmlns:p="http://schemas.openxmlformats.org/presentationml/2006/main" xmlns:a="http://schemas.openxmlformats.org/drawingml/2006/main">
        <p:nvSpPr>
          <p:cNvPr id="900023" name="Story-8-trace-2-response" descr="Version-bound review"/>
          <p:cNvSpPr txBox="1"/>
          <p:nvPr/>
        </p:nvSpPr>
        <p:spPr>
          <a:xfrm>
            <a:off x="8284464" y="4599432"/>
            <a:ext cx="3355848" cy="32004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Version-bound review</a:t>
            </a:r>
          </a:p>
        </p:txBody>
      </p:sp>
      <p:sp xmlns:p="http://schemas.openxmlformats.org/presentationml/2006/main" xmlns:a="http://schemas.openxmlformats.org/drawingml/2006/main">
        <p:nvSpPr>
          <p:cNvPr id="900024" name="Story-8-trace-2-test" descr="Test: Only affected reviews reopen"/>
          <p:cNvSpPr txBox="1"/>
          <p:nvPr/>
        </p:nvSpPr>
        <p:spPr>
          <a:xfrm>
            <a:off x="8284464" y="5010912"/>
            <a:ext cx="3355848" cy="283464"/>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Test: Only affected reviews reopen</a:t>
            </a:r>
          </a:p>
        </p:txBody>
      </p:sp>
      <p:sp xmlns:p="http://schemas.openxmlformats.org/presentationml/2006/main" xmlns:a="http://schemas.openxmlformats.org/drawingml/2006/main">
        <p:nvSpPr>
          <p:cNvPr id="900025" name="Story-8-research-boundary-fill" descr=""/>
          <p:cNvSpPr txBox="1"/>
          <p:nvPr/>
        </p:nvSpPr>
        <p:spPr>
          <a:xfrm>
            <a:off x="548640" y="551383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6" name="Story-8-research-boundary" descr="Structured desk research, not interviews. Pains and gains remain hypotheses."/>
          <p:cNvSpPr txBox="1"/>
          <p:nvPr/>
        </p:nvSpPr>
        <p:spPr>
          <a:xfrm>
            <a:off x="749808" y="563270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Structured desk research, not interviews. Pains and gains remain hypotheses.</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Five autonomous agents, autonomy L2-L4</a:t>
            </a:r>
          </a:p>
          <a:p>
            <a:pPr algn="l">
              <a:buNone/>
            </a:pPr>
            <a:r>
              <a:rPr lang="en-US" sz="100" dirty="0">
                <a:effectLst/>
              </a:rPr>
              <a:t> </a:t>
            </a:r>
            <a:endParaRPr lang="en-US" dirty="0"/>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Five bounded assistants on one proposal service</a:t>
            </a:r>
          </a:p>
          <a:p>
            <a:pPr algn="l">
              <a:buNone/>
            </a:pPr>
            <a:r>
              <a:rPr lang="en-US" sz="100" dirty="0">
                <a:effectLst/>
              </a:rPr>
              <a:t> </a:t>
            </a:r>
            <a:endParaRPr lang="en-US" dirty="0"/>
          </a:p>
        </p:txBody>
      </p:sp>
      <p:sp>
        <p:nvSpPr>
          <p:cNvPr id="34557" name="Card 1 why">
            <a:extLst>
              <a:ext uri="{FF2B5EF4-FFF2-40B4-BE49-F238E27FC236}">
                <a16:creationId xmlns:a16="http://schemas.microsoft.com/office/drawing/2014/main" id="{8114C4C5-A547-E3F7-EFF3-1F62B155DD3A}"/>
              </a:ext>
            </a:extLst>
          </p:cNvPr>
          <p:cNvSpPr/>
          <p:nvPr/>
        </p:nvSpPr>
        <p:spPr>
          <a:xfrm>
            <a:off x="2493294" y="3063240"/>
            <a:ext cx="3450306" cy="53949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8 role research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AI makes decisions</a:t>
            </a:r>
          </a:p>
          <a:p>
            <a:pPr algn="l">
              <a:buNone/>
            </a:pPr>
            <a:r>
              <a:rPr lang="en-US" sz="100" dirty="0">
                <a:effectLst/>
              </a:rPr>
              <a:t> </a:t>
            </a:r>
            <a:endParaRPr lang="en-US" dirty="0"/>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AI prepares, people decide</a:t>
            </a:r>
          </a:p>
          <a:p>
            <a:pPr algn="l">
              <a:buNone/>
            </a:pPr>
            <a:r>
              <a:rPr lang="en-US" sz="100" dirty="0">
                <a:effectLst/>
              </a:rPr>
              <a:t> </a:t>
            </a:r>
            <a:endParaRPr lang="en-US" dirty="0"/>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56" name="Eyebrow">
            <a:extLst>
              <a:ext uri="{FF2B5EF4-FFF2-40B4-BE49-F238E27FC236}">
                <a16:creationId xmlns:a16="http://schemas.microsoft.com/office/drawing/2014/main" id="{86E9FDFB-9EE1-AEFD-A395-ED72C8E6D0EB}"/>
              </a:ext>
            </a:extLst>
          </p:cNvPr>
          <p:cNvSpPr/>
          <p:nvPr/>
        </p:nvSpPr>
        <p:spPr>
          <a:xfrm>
            <a:off x="548640" y="365760"/>
            <a:ext cx="11091672"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3 / THE PRODUCT</a:t>
            </a:r>
          </a:p>
        </p:txBody>
      </p:sp>
      <p:sp>
        <p:nvSpPr>
          <p:cNvPr id="38858" name="Slide title">
            <a:extLst>
              <a:ext uri="{FF2B5EF4-FFF2-40B4-BE49-F238E27FC236}">
                <a16:creationId xmlns:a16="http://schemas.microsoft.com/office/drawing/2014/main" id="{45553DF9-78EC-71B4-745A-A5FB2B94A64E}"/>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 resident's journey: less friction, more choice.</a:t>
            </a:r>
          </a:p>
        </p:txBody>
      </p:sp>
      <p:sp>
        <p:nvSpPr>
          <p:cNvPr id="38861" name="Footer sources">
            <a:extLst>
              <a:ext uri="{FF2B5EF4-FFF2-40B4-BE49-F238E27FC236}">
                <a16:creationId xmlns:a16="http://schemas.microsoft.com/office/drawing/2014/main" id="{3B743F3A-8B7F-C65F-26D1-6BAEA813C55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resident journey atlas and DT Coach source-linked map. Editable Excalidraw + text equivalent retained.</a:t>
            </a:r>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xmlns:p="http://schemas.openxmlformats.org/presentationml/2006/main" xmlns:a="http://schemas.openxmlformats.org/drawingml/2006/main">
        <p:nvSpPr>
          <p:cNvPr id="900000" name="Story-13-hypothesis-status" descr="Desk-research hypotheses; direct resident validation pending."/>
          <p:cNvSpPr txBox="1"/>
          <p:nvPr/>
        </p:nvSpPr>
        <p:spPr>
          <a:xfrm>
            <a:off x="548640" y="1389888"/>
            <a:ext cx="11091672"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Desk-research hypotheses; direct resident validation pending.</a:t>
            </a:r>
          </a:p>
        </p:txBody>
      </p:sp>
      <p:sp xmlns:p="http://schemas.openxmlformats.org/presentationml/2006/main" xmlns:a="http://schemas.openxmlformats.org/drawingml/2006/main">
        <p:nvSpPr>
          <p:cNvPr id="900001" name="Story-13-journey-boundary-fill" descr=""/>
          <p:cNvSpPr txBox="1"/>
          <p:nvPr/>
        </p:nvSpPr>
        <p:spPr>
          <a:xfrm>
            <a:off x="548640" y="5669280"/>
            <a:ext cx="11091672" cy="329184"/>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13-journey-boundaries" descr="Phone, letter and assisted visits stay. QA stays independent. Urgent safety goes straight to people."/>
          <p:cNvSpPr txBox="1"/>
          <p:nvPr/>
        </p:nvSpPr>
        <p:spPr>
          <a:xfrm>
            <a:off x="694944" y="5715000"/>
            <a:ext cx="10799064" cy="22860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Phone, letter and assisted visits stay. QA stays independent. Urgent safety goes straight to people.</a:t>
            </a:r>
          </a:p>
        </p:txBody>
      </p:sp>
      <p:pic xmlns:p="http://schemas.openxmlformats.org/presentationml/2006/main" xmlns:a="http://schemas.openxmlformats.org/drawingml/2006/main" xmlns:r="http://schemas.openxmlformats.org/officeDocument/2006/relationships">
        <p:nvPicPr>
          <p:cNvPr id="2000000" name="Roadmap-13-resident-journey" descr="Five resident touchpoints: Contact, Survey, Decide, Installation, Live with it. Each has a proposed human owner, action/need, pain hypothesis and proposed gain. No measured sentiment or resident validation is claimed. Complete text equivalent is retained in the source."/>
          <p:cNvPicPr>
            <a:picLocks noChangeAspect="1"/>
          </p:cNvPicPr>
          <p:nvPr/>
        </p:nvPicPr>
        <p:blipFill>
          <a:blip r:embed="rIdRoadmap2000000"/>
          <a:stretch>
            <a:fillRect/>
          </a:stretch>
        </p:blipFill>
        <p:spPr>
          <a:xfrm>
            <a:off x="686453" y="1764792"/>
            <a:ext cx="10816046" cy="3785616"/>
          </a:xfrm>
          <a:prstGeom prst="rect">
            <a:avLst/>
          </a:prstGeom>
          <a:ln>
            <a:noFill/>
          </a:ln>
        </p:spPr>
      </p:pic>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What we built: one accountable workbench.</a:t>
            </a:r>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current guides; dated operator proof. Current acceptance and value remain separate.</a:t>
            </a:r>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xmlns:p="http://schemas.openxmlformats.org/presentationml/2006/main" xmlns:a="http://schemas.openxmlformats.org/drawingml/2006/main">
        <p:nvSpPr>
          <p:cNvPr id="900000" name="Story-14-case-frame" descr=""/>
          <p:cNvSpPr txBox="1"/>
          <p:nvPr/>
        </p:nvSpPr>
        <p:spPr>
          <a:xfrm>
            <a:off x="548640" y="1810512"/>
            <a:ext cx="5074920" cy="3474720"/>
          </a:xfrm>
          <a:prstGeom prst="rect">
            <a:avLst/>
          </a:prstGeom>
          <a:solidFill>
            <a:srgbClr val="FAF9F6"/>
          </a:solidFill>
          <a:ln w="16510">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14-case-toolbar" descr=""/>
          <p:cNvSpPr txBox="1"/>
          <p:nvPr/>
        </p:nvSpPr>
        <p:spPr>
          <a:xfrm>
            <a:off x="548640" y="1810512"/>
            <a:ext cx="5074920" cy="45720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14-case-toolbar-label" descr="WORKBENCH / ILLUSTRATIVE CASE"/>
          <p:cNvSpPr txBox="1"/>
          <p:nvPr/>
        </p:nvSpPr>
        <p:spPr>
          <a:xfrm>
            <a:off x="768096" y="1920240"/>
            <a:ext cx="4480560" cy="210312"/>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FAF9F6"/>
                </a:solidFill>
                <a:latin typeface="Arial"/>
              </a:rPr>
              <a:t>WORKBENCH / ILLUSTRATIVE CASE</a:t>
            </a:r>
          </a:p>
        </p:txBody>
      </p:sp>
      <p:sp xmlns:p="http://schemas.openxmlformats.org/presentationml/2006/main" xmlns:a="http://schemas.openxmlformats.org/drawingml/2006/main">
        <p:nvSpPr>
          <p:cNvPr id="900003" name="Story-14-case-id" descr="EXAMPLE-HOME-0412"/>
          <p:cNvSpPr txBox="1"/>
          <p:nvPr/>
        </p:nvSpPr>
        <p:spPr>
          <a:xfrm>
            <a:off x="786384" y="2514600"/>
            <a:ext cx="4599432"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EXAMPLE-HOME-0412</a:t>
            </a:r>
          </a:p>
        </p:txBody>
      </p:sp>
      <p:sp xmlns:p="http://schemas.openxmlformats.org/presentationml/2006/main" xmlns:a="http://schemas.openxmlformats.org/drawingml/2006/main">
        <p:nvSpPr>
          <p:cNvPr id="900004" name="Story-14-case-state" descr="Evidence conflict: two sources disagree"/>
          <p:cNvSpPr txBox="1"/>
          <p:nvPr/>
        </p:nvSpPr>
        <p:spPr>
          <a:xfrm>
            <a:off x="786384" y="2999232"/>
            <a:ext cx="4535424" cy="384048"/>
          </a:xfrm>
          <a:prstGeom prst="rect">
            <a:avLst/>
          </a:prstGeom>
          <a:solidFill>
            <a:srgbClr val="FFF1D6"/>
          </a:solidFill>
          <a:ln>
            <a:noFill/>
          </a:ln>
        </p:spPr>
        <p:txBody>
          <a:bodyPr wrap="square" lIns="18288" rIns="18288" tIns="9144" bIns="9144" anchor="ctr">
            <a:noAutofit/>
          </a:bodyPr>
          <a:lstStyle/>
          <a:p>
            <a:pPr algn="l">
              <a:lnSpc>
                <a:spcPct val="105000"/>
              </a:lnSpc>
              <a:buNone/>
            </a:pPr>
            <a:r>
              <a:rPr lang="en-GB" sz="1700" b="0">
                <a:solidFill>
                  <a:srgbClr val="885500"/>
                </a:solidFill>
                <a:latin typeface="Arial"/>
              </a:rPr>
              <a:t>Evidence conflict: two sources disagree</a:t>
            </a:r>
          </a:p>
        </p:txBody>
      </p:sp>
      <p:sp xmlns:p="http://schemas.openxmlformats.org/presentationml/2006/main" xmlns:a="http://schemas.openxmlformats.org/drawingml/2006/main">
        <p:nvSpPr>
          <p:cNvPr id="900005" name="Story-14-case-separator" descr=""/>
          <p:cNvSpPr txBox="1"/>
          <p:nvPr/>
        </p:nvSpPr>
        <p:spPr>
          <a:xfrm>
            <a:off x="786384" y="3621024"/>
            <a:ext cx="4599432"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4-case-next-label" descr="OWNED NEXT ACTION"/>
          <p:cNvSpPr txBox="1"/>
          <p:nvPr/>
        </p:nvSpPr>
        <p:spPr>
          <a:xfrm>
            <a:off x="786384" y="3831336"/>
            <a:ext cx="4434840" cy="246888"/>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50655E"/>
                </a:solidFill>
                <a:latin typeface="Arial"/>
              </a:rPr>
              <a:t>OWNED NEXT ACTION</a:t>
            </a:r>
          </a:p>
        </p:txBody>
      </p:sp>
      <p:sp xmlns:p="http://schemas.openxmlformats.org/presentationml/2006/main" xmlns:a="http://schemas.openxmlformats.org/drawingml/2006/main">
        <p:nvSpPr>
          <p:cNvPr id="900007" name="Story-14-case-next" descr="Assessor: resolve the source conflict"/>
          <p:cNvSpPr txBox="1"/>
          <p:nvPr/>
        </p:nvSpPr>
        <p:spPr>
          <a:xfrm>
            <a:off x="786384" y="4187952"/>
            <a:ext cx="4535424" cy="393192"/>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Assessor: resolve the source conflict</a:t>
            </a:r>
          </a:p>
        </p:txBody>
      </p:sp>
      <p:sp xmlns:p="http://schemas.openxmlformats.org/presentationml/2006/main" xmlns:a="http://schemas.openxmlformats.org/drawingml/2006/main">
        <p:nvSpPr>
          <p:cNvPr id="900008" name="Story-14-case-review" descr="AI suggestion is not an accepted decision."/>
          <p:cNvSpPr txBox="1"/>
          <p:nvPr/>
        </p:nvSpPr>
        <p:spPr>
          <a:xfrm>
            <a:off x="786384" y="4764024"/>
            <a:ext cx="4535424" cy="265176"/>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50655E"/>
                </a:solidFill>
                <a:latin typeface="Arial"/>
              </a:rPr>
              <a:t>AI suggestion is not an accepted decision.</a:t>
            </a:r>
          </a:p>
        </p:txBody>
      </p:sp>
      <p:sp xmlns:p="http://schemas.openxmlformats.org/presentationml/2006/main" xmlns:a="http://schemas.openxmlformats.org/drawingml/2006/main">
        <p:nvSpPr>
          <p:cNvPr id="900009" name="Story-14-control-0-number" descr="1"/>
          <p:cNvSpPr txBox="1"/>
          <p:nvPr/>
        </p:nvSpPr>
        <p:spPr>
          <a:xfrm>
            <a:off x="6089904" y="1828800"/>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1</a:t>
            </a:r>
          </a:p>
        </p:txBody>
      </p:sp>
      <p:sp xmlns:p="http://schemas.openxmlformats.org/presentationml/2006/main" xmlns:a="http://schemas.openxmlformats.org/drawingml/2006/main">
        <p:nvSpPr>
          <p:cNvPr id="900010" name="Story-14-control-0-title" descr="Work stays owned"/>
          <p:cNvSpPr txBox="1"/>
          <p:nvPr/>
        </p:nvSpPr>
        <p:spPr>
          <a:xfrm>
            <a:off x="6729984" y="1847088"/>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Work stays owned</a:t>
            </a:r>
          </a:p>
        </p:txBody>
      </p:sp>
      <p:sp xmlns:p="http://schemas.openxmlformats.org/presentationml/2006/main" xmlns:a="http://schemas.openxmlformats.org/drawingml/2006/main">
        <p:nvSpPr>
          <p:cNvPr id="900011" name="Story-14-control-0-body" descr="Role and case scope&#10;Sent is not accepted; exceptions stay visible"/>
          <p:cNvSpPr txBox="1"/>
          <p:nvPr/>
        </p:nvSpPr>
        <p:spPr>
          <a:xfrm>
            <a:off x="6729984" y="2322576"/>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Role and case scope</a:t>
            </a:r>
          </a:p>
          <a:p>
            <a:pPr algn="l">
              <a:lnSpc>
                <a:spcPct val="105000"/>
              </a:lnSpc>
              <a:buNone/>
            </a:pPr>
            <a:r>
              <a:rPr lang="en-GB" sz="1600" b="0">
                <a:solidFill>
                  <a:srgbClr val="50655E"/>
                </a:solidFill>
                <a:latin typeface="Arial"/>
              </a:rPr>
              <a:t>Sent is not accepted; exceptions stay visible</a:t>
            </a:r>
          </a:p>
        </p:txBody>
      </p:sp>
      <p:sp xmlns:p="http://schemas.openxmlformats.org/presentationml/2006/main" xmlns:a="http://schemas.openxmlformats.org/drawingml/2006/main">
        <p:nvSpPr>
          <p:cNvPr id="900012" name="Story-14-control-1-number" descr="2"/>
          <p:cNvSpPr txBox="1"/>
          <p:nvPr/>
        </p:nvSpPr>
        <p:spPr>
          <a:xfrm>
            <a:off x="6089904" y="2999232"/>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2</a:t>
            </a:r>
          </a:p>
        </p:txBody>
      </p:sp>
      <p:sp xmlns:p="http://schemas.openxmlformats.org/presentationml/2006/main" xmlns:a="http://schemas.openxmlformats.org/drawingml/2006/main">
        <p:nvSpPr>
          <p:cNvPr id="900013" name="Story-14-control-1-title" descr="Change stays traceable"/>
          <p:cNvSpPr txBox="1"/>
          <p:nvPr/>
        </p:nvSpPr>
        <p:spPr>
          <a:xfrm>
            <a:off x="6729984" y="3017520"/>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Change stays traceable</a:t>
            </a:r>
          </a:p>
        </p:txBody>
      </p:sp>
      <p:sp xmlns:p="http://schemas.openxmlformats.org/presentationml/2006/main" xmlns:a="http://schemas.openxmlformats.org/drawingml/2006/main">
        <p:nvSpPr>
          <p:cNvPr id="900014" name="Story-14-control-1-body" descr="Source and scope versions&#10;Reopen only the dependent reviews"/>
          <p:cNvSpPr txBox="1"/>
          <p:nvPr/>
        </p:nvSpPr>
        <p:spPr>
          <a:xfrm>
            <a:off x="6729984" y="3493008"/>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Source and scope versions</a:t>
            </a:r>
          </a:p>
          <a:p>
            <a:pPr algn="l">
              <a:lnSpc>
                <a:spcPct val="105000"/>
              </a:lnSpc>
              <a:buNone/>
            </a:pPr>
            <a:r>
              <a:rPr lang="en-GB" sz="1600" b="0">
                <a:solidFill>
                  <a:srgbClr val="50655E"/>
                </a:solidFill>
                <a:latin typeface="Arial"/>
              </a:rPr>
              <a:t>Reopen only the dependent reviews</a:t>
            </a:r>
          </a:p>
        </p:txBody>
      </p:sp>
      <p:sp xmlns:p="http://schemas.openxmlformats.org/presentationml/2006/main" xmlns:a="http://schemas.openxmlformats.org/drawingml/2006/main">
        <p:nvSpPr>
          <p:cNvPr id="900015" name="Story-14-control-2-number" descr="3"/>
          <p:cNvSpPr txBox="1"/>
          <p:nvPr/>
        </p:nvSpPr>
        <p:spPr>
          <a:xfrm>
            <a:off x="6089904" y="4169664"/>
            <a:ext cx="438912" cy="438912"/>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3</a:t>
            </a:r>
          </a:p>
        </p:txBody>
      </p:sp>
      <p:sp xmlns:p="http://schemas.openxmlformats.org/presentationml/2006/main" xmlns:a="http://schemas.openxmlformats.org/drawingml/2006/main">
        <p:nvSpPr>
          <p:cNvPr id="900016" name="Story-14-control-2-title" descr="AI stays bounded"/>
          <p:cNvSpPr txBox="1"/>
          <p:nvPr/>
        </p:nvSpPr>
        <p:spPr>
          <a:xfrm>
            <a:off x="6729984" y="4187952"/>
            <a:ext cx="4910328" cy="34747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AI stays bounded</a:t>
            </a:r>
          </a:p>
        </p:txBody>
      </p:sp>
      <p:sp xmlns:p="http://schemas.openxmlformats.org/presentationml/2006/main" xmlns:a="http://schemas.openxmlformats.org/drawingml/2006/main">
        <p:nvSpPr>
          <p:cNvPr id="900017" name="Story-14-control-2-body" descr="Sourced drafts; human review&#10;Rules own calculations; manual work stays usable"/>
          <p:cNvSpPr txBox="1"/>
          <p:nvPr/>
        </p:nvSpPr>
        <p:spPr>
          <a:xfrm>
            <a:off x="6729984" y="4663440"/>
            <a:ext cx="4910328" cy="566928"/>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50655E"/>
                </a:solidFill>
                <a:latin typeface="Arial"/>
              </a:rPr>
              <a:t>Sourced drafts; human review</a:t>
            </a:r>
          </a:p>
          <a:p>
            <a:pPr algn="l">
              <a:lnSpc>
                <a:spcPct val="105000"/>
              </a:lnSpc>
              <a:buNone/>
            </a:pPr>
            <a:r>
              <a:rPr lang="en-GB" sz="1600" b="0">
                <a:solidFill>
                  <a:srgbClr val="50655E"/>
                </a:solidFill>
                <a:latin typeface="Arial"/>
              </a:rPr>
              <a:t>Rules own calculations; manual work stays usable</a:t>
            </a:r>
          </a:p>
        </p:txBody>
      </p:sp>
      <p:sp xmlns:p="http://schemas.openxmlformats.org/presentationml/2006/main" xmlns:a="http://schemas.openxmlformats.org/drawingml/2006/main">
        <p:nvSpPr>
          <p:cNvPr id="900018" name="Story-14-foundation-fill" descr=""/>
          <p:cNvSpPr txBox="1"/>
          <p:nvPr/>
        </p:nvSpPr>
        <p:spPr>
          <a:xfrm>
            <a:off x="548640" y="5504688"/>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9" name="Story-14-foundation" descr="CURRENT FOUNDATION  |  Workbench + API + SQL/Blob + rules + bounded AI + read-model reporting"/>
          <p:cNvSpPr txBox="1"/>
          <p:nvPr/>
        </p:nvSpPr>
        <p:spPr>
          <a:xfrm>
            <a:off x="749808" y="562356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FAF9F6"/>
                </a:solidFill>
                <a:latin typeface="Arial"/>
              </a:rPr>
              <a:t>CURRENT FOUNDATION  |  Workbench + API + SQL/Blob + rules + bounded AI + read-model reporting</a:t>
            </a:r>
          </a:p>
        </p:txBody>
      </p:sp>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Adopt without a big-bang replacement.</a:t>
            </a:r>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importer/API guides. Existing CLI/file tooling, not an accepted web import journey.</a:t>
            </a:r>
          </a:p>
        </p:txBody>
      </p:sp>
      <p:sp>
        <p:nvSpPr>
          <p:cNvPr id="55260" name="Footer navigation">
            <a:extLst>
              <a:ext uri="{FF2B5EF4-FFF2-40B4-BE49-F238E27FC236}">
                <a16:creationId xmlns:a16="http://schemas.microsoft.com/office/drawing/2014/main" id="{6CD62730-CA8D-2891-F337-87472AAFECA4}"/>
              </a:ext>
            </a:extLst>
          </p:cNvPr>
          <p:cNvSpPr/>
          <p:nvPr/>
        </p:nvSpPr>
        <p:spPr>
          <a:xfrm>
            <a:off x="9509760" y="6126480"/>
            <a:ext cx="213357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S14 · Adoption boundary</a:t>
            </a:r>
          </a:p>
        </p:txBody>
      </p:sp>
      <p:sp xmlns:p="http://schemas.openxmlformats.org/presentationml/2006/main" xmlns:a="http://schemas.openxmlformats.org/drawingml/2006/main">
        <p:nvSpPr>
          <p:cNvPr id="900000" name="Story-15-input-label" descr="01 / PREVIEW THE SOURCE"/>
          <p:cNvSpPr txBox="1"/>
          <p:nvPr/>
        </p:nvSpPr>
        <p:spPr>
          <a:xfrm>
            <a:off x="548640" y="1783080"/>
            <a:ext cx="3246120"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01 / PREVIEW THE SOURCE</a:t>
            </a:r>
          </a:p>
        </p:txBody>
      </p:sp>
      <p:sp xmlns:p="http://schemas.openxmlformats.org/presentationml/2006/main" xmlns:a="http://schemas.openxmlformats.org/drawingml/2006/main">
        <p:nvSpPr>
          <p:cNvPr id="900001" name="Story-15-review-label" descr="02 / REVIEW BEFORE CHANGE"/>
          <p:cNvSpPr txBox="1"/>
          <p:nvPr/>
        </p:nvSpPr>
        <p:spPr>
          <a:xfrm>
            <a:off x="4325112" y="1783080"/>
            <a:ext cx="3538728"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02 / REVIEW BEFORE CHANGE</a:t>
            </a:r>
          </a:p>
        </p:txBody>
      </p:sp>
      <p:sp xmlns:p="http://schemas.openxmlformats.org/presentationml/2006/main" xmlns:a="http://schemas.openxmlformats.org/drawingml/2006/main">
        <p:nvSpPr>
          <p:cNvPr id="900002" name="Story-15-output-label" descr="03 / KEEP FAMILIAR OUTPUTS"/>
          <p:cNvSpPr txBox="1"/>
          <p:nvPr/>
        </p:nvSpPr>
        <p:spPr>
          <a:xfrm>
            <a:off x="8101584" y="1783080"/>
            <a:ext cx="3538728"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03 / KEEP FAMILIAR OUTPUTS</a:t>
            </a:r>
          </a:p>
        </p:txBody>
      </p:sp>
      <p:sp xmlns:p="http://schemas.openxmlformats.org/presentationml/2006/main" xmlns:a="http://schemas.openxmlformats.org/drawingml/2006/main">
        <p:nvSpPr>
          <p:cNvPr id="900003" name="Story-15-input-sheet" descr=""/>
          <p:cNvSpPr txBox="1"/>
          <p:nvPr/>
        </p:nvSpPr>
        <p:spPr>
          <a:xfrm>
            <a:off x="731520" y="2331720"/>
            <a:ext cx="2670048" cy="1371600"/>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15-input-file" descr="XLSX / CSV"/>
          <p:cNvSpPr txBox="1"/>
          <p:nvPr/>
        </p:nvSpPr>
        <p:spPr>
          <a:xfrm>
            <a:off x="914400" y="2542032"/>
            <a:ext cx="2304288" cy="402336"/>
          </a:xfrm>
          <a:prstGeom prst="rect">
            <a:avLst/>
          </a:prstGeom>
          <a:noFill/>
          <a:ln>
            <a:noFill/>
          </a:ln>
        </p:spPr>
        <p:txBody>
          <a:bodyPr wrap="square" lIns="18288" rIns="18288" tIns="9144" bIns="9144" anchor="t">
            <a:noAutofit/>
          </a:bodyPr>
          <a:lstStyle/>
          <a:p>
            <a:pPr algn="ctr">
              <a:lnSpc>
                <a:spcPct val="105000"/>
              </a:lnSpc>
              <a:buNone/>
            </a:pPr>
            <a:r>
              <a:rPr lang="en-GB" sz="2500" b="1">
                <a:solidFill>
                  <a:srgbClr val="173F35"/>
                </a:solidFill>
                <a:latin typeface="Arial"/>
              </a:rPr>
              <a:t>XLSX / CSV</a:t>
            </a:r>
          </a:p>
        </p:txBody>
      </p:sp>
      <p:sp xmlns:p="http://schemas.openxmlformats.org/presentationml/2006/main" xmlns:a="http://schemas.openxmlformats.org/drawingml/2006/main">
        <p:nvSpPr>
          <p:cNvPr id="900005" name="Story-15-input-row-1" descr=""/>
          <p:cNvSpPr txBox="1"/>
          <p:nvPr/>
        </p:nvSpPr>
        <p:spPr>
          <a:xfrm>
            <a:off x="1060704" y="3127248"/>
            <a:ext cx="2002536" cy="13716"/>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5-input-row-2" descr=""/>
          <p:cNvSpPr txBox="1"/>
          <p:nvPr/>
        </p:nvSpPr>
        <p:spPr>
          <a:xfrm>
            <a:off x="1060704" y="3364992"/>
            <a:ext cx="1426464"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15-intake-arrow" descr=""/>
          <p:cNvSpPr txBox="1"/>
          <p:nvPr/>
        </p:nvSpPr>
        <p:spPr>
          <a:xfrm>
            <a:off x="3639312" y="2852928"/>
            <a:ext cx="39319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15-human-review-gate" descr="PEOPLE REVIEW&#10;BEFORE CHANGE"/>
          <p:cNvSpPr txBox="1"/>
          <p:nvPr/>
        </p:nvSpPr>
        <p:spPr>
          <a:xfrm>
            <a:off x="4325112" y="2331720"/>
            <a:ext cx="3538728" cy="1371600"/>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2300" b="1">
                <a:solidFill>
                  <a:srgbClr val="FAF9F6"/>
                </a:solidFill>
                <a:latin typeface="Arial"/>
              </a:rPr>
              <a:t>PEOPLE REVIEW</a:t>
            </a:r>
          </a:p>
          <a:p>
            <a:pPr algn="ctr">
              <a:lnSpc>
                <a:spcPct val="105000"/>
              </a:lnSpc>
              <a:buNone/>
            </a:pPr>
            <a:r>
              <a:rPr lang="en-GB" sz="2300" b="1">
                <a:solidFill>
                  <a:srgbClr val="FAF9F6"/>
                </a:solidFill>
                <a:latin typeface="Arial"/>
              </a:rPr>
              <a:t>BEFORE CHANGE</a:t>
            </a:r>
          </a:p>
        </p:txBody>
      </p:sp>
      <p:sp xmlns:p="http://schemas.openxmlformats.org/presentationml/2006/main" xmlns:a="http://schemas.openxmlformats.org/drawingml/2006/main">
        <p:nvSpPr>
          <p:cNvPr id="900009" name="Story-15-export-arrow" descr=""/>
          <p:cNvSpPr txBox="1"/>
          <p:nvPr/>
        </p:nvSpPr>
        <p:spPr>
          <a:xfrm>
            <a:off x="7927848" y="2852928"/>
            <a:ext cx="292608"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15-output-sheet" descr=""/>
          <p:cNvSpPr txBox="1"/>
          <p:nvPr/>
        </p:nvSpPr>
        <p:spPr>
          <a:xfrm>
            <a:off x="8293608" y="2331720"/>
            <a:ext cx="2670048" cy="1371600"/>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15-output-file" descr="CSV / EXCEL"/>
          <p:cNvSpPr txBox="1"/>
          <p:nvPr/>
        </p:nvSpPr>
        <p:spPr>
          <a:xfrm>
            <a:off x="8476488" y="2542032"/>
            <a:ext cx="2304288" cy="402336"/>
          </a:xfrm>
          <a:prstGeom prst="rect">
            <a:avLst/>
          </a:prstGeom>
          <a:noFill/>
          <a:ln>
            <a:noFill/>
          </a:ln>
        </p:spPr>
        <p:txBody>
          <a:bodyPr wrap="square" lIns="18288" rIns="18288" tIns="9144" bIns="9144" anchor="t">
            <a:noAutofit/>
          </a:bodyPr>
          <a:lstStyle/>
          <a:p>
            <a:pPr algn="ctr">
              <a:lnSpc>
                <a:spcPct val="105000"/>
              </a:lnSpc>
              <a:buNone/>
            </a:pPr>
            <a:r>
              <a:rPr lang="en-GB" sz="2500" b="1">
                <a:solidFill>
                  <a:srgbClr val="173F35"/>
                </a:solidFill>
                <a:latin typeface="Arial"/>
              </a:rPr>
              <a:t>CSV / EXCEL</a:t>
            </a:r>
          </a:p>
        </p:txBody>
      </p:sp>
      <p:sp xmlns:p="http://schemas.openxmlformats.org/presentationml/2006/main" xmlns:a="http://schemas.openxmlformats.org/drawingml/2006/main">
        <p:nvSpPr>
          <p:cNvPr id="900012" name="Story-15-output-row-1" descr=""/>
          <p:cNvSpPr txBox="1"/>
          <p:nvPr/>
        </p:nvSpPr>
        <p:spPr>
          <a:xfrm>
            <a:off x="8613648" y="3127248"/>
            <a:ext cx="2002536" cy="13716"/>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15-output-row-2" descr=""/>
          <p:cNvSpPr txBox="1"/>
          <p:nvPr/>
        </p:nvSpPr>
        <p:spPr>
          <a:xfrm>
            <a:off x="8613648" y="3364992"/>
            <a:ext cx="1426464"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15-preview-detail" descr="Declared workbook structure&#10;Row and source lineage&#10;Original file unchanged"/>
          <p:cNvSpPr txBox="1"/>
          <p:nvPr/>
        </p:nvSpPr>
        <p:spPr>
          <a:xfrm>
            <a:off x="548640"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Declared workbook structure</a:t>
            </a:r>
          </a:p>
          <a:p>
            <a:pPr algn="l">
              <a:lnSpc>
                <a:spcPct val="105000"/>
              </a:lnSpc>
              <a:buNone/>
            </a:pPr>
            <a:r>
              <a:rPr lang="en-GB" sz="1700" b="0">
                <a:solidFill>
                  <a:srgbClr val="173F35"/>
                </a:solidFill>
                <a:latin typeface="Arial"/>
              </a:rPr>
              <a:t>Row and source lineage</a:t>
            </a:r>
          </a:p>
          <a:p>
            <a:pPr algn="l">
              <a:lnSpc>
                <a:spcPct val="105000"/>
              </a:lnSpc>
              <a:buNone/>
            </a:pPr>
            <a:r>
              <a:rPr lang="en-GB" sz="1700" b="0">
                <a:solidFill>
                  <a:srgbClr val="173F35"/>
                </a:solidFill>
                <a:latin typeface="Arial"/>
              </a:rPr>
              <a:t>Original file unchanged</a:t>
            </a:r>
          </a:p>
        </p:txBody>
      </p:sp>
      <p:sp xmlns:p="http://schemas.openxmlformats.org/presentationml/2006/main" xmlns:a="http://schemas.openxmlformats.org/drawingml/2006/main">
        <p:nvSpPr>
          <p:cNvPr id="900015" name="Story-15-review-detail" descr="Conflicts and quarantine&#10;Separate human review&#10;No guessed identity joins"/>
          <p:cNvSpPr txBox="1"/>
          <p:nvPr/>
        </p:nvSpPr>
        <p:spPr>
          <a:xfrm>
            <a:off x="4325112"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Conflicts and quarantine</a:t>
            </a:r>
          </a:p>
          <a:p>
            <a:pPr algn="l">
              <a:lnSpc>
                <a:spcPct val="105000"/>
              </a:lnSpc>
              <a:buNone/>
            </a:pPr>
            <a:r>
              <a:rPr lang="en-GB" sz="1700" b="0">
                <a:solidFill>
                  <a:srgbClr val="173F35"/>
                </a:solidFill>
                <a:latin typeface="Arial"/>
              </a:rPr>
              <a:t>Separate human review</a:t>
            </a:r>
          </a:p>
          <a:p>
            <a:pPr algn="l">
              <a:lnSpc>
                <a:spcPct val="105000"/>
              </a:lnSpc>
              <a:buNone/>
            </a:pPr>
            <a:r>
              <a:rPr lang="en-GB" sz="1700" b="0">
                <a:solidFill>
                  <a:srgbClr val="173F35"/>
                </a:solidFill>
                <a:latin typeface="Arial"/>
              </a:rPr>
              <a:t>No guessed identity joins</a:t>
            </a:r>
          </a:p>
        </p:txBody>
      </p:sp>
      <p:sp xmlns:p="http://schemas.openxmlformats.org/presentationml/2006/main" xmlns:a="http://schemas.openxmlformats.org/drawingml/2006/main">
        <p:nvSpPr>
          <p:cNvPr id="900016" name="Story-15-output-detail" descr="Read-only comparisons&#10;Familiar packs and exports&#10;Manual and assisted routes"/>
          <p:cNvSpPr txBox="1"/>
          <p:nvPr/>
        </p:nvSpPr>
        <p:spPr>
          <a:xfrm>
            <a:off x="8101584" y="4078224"/>
            <a:ext cx="3538728" cy="86868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Read-only comparisons</a:t>
            </a:r>
          </a:p>
          <a:p>
            <a:pPr algn="l">
              <a:lnSpc>
                <a:spcPct val="105000"/>
              </a:lnSpc>
              <a:buNone/>
            </a:pPr>
            <a:r>
              <a:rPr lang="en-GB" sz="1700" b="0">
                <a:solidFill>
                  <a:srgbClr val="173F35"/>
                </a:solidFill>
                <a:latin typeface="Arial"/>
              </a:rPr>
              <a:t>Familiar packs and exports</a:t>
            </a:r>
          </a:p>
          <a:p>
            <a:pPr algn="l">
              <a:lnSpc>
                <a:spcPct val="105000"/>
              </a:lnSpc>
              <a:buNone/>
            </a:pPr>
            <a:r>
              <a:rPr lang="en-GB" sz="1700" b="0">
                <a:solidFill>
                  <a:srgbClr val="173F35"/>
                </a:solidFill>
                <a:latin typeface="Arial"/>
              </a:rPr>
              <a:t>Manual and assisted routes</a:t>
            </a:r>
          </a:p>
        </p:txBody>
      </p:sp>
      <p:sp xmlns:p="http://schemas.openxmlformats.org/presentationml/2006/main" xmlns:a="http://schemas.openxmlformats.org/drawingml/2006/main">
        <p:nvSpPr>
          <p:cNvPr id="900017" name="Story-15-adoption-boundary-fill" descr=""/>
          <p:cNvSpPr txBox="1"/>
          <p:nvPr/>
        </p:nvSpPr>
        <p:spPr>
          <a:xfrm>
            <a:off x="548640" y="5303520"/>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15-adoption-boundary" descr="Existing file/CLI tooling. The web import journey is not accepted."/>
          <p:cNvSpPr txBox="1"/>
          <p:nvPr/>
        </p:nvSpPr>
        <p:spPr>
          <a:xfrm>
            <a:off x="749808" y="5422392"/>
            <a:ext cx="10689336"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885500"/>
                </a:solidFill>
                <a:latin typeface="Arial"/>
              </a:rPr>
              <a:t>Existing file/CLI tooling. The web import journey is not accepted.</a:t>
            </a:r>
          </a:p>
        </p:txBody>
      </p:sp>
      <p:sp xmlns:p="http://schemas.openxmlformats.org/presentationml/2006/main" xmlns:a="http://schemas.openxmlformats.org/drawingml/2006/main">
        <p:nvSpPr>
          <p:cNvPr id="900019" name="Story-15-rollout-review" descr="Owners accept mapping, reconciliation and rollout. A live enterprise connector is a separate decision."/>
          <p:cNvSpPr txBox="1"/>
          <p:nvPr/>
        </p:nvSpPr>
        <p:spPr>
          <a:xfrm>
            <a:off x="548640" y="589788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Owners accept mapping, reconciliation and rollout. A live enterprise connector is a separate decision.</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Five assists. One workflow. People decide.</a:t>
            </a:r>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AI placement review. Five bounded assists, not five deployed autonomous managers. Value unproved.</a:t>
            </a:r>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xmlns:p="http://schemas.openxmlformats.org/presentationml/2006/main" xmlns:a="http://schemas.openxmlformats.org/drawingml/2006/main">
        <p:nvSpPr>
          <p:cNvPr id="900000" name="Story-16-assist-0-icon" descr="S"/>
          <p:cNvSpPr txBox="1"/>
          <p:nvPr/>
        </p:nvSpPr>
        <p:spPr>
          <a:xfrm>
            <a:off x="1362456"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S</a:t>
            </a:r>
          </a:p>
        </p:txBody>
      </p:sp>
      <p:sp xmlns:p="http://schemas.openxmlformats.org/presentationml/2006/main" xmlns:a="http://schemas.openxmlformats.org/drawingml/2006/main">
        <p:nvSpPr>
          <p:cNvPr id="900001" name="Story-16-assist-0-title" descr="Stock"/>
          <p:cNvSpPr txBox="1"/>
          <p:nvPr/>
        </p:nvSpPr>
        <p:spPr>
          <a:xfrm>
            <a:off x="548640"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Stock</a:t>
            </a:r>
          </a:p>
        </p:txBody>
      </p:sp>
      <p:sp xmlns:p="http://schemas.openxmlformats.org/presentationml/2006/main" xmlns:a="http://schemas.openxmlformats.org/drawingml/2006/main">
        <p:nvSpPr>
          <p:cNvPr id="900002" name="Story-16-assist-0-detail" descr="Explain sourced&#10;stock evidence"/>
          <p:cNvSpPr txBox="1"/>
          <p:nvPr/>
        </p:nvSpPr>
        <p:spPr>
          <a:xfrm>
            <a:off x="548640"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Explain sourced</a:t>
            </a:r>
          </a:p>
          <a:p>
            <a:pPr algn="ctr">
              <a:lnSpc>
                <a:spcPct val="105000"/>
              </a:lnSpc>
              <a:buNone/>
            </a:pPr>
            <a:r>
              <a:rPr lang="en-GB" sz="1500" b="0">
                <a:solidFill>
                  <a:srgbClr val="50655E"/>
                </a:solidFill>
                <a:latin typeface="Arial"/>
              </a:rPr>
              <a:t>stock evidence</a:t>
            </a:r>
          </a:p>
        </p:txBody>
      </p:sp>
      <p:sp xmlns:p="http://schemas.openxmlformats.org/presentationml/2006/main" xmlns:a="http://schemas.openxmlformats.org/drawingml/2006/main">
        <p:nvSpPr>
          <p:cNvPr id="900003" name="Story-16-assist-1-icon" descr="A"/>
          <p:cNvSpPr txBox="1"/>
          <p:nvPr/>
        </p:nvSpPr>
        <p:spPr>
          <a:xfrm>
            <a:off x="3580790"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A</a:t>
            </a:r>
          </a:p>
        </p:txBody>
      </p:sp>
      <p:sp xmlns:p="http://schemas.openxmlformats.org/presentationml/2006/main" xmlns:a="http://schemas.openxmlformats.org/drawingml/2006/main">
        <p:nvSpPr>
          <p:cNvPr id="900004" name="Story-16-assist-1-title" descr="Assessment"/>
          <p:cNvSpPr txBox="1"/>
          <p:nvPr/>
        </p:nvSpPr>
        <p:spPr>
          <a:xfrm>
            <a:off x="2766974"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Assessment</a:t>
            </a:r>
          </a:p>
        </p:txBody>
      </p:sp>
      <p:sp xmlns:p="http://schemas.openxmlformats.org/presentationml/2006/main" xmlns:a="http://schemas.openxmlformats.org/drawingml/2006/main">
        <p:nvSpPr>
          <p:cNvPr id="900005" name="Story-16-assist-1-detail" descr="Prepare a sourced&#10;survey pack"/>
          <p:cNvSpPr txBox="1"/>
          <p:nvPr/>
        </p:nvSpPr>
        <p:spPr>
          <a:xfrm>
            <a:off x="2766974"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Prepare a sourced</a:t>
            </a:r>
          </a:p>
          <a:p>
            <a:pPr algn="ctr">
              <a:lnSpc>
                <a:spcPct val="105000"/>
              </a:lnSpc>
              <a:buNone/>
            </a:pPr>
            <a:r>
              <a:rPr lang="en-GB" sz="1500" b="0">
                <a:solidFill>
                  <a:srgbClr val="50655E"/>
                </a:solidFill>
                <a:latin typeface="Arial"/>
              </a:rPr>
              <a:t>survey pack</a:t>
            </a:r>
          </a:p>
        </p:txBody>
      </p:sp>
      <p:sp xmlns:p="http://schemas.openxmlformats.org/presentationml/2006/main" xmlns:a="http://schemas.openxmlformats.org/drawingml/2006/main">
        <p:nvSpPr>
          <p:cNvPr id="900006" name="Story-16-assist-2-icon" descr="F"/>
          <p:cNvSpPr txBox="1"/>
          <p:nvPr/>
        </p:nvSpPr>
        <p:spPr>
          <a:xfrm>
            <a:off x="5799125"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F</a:t>
            </a:r>
          </a:p>
        </p:txBody>
      </p:sp>
      <p:sp xmlns:p="http://schemas.openxmlformats.org/presentationml/2006/main" xmlns:a="http://schemas.openxmlformats.org/drawingml/2006/main">
        <p:nvSpPr>
          <p:cNvPr id="900007" name="Story-16-assist-2-title" descr="Funding"/>
          <p:cNvSpPr txBox="1"/>
          <p:nvPr/>
        </p:nvSpPr>
        <p:spPr>
          <a:xfrm>
            <a:off x="4985309"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Funding</a:t>
            </a:r>
          </a:p>
        </p:txBody>
      </p:sp>
      <p:sp xmlns:p="http://schemas.openxmlformats.org/presentationml/2006/main" xmlns:a="http://schemas.openxmlformats.org/drawingml/2006/main">
        <p:nvSpPr>
          <p:cNvPr id="900008" name="Story-16-assist-2-detail" descr="Draft funding&#10;evidence"/>
          <p:cNvSpPr txBox="1"/>
          <p:nvPr/>
        </p:nvSpPr>
        <p:spPr>
          <a:xfrm>
            <a:off x="4985309"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Draft funding</a:t>
            </a:r>
          </a:p>
          <a:p>
            <a:pPr algn="ctr">
              <a:lnSpc>
                <a:spcPct val="105000"/>
              </a:lnSpc>
              <a:buNone/>
            </a:pPr>
            <a:r>
              <a:rPr lang="en-GB" sz="1500" b="0">
                <a:solidFill>
                  <a:srgbClr val="50655E"/>
                </a:solidFill>
                <a:latin typeface="Arial"/>
              </a:rPr>
              <a:t>evidence</a:t>
            </a:r>
          </a:p>
        </p:txBody>
      </p:sp>
      <p:sp xmlns:p="http://schemas.openxmlformats.org/presentationml/2006/main" xmlns:a="http://schemas.openxmlformats.org/drawingml/2006/main">
        <p:nvSpPr>
          <p:cNvPr id="900009" name="Story-16-assist-3-icon" descr="C"/>
          <p:cNvSpPr txBox="1"/>
          <p:nvPr/>
        </p:nvSpPr>
        <p:spPr>
          <a:xfrm>
            <a:off x="8017459"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C</a:t>
            </a:r>
          </a:p>
        </p:txBody>
      </p:sp>
      <p:sp xmlns:p="http://schemas.openxmlformats.org/presentationml/2006/main" xmlns:a="http://schemas.openxmlformats.org/drawingml/2006/main">
        <p:nvSpPr>
          <p:cNvPr id="900010" name="Story-16-assist-3-title" descr="Works + residents"/>
          <p:cNvSpPr txBox="1"/>
          <p:nvPr/>
        </p:nvSpPr>
        <p:spPr>
          <a:xfrm>
            <a:off x="7203643"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Works + residents</a:t>
            </a:r>
          </a:p>
        </p:txBody>
      </p:sp>
      <p:sp xmlns:p="http://schemas.openxmlformats.org/presentationml/2006/main" xmlns:a="http://schemas.openxmlformats.org/drawingml/2006/main">
        <p:nvSpPr>
          <p:cNvPr id="900011" name="Story-16-assist-3-detail" descr="Suggest slots;&#10;draft updates"/>
          <p:cNvSpPr txBox="1"/>
          <p:nvPr/>
        </p:nvSpPr>
        <p:spPr>
          <a:xfrm>
            <a:off x="7203643"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Suggest slots;</a:t>
            </a:r>
          </a:p>
          <a:p>
            <a:pPr algn="ctr">
              <a:lnSpc>
                <a:spcPct val="105000"/>
              </a:lnSpc>
              <a:buNone/>
            </a:pPr>
            <a:r>
              <a:rPr lang="en-GB" sz="1500" b="0">
                <a:solidFill>
                  <a:srgbClr val="50655E"/>
                </a:solidFill>
                <a:latin typeface="Arial"/>
              </a:rPr>
              <a:t>draft updates</a:t>
            </a:r>
          </a:p>
        </p:txBody>
      </p:sp>
      <p:sp xmlns:p="http://schemas.openxmlformats.org/presentationml/2006/main" xmlns:a="http://schemas.openxmlformats.org/drawingml/2006/main">
        <p:nvSpPr>
          <p:cNvPr id="900012" name="Story-16-assist-4-icon" descr="Q"/>
          <p:cNvSpPr txBox="1"/>
          <p:nvPr/>
        </p:nvSpPr>
        <p:spPr>
          <a:xfrm>
            <a:off x="10235794" y="1783080"/>
            <a:ext cx="585216" cy="58521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59428C"/>
                </a:solidFill>
                <a:latin typeface="Arial"/>
              </a:rPr>
              <a:t>Q</a:t>
            </a:r>
          </a:p>
        </p:txBody>
      </p:sp>
      <p:sp xmlns:p="http://schemas.openxmlformats.org/presentationml/2006/main" xmlns:a="http://schemas.openxmlformats.org/drawingml/2006/main">
        <p:nvSpPr>
          <p:cNvPr id="900013" name="Story-16-assist-4-title" descr="Quality"/>
          <p:cNvSpPr txBox="1"/>
          <p:nvPr/>
        </p:nvSpPr>
        <p:spPr>
          <a:xfrm>
            <a:off x="9421978" y="2606040"/>
            <a:ext cx="2218334" cy="320040"/>
          </a:xfrm>
          <a:prstGeom prst="rect">
            <a:avLst/>
          </a:prstGeom>
          <a:noFill/>
          <a:ln>
            <a:noFill/>
          </a:ln>
        </p:spPr>
        <p:txBody>
          <a:bodyPr wrap="square" lIns="18288" rIns="18288" tIns="9144" bIns="9144" anchor="t">
            <a:noAutofit/>
          </a:bodyPr>
          <a:lstStyle/>
          <a:p>
            <a:pPr algn="ctr">
              <a:lnSpc>
                <a:spcPct val="105000"/>
              </a:lnSpc>
              <a:buNone/>
            </a:pPr>
            <a:r>
              <a:rPr lang="en-GB" sz="1800" b="1">
                <a:solidFill>
                  <a:srgbClr val="173F35"/>
                </a:solidFill>
                <a:latin typeface="Arial"/>
              </a:rPr>
              <a:t>Quality</a:t>
            </a:r>
          </a:p>
        </p:txBody>
      </p:sp>
      <p:sp xmlns:p="http://schemas.openxmlformats.org/presentationml/2006/main" xmlns:a="http://schemas.openxmlformats.org/drawingml/2006/main">
        <p:nvSpPr>
          <p:cNvPr id="900014" name="Story-16-assist-4-detail" descr="Assemble evidence&#10;for independent review"/>
          <p:cNvSpPr txBox="1"/>
          <p:nvPr/>
        </p:nvSpPr>
        <p:spPr>
          <a:xfrm>
            <a:off x="9421978" y="3099816"/>
            <a:ext cx="2218334" cy="585216"/>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Assemble evidence</a:t>
            </a:r>
          </a:p>
          <a:p>
            <a:pPr algn="ctr">
              <a:lnSpc>
                <a:spcPct val="105000"/>
              </a:lnSpc>
              <a:buNone/>
            </a:pPr>
            <a:r>
              <a:rPr lang="en-GB" sz="1500" b="0">
                <a:solidFill>
                  <a:srgbClr val="50655E"/>
                </a:solidFill>
                <a:latin typeface="Arial"/>
              </a:rPr>
              <a:t>for independent review</a:t>
            </a:r>
          </a:p>
        </p:txBody>
      </p:sp>
      <p:sp xmlns:p="http://schemas.openxmlformats.org/presentationml/2006/main" xmlns:a="http://schemas.openxmlformats.org/drawingml/2006/main">
        <p:nvSpPr>
          <p:cNvPr id="900015" name="Story-16-authority-0-fill" descr=""/>
          <p:cNvSpPr txBox="1"/>
          <p:nvPr/>
        </p:nvSpPr>
        <p:spPr>
          <a:xfrm>
            <a:off x="548640" y="4005072"/>
            <a:ext cx="3538728" cy="107899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6" name="Story-16-authority-0-title" descr="RULES ENFORCE"/>
          <p:cNvSpPr txBox="1"/>
          <p:nvPr/>
        </p:nvSpPr>
        <p:spPr>
          <a:xfrm>
            <a:off x="713232"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RULES ENFORCE</a:t>
            </a:r>
          </a:p>
        </p:txBody>
      </p:sp>
      <p:sp xmlns:p="http://schemas.openxmlformats.org/presentationml/2006/main" xmlns:a="http://schemas.openxmlformats.org/drawingml/2006/main">
        <p:nvSpPr>
          <p:cNvPr id="900017" name="Story-16-authority-0-body" descr="Ranking, arithmetic,&#10;rights and workflow gates"/>
          <p:cNvSpPr txBox="1"/>
          <p:nvPr/>
        </p:nvSpPr>
        <p:spPr>
          <a:xfrm>
            <a:off x="713232"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Ranking, arithmetic,</a:t>
            </a:r>
          </a:p>
          <a:p>
            <a:pPr algn="l">
              <a:lnSpc>
                <a:spcPct val="105000"/>
              </a:lnSpc>
              <a:buNone/>
            </a:pPr>
            <a:r>
              <a:rPr lang="en-GB" sz="1600" b="0">
                <a:solidFill>
                  <a:srgbClr val="173F35"/>
                </a:solidFill>
                <a:latin typeface="Arial"/>
              </a:rPr>
              <a:t>rights and workflow gates</a:t>
            </a:r>
          </a:p>
        </p:txBody>
      </p:sp>
      <p:sp xmlns:p="http://schemas.openxmlformats.org/presentationml/2006/main" xmlns:a="http://schemas.openxmlformats.org/drawingml/2006/main">
        <p:nvSpPr>
          <p:cNvPr id="900018" name="Story-16-authority-1-fill" descr=""/>
          <p:cNvSpPr txBox="1"/>
          <p:nvPr/>
        </p:nvSpPr>
        <p:spPr>
          <a:xfrm>
            <a:off x="4325112" y="4005072"/>
            <a:ext cx="3538728" cy="1078992"/>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9" name="Story-16-authority-1-title" descr="DECISION 1 PROPOSES"/>
          <p:cNvSpPr txBox="1"/>
          <p:nvPr/>
        </p:nvSpPr>
        <p:spPr>
          <a:xfrm>
            <a:off x="4489704"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DECISION 1 PROPOSES</a:t>
            </a:r>
          </a:p>
        </p:txBody>
      </p:sp>
      <p:sp xmlns:p="http://schemas.openxmlformats.org/presentationml/2006/main" xmlns:a="http://schemas.openxmlformats.org/drawingml/2006/main">
        <p:nvSpPr>
          <p:cNvPr id="900020" name="Story-16-authority-1-body" descr="Select or abstain.&#10;Must beat a parser."/>
          <p:cNvSpPr txBox="1"/>
          <p:nvPr/>
        </p:nvSpPr>
        <p:spPr>
          <a:xfrm>
            <a:off x="4489704"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Select or abstain.</a:t>
            </a:r>
          </a:p>
          <a:p>
            <a:pPr algn="l">
              <a:lnSpc>
                <a:spcPct val="105000"/>
              </a:lnSpc>
              <a:buNone/>
            </a:pPr>
            <a:r>
              <a:rPr lang="en-GB" sz="1600" b="0">
                <a:solidFill>
                  <a:srgbClr val="173F35"/>
                </a:solidFill>
                <a:latin typeface="Arial"/>
              </a:rPr>
              <a:t>Must beat a parser.</a:t>
            </a:r>
          </a:p>
        </p:txBody>
      </p:sp>
      <p:sp xmlns:p="http://schemas.openxmlformats.org/presentationml/2006/main" xmlns:a="http://schemas.openxmlformats.org/drawingml/2006/main">
        <p:nvSpPr>
          <p:cNvPr id="900021" name="Story-16-authority-2-fill" descr=""/>
          <p:cNvSpPr txBox="1"/>
          <p:nvPr/>
        </p:nvSpPr>
        <p:spPr>
          <a:xfrm>
            <a:off x="8101584" y="4005072"/>
            <a:ext cx="3538728" cy="1078992"/>
          </a:xfrm>
          <a:prstGeom prst="rect">
            <a:avLst/>
          </a:prstGeom>
          <a:solidFill>
            <a:srgbClr val="EFEAF8"/>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16-authority-2-title" descr="GENERATIVE AI DRAFTS"/>
          <p:cNvSpPr txBox="1"/>
          <p:nvPr/>
        </p:nvSpPr>
        <p:spPr>
          <a:xfrm>
            <a:off x="8266176" y="4160520"/>
            <a:ext cx="3209544" cy="23774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59428C"/>
                </a:solidFill>
                <a:latin typeface="Arial"/>
              </a:rPr>
              <a:t>GENERATIVE AI DRAFTS</a:t>
            </a:r>
          </a:p>
        </p:txBody>
      </p:sp>
      <p:sp xmlns:p="http://schemas.openxmlformats.org/presentationml/2006/main" xmlns:a="http://schemas.openxmlformats.org/drawingml/2006/main">
        <p:nvSpPr>
          <p:cNvPr id="900023" name="Story-16-authority-2-body" descr="Sourced narrative;&#10;a person checks the meaning."/>
          <p:cNvSpPr txBox="1"/>
          <p:nvPr/>
        </p:nvSpPr>
        <p:spPr>
          <a:xfrm>
            <a:off x="8266176" y="4526280"/>
            <a:ext cx="3209544" cy="45720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Sourced narrative;</a:t>
            </a:r>
          </a:p>
          <a:p>
            <a:pPr algn="l">
              <a:lnSpc>
                <a:spcPct val="105000"/>
              </a:lnSpc>
              <a:buNone/>
            </a:pPr>
            <a:r>
              <a:rPr lang="en-GB" sz="1600" b="0">
                <a:solidFill>
                  <a:srgbClr val="173F35"/>
                </a:solidFill>
                <a:latin typeface="Arial"/>
              </a:rPr>
              <a:t>a person checks the meaning.</a:t>
            </a:r>
          </a:p>
        </p:txBody>
      </p:sp>
      <p:sp xmlns:p="http://schemas.openxmlformats.org/presentationml/2006/main" xmlns:a="http://schemas.openxmlformats.org/drawingml/2006/main">
        <p:nvSpPr>
          <p:cNvPr id="900024" name="Story-16-people-decide-fill" descr=""/>
          <p:cNvSpPr txBox="1"/>
          <p:nvPr/>
        </p:nvSpPr>
        <p:spPr>
          <a:xfrm>
            <a:off x="548640" y="5404104"/>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16-people-decide" descr="PEOPLE DECIDE  |  Consent. Technical sign-off. Finance approval. Independent quality acceptance."/>
          <p:cNvSpPr txBox="1"/>
          <p:nvPr/>
        </p:nvSpPr>
        <p:spPr>
          <a:xfrm>
            <a:off x="749808" y="5522976"/>
            <a:ext cx="10689336" cy="329184"/>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FAF9F6"/>
                </a:solidFill>
                <a:latin typeface="Arial"/>
              </a:rPr>
              <a:t>PEOPLE DECIDE  |  Consent. Technical sign-off. Finance approval. Independent quality acceptance.</a:t>
            </a:r>
          </a:p>
        </p:txBody>
      </p:sp>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p:nvSpPr>
          <p:cNvPr id="900001" name="Story-22-prs" descr="183 merged PRs"/>
          <p:cNvSpPr txBox="1"/>
          <p:nvPr/>
        </p:nvSpPr>
        <p:spPr>
          <a:xfrm>
            <a:off x="548640" y="1965960"/>
            <a:ext cx="3657600" cy="612648"/>
          </a:xfrm>
          <a:prstGeom prst="rect">
            <a:avLst/>
          </a:prstGeom>
          <a:noFill/>
          <a:ln>
            <a:noFill/>
          </a:ln>
        </p:spPr>
        <p:txBody>
          <a:bodyPr wrap="square" lIns="18288" tIns="9144" rIns="18288" bIns="9144" anchor="t">
            <a:noAutofit/>
          </a:bodyPr>
          <a:lstStyle/>
          <a:p>
            <a:pPr algn="l">
              <a:lnSpc>
                <a:spcPct val="105000"/>
              </a:lnSpc>
              <a:buNone/>
            </a:pPr>
            <a:r>
              <a:rPr lang="en-GB" sz="3100" b="1">
                <a:solidFill>
                  <a:srgbClr val="173F35"/>
                </a:solidFill>
                <a:latin typeface="Arial"/>
              </a:rPr>
              <a:t>183 merged PRs</a:t>
            </a:r>
          </a:p>
        </p:txBody>
      </p:sp>
      <p:sp>
        <p:nvSpPr>
          <p:cNvPr id="900002" name="Story-22-prs-window" descr="15-24 Oct 2026"/>
          <p:cNvSpPr txBox="1"/>
          <p:nvPr/>
        </p:nvSpPr>
        <p:spPr>
          <a:xfrm>
            <a:off x="548640" y="2651760"/>
            <a:ext cx="3657600" cy="365760"/>
          </a:xfrm>
          <a:prstGeom prst="rect">
            <a:avLst/>
          </a:prstGeom>
          <a:noFill/>
          <a:ln>
            <a:noFill/>
          </a:ln>
        </p:spPr>
        <p:txBody>
          <a:bodyPr wrap="square" lIns="18288" tIns="9144" rIns="18288" bIns="9144" anchor="t">
            <a:noAutofit/>
          </a:bodyPr>
          <a:lstStyle/>
          <a:p>
            <a:pPr algn="l">
              <a:lnSpc>
                <a:spcPct val="105000"/>
              </a:lnSpc>
              <a:buNone/>
            </a:pPr>
            <a:r>
              <a:rPr lang="en-GB" sz="1900" b="0">
                <a:solidFill>
                  <a:srgbClr val="173F35"/>
                </a:solidFill>
                <a:latin typeface="Arial"/>
              </a:rPr>
              <a:t>15-24 Oct 2026</a:t>
            </a:r>
          </a:p>
        </p:txBody>
      </p:sp>
      <p:sp>
        <p:nvSpPr>
          <p:cNvPr id="900003" name="Story-22-log" descr="36,755 log words"/>
          <p:cNvSpPr txBox="1"/>
          <p:nvPr/>
        </p:nvSpPr>
        <p:spPr>
          <a:xfrm>
            <a:off x="548640" y="3200400"/>
            <a:ext cx="3657600" cy="548640"/>
          </a:xfrm>
          <a:prstGeom prst="rect">
            <a:avLst/>
          </a:prstGeom>
          <a:noFill/>
          <a:ln>
            <a:noFill/>
          </a:ln>
        </p:spPr>
        <p:txBody>
          <a:bodyPr wrap="square" lIns="18288" tIns="9144" rIns="18288" bIns="9144" anchor="t">
            <a:noAutofit/>
          </a:bodyPr>
          <a:lstStyle/>
          <a:p>
            <a:pPr algn="l">
              <a:lnSpc>
                <a:spcPct val="105000"/>
              </a:lnSpc>
              <a:buNone/>
            </a:pPr>
            <a:r>
              <a:rPr lang="en-GB" sz="2700" b="1">
                <a:solidFill>
                  <a:srgbClr val="173F35"/>
                </a:solidFill>
                <a:latin typeface="Arial"/>
              </a:rPr>
              <a:t>36,755 log words</a:t>
            </a:r>
          </a:p>
        </p:txBody>
      </p:sp>
      <p:sp>
        <p:nvSpPr>
          <p:cNvPr id="900004" name="Story-22-log-label" descr="added 15-22 Oct 2026"/>
          <p:cNvSpPr txBox="1"/>
          <p:nvPr/>
        </p:nvSpPr>
        <p:spPr>
          <a:xfrm>
            <a:off x="548640" y="3840480"/>
            <a:ext cx="3657600" cy="365760"/>
          </a:xfrm>
          <a:prstGeom prst="rect">
            <a:avLst/>
          </a:prstGeom>
          <a:noFill/>
          <a:ln>
            <a:noFill/>
          </a:ln>
        </p:spPr>
        <p:txBody>
          <a:bodyPr wrap="square" lIns="18288" tIns="9144" rIns="18288" bIns="9144" anchor="t">
            <a:noAutofit/>
          </a:bodyPr>
          <a:lstStyle/>
          <a:p>
            <a:pPr algn="l">
              <a:lnSpc>
                <a:spcPct val="105000"/>
              </a:lnSpc>
              <a:buNone/>
            </a:pPr>
            <a:r>
              <a:rPr lang="en-GB" sz="1800" b="0">
                <a:solidFill>
                  <a:srgbClr val="173F35"/>
                </a:solidFill>
                <a:latin typeface="Arial"/>
              </a:rPr>
              <a:t>added 15-22 Oct 2026</a:t>
            </a:r>
          </a:p>
        </p:txBody>
      </p:sp>
      <p:sp>
        <p:nvSpPr>
          <p:cNvPr id="900005" name="Story-22-contrast-bg"/>
          <p:cNvSpPr txBox="1"/>
          <p:nvPr/>
        </p:nvSpPr>
        <p:spPr>
          <a:xfrm>
            <a:off x="4572000" y="1965960"/>
            <a:ext cx="7068312" cy="22860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THE OUTCOME THAT CHALLENGED THE OUTPUT</a:t>
            </a:r>
          </a:p>
        </p:txBody>
      </p:sp>
      <p:sp>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tIns="9144" rIns="18288"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tIns="9144" rIns="18288" bIns="9144" anchor="t">
            <a:noAutofit/>
          </a:bodyPr>
          <a:lstStyle/>
          <a:p>
            <a:pPr algn="l">
              <a:lnSpc>
                <a:spcPct val="105000"/>
              </a:lnSpc>
              <a:buNone/>
            </a:pPr>
            <a:r>
              <a:rPr lang="en-GB" sz="2200" b="1">
                <a:solidFill>
                  <a:srgbClr val="173F35"/>
                </a:solidFill>
                <a:latin typeface="Arial"/>
              </a:rPr>
              <a:t>Feature   -&gt;   Tests   -&gt;   Use journey   -&gt;   Keep / cut / tidy</a:t>
            </a:r>
          </a:p>
        </p:txBody>
      </p:sp>
      <p:sp>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5 · FUTURE ROADMAP, NOT TODAY'S PRODUCT</a:t>
            </a:r>
          </a:p>
        </p:txBody>
      </p:sp>
      <p:sp>
        <p:nvSpPr>
          <p:cNvPr id="31212" name="Slide title">
            <a:extLst>
              <a:ext uri="{FF2B5EF4-FFF2-40B4-BE49-F238E27FC236}">
                <a16:creationId xmlns:a16="http://schemas.microsoft.com/office/drawing/2014/main" id="{E5F8E0BC-BB92-95A1-1AFC-7900659175D3}"/>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Future: connected history and better agent context.</a:t>
            </a:r>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Fabric assessment + 30 Oct ontology follow-up. Preview; no integration or value gain proven.</a:t>
            </a:r>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xmlns:p="http://schemas.openxmlformats.org/presentationml/2006/main" xmlns:a="http://schemas.openxmlformats.org/drawingml/2006/main">
        <p:nvSpPr>
          <p:cNvPr id="900000" name="Story-23-future-status" descr="FUTURE OPTIONS ONLY / Neither Fabric nor Power BI is a current Zava Forward component."/>
          <p:cNvSpPr txBox="1"/>
          <p:nvPr/>
        </p:nvSpPr>
        <p:spPr>
          <a:xfrm>
            <a:off x="548640" y="1408176"/>
            <a:ext cx="11091672" cy="256032"/>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FUTURE OPTIONS ONLY / Neither Fabric nor Power BI is a current Zava Forward component.</a:t>
            </a:r>
          </a:p>
        </p:txBody>
      </p:sp>
      <p:sp xmlns:p="http://schemas.openxmlformats.org/presentationml/2006/main" xmlns:a="http://schemas.openxmlformats.org/drawingml/2006/main">
        <p:nvSpPr>
          <p:cNvPr id="900001" name="Story-23-history-title" descr="Portfolio history, reused"/>
          <p:cNvSpPr txBox="1"/>
          <p:nvPr/>
        </p:nvSpPr>
        <p:spPr>
          <a:xfrm>
            <a:off x="548640" y="1911096"/>
            <a:ext cx="5678424" cy="338328"/>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Portfolio history, reused</a:t>
            </a:r>
          </a:p>
        </p:txBody>
      </p:sp>
      <p:sp xmlns:p="http://schemas.openxmlformats.org/presentationml/2006/main" xmlns:a="http://schemas.openxmlformats.org/drawingml/2006/main">
        <p:nvSpPr>
          <p:cNvPr id="900002" name="Story-23-history-body" descr="Join evidence across time.&#10;Share reporting definitions and measures."/>
          <p:cNvSpPr txBox="1"/>
          <p:nvPr/>
        </p:nvSpPr>
        <p:spPr>
          <a:xfrm>
            <a:off x="548640" y="2450592"/>
            <a:ext cx="5532120" cy="566928"/>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Join evidence across time.</a:t>
            </a:r>
          </a:p>
          <a:p>
            <a:pPr algn="l">
              <a:lnSpc>
                <a:spcPct val="105000"/>
              </a:lnSpc>
              <a:buNone/>
            </a:pPr>
            <a:r>
              <a:rPr lang="en-GB" sz="1800" b="0">
                <a:solidFill>
                  <a:srgbClr val="173F35"/>
                </a:solidFill>
                <a:latin typeface="Arial"/>
              </a:rPr>
              <a:t>Share reporting definitions and measures.</a:t>
            </a:r>
          </a:p>
        </p:txBody>
      </p:sp>
      <p:sp xmlns:p="http://schemas.openxmlformats.org/presentationml/2006/main" xmlns:a="http://schemas.openxmlformats.org/drawingml/2006/main">
        <p:nvSpPr>
          <p:cNvPr id="900003" name="Story-23-history-layer-back" descr=""/>
          <p:cNvSpPr txBox="1"/>
          <p:nvPr/>
        </p:nvSpPr>
        <p:spPr>
          <a:xfrm>
            <a:off x="804672" y="3364992"/>
            <a:ext cx="5138928" cy="603504"/>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23-history-layer-middle" descr=""/>
          <p:cNvSpPr txBox="1"/>
          <p:nvPr/>
        </p:nvSpPr>
        <p:spPr>
          <a:xfrm>
            <a:off x="676656" y="3218688"/>
            <a:ext cx="5138928" cy="603504"/>
          </a:xfrm>
          <a:prstGeom prst="rect">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23-history-layer" descr="Curated facts  -&gt;  analytics  -&gt;  staff reports"/>
          <p:cNvSpPr txBox="1"/>
          <p:nvPr/>
        </p:nvSpPr>
        <p:spPr>
          <a:xfrm>
            <a:off x="548640" y="3072384"/>
            <a:ext cx="5138928" cy="603504"/>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1700" b="0">
                <a:solidFill>
                  <a:srgbClr val="FAF9F6"/>
                </a:solidFill>
                <a:latin typeface="Arial"/>
              </a:rPr>
              <a:t>Curated facts  -&gt;  analytics  -&gt;  staff reports</a:t>
            </a:r>
          </a:p>
        </p:txBody>
      </p:sp>
      <p:sp xmlns:p="http://schemas.openxmlformats.org/presentationml/2006/main" xmlns:a="http://schemas.openxmlformats.org/drawingml/2006/main">
        <p:nvSpPr>
          <p:cNvPr id="900006" name="Story-23-fabric-label" descr="Microsoft Fabric"/>
          <p:cNvSpPr txBox="1"/>
          <p:nvPr/>
        </p:nvSpPr>
        <p:spPr>
          <a:xfrm>
            <a:off x="1069848" y="4169664"/>
            <a:ext cx="2514600"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Microsoft Fabric</a:t>
            </a:r>
          </a:p>
        </p:txBody>
      </p:sp>
      <p:sp xmlns:p="http://schemas.openxmlformats.org/presentationml/2006/main" xmlns:a="http://schemas.openxmlformats.org/drawingml/2006/main">
        <p:nvSpPr>
          <p:cNvPr id="900007" name="Story-23-power-bi-label" descr="Power BI"/>
          <p:cNvSpPr txBox="1"/>
          <p:nvPr/>
        </p:nvSpPr>
        <p:spPr>
          <a:xfrm>
            <a:off x="4114800" y="4169664"/>
            <a:ext cx="1828800"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Power BI</a:t>
            </a:r>
          </a:p>
        </p:txBody>
      </p:sp>
      <p:sp xmlns:p="http://schemas.openxmlformats.org/presentationml/2006/main" xmlns:a="http://schemas.openxmlformats.org/drawingml/2006/main">
        <p:nvSpPr>
          <p:cNvPr id="900008" name="Story-23-future-divider" descr=""/>
          <p:cNvSpPr txBox="1"/>
          <p:nvPr/>
        </p:nvSpPr>
        <p:spPr>
          <a:xfrm>
            <a:off x="6446520" y="1911096"/>
            <a:ext cx="13716" cy="2770632"/>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23-context-title" descr="Richer agent context"/>
          <p:cNvSpPr txBox="1"/>
          <p:nvPr/>
        </p:nvSpPr>
        <p:spPr>
          <a:xfrm>
            <a:off x="6876288" y="1911096"/>
            <a:ext cx="4764024" cy="338328"/>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Richer agent context</a:t>
            </a:r>
          </a:p>
        </p:txBody>
      </p:sp>
      <p:sp xmlns:p="http://schemas.openxmlformats.org/presentationml/2006/main" xmlns:a="http://schemas.openxmlformats.org/drawingml/2006/main">
        <p:nvSpPr>
          <p:cNvPr id="900010" name="Story-23-context-preview" descr="FABRIC ONTOLOGY / PREVIEW"/>
          <p:cNvSpPr txBox="1"/>
          <p:nvPr/>
        </p:nvSpPr>
        <p:spPr>
          <a:xfrm>
            <a:off x="6876288" y="2414016"/>
            <a:ext cx="4764024"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FABRIC ONTOLOGY / PREVIEW</a:t>
            </a:r>
          </a:p>
        </p:txBody>
      </p:sp>
      <p:sp xmlns:p="http://schemas.openxmlformats.org/presentationml/2006/main" xmlns:a="http://schemas.openxmlformats.org/drawingml/2006/main">
        <p:nvSpPr>
          <p:cNvPr id="900011" name="Story-23-graph-horizontal" descr=""/>
          <p:cNvSpPr txBox="1"/>
          <p:nvPr/>
        </p:nvSpPr>
        <p:spPr>
          <a:xfrm>
            <a:off x="7534656" y="3127248"/>
            <a:ext cx="3191256" cy="2286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23-graph-vertical" descr=""/>
          <p:cNvSpPr txBox="1"/>
          <p:nvPr/>
        </p:nvSpPr>
        <p:spPr>
          <a:xfrm>
            <a:off x="9107424" y="3127248"/>
            <a:ext cx="22860" cy="100584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23-graph-bottom" descr=""/>
          <p:cNvSpPr txBox="1"/>
          <p:nvPr/>
        </p:nvSpPr>
        <p:spPr>
          <a:xfrm>
            <a:off x="7534656" y="4133088"/>
            <a:ext cx="3191256" cy="2286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23-graph-home" descr="Home"/>
          <p:cNvSpPr txBox="1"/>
          <p:nvPr/>
        </p:nvSpPr>
        <p:spPr>
          <a:xfrm>
            <a:off x="6995160" y="2834640"/>
            <a:ext cx="1810512" cy="585216"/>
          </a:xfrm>
          <a:prstGeom prst="round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Home</a:t>
            </a:r>
          </a:p>
        </p:txBody>
      </p:sp>
      <p:sp xmlns:p="http://schemas.openxmlformats.org/presentationml/2006/main" xmlns:a="http://schemas.openxmlformats.org/drawingml/2006/main">
        <p:nvSpPr>
          <p:cNvPr id="900015" name="Story-23-graph-assessment" descr="Assessment"/>
          <p:cNvSpPr txBox="1"/>
          <p:nvPr/>
        </p:nvSpPr>
        <p:spPr>
          <a:xfrm>
            <a:off x="9555480" y="2834640"/>
            <a:ext cx="2084832" cy="585216"/>
          </a:xfrm>
          <a:prstGeom prst="round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Assessment</a:t>
            </a:r>
          </a:p>
        </p:txBody>
      </p:sp>
      <p:sp xmlns:p="http://schemas.openxmlformats.org/presentationml/2006/main" xmlns:a="http://schemas.openxmlformats.org/drawingml/2006/main">
        <p:nvSpPr>
          <p:cNvPr id="900016" name="Story-23-graph-measure" descr="Measure"/>
          <p:cNvSpPr txBox="1"/>
          <p:nvPr/>
        </p:nvSpPr>
        <p:spPr>
          <a:xfrm>
            <a:off x="6995160" y="3867912"/>
            <a:ext cx="1810512" cy="585216"/>
          </a:xfrm>
          <a:prstGeom prst="roundRect">
            <a:avLst/>
          </a:prstGeom>
          <a:solidFill>
            <a:srgbClr val="E8F2FB"/>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Measure</a:t>
            </a:r>
          </a:p>
        </p:txBody>
      </p:sp>
      <p:sp xmlns:p="http://schemas.openxmlformats.org/presentationml/2006/main" xmlns:a="http://schemas.openxmlformats.org/drawingml/2006/main">
        <p:nvSpPr>
          <p:cNvPr id="900017" name="Story-23-graph-evidence" descr="Evidence"/>
          <p:cNvSpPr txBox="1"/>
          <p:nvPr/>
        </p:nvSpPr>
        <p:spPr>
          <a:xfrm>
            <a:off x="9555480" y="3867912"/>
            <a:ext cx="2084832" cy="585216"/>
          </a:xfrm>
          <a:prstGeom prst="roundRect">
            <a:avLst/>
          </a:prstGeom>
          <a:solidFill>
            <a:srgbClr val="EFEAF8"/>
          </a:solidFill>
          <a:ln w="15875">
            <a:solidFill>
              <a:srgbClr val="173F35"/>
            </a:solidFill>
          </a:ln>
        </p:spPr>
        <p:txBody>
          <a:bodyPr wrap="square" lIns="18288" rIns="18288" tIns="9144" bIns="9144" anchor="ctr">
            <a:noAutofit/>
          </a:bodyPr>
          <a:lstStyle/>
          <a:p>
            <a:pPr algn="ctr">
              <a:lnSpc>
                <a:spcPct val="105000"/>
              </a:lnSpc>
              <a:buNone/>
            </a:pPr>
            <a:r>
              <a:rPr lang="en-GB" sz="1800" b="1">
                <a:solidFill>
                  <a:srgbClr val="173F35"/>
                </a:solidFill>
                <a:latin typeface="Arial"/>
              </a:rPr>
              <a:t>Evidence</a:t>
            </a:r>
          </a:p>
        </p:txBody>
      </p:sp>
      <p:sp xmlns:p="http://schemas.openxmlformats.org/presentationml/2006/main" xmlns:a="http://schemas.openxmlformats.org/drawingml/2006/main">
        <p:nvSpPr>
          <p:cNvPr id="900018" name="Story-23-scale-0" descr="60,000"/>
          <p:cNvSpPr txBox="1"/>
          <p:nvPr/>
        </p:nvSpPr>
        <p:spPr>
          <a:xfrm>
            <a:off x="548640"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60,000</a:t>
            </a:r>
          </a:p>
        </p:txBody>
      </p:sp>
      <p:sp xmlns:p="http://schemas.openxmlformats.org/presentationml/2006/main" xmlns:a="http://schemas.openxmlformats.org/drawingml/2006/main">
        <p:nvSpPr>
          <p:cNvPr id="900019" name="Story-23-scale-0-caption" descr="fictional homes; not accounts"/>
          <p:cNvSpPr txBox="1"/>
          <p:nvPr/>
        </p:nvSpPr>
        <p:spPr>
          <a:xfrm>
            <a:off x="2194560"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fictional homes; not accounts</a:t>
            </a:r>
          </a:p>
        </p:txBody>
      </p:sp>
      <p:sp xmlns:p="http://schemas.openxmlformats.org/presentationml/2006/main" xmlns:a="http://schemas.openxmlformats.org/drawingml/2006/main">
        <p:nvSpPr>
          <p:cNvPr id="900020" name="Story-23-scale-1" descr="980"/>
          <p:cNvSpPr txBox="1"/>
          <p:nvPr/>
        </p:nvSpPr>
        <p:spPr>
          <a:xfrm>
            <a:off x="4325112"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980</a:t>
            </a:r>
          </a:p>
        </p:txBody>
      </p:sp>
      <p:sp xmlns:p="http://schemas.openxmlformats.org/presentationml/2006/main" xmlns:a="http://schemas.openxmlformats.org/drawingml/2006/main">
        <p:nvSpPr>
          <p:cNvPr id="900021" name="Story-23-scale-1-caption" descr="cases in the retained programme"/>
          <p:cNvSpPr txBox="1"/>
          <p:nvPr/>
        </p:nvSpPr>
        <p:spPr>
          <a:xfrm>
            <a:off x="5971032"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cases in the retained programme</a:t>
            </a:r>
          </a:p>
        </p:txBody>
      </p:sp>
      <p:sp xmlns:p="http://schemas.openxmlformats.org/presentationml/2006/main" xmlns:a="http://schemas.openxmlformats.org/drawingml/2006/main">
        <p:nvSpPr>
          <p:cNvPr id="900022" name="Story-23-scale-2" descr="43.8M"/>
          <p:cNvSpPr txBox="1"/>
          <p:nvPr/>
        </p:nvSpPr>
        <p:spPr>
          <a:xfrm>
            <a:off x="8101584" y="4828032"/>
            <a:ext cx="1600200" cy="429768"/>
          </a:xfrm>
          <a:prstGeom prst="rect">
            <a:avLst/>
          </a:prstGeom>
          <a:noFill/>
          <a:ln>
            <a:noFill/>
          </a:ln>
        </p:spPr>
        <p:txBody>
          <a:bodyPr wrap="square" lIns="18288" rIns="18288" tIns="9144" bIns="9144" anchor="t">
            <a:noAutofit/>
          </a:bodyPr>
          <a:lstStyle/>
          <a:p>
            <a:pPr algn="l">
              <a:lnSpc>
                <a:spcPct val="105000"/>
              </a:lnSpc>
              <a:buNone/>
            </a:pPr>
            <a:r>
              <a:rPr lang="en-GB" sz="2800" b="1">
                <a:solidFill>
                  <a:srgbClr val="173F35"/>
                </a:solidFill>
                <a:latin typeface="Arial"/>
              </a:rPr>
              <a:t>43.8M</a:t>
            </a:r>
          </a:p>
        </p:txBody>
      </p:sp>
      <p:sp xmlns:p="http://schemas.openxmlformats.org/presentationml/2006/main" xmlns:a="http://schemas.openxmlformats.org/drawingml/2006/main">
        <p:nvSpPr>
          <p:cNvPr id="900023" name="Story-23-scale-2-caption" descr="synthetic readings / 730 days"/>
          <p:cNvSpPr txBox="1"/>
          <p:nvPr/>
        </p:nvSpPr>
        <p:spPr>
          <a:xfrm>
            <a:off x="9747504" y="4864608"/>
            <a:ext cx="1892808" cy="493776"/>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synthetic readings / 730 days</a:t>
            </a:r>
          </a:p>
        </p:txBody>
      </p:sp>
      <p:sp xmlns:p="http://schemas.openxmlformats.org/presentationml/2006/main" xmlns:a="http://schemas.openxmlformats.org/drawingml/2006/main">
        <p:nvSpPr>
          <p:cNvPr id="900024" name="Story-23-future-stop-fill" descr=""/>
          <p:cNvSpPr txBox="1"/>
          <p:nvPr/>
        </p:nvSpPr>
        <p:spPr>
          <a:xfrm>
            <a:off x="548640" y="5504688"/>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23-future-stop" descr="WHY LATER  |  Prove the value, permissions, curated data and full cost first. Scale alone proves no platform need."/>
          <p:cNvSpPr txBox="1"/>
          <p:nvPr/>
        </p:nvSpPr>
        <p:spPr>
          <a:xfrm>
            <a:off x="749808" y="562356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WHY LATER  |  Prove the value, permissions, curated data and full cost first. Scale alone proves no platform need.</a:t>
            </a:r>
          </a:p>
        </p:txBody>
      </p:sp>
      <p:pic xmlns:p="http://schemas.openxmlformats.org/presentationml/2006/main" xmlns:a="http://schemas.openxmlformats.org/drawingml/2006/main" xmlns:r="http://schemas.openxmlformats.org/officeDocument/2006/relationships">
        <p:nvPicPr>
          <p:cNvPr id="2000000" name="Roadmap-23-fabric" descr="Microsoft Fabric: proposed future analytics option, not a current component."/>
          <p:cNvPicPr>
            <a:picLocks noChangeAspect="1"/>
          </p:cNvPicPr>
          <p:nvPr/>
        </p:nvPicPr>
        <p:blipFill>
          <a:blip r:embed="rIdRoadmap2000000"/>
          <a:stretch>
            <a:fillRect/>
          </a:stretch>
        </p:blipFill>
        <p:spPr>
          <a:xfrm>
            <a:off x="548640" y="4050792"/>
            <a:ext cx="402336" cy="402336"/>
          </a:xfrm>
          <a:prstGeom prst="rect">
            <a:avLst/>
          </a:prstGeom>
          <a:ln>
            <a:noFill/>
          </a:ln>
        </p:spPr>
      </p:pic>
      <p:pic xmlns:p="http://schemas.openxmlformats.org/presentationml/2006/main" xmlns:a="http://schemas.openxmlformats.org/drawingml/2006/main" xmlns:r="http://schemas.openxmlformats.org/officeDocument/2006/relationships">
        <p:nvPicPr>
          <p:cNvPr id="2000001" name="Roadmap-23-power-bi" descr="Power BI: proposed future reporting option, not a current component."/>
          <p:cNvPicPr>
            <a:picLocks noChangeAspect="1"/>
          </p:cNvPicPr>
          <p:nvPr/>
        </p:nvPicPr>
        <p:blipFill>
          <a:blip r:embed="rIdRoadmap2000001"/>
          <a:stretch>
            <a:fillRect/>
          </a:stretch>
        </p:blipFill>
        <p:spPr>
          <a:xfrm>
            <a:off x="3557016" y="4050792"/>
            <a:ext cx="402336" cy="402336"/>
          </a:xfrm>
          <a:prstGeom prst="rect">
            <a:avLst/>
          </a:prstGeom>
          <a:ln>
            <a:noFill/>
          </a:ln>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713232"/>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Prove the need. Choose the smallest next step.</a:t>
            </a:r>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measurement design and acceptance boundaries. Separate execution authority required.</a:t>
            </a:r>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xmlns:p="http://schemas.openxmlformats.org/presentationml/2006/main" xmlns:a="http://schemas.openxmlformats.org/drawingml/2006/main">
        <p:nvSpPr>
          <p:cNvPr id="900000" name="Story-24-preserve-fill" descr=""/>
          <p:cNvSpPr txBox="1"/>
          <p:nvPr/>
        </p:nvSpPr>
        <p:spPr>
          <a:xfrm>
            <a:off x="548640" y="1719072"/>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4-preserve" descr="PRESERVE THE CURRENT FOUNDATION  |  Evaluate a need, not a service count."/>
          <p:cNvSpPr txBox="1"/>
          <p:nvPr/>
        </p:nvSpPr>
        <p:spPr>
          <a:xfrm>
            <a:off x="749808" y="183794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FAF9F6"/>
                </a:solidFill>
                <a:latin typeface="Arial"/>
              </a:rPr>
              <a:t>PRESERVE THE CURRENT FOUNDATION  |  Evaluate a need, not a service count.</a:t>
            </a:r>
          </a:p>
        </p:txBody>
      </p:sp>
      <p:sp xmlns:p="http://schemas.openxmlformats.org/presentationml/2006/main" xmlns:a="http://schemas.openxmlformats.org/drawingml/2006/main">
        <p:nvSpPr>
          <p:cNvPr id="900002" name="Story-24-stage-0-number" descr="1"/>
          <p:cNvSpPr txBox="1"/>
          <p:nvPr/>
        </p:nvSpPr>
        <p:spPr>
          <a:xfrm>
            <a:off x="548640" y="2734056"/>
            <a:ext cx="722376" cy="72237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1</a:t>
            </a:r>
          </a:p>
        </p:txBody>
      </p:sp>
      <p:sp xmlns:p="http://schemas.openxmlformats.org/presentationml/2006/main" xmlns:a="http://schemas.openxmlformats.org/drawingml/2006/main">
        <p:nvSpPr>
          <p:cNvPr id="900003" name="Story-24-stage-0-title" descr="Prove the&#10;current journey"/>
          <p:cNvSpPr txBox="1"/>
          <p:nvPr/>
        </p:nvSpPr>
        <p:spPr>
          <a:xfrm>
            <a:off x="1472184"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Prove the</a:t>
            </a:r>
          </a:p>
          <a:p>
            <a:pPr algn="l">
              <a:lnSpc>
                <a:spcPct val="105000"/>
              </a:lnSpc>
              <a:buNone/>
            </a:pPr>
            <a:r>
              <a:rPr lang="en-GB" sz="2200" b="1">
                <a:solidFill>
                  <a:srgbClr val="173F35"/>
                </a:solidFill>
                <a:latin typeface="Arial"/>
              </a:rPr>
              <a:t>current journey</a:t>
            </a:r>
          </a:p>
        </p:txBody>
      </p:sp>
      <p:sp xmlns:p="http://schemas.openxmlformats.org/presentationml/2006/main" xmlns:a="http://schemas.openxmlformats.org/drawingml/2006/main">
        <p:nvSpPr>
          <p:cNvPr id="900004" name="Story-24-stage-0-rule" descr=""/>
          <p:cNvSpPr txBox="1"/>
          <p:nvPr/>
        </p:nvSpPr>
        <p:spPr>
          <a:xfrm>
            <a:off x="548640"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24-stage-0-body" descr="Access, recovery and review&#10;Resident and staff effort&#10;Relevant actual evidence"/>
          <p:cNvSpPr txBox="1"/>
          <p:nvPr/>
        </p:nvSpPr>
        <p:spPr>
          <a:xfrm>
            <a:off x="548640"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Access, recovery and review</a:t>
            </a:r>
          </a:p>
          <a:p>
            <a:pPr algn="l">
              <a:lnSpc>
                <a:spcPct val="105000"/>
              </a:lnSpc>
              <a:buNone/>
            </a:pPr>
            <a:r>
              <a:rPr lang="en-GB" sz="1700" b="0">
                <a:solidFill>
                  <a:srgbClr val="173F35"/>
                </a:solidFill>
                <a:latin typeface="Arial"/>
              </a:rPr>
              <a:t>Resident and staff effort</a:t>
            </a:r>
          </a:p>
          <a:p>
            <a:pPr algn="l">
              <a:lnSpc>
                <a:spcPct val="105000"/>
              </a:lnSpc>
              <a:buNone/>
            </a:pPr>
            <a:r>
              <a:rPr lang="en-GB" sz="1700" b="0">
                <a:solidFill>
                  <a:srgbClr val="173F35"/>
                </a:solidFill>
                <a:latin typeface="Arial"/>
              </a:rPr>
              <a:t>Relevant actual evidence</a:t>
            </a:r>
          </a:p>
        </p:txBody>
      </p:sp>
      <p:sp xmlns:p="http://schemas.openxmlformats.org/presentationml/2006/main" xmlns:a="http://schemas.openxmlformats.org/drawingml/2006/main">
        <p:nvSpPr>
          <p:cNvPr id="900006" name="Story-24-stage-0-arrow" descr=""/>
          <p:cNvSpPr txBox="1"/>
          <p:nvPr/>
        </p:nvSpPr>
        <p:spPr>
          <a:xfrm>
            <a:off x="3813048" y="2971800"/>
            <a:ext cx="320040"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24-stage-1-number" descr="2"/>
          <p:cNvSpPr txBox="1"/>
          <p:nvPr/>
        </p:nvSpPr>
        <p:spPr>
          <a:xfrm>
            <a:off x="4325112" y="2734056"/>
            <a:ext cx="722376" cy="72237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885500"/>
                </a:solidFill>
                <a:latin typeface="Arial"/>
              </a:rPr>
              <a:t>2</a:t>
            </a:r>
          </a:p>
        </p:txBody>
      </p:sp>
      <p:sp xmlns:p="http://schemas.openxmlformats.org/presentationml/2006/main" xmlns:a="http://schemas.openxmlformats.org/drawingml/2006/main">
        <p:nvSpPr>
          <p:cNvPr id="900008" name="Story-24-stage-1-title" descr="Compare&#10;portfolio insight"/>
          <p:cNvSpPr txBox="1"/>
          <p:nvPr/>
        </p:nvSpPr>
        <p:spPr>
          <a:xfrm>
            <a:off x="5248656"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Compare</a:t>
            </a:r>
          </a:p>
          <a:p>
            <a:pPr algn="l">
              <a:lnSpc>
                <a:spcPct val="105000"/>
              </a:lnSpc>
              <a:buNone/>
            </a:pPr>
            <a:r>
              <a:rPr lang="en-GB" sz="2200" b="1">
                <a:solidFill>
                  <a:srgbClr val="173F35"/>
                </a:solidFill>
                <a:latin typeface="Arial"/>
              </a:rPr>
              <a:t>portfolio insight</a:t>
            </a:r>
          </a:p>
        </p:txBody>
      </p:sp>
      <p:sp xmlns:p="http://schemas.openxmlformats.org/presentationml/2006/main" xmlns:a="http://schemas.openxmlformats.org/drawingml/2006/main">
        <p:nvSpPr>
          <p:cNvPr id="900009" name="Story-24-stage-1-rule" descr=""/>
          <p:cNvSpPr txBox="1"/>
          <p:nvPr/>
        </p:nvSpPr>
        <p:spPr>
          <a:xfrm>
            <a:off x="4325112"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24-stage-1-body" descr="SQL/read-model vs Fabric/PBI&#10;Same cohort and history&#10;Quality and complete cost"/>
          <p:cNvSpPr txBox="1"/>
          <p:nvPr/>
        </p:nvSpPr>
        <p:spPr>
          <a:xfrm>
            <a:off x="4325112"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SQL/read-model vs Fabric/PBI</a:t>
            </a:r>
          </a:p>
          <a:p>
            <a:pPr algn="l">
              <a:lnSpc>
                <a:spcPct val="105000"/>
              </a:lnSpc>
              <a:buNone/>
            </a:pPr>
            <a:r>
              <a:rPr lang="en-GB" sz="1700" b="0">
                <a:solidFill>
                  <a:srgbClr val="173F35"/>
                </a:solidFill>
                <a:latin typeface="Arial"/>
              </a:rPr>
              <a:t>Same cohort and history</a:t>
            </a:r>
          </a:p>
          <a:p>
            <a:pPr algn="l">
              <a:lnSpc>
                <a:spcPct val="105000"/>
              </a:lnSpc>
              <a:buNone/>
            </a:pPr>
            <a:r>
              <a:rPr lang="en-GB" sz="1700" b="0">
                <a:solidFill>
                  <a:srgbClr val="173F35"/>
                </a:solidFill>
                <a:latin typeface="Arial"/>
              </a:rPr>
              <a:t>Quality and complete cost</a:t>
            </a:r>
          </a:p>
        </p:txBody>
      </p:sp>
      <p:sp xmlns:p="http://schemas.openxmlformats.org/presentationml/2006/main" xmlns:a="http://schemas.openxmlformats.org/drawingml/2006/main">
        <p:nvSpPr>
          <p:cNvPr id="900011" name="Story-24-stage-1-arrow" descr=""/>
          <p:cNvSpPr txBox="1"/>
          <p:nvPr/>
        </p:nvSpPr>
        <p:spPr>
          <a:xfrm>
            <a:off x="7589520" y="2971800"/>
            <a:ext cx="320040"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24-stage-2-number" descr="3"/>
          <p:cNvSpPr txBox="1"/>
          <p:nvPr/>
        </p:nvSpPr>
        <p:spPr>
          <a:xfrm>
            <a:off x="8101584" y="2734056"/>
            <a:ext cx="722376" cy="722376"/>
          </a:xfrm>
          <a:prstGeom prst="ellipse">
            <a:avLst/>
          </a:prstGeom>
          <a:solidFill>
            <a:srgbClr val="EFEAF8"/>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3</a:t>
            </a:r>
          </a:p>
        </p:txBody>
      </p:sp>
      <p:sp xmlns:p="http://schemas.openxmlformats.org/presentationml/2006/main" xmlns:a="http://schemas.openxmlformats.org/drawingml/2006/main">
        <p:nvSpPr>
          <p:cNvPr id="900013" name="Story-24-stage-2-title" descr="Test richer&#10;agent context"/>
          <p:cNvSpPr txBox="1"/>
          <p:nvPr/>
        </p:nvSpPr>
        <p:spPr>
          <a:xfrm>
            <a:off x="9025128" y="2734056"/>
            <a:ext cx="2615184" cy="758952"/>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Test richer</a:t>
            </a:r>
          </a:p>
          <a:p>
            <a:pPr algn="l">
              <a:lnSpc>
                <a:spcPct val="105000"/>
              </a:lnSpc>
              <a:buNone/>
            </a:pPr>
            <a:r>
              <a:rPr lang="en-GB" sz="2200" b="1">
                <a:solidFill>
                  <a:srgbClr val="173F35"/>
                </a:solidFill>
                <a:latin typeface="Arial"/>
              </a:rPr>
              <a:t>agent context</a:t>
            </a:r>
          </a:p>
        </p:txBody>
      </p:sp>
      <p:sp xmlns:p="http://schemas.openxmlformats.org/presentationml/2006/main" xmlns:a="http://schemas.openxmlformats.org/drawingml/2006/main">
        <p:nvSpPr>
          <p:cNvPr id="900014" name="Story-24-stage-2-rule" descr=""/>
          <p:cNvSpPr txBox="1"/>
          <p:nvPr/>
        </p:nvSpPr>
        <p:spPr>
          <a:xfrm>
            <a:off x="8101584" y="3794760"/>
            <a:ext cx="3538728" cy="13716"/>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5" name="Story-24-stage-2-body" descr="Current context vs ontology&#10;Checked answers and refusals&#10;Stale and forbidden-link tests"/>
          <p:cNvSpPr txBox="1"/>
          <p:nvPr/>
        </p:nvSpPr>
        <p:spPr>
          <a:xfrm>
            <a:off x="8101584" y="4078224"/>
            <a:ext cx="3538728"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Current context vs ontology</a:t>
            </a:r>
          </a:p>
          <a:p>
            <a:pPr algn="l">
              <a:lnSpc>
                <a:spcPct val="105000"/>
              </a:lnSpc>
              <a:buNone/>
            </a:pPr>
            <a:r>
              <a:rPr lang="en-GB" sz="1700" b="0">
                <a:solidFill>
                  <a:srgbClr val="173F35"/>
                </a:solidFill>
                <a:latin typeface="Arial"/>
              </a:rPr>
              <a:t>Checked answers and refusals</a:t>
            </a:r>
          </a:p>
          <a:p>
            <a:pPr algn="l">
              <a:lnSpc>
                <a:spcPct val="105000"/>
              </a:lnSpc>
              <a:buNone/>
            </a:pPr>
            <a:r>
              <a:rPr lang="en-GB" sz="1700" b="0">
                <a:solidFill>
                  <a:srgbClr val="173F35"/>
                </a:solidFill>
                <a:latin typeface="Arial"/>
              </a:rPr>
              <a:t>Stale and forbidden-link tests</a:t>
            </a:r>
          </a:p>
        </p:txBody>
      </p:sp>
      <p:sp xmlns:p="http://schemas.openxmlformats.org/presentationml/2006/main" xmlns:a="http://schemas.openxmlformats.org/drawingml/2006/main">
        <p:nvSpPr>
          <p:cNvPr id="900016" name="Story-24-separate-authority-fill" descr=""/>
          <p:cNvSpPr txBox="1"/>
          <p:nvPr/>
        </p:nvSpPr>
        <p:spPr>
          <a:xfrm>
            <a:off x="548640" y="5458968"/>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24-separate-authority" descr="Agree owners. Cost the plan. Authorize separately. Expand only on evidence."/>
          <p:cNvSpPr txBox="1"/>
          <p:nvPr/>
        </p:nvSpPr>
        <p:spPr>
          <a:xfrm>
            <a:off x="749808" y="5577840"/>
            <a:ext cx="10689336" cy="329184"/>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885500"/>
                </a:solidFill>
                <a:latin typeface="Arial"/>
              </a:rPr>
              <a:t>Agree owners. Cost the plan. Authorize separately. Expand only on evidence.</a:t>
            </a:r>
          </a:p>
        </p:txBody>
      </p:sp>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labelled evidence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Review a costed plan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hlinkClick r:id="rId3" action="ppaction://hlinksldjump"/>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hlinkClick r:id="rId4" action="ppaction://hlinksldjump"/>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hlinkClick r:id="rId5" action="ppaction://hlinksldjump"/>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hlinkClick r:id="rId6" action="ppaction://hlinksldjump"/>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hlinkClick r:id="rId7" action="ppaction://hlinksldjump"/>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hlinkClick r:id="rId8" action="ppaction://hlinksldjump"/>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hlinkClick r:id="rId9" action="ppaction://hlinksldjump"/>
            <a:extLst>
              <a:ext uri="{FF2B5EF4-FFF2-40B4-BE49-F238E27FC236}">
                <a16:creationId xmlns:a16="http://schemas.microsoft.com/office/drawing/2014/main" id="{31731A9F-7F73-E736-9FCC-0F231B06D97D}"/>
              </a:ext>
            </a:extLst>
          </p:cNvPr>
          <p:cNvSpPr/>
          <p:nvPr/>
        </p:nvSpPr>
        <p:spPr>
          <a:xfrm>
            <a:off x="548640" y="4489704"/>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173F35"/>
                </a:solidFill>
                <a:effectLst/>
                <a:latin typeface="Arial" panose="020B0604020202020204" pitchFamily="34" charset="0"/>
              </a:rPr>
              <a:t>B04 · 31   When does Decision 1 beat simpler rules?</a:t>
            </a:r>
            <a:endParaRPr lang="en-US" dirty="0"/>
          </a:p>
        </p:txBody>
      </p:sp>
      <p:sp>
        <p:nvSpPr>
          <p:cNvPr id="21085" name="Index B05">
            <a:hlinkClick r:id="rId10" action="ppaction://hlinksldjump"/>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hlinkClick r:id="rId11" action="ppaction://hlinksldjump"/>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hlinkClick r:id="rId12" action="ppaction://hlinksldjump"/>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hlinkClick r:id="rId13" action="ppaction://hlinksldjump"/>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hlinkClick r:id="rId14" action="ppaction://hlinksldjump"/>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hlinkClick r:id="rId15" action="ppaction://hlinksldjump"/>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hlinkClick r:id="rId16" action="ppaction://hlinksldjump"/>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hlinkClick r:id="rId17" action="ppaction://hlinksldjump"/>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hlinkClick r:id="rId18" action="ppaction://hlinksldjump"/>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hlinkClick r:id="rId19" action="ppaction://hlinksldjump"/>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hlinkClick r:id="rId20" action="ppaction://hlinksldjump"/>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hlinkClick r:id="rId21" action="ppaction://hlinksldjump"/>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hlinkClick r:id="rId22" action="ppaction://hlinksldjump"/>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hlinkClick r:id="rId23" action="ppaction://hlinksldjump"/>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hlinkClick r:id="rId24" action="ppaction://hlinksldjump"/>
            <a:extLst>
              <a:ext uri="{FF2B5EF4-FFF2-40B4-BE49-F238E27FC236}">
                <a16:creationId xmlns:a16="http://schemas.microsoft.com/office/drawing/2014/main" id="{AB73053C-9D85-E892-AACC-16259DE03E98}"/>
              </a:ext>
            </a:extLst>
          </p:cNvPr>
          <p:cNvSpPr/>
          <p:nvPr/>
        </p:nvSpPr>
        <p:spPr>
          <a:xfrm>
            <a:off x="548640" y="2761488"/>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Fabric later? Value, cost and alternatives</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hlinkClick r:id="rId25" action="ppaction://hlinksldjump"/>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hlinkClick r:id="rId26" action="ppaction://hlinksldjump"/>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hlinkClick r:id="rId27" action="ppaction://hlinksldjump"/>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hlinkClick r:id="rId28" action="ppaction://hlinksldjump"/>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hlinkClick r:id="rId29" action="ppaction://hlinksldjump"/>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hlinkClick r:id="rId3" action="ppaction://hlinksldjump"/>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rId3" action="ppaction://hlinksldjump"/>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hlinkClick r:id="rId3" action="ppaction://hlinksldjump"/>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rId3" action="ppaction://hlinksldjump"/>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4"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hlinkClick r:id="rId3" action="ppaction://hlinksldjump"/>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rId3" action="ppaction://hlinksldjump"/>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Decision 1 must beat the simpler baseline.</a:t>
            </a:r>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hlinkClick r:id="rId3" action="ppaction://hlinksldjump"/>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rId3" action="ppaction://hlinksldjump"/>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 xmlns:p="http://schemas.openxmlformats.org/presentationml/2006/main" xmlns:a="http://schemas.openxmlformats.org/drawingml/2006/main">
        <p:nvSpPr>
          <p:cNvPr id="900000" name="Story-31-option-0-frame" descr=""/>
          <p:cNvSpPr txBox="1"/>
          <p:nvPr/>
        </p:nvSpPr>
        <p:spPr>
          <a:xfrm>
            <a:off x="548640" y="1792224"/>
            <a:ext cx="3538728" cy="2660904"/>
          </a:xfrm>
          <a:prstGeom prst="rect">
            <a:avLst/>
          </a:prstGeom>
          <a:solidFill>
            <a:srgbClr val="E8F1ED"/>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1-option-0-number" descr="01"/>
          <p:cNvSpPr txBox="1"/>
          <p:nvPr/>
        </p:nvSpPr>
        <p:spPr>
          <a:xfrm>
            <a:off x="749808"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01</a:t>
            </a:r>
          </a:p>
        </p:txBody>
      </p:sp>
      <p:sp xmlns:p="http://schemas.openxmlformats.org/presentationml/2006/main" xmlns:a="http://schemas.openxmlformats.org/drawingml/2006/main">
        <p:nvSpPr>
          <p:cNvPr id="900002" name="Story-31-option-0-title" descr="Rules / template"/>
          <p:cNvSpPr txBox="1"/>
          <p:nvPr/>
        </p:nvSpPr>
        <p:spPr>
          <a:xfrm>
            <a:off x="749808"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Rules / template</a:t>
            </a:r>
          </a:p>
        </p:txBody>
      </p:sp>
      <p:sp xmlns:p="http://schemas.openxmlformats.org/presentationml/2006/main" xmlns:a="http://schemas.openxmlformats.org/drawingml/2006/main">
        <p:nvSpPr>
          <p:cNvPr id="900003" name="Story-31-option-0-body" descr="Exact labelled fields&#10;Arithmetic and ranking&#10;Deterministic gates"/>
          <p:cNvSpPr txBox="1"/>
          <p:nvPr/>
        </p:nvSpPr>
        <p:spPr>
          <a:xfrm>
            <a:off x="749808"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Exact labelled fields</a:t>
            </a:r>
          </a:p>
          <a:p>
            <a:pPr algn="l">
              <a:lnSpc>
                <a:spcPct val="105000"/>
              </a:lnSpc>
              <a:buNone/>
            </a:pPr>
            <a:r>
              <a:rPr lang="en-GB" sz="1700" b="0">
                <a:solidFill>
                  <a:srgbClr val="173F35"/>
                </a:solidFill>
                <a:latin typeface="Arial"/>
              </a:rPr>
              <a:t>Arithmetic and ranking</a:t>
            </a:r>
          </a:p>
          <a:p>
            <a:pPr algn="l">
              <a:lnSpc>
                <a:spcPct val="105000"/>
              </a:lnSpc>
              <a:buNone/>
            </a:pPr>
            <a:r>
              <a:rPr lang="en-GB" sz="1700" b="0">
                <a:solidFill>
                  <a:srgbClr val="173F35"/>
                </a:solidFill>
                <a:latin typeface="Arial"/>
              </a:rPr>
              <a:t>Deterministic gates</a:t>
            </a:r>
          </a:p>
        </p:txBody>
      </p:sp>
      <p:sp xmlns:p="http://schemas.openxmlformats.org/presentationml/2006/main" xmlns:a="http://schemas.openxmlformats.org/drawingml/2006/main">
        <p:nvSpPr>
          <p:cNvPr id="900004" name="Story-31-option-0-cap" descr="THE SIMPLER BASELINE"/>
          <p:cNvSpPr txBox="1"/>
          <p:nvPr/>
        </p:nvSpPr>
        <p:spPr>
          <a:xfrm>
            <a:off x="749808"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50655E"/>
                </a:solidFill>
                <a:latin typeface="Arial"/>
              </a:rPr>
              <a:t>THE SIMPLER BASELINE</a:t>
            </a:r>
          </a:p>
        </p:txBody>
      </p:sp>
      <p:sp xmlns:p="http://schemas.openxmlformats.org/presentationml/2006/main" xmlns:a="http://schemas.openxmlformats.org/drawingml/2006/main">
        <p:nvSpPr>
          <p:cNvPr id="900005" name="Story-31-option-1-frame" descr=""/>
          <p:cNvSpPr txBox="1"/>
          <p:nvPr/>
        </p:nvSpPr>
        <p:spPr>
          <a:xfrm>
            <a:off x="4325112" y="1792224"/>
            <a:ext cx="3538728" cy="2660904"/>
          </a:xfrm>
          <a:prstGeom prst="rect">
            <a:avLst/>
          </a:prstGeom>
          <a:solidFill>
            <a:srgbClr val="E8F2FB"/>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1-option-1-number" descr="02"/>
          <p:cNvSpPr txBox="1"/>
          <p:nvPr/>
        </p:nvSpPr>
        <p:spPr>
          <a:xfrm>
            <a:off x="4526280"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02</a:t>
            </a:r>
          </a:p>
        </p:txBody>
      </p:sp>
      <p:sp xmlns:p="http://schemas.openxmlformats.org/presentationml/2006/main" xmlns:a="http://schemas.openxmlformats.org/drawingml/2006/main">
        <p:nvSpPr>
          <p:cNvPr id="900007" name="Story-31-option-1-title" descr="Decision 1"/>
          <p:cNvSpPr txBox="1"/>
          <p:nvPr/>
        </p:nvSpPr>
        <p:spPr>
          <a:xfrm>
            <a:off x="4526280"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Decision 1</a:t>
            </a:r>
          </a:p>
        </p:txBody>
      </p:sp>
      <p:sp xmlns:p="http://schemas.openxmlformats.org/presentationml/2006/main" xmlns:a="http://schemas.openxmlformats.org/drawingml/2006/main">
        <p:nvSpPr>
          <p:cNvPr id="900008" name="Story-31-option-1-body" descr="Supplied candidates&#10;Binary support screening&#10;Select or abstain"/>
          <p:cNvSpPr txBox="1"/>
          <p:nvPr/>
        </p:nvSpPr>
        <p:spPr>
          <a:xfrm>
            <a:off x="4526280"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Supplied candidates</a:t>
            </a:r>
          </a:p>
          <a:p>
            <a:pPr algn="l">
              <a:lnSpc>
                <a:spcPct val="105000"/>
              </a:lnSpc>
              <a:buNone/>
            </a:pPr>
            <a:r>
              <a:rPr lang="en-GB" sz="1700" b="0">
                <a:solidFill>
                  <a:srgbClr val="173F35"/>
                </a:solidFill>
                <a:latin typeface="Arial"/>
              </a:rPr>
              <a:t>Binary support screening</a:t>
            </a:r>
          </a:p>
          <a:p>
            <a:pPr algn="l">
              <a:lnSpc>
                <a:spcPct val="105000"/>
              </a:lnSpc>
              <a:buNone/>
            </a:pPr>
            <a:r>
              <a:rPr lang="en-GB" sz="1700" b="0">
                <a:solidFill>
                  <a:srgbClr val="173F35"/>
                </a:solidFill>
                <a:latin typeface="Arial"/>
              </a:rPr>
              <a:t>Select or abstain</a:t>
            </a:r>
          </a:p>
        </p:txBody>
      </p:sp>
      <p:sp xmlns:p="http://schemas.openxmlformats.org/presentationml/2006/main" xmlns:a="http://schemas.openxmlformats.org/drawingml/2006/main">
        <p:nvSpPr>
          <p:cNvPr id="900009" name="Story-31-option-1-cap" descr="MUST BEAT A PARSER"/>
          <p:cNvSpPr txBox="1"/>
          <p:nvPr/>
        </p:nvSpPr>
        <p:spPr>
          <a:xfrm>
            <a:off x="4526280"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885500"/>
                </a:solidFill>
                <a:latin typeface="Arial"/>
              </a:rPr>
              <a:t>MUST BEAT A PARSER</a:t>
            </a:r>
          </a:p>
        </p:txBody>
      </p:sp>
      <p:sp xmlns:p="http://schemas.openxmlformats.org/presentationml/2006/main" xmlns:a="http://schemas.openxmlformats.org/drawingml/2006/main">
        <p:nvSpPr>
          <p:cNvPr id="900010" name="Story-31-option-2-frame" descr=""/>
          <p:cNvSpPr txBox="1"/>
          <p:nvPr/>
        </p:nvSpPr>
        <p:spPr>
          <a:xfrm>
            <a:off x="8101584" y="1792224"/>
            <a:ext cx="3538728" cy="2660904"/>
          </a:xfrm>
          <a:prstGeom prst="rect">
            <a:avLst/>
          </a:prstGeom>
          <a:solidFill>
            <a:srgbClr val="EFEAF8"/>
          </a:solidFill>
          <a:ln w="15875">
            <a:solidFill>
              <a:srgbClr val="C7D8CF"/>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1-option-2-number" descr="03"/>
          <p:cNvSpPr txBox="1"/>
          <p:nvPr/>
        </p:nvSpPr>
        <p:spPr>
          <a:xfrm>
            <a:off x="8302752" y="2002536"/>
            <a:ext cx="914400"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50655E"/>
                </a:solidFill>
                <a:latin typeface="Arial"/>
              </a:rPr>
              <a:t>03</a:t>
            </a:r>
          </a:p>
        </p:txBody>
      </p:sp>
      <p:sp xmlns:p="http://schemas.openxmlformats.org/presentationml/2006/main" xmlns:a="http://schemas.openxmlformats.org/drawingml/2006/main">
        <p:nvSpPr>
          <p:cNvPr id="900012" name="Story-31-option-2-title" descr="Generative model"/>
          <p:cNvSpPr txBox="1"/>
          <p:nvPr/>
        </p:nvSpPr>
        <p:spPr>
          <a:xfrm>
            <a:off x="8302752" y="2578608"/>
            <a:ext cx="3136392" cy="36576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Generative model</a:t>
            </a:r>
          </a:p>
        </p:txBody>
      </p:sp>
      <p:sp xmlns:p="http://schemas.openxmlformats.org/presentationml/2006/main" xmlns:a="http://schemas.openxmlformats.org/drawingml/2006/main">
        <p:nvSpPr>
          <p:cNvPr id="900013" name="Story-31-option-2-body" descr="Sourced narrative&#10;Permitted evidence only&#10;Human checks meaning"/>
          <p:cNvSpPr txBox="1"/>
          <p:nvPr/>
        </p:nvSpPr>
        <p:spPr>
          <a:xfrm>
            <a:off x="8302752" y="3200400"/>
            <a:ext cx="3136392" cy="8229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Sourced narrative</a:t>
            </a:r>
          </a:p>
          <a:p>
            <a:pPr algn="l">
              <a:lnSpc>
                <a:spcPct val="105000"/>
              </a:lnSpc>
              <a:buNone/>
            </a:pPr>
            <a:r>
              <a:rPr lang="en-GB" sz="1700" b="0">
                <a:solidFill>
                  <a:srgbClr val="173F35"/>
                </a:solidFill>
                <a:latin typeface="Arial"/>
              </a:rPr>
              <a:t>Permitted evidence only</a:t>
            </a:r>
          </a:p>
          <a:p>
            <a:pPr algn="l">
              <a:lnSpc>
                <a:spcPct val="105000"/>
              </a:lnSpc>
              <a:buNone/>
            </a:pPr>
            <a:r>
              <a:rPr lang="en-GB" sz="1700" b="0">
                <a:solidFill>
                  <a:srgbClr val="173F35"/>
                </a:solidFill>
                <a:latin typeface="Arial"/>
              </a:rPr>
              <a:t>Human checks meaning</a:t>
            </a:r>
          </a:p>
        </p:txBody>
      </p:sp>
      <p:sp xmlns:p="http://schemas.openxmlformats.org/presentationml/2006/main" xmlns:a="http://schemas.openxmlformats.org/drawingml/2006/main">
        <p:nvSpPr>
          <p:cNvPr id="900014" name="Story-31-option-2-cap" descr="NOT AN APPROVAL"/>
          <p:cNvSpPr txBox="1"/>
          <p:nvPr/>
        </p:nvSpPr>
        <p:spPr>
          <a:xfrm>
            <a:off x="8302752" y="4087368"/>
            <a:ext cx="3136392" cy="237744"/>
          </a:xfrm>
          <a:prstGeom prst="rect">
            <a:avLst/>
          </a:prstGeom>
          <a:noFill/>
          <a:ln>
            <a:noFill/>
          </a:ln>
        </p:spPr>
        <p:txBody>
          <a:bodyPr wrap="square" lIns="18288" rIns="18288" tIns="9144" bIns="9144" anchor="t">
            <a:noAutofit/>
          </a:bodyPr>
          <a:lstStyle/>
          <a:p>
            <a:pPr algn="l">
              <a:lnSpc>
                <a:spcPct val="105000"/>
              </a:lnSpc>
              <a:buNone/>
            </a:pPr>
            <a:r>
              <a:rPr lang="en-GB" sz="1200" b="1">
                <a:solidFill>
                  <a:srgbClr val="50655E"/>
                </a:solidFill>
                <a:latin typeface="Arial"/>
              </a:rPr>
              <a:t>NOT AN APPROVAL</a:t>
            </a:r>
          </a:p>
        </p:txBody>
      </p:sp>
      <p:sp xmlns:p="http://schemas.openxmlformats.org/presentationml/2006/main" xmlns:a="http://schemas.openxmlformats.org/drawingml/2006/main">
        <p:nvSpPr>
          <p:cNvPr id="900015" name="Story-31-same-test" descr="Same cases. Held-out quality. Total human effort. Latency. Full cost."/>
          <p:cNvSpPr txBox="1"/>
          <p:nvPr/>
        </p:nvSpPr>
        <p:spPr>
          <a:xfrm>
            <a:off x="548640" y="4736592"/>
            <a:ext cx="11091672" cy="347472"/>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Same cases. Held-out quality. Total human effort. Latency. Full cost.</a:t>
            </a:r>
          </a:p>
        </p:txBody>
      </p:sp>
      <p:sp xmlns:p="http://schemas.openxmlformats.org/presentationml/2006/main" xmlns:a="http://schemas.openxmlformats.org/drawingml/2006/main">
        <p:nvSpPr>
          <p:cNvPr id="900016" name="Story-31-integration-not-value-fill" descr=""/>
          <p:cNvSpPr txBox="1"/>
          <p:nvPr/>
        </p:nvSpPr>
        <p:spPr>
          <a:xfrm>
            <a:off x="548640" y="5449824"/>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31-integration-not-value" descr="A successful call proves integration, not lower cost, faster work or calibrated accuracy."/>
          <p:cNvSpPr txBox="1"/>
          <p:nvPr/>
        </p:nvSpPr>
        <p:spPr>
          <a:xfrm>
            <a:off x="749808" y="5568696"/>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A successful call proves integration, not lower cost, faster work or calibrated accuracy.</a:t>
            </a:r>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hlinkClick r:id="rId3" action="ppaction://hlinksldjump"/>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rId3" action="ppaction://hlinksldjump"/>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4"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hlinkClick r:id="rId3" action="ppaction://hlinksldjump"/>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rId3" action="ppaction://hlinksldjump"/>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hlinkClick r:id="rId3" action="ppaction://hlinksldjump"/>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rId3" action="ppaction://hlinksldjump"/>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hlinkClick r:id="rId3" action="ppaction://hlinksldjump"/>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rId3" action="ppaction://hlinksldjump"/>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4"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hlinkClick r:id="rId3" action="ppaction://hlinksldjump"/>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rId3" action="ppaction://hlinksldjump"/>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4"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One controlled API now; split only for measured need.</a:t>
            </a:r>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hlinkClick r:id="rId3" action="ppaction://hlinksldjump"/>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rId3" action="ppaction://hlinksldjump"/>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37-current-scope" descr="CURRENT BOUNDED APP / NOT A CLAIM OF MEASURED PLATFORM SUPERIORITY"/>
          <p:cNvSpPr txBox="1"/>
          <p:nvPr/>
        </p:nvSpPr>
        <p:spPr>
          <a:xfrm>
            <a:off x="548640" y="1664208"/>
            <a:ext cx="11091672" cy="237744"/>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50655E"/>
                </a:solidFill>
                <a:latin typeface="Arial"/>
              </a:rPr>
              <a:t>CURRENT BOUNDED APP / NOT A CLAIM OF MEASURED PLATFORM SUPERIORITY</a:t>
            </a:r>
          </a:p>
        </p:txBody>
      </p:sp>
      <p:sp xmlns:p="http://schemas.openxmlformats.org/presentationml/2006/main" xmlns:a="http://schemas.openxmlformats.org/drawingml/2006/main">
        <p:nvSpPr>
          <p:cNvPr id="900001" name="Story-37-identity-node" descr="ENTRA SIGN-IN&#10;API rechecks scope"/>
          <p:cNvSpPr txBox="1"/>
          <p:nvPr/>
        </p:nvSpPr>
        <p:spPr>
          <a:xfrm>
            <a:off x="548640" y="2295144"/>
            <a:ext cx="3127248" cy="1014984"/>
          </a:xfrm>
          <a:prstGeom prst="rect">
            <a:avLst/>
          </a:prstGeom>
          <a:solidFill>
            <a:srgbClr val="E8F2FB"/>
          </a:solidFill>
          <a:ln w="15875">
            <a:solidFill>
              <a:srgbClr val="173F35"/>
            </a:solidFill>
          </a:ln>
        </p:spPr>
        <p:txBody>
          <a:bodyPr wrap="square" lIns="18288" rIns="18288" tIns="9144" bIns="9144" anchor="ctr">
            <a:noAutofit/>
          </a:bodyPr>
          <a:lstStyle/>
          <a:p>
            <a:pPr algn="ctr">
              <a:lnSpc>
                <a:spcPct val="105000"/>
              </a:lnSpc>
              <a:buNone/>
            </a:pPr>
            <a:r>
              <a:rPr lang="en-GB" sz="2200" b="1">
                <a:solidFill>
                  <a:srgbClr val="173F35"/>
                </a:solidFill>
                <a:latin typeface="Arial"/>
              </a:rPr>
              <a:t>ENTRA SIGN-IN</a:t>
            </a:r>
          </a:p>
          <a:p>
            <a:pPr algn="ctr">
              <a:lnSpc>
                <a:spcPct val="105000"/>
              </a:lnSpc>
              <a:buNone/>
            </a:pPr>
            <a:r>
              <a:rPr lang="en-GB" sz="2200" b="1">
                <a:solidFill>
                  <a:srgbClr val="173F35"/>
                </a:solidFill>
                <a:latin typeface="Arial"/>
              </a:rPr>
              <a:t>API rechecks scope</a:t>
            </a:r>
          </a:p>
        </p:txBody>
      </p:sp>
      <p:sp xmlns:p="http://schemas.openxmlformats.org/presentationml/2006/main" xmlns:a="http://schemas.openxmlformats.org/drawingml/2006/main">
        <p:nvSpPr>
          <p:cNvPr id="900002" name="Story-37-identity-api" descr=""/>
          <p:cNvSpPr txBox="1"/>
          <p:nvPr/>
        </p:nvSpPr>
        <p:spPr>
          <a:xfrm>
            <a:off x="3794760" y="2697480"/>
            <a:ext cx="42062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3" name="Story-37-api-node" descr="CONTAINER APPS API&#10;Workflow + assists"/>
          <p:cNvSpPr txBox="1"/>
          <p:nvPr/>
        </p:nvSpPr>
        <p:spPr>
          <a:xfrm>
            <a:off x="4325112" y="2112264"/>
            <a:ext cx="3127248" cy="1380744"/>
          </a:xfrm>
          <a:prstGeom prst="rect">
            <a:avLst/>
          </a:prstGeom>
          <a:solidFill>
            <a:srgbClr val="173F35"/>
          </a:solidFill>
          <a:ln>
            <a:noFill/>
          </a:ln>
        </p:spPr>
        <p:txBody>
          <a:bodyPr wrap="square" lIns="18288" rIns="18288" tIns="9144" bIns="9144" anchor="ctr">
            <a:noAutofit/>
          </a:bodyPr>
          <a:lstStyle/>
          <a:p>
            <a:pPr algn="ctr">
              <a:lnSpc>
                <a:spcPct val="105000"/>
              </a:lnSpc>
              <a:buNone/>
            </a:pPr>
            <a:r>
              <a:rPr lang="en-GB" sz="2200" b="1">
                <a:solidFill>
                  <a:srgbClr val="FAF9F6"/>
                </a:solidFill>
                <a:latin typeface="Arial"/>
              </a:rPr>
              <a:t>CONTAINER APPS API</a:t>
            </a:r>
          </a:p>
          <a:p>
            <a:pPr algn="ctr">
              <a:lnSpc>
                <a:spcPct val="105000"/>
              </a:lnSpc>
              <a:buNone/>
            </a:pPr>
            <a:r>
              <a:rPr lang="en-GB" sz="2200" b="1">
                <a:solidFill>
                  <a:srgbClr val="FAF9F6"/>
                </a:solidFill>
                <a:latin typeface="Arial"/>
              </a:rPr>
              <a:t>Workflow + assists</a:t>
            </a:r>
          </a:p>
        </p:txBody>
      </p:sp>
      <p:sp xmlns:p="http://schemas.openxmlformats.org/presentationml/2006/main" xmlns:a="http://schemas.openxmlformats.org/drawingml/2006/main">
        <p:nvSpPr>
          <p:cNvPr id="900004" name="Story-37-api-state" descr=""/>
          <p:cNvSpPr txBox="1"/>
          <p:nvPr/>
        </p:nvSpPr>
        <p:spPr>
          <a:xfrm>
            <a:off x="7571232" y="2697480"/>
            <a:ext cx="42062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7-state-node" descr="AZURE SQL + BLOB&#10;State, audit + evidence"/>
          <p:cNvSpPr txBox="1"/>
          <p:nvPr/>
        </p:nvSpPr>
        <p:spPr>
          <a:xfrm>
            <a:off x="8101584" y="2295144"/>
            <a:ext cx="3538728" cy="1014984"/>
          </a:xfrm>
          <a:prstGeom prst="rect">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2200" b="1">
                <a:solidFill>
                  <a:srgbClr val="173F35"/>
                </a:solidFill>
                <a:latin typeface="Arial"/>
              </a:rPr>
              <a:t>AZURE SQL + BLOB</a:t>
            </a:r>
          </a:p>
          <a:p>
            <a:pPr algn="ctr">
              <a:lnSpc>
                <a:spcPct val="105000"/>
              </a:lnSpc>
              <a:buNone/>
            </a:pPr>
            <a:r>
              <a:rPr lang="en-GB" sz="2200" b="1">
                <a:solidFill>
                  <a:srgbClr val="173F35"/>
                </a:solidFill>
                <a:latin typeface="Arial"/>
              </a:rPr>
              <a:t>State, audit + evidence</a:t>
            </a:r>
          </a:p>
        </p:txBody>
      </p:sp>
      <p:sp xmlns:p="http://schemas.openxmlformats.org/presentationml/2006/main" xmlns:a="http://schemas.openxmlformats.org/drawingml/2006/main">
        <p:nvSpPr>
          <p:cNvPr id="900006" name="Story-37-runtime-choice" descr="CONTAINER APPS, NOT AKS"/>
          <p:cNvSpPr txBox="1"/>
          <p:nvPr/>
        </p:nvSpPr>
        <p:spPr>
          <a:xfrm>
            <a:off x="548640" y="3931920"/>
            <a:ext cx="5312664"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CONTAINER APPS, NOT AKS</a:t>
            </a:r>
          </a:p>
        </p:txBody>
      </p:sp>
      <p:sp xmlns:p="http://schemas.openxmlformats.org/presentationml/2006/main" xmlns:a="http://schemas.openxmlformats.org/drawingml/2006/main">
        <p:nvSpPr>
          <p:cNvPr id="900007" name="Story-37-runtime-why" descr="Avoid cluster operations for this bounded app.&#10;Fewer service, retry and state boundaries."/>
          <p:cNvSpPr txBox="1"/>
          <p:nvPr/>
        </p:nvSpPr>
        <p:spPr>
          <a:xfrm>
            <a:off x="548640" y="4416552"/>
            <a:ext cx="5312664"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Avoid cluster operations for this bounded app.</a:t>
            </a:r>
          </a:p>
          <a:p>
            <a:pPr algn="l">
              <a:lnSpc>
                <a:spcPct val="105000"/>
              </a:lnSpc>
              <a:buNone/>
            </a:pPr>
            <a:r>
              <a:rPr lang="en-GB" sz="1800" b="0">
                <a:solidFill>
                  <a:srgbClr val="173F35"/>
                </a:solidFill>
                <a:latin typeface="Arial"/>
              </a:rPr>
              <a:t>Fewer service, retry and state boundaries.</a:t>
            </a:r>
          </a:p>
        </p:txBody>
      </p:sp>
      <p:sp xmlns:p="http://schemas.openxmlformats.org/presentationml/2006/main" xmlns:a="http://schemas.openxmlformats.org/drawingml/2006/main">
        <p:nvSpPr>
          <p:cNvPr id="900008" name="Story-37-storage-choice" descr="SQL STATE; BLOB DOCUMENT BYTES"/>
          <p:cNvSpPr txBox="1"/>
          <p:nvPr/>
        </p:nvSpPr>
        <p:spPr>
          <a:xfrm>
            <a:off x="6327648" y="3931920"/>
            <a:ext cx="5312664" cy="292608"/>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SQL STATE; BLOB DOCUMENT BYTES</a:t>
            </a:r>
          </a:p>
        </p:txBody>
      </p:sp>
      <p:sp xmlns:p="http://schemas.openxmlformats.org/presentationml/2006/main" xmlns:a="http://schemas.openxmlformats.org/drawingml/2006/main">
        <p:nvSpPr>
          <p:cNvPr id="900009" name="Story-37-storage-why" descr="Transactions and versioned reviews in SQL.&#10;Files in Blob; references and hashes in SQL."/>
          <p:cNvSpPr txBox="1"/>
          <p:nvPr/>
        </p:nvSpPr>
        <p:spPr>
          <a:xfrm>
            <a:off x="6327648" y="4416552"/>
            <a:ext cx="5312664"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Transactions and versioned reviews in SQL.</a:t>
            </a:r>
          </a:p>
          <a:p>
            <a:pPr algn="l">
              <a:lnSpc>
                <a:spcPct val="105000"/>
              </a:lnSpc>
              <a:buNone/>
            </a:pPr>
            <a:r>
              <a:rPr lang="en-GB" sz="1800" b="0">
                <a:solidFill>
                  <a:srgbClr val="173F35"/>
                </a:solidFill>
                <a:latin typeface="Arial"/>
              </a:rPr>
              <a:t>Files in Blob; references and hashes in SQL.</a:t>
            </a:r>
          </a:p>
        </p:txBody>
      </p:sp>
      <p:sp xmlns:p="http://schemas.openxmlformats.org/presentationml/2006/main" xmlns:a="http://schemas.openxmlformats.org/drawingml/2006/main">
        <p:nvSpPr>
          <p:cNvPr id="900010" name="Story-37-split-condition-fill" descr=""/>
          <p:cNvSpPr txBox="1"/>
          <p:nvPr/>
        </p:nvSpPr>
        <p:spPr>
          <a:xfrm>
            <a:off x="548640" y="546811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7-split-condition" descr="SPLIT ONLY FOR EVIDENCE  |  Measured isolation, scale or recovery need; not five agents by default."/>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SPLIT ONLY FOR EVIDENCE  |  Measured isolation, scale or recovery need; not five agents by default.</a:t>
            </a:r>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hlinkClick r:id="rId3" action="ppaction://hlinksldjump"/>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rId3" action="ppaction://hlinksldjump"/>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4"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Did you validate this with real residents and staff?</a:t>
            </a:r>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resident journey atlas, 14 Oct / reconciliation 23 Oct; source-linked DT trace, 30 Oct. Hypotheses only.</a:t>
            </a:r>
          </a:p>
        </p:txBody>
      </p:sp>
      <p:sp>
        <p:nvSpPr>
          <p:cNvPr id="4427" name="Footer navigation">
            <a:hlinkClick r:id="rId3" action="ppaction://hlinksldjump"/>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rId3" action="ppaction://hlinksldjump"/>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xmlns:p="http://schemas.openxmlformats.org/presentationml/2006/main" xmlns:a="http://schemas.openxmlformats.org/drawingml/2006/main">
        <p:nvSpPr>
          <p:cNvPr id="900000" name="Story-39-research-answer" descr="Not yet. This is desk-research synthesis, not resident endorsement."/>
          <p:cNvSpPr txBox="1"/>
          <p:nvPr/>
        </p:nvSpPr>
        <p:spPr>
          <a:xfrm>
            <a:off x="548640" y="1563624"/>
            <a:ext cx="11091672" cy="32004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885500"/>
                </a:solidFill>
                <a:latin typeface="Arial"/>
              </a:rPr>
              <a:t>Not yet. This is desk-research synthesis, not resident endorsement.</a:t>
            </a:r>
          </a:p>
        </p:txBody>
      </p:sp>
      <p:sp xmlns:p="http://schemas.openxmlformats.org/presentationml/2006/main" xmlns:a="http://schemas.openxmlformats.org/drawingml/2006/main">
        <p:nvSpPr>
          <p:cNvPr id="900001" name="Story-39-offer-label" descr="ZAVA FORWARD / PROPOSED RESPONSES"/>
          <p:cNvSpPr txBox="1"/>
          <p:nvPr/>
        </p:nvSpPr>
        <p:spPr>
          <a:xfrm>
            <a:off x="548640" y="2048256"/>
            <a:ext cx="4974336"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ZAVA FORWARD / PROPOSED RESPONSES</a:t>
            </a:r>
          </a:p>
        </p:txBody>
      </p:sp>
      <p:sp xmlns:p="http://schemas.openxmlformats.org/presentationml/2006/main" xmlns:a="http://schemas.openxmlformats.org/drawingml/2006/main">
        <p:nvSpPr>
          <p:cNvPr id="900002" name="Story-39-profile-label" descr="RESIDENT / HYPOTHESISED PROFILE"/>
          <p:cNvSpPr txBox="1"/>
          <p:nvPr/>
        </p:nvSpPr>
        <p:spPr>
          <a:xfrm>
            <a:off x="7516368" y="2048256"/>
            <a:ext cx="4123944" cy="24688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RESIDENT / HYPOTHESISED PROFILE</a:t>
            </a:r>
          </a:p>
        </p:txBody>
      </p:sp>
      <p:sp xmlns:p="http://schemas.openxmlformats.org/presentationml/2006/main" xmlns:a="http://schemas.openxmlformats.org/drawingml/2006/main">
        <p:nvSpPr>
          <p:cNvPr id="900003" name="Story-39-value-services-sector" descr=""/>
          <p:cNvSpPr txBox="1"/>
          <p:nvPr/>
        </p:nvSpPr>
        <p:spPr>
          <a:xfrm>
            <a:off x="548640" y="2487168"/>
            <a:ext cx="4974336" cy="3090672"/>
          </a:xfrm>
          <a:custGeom>
            <a:avLst/>
            <a:gdLst/>
            <a:ahLst/>
            <a:cxnLst/>
            <a:rect l="0" t="0" r="w" b="h"/>
            <a:pathLst>
              <a:path w="100000" h="100000">
                <a:moveTo>
                  <a:pt x="0" y="0"/>
                </a:moveTo>
                <a:lnTo>
                  <a:pt x="42000" y="50000"/>
                </a:lnTo>
                <a:lnTo>
                  <a:pt x="0" y="100000"/>
                </a:lnTo>
                <a:close/>
              </a:path>
            </a:pathLst>
          </a:cu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9-value-gain-sector" descr=""/>
          <p:cNvSpPr txBox="1"/>
          <p:nvPr/>
        </p:nvSpPr>
        <p:spPr>
          <a:xfrm>
            <a:off x="548640" y="2487168"/>
            <a:ext cx="4974336" cy="3090672"/>
          </a:xfrm>
          <a:custGeom>
            <a:avLst/>
            <a:gdLst/>
            <a:ahLst/>
            <a:cxnLst/>
            <a:rect l="0" t="0" r="w" b="h"/>
            <a:pathLst>
              <a:path w="100000" h="100000">
                <a:moveTo>
                  <a:pt x="0" y="0"/>
                </a:moveTo>
                <a:lnTo>
                  <a:pt x="100000" y="0"/>
                </a:lnTo>
                <a:lnTo>
                  <a:pt x="100000" y="50000"/>
                </a:lnTo>
                <a:lnTo>
                  <a:pt x="42000" y="50000"/>
                </a:lnTo>
                <a:close/>
              </a:path>
            </a:pathLst>
          </a:custGeom>
          <a:solidFill>
            <a:srgbClr val="F0F5F1"/>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9-value-pain-sector" descr=""/>
          <p:cNvSpPr txBox="1"/>
          <p:nvPr/>
        </p:nvSpPr>
        <p:spPr>
          <a:xfrm>
            <a:off x="548640" y="2487168"/>
            <a:ext cx="4974336" cy="3090672"/>
          </a:xfrm>
          <a:custGeom>
            <a:avLst/>
            <a:gdLst/>
            <a:ahLst/>
            <a:cxnLst/>
            <a:rect l="0" t="0" r="w" b="h"/>
            <a:pathLst>
              <a:path w="100000" h="100000">
                <a:moveTo>
                  <a:pt x="42000" y="50000"/>
                </a:moveTo>
                <a:lnTo>
                  <a:pt x="100000" y="50000"/>
                </a:lnTo>
                <a:lnTo>
                  <a:pt x="100000" y="100000"/>
                </a:lnTo>
                <a:lnTo>
                  <a:pt x="0" y="100000"/>
                </a:lnTo>
                <a:close/>
              </a:path>
            </a:pathLst>
          </a:cu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9-services-label" descr="PRODUCTS /&#10;SERVICES"/>
          <p:cNvSpPr txBox="1"/>
          <p:nvPr/>
        </p:nvSpPr>
        <p:spPr>
          <a:xfrm>
            <a:off x="731520" y="3410712"/>
            <a:ext cx="1508760" cy="512064"/>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PRODUCTS /</a:t>
            </a:r>
          </a:p>
          <a:p>
            <a:pPr algn="l">
              <a:lnSpc>
                <a:spcPct val="105000"/>
              </a:lnSpc>
              <a:buNone/>
            </a:pPr>
            <a:r>
              <a:rPr lang="en-GB" sz="1300" b="1">
                <a:solidFill>
                  <a:srgbClr val="173F35"/>
                </a:solidFill>
                <a:latin typeface="Arial"/>
              </a:rPr>
              <a:t>SERVICES</a:t>
            </a:r>
          </a:p>
        </p:txBody>
      </p:sp>
      <p:sp xmlns:p="http://schemas.openxmlformats.org/presentationml/2006/main" xmlns:a="http://schemas.openxmlformats.org/drawingml/2006/main">
        <p:nvSpPr>
          <p:cNvPr id="900007" name="Story-39-services-text" descr="Owned case&#10;Visit + help"/>
          <p:cNvSpPr txBox="1"/>
          <p:nvPr/>
        </p:nvSpPr>
        <p:spPr>
          <a:xfrm>
            <a:off x="731520" y="4087368"/>
            <a:ext cx="1371600" cy="59436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Owned case</a:t>
            </a:r>
          </a:p>
          <a:p>
            <a:pPr algn="l">
              <a:lnSpc>
                <a:spcPct val="105000"/>
              </a:lnSpc>
              <a:buNone/>
            </a:pPr>
            <a:r>
              <a:rPr lang="en-GB" sz="1500" b="0">
                <a:solidFill>
                  <a:srgbClr val="173F35"/>
                </a:solidFill>
                <a:latin typeface="Arial"/>
              </a:rPr>
              <a:t>Visit + help</a:t>
            </a:r>
          </a:p>
        </p:txBody>
      </p:sp>
      <p:sp xmlns:p="http://schemas.openxmlformats.org/presentationml/2006/main" xmlns:a="http://schemas.openxmlformats.org/drawingml/2006/main">
        <p:nvSpPr>
          <p:cNvPr id="900008" name="Story-39-gain-creators-label" descr="GAIN CREATORS"/>
          <p:cNvSpPr txBox="1"/>
          <p:nvPr/>
        </p:nvSpPr>
        <p:spPr>
          <a:xfrm>
            <a:off x="2743200" y="2752344"/>
            <a:ext cx="2505456" cy="27432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GAIN CREATORS</a:t>
            </a:r>
          </a:p>
        </p:txBody>
      </p:sp>
      <p:sp xmlns:p="http://schemas.openxmlformats.org/presentationml/2006/main" xmlns:a="http://schemas.openxmlformats.org/drawingml/2006/main">
        <p:nvSpPr>
          <p:cNvPr id="900009" name="Story-39-gain-creators-text" descr="Scope-specific choice&#10;Agreed arrangements"/>
          <p:cNvSpPr txBox="1"/>
          <p:nvPr/>
        </p:nvSpPr>
        <p:spPr>
          <a:xfrm>
            <a:off x="2743200" y="3246120"/>
            <a:ext cx="2505456" cy="649224"/>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Scope-specific choice</a:t>
            </a:r>
          </a:p>
          <a:p>
            <a:pPr algn="l">
              <a:lnSpc>
                <a:spcPct val="105000"/>
              </a:lnSpc>
              <a:buNone/>
            </a:pPr>
            <a:r>
              <a:rPr lang="en-GB" sz="1700" b="0">
                <a:solidFill>
                  <a:srgbClr val="173F35"/>
                </a:solidFill>
                <a:latin typeface="Arial"/>
              </a:rPr>
              <a:t>Agreed arrangements</a:t>
            </a:r>
          </a:p>
        </p:txBody>
      </p:sp>
      <p:sp xmlns:p="http://schemas.openxmlformats.org/presentationml/2006/main" xmlns:a="http://schemas.openxmlformats.org/drawingml/2006/main">
        <p:nvSpPr>
          <p:cNvPr id="900010" name="Story-39-pain-relievers-label" descr="PAIN RELIEVERS"/>
          <p:cNvSpPr txBox="1"/>
          <p:nvPr/>
        </p:nvSpPr>
        <p:spPr>
          <a:xfrm>
            <a:off x="2743200" y="4251960"/>
            <a:ext cx="2505456" cy="274320"/>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PAIN RELIEVERS</a:t>
            </a:r>
          </a:p>
        </p:txBody>
      </p:sp>
      <p:sp xmlns:p="http://schemas.openxmlformats.org/presentationml/2006/main" xmlns:a="http://schemas.openxmlformats.org/drawingml/2006/main">
        <p:nvSpPr>
          <p:cNvPr id="900011" name="Story-39-pain-relievers-text" descr="One named contact&#10;Visible open remedies"/>
          <p:cNvSpPr txBox="1"/>
          <p:nvPr/>
        </p:nvSpPr>
        <p:spPr>
          <a:xfrm>
            <a:off x="2743200" y="4745736"/>
            <a:ext cx="2505456" cy="65836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One named contact</a:t>
            </a:r>
          </a:p>
          <a:p>
            <a:pPr algn="l">
              <a:lnSpc>
                <a:spcPct val="105000"/>
              </a:lnSpc>
              <a:buNone/>
            </a:pPr>
            <a:r>
              <a:rPr lang="en-GB" sz="1700" b="0">
                <a:solidFill>
                  <a:srgbClr val="173F35"/>
                </a:solidFill>
                <a:latin typeface="Arial"/>
              </a:rPr>
              <a:t>Visible open remedies</a:t>
            </a:r>
          </a:p>
        </p:txBody>
      </p:sp>
      <p:sp xmlns:p="http://schemas.openxmlformats.org/presentationml/2006/main" xmlns:a="http://schemas.openxmlformats.org/drawingml/2006/main">
        <p:nvSpPr>
          <p:cNvPr id="900012" name="Story-39-fit-arrow" descr=""/>
          <p:cNvSpPr txBox="1"/>
          <p:nvPr/>
        </p:nvSpPr>
        <p:spPr>
          <a:xfrm>
            <a:off x="5751576" y="3785616"/>
            <a:ext cx="1389888" cy="201168"/>
          </a:xfrm>
          <a:prstGeom prst="rightArrow">
            <a:avLst/>
          </a:prstGeom>
          <a:solidFill>
            <a:srgbClr val="D8AC4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39-fit-label" descr="FIT TO TEST"/>
          <p:cNvSpPr txBox="1"/>
          <p:nvPr/>
        </p:nvSpPr>
        <p:spPr>
          <a:xfrm>
            <a:off x="5632704" y="3200400"/>
            <a:ext cx="1618488" cy="283464"/>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FIT TO TEST</a:t>
            </a:r>
          </a:p>
        </p:txBody>
      </p:sp>
      <p:sp xmlns:p="http://schemas.openxmlformats.org/presentationml/2006/main" xmlns:a="http://schemas.openxmlformats.org/drawingml/2006/main">
        <p:nvSpPr>
          <p:cNvPr id="900014" name="Story-39-fit-qualifier" descr="Not proven&#10;benefit"/>
          <p:cNvSpPr txBox="1"/>
          <p:nvPr/>
        </p:nvSpPr>
        <p:spPr>
          <a:xfrm>
            <a:off x="5632704" y="4352544"/>
            <a:ext cx="1618488" cy="576072"/>
          </a:xfrm>
          <a:prstGeom prst="rect">
            <a:avLst/>
          </a:prstGeom>
          <a:noFill/>
          <a:ln>
            <a:noFill/>
          </a:ln>
        </p:spPr>
        <p:txBody>
          <a:bodyPr wrap="square" lIns="18288" rIns="18288" tIns="9144" bIns="9144" anchor="t">
            <a:noAutofit/>
          </a:bodyPr>
          <a:lstStyle/>
          <a:p>
            <a:pPr algn="ctr">
              <a:lnSpc>
                <a:spcPct val="105000"/>
              </a:lnSpc>
              <a:buNone/>
            </a:pPr>
            <a:r>
              <a:rPr lang="en-GB" sz="1400" b="0">
                <a:solidFill>
                  <a:srgbClr val="50655E"/>
                </a:solidFill>
                <a:latin typeface="Arial"/>
              </a:rPr>
              <a:t>Not proven</a:t>
            </a:r>
          </a:p>
          <a:p>
            <a:pPr algn="ctr">
              <a:lnSpc>
                <a:spcPct val="105000"/>
              </a:lnSpc>
              <a:buNone/>
            </a:pPr>
            <a:r>
              <a:rPr lang="en-GB" sz="1400" b="0">
                <a:solidFill>
                  <a:srgbClr val="50655E"/>
                </a:solidFill>
                <a:latin typeface="Arial"/>
              </a:rPr>
              <a:t>benefit</a:t>
            </a:r>
          </a:p>
        </p:txBody>
      </p:sp>
      <p:sp xmlns:p="http://schemas.openxmlformats.org/presentationml/2006/main" xmlns:a="http://schemas.openxmlformats.org/drawingml/2006/main">
        <p:nvSpPr>
          <p:cNvPr id="900015" name="Story-39-customer-gains-sector" descr=""/>
          <p:cNvSpPr txBox="1"/>
          <p:nvPr/>
        </p:nvSpPr>
        <p:spPr>
          <a:xfrm>
            <a:off x="7772400" y="2286000"/>
            <a:ext cx="3547872" cy="3547872"/>
          </a:xfrm>
          <a:prstGeom prst="pie">
            <a:avLst>
              <a:gd name="adj1" fmla="val 10800000"/>
              <a:gd name="adj2" fmla="val 18900000"/>
            </a:avLst>
          </a:prstGeom>
          <a:solidFill>
            <a:srgbClr val="E8F1ED"/>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6" name="Story-39-customer-pains-sector" descr=""/>
          <p:cNvSpPr txBox="1"/>
          <p:nvPr/>
        </p:nvSpPr>
        <p:spPr>
          <a:xfrm>
            <a:off x="7772400" y="2286000"/>
            <a:ext cx="3547872" cy="3547872"/>
          </a:xfrm>
          <a:prstGeom prst="pie">
            <a:avLst>
              <a:gd name="adj1" fmla="val 2700000"/>
              <a:gd name="adj2" fmla="val 10800000"/>
            </a:avLst>
          </a:prstGeom>
          <a:solidFill>
            <a:srgbClr val="FFF1D6"/>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39-customer-jobs-sector" descr=""/>
          <p:cNvSpPr txBox="1"/>
          <p:nvPr/>
        </p:nvSpPr>
        <p:spPr>
          <a:xfrm>
            <a:off x="7772400" y="2286000"/>
            <a:ext cx="3547872" cy="3547872"/>
          </a:xfrm>
          <a:prstGeom prst="pie">
            <a:avLst>
              <a:gd name="adj1" fmla="val 18900000"/>
              <a:gd name="adj2" fmla="val 2700000"/>
            </a:avLst>
          </a:prstGeom>
          <a:solidFill>
            <a:srgbClr val="F0F5F1"/>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39-gains-label" descr="GAINS SOUGHT"/>
          <p:cNvSpPr txBox="1"/>
          <p:nvPr/>
        </p:nvSpPr>
        <p:spPr>
          <a:xfrm>
            <a:off x="8321040" y="2752344"/>
            <a:ext cx="1700784" cy="27432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173F35"/>
                </a:solidFill>
                <a:latin typeface="Arial"/>
              </a:rPr>
              <a:t>GAINS SOUGHT</a:t>
            </a:r>
          </a:p>
        </p:txBody>
      </p:sp>
      <p:sp xmlns:p="http://schemas.openxmlformats.org/presentationml/2006/main" xmlns:a="http://schemas.openxmlformats.org/drawingml/2006/main">
        <p:nvSpPr>
          <p:cNvPr id="900019" name="Story-39-gains-text" descr="Meaningful choice&#10;Owned aftercare"/>
          <p:cNvSpPr txBox="1"/>
          <p:nvPr/>
        </p:nvSpPr>
        <p:spPr>
          <a:xfrm>
            <a:off x="8321040" y="3264408"/>
            <a:ext cx="1737360" cy="621792"/>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Meaningful choice</a:t>
            </a:r>
          </a:p>
          <a:p>
            <a:pPr algn="l">
              <a:lnSpc>
                <a:spcPct val="105000"/>
              </a:lnSpc>
              <a:buNone/>
            </a:pPr>
            <a:r>
              <a:rPr lang="en-GB" sz="1500" b="0">
                <a:solidFill>
                  <a:srgbClr val="173F35"/>
                </a:solidFill>
                <a:latin typeface="Arial"/>
              </a:rPr>
              <a:t>Owned aftercare</a:t>
            </a:r>
          </a:p>
        </p:txBody>
      </p:sp>
      <p:sp xmlns:p="http://schemas.openxmlformats.org/presentationml/2006/main" xmlns:a="http://schemas.openxmlformats.org/drawingml/2006/main">
        <p:nvSpPr>
          <p:cNvPr id="900020" name="Story-39-pains-label" descr="PAINS TO TEST"/>
          <p:cNvSpPr txBox="1"/>
          <p:nvPr/>
        </p:nvSpPr>
        <p:spPr>
          <a:xfrm>
            <a:off x="8321040" y="4343400"/>
            <a:ext cx="1700784" cy="274320"/>
          </a:xfrm>
          <a:prstGeom prst="rect">
            <a:avLst/>
          </a:prstGeom>
          <a:noFill/>
          <a:ln>
            <a:noFill/>
          </a:ln>
        </p:spPr>
        <p:txBody>
          <a:bodyPr wrap="square" lIns="18288" rIns="18288" tIns="9144" bIns="9144" anchor="t">
            <a:noAutofit/>
          </a:bodyPr>
          <a:lstStyle/>
          <a:p>
            <a:pPr algn="l">
              <a:lnSpc>
                <a:spcPct val="105000"/>
              </a:lnSpc>
              <a:buNone/>
            </a:pPr>
            <a:r>
              <a:rPr lang="en-GB" sz="1300" b="1">
                <a:solidFill>
                  <a:srgbClr val="885500"/>
                </a:solidFill>
                <a:latin typeface="Arial"/>
              </a:rPr>
              <a:t>PAINS TO TEST</a:t>
            </a:r>
          </a:p>
        </p:txBody>
      </p:sp>
      <p:sp xmlns:p="http://schemas.openxmlformats.org/presentationml/2006/main" xmlns:a="http://schemas.openxmlformats.org/drawingml/2006/main">
        <p:nvSpPr>
          <p:cNvPr id="900021" name="Story-39-pains-text" descr="Repeating a story&#10;Pressure to agree"/>
          <p:cNvSpPr txBox="1"/>
          <p:nvPr/>
        </p:nvSpPr>
        <p:spPr>
          <a:xfrm>
            <a:off x="8321040" y="4736592"/>
            <a:ext cx="1737360" cy="585216"/>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Repeating a story</a:t>
            </a:r>
          </a:p>
          <a:p>
            <a:pPr algn="l">
              <a:lnSpc>
                <a:spcPct val="105000"/>
              </a:lnSpc>
              <a:buNone/>
            </a:pPr>
            <a:r>
              <a:rPr lang="en-GB" sz="1500" b="0">
                <a:solidFill>
                  <a:srgbClr val="173F35"/>
                </a:solidFill>
                <a:latin typeface="Arial"/>
              </a:rPr>
              <a:t>Pressure to agree</a:t>
            </a:r>
          </a:p>
        </p:txBody>
      </p:sp>
      <p:sp xmlns:p="http://schemas.openxmlformats.org/presentationml/2006/main" xmlns:a="http://schemas.openxmlformats.org/drawingml/2006/main">
        <p:nvSpPr>
          <p:cNvPr id="900022" name="Story-39-jobs-label" descr="JOBS"/>
          <p:cNvSpPr txBox="1"/>
          <p:nvPr/>
        </p:nvSpPr>
        <p:spPr>
          <a:xfrm>
            <a:off x="10186416" y="3575304"/>
            <a:ext cx="1124712" cy="27432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JOBS</a:t>
            </a:r>
          </a:p>
        </p:txBody>
      </p:sp>
      <p:sp xmlns:p="http://schemas.openxmlformats.org/presentationml/2006/main" xmlns:a="http://schemas.openxmlformats.org/drawingml/2006/main">
        <p:nvSpPr>
          <p:cNvPr id="900023" name="Story-39-jobs-text" descr="Choose works&#10;Keep routines&#10;Use / query"/>
          <p:cNvSpPr txBox="1"/>
          <p:nvPr/>
        </p:nvSpPr>
        <p:spPr>
          <a:xfrm>
            <a:off x="9985248" y="3877056"/>
            <a:ext cx="1298448" cy="768096"/>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Choose works</a:t>
            </a:r>
          </a:p>
          <a:p>
            <a:pPr algn="l">
              <a:lnSpc>
                <a:spcPct val="105000"/>
              </a:lnSpc>
              <a:buNone/>
            </a:pPr>
            <a:r>
              <a:rPr lang="en-GB" sz="1400" b="0">
                <a:solidFill>
                  <a:srgbClr val="173F35"/>
                </a:solidFill>
                <a:latin typeface="Arial"/>
              </a:rPr>
              <a:t>Keep routines</a:t>
            </a:r>
          </a:p>
          <a:p>
            <a:pPr algn="l">
              <a:lnSpc>
                <a:spcPct val="105000"/>
              </a:lnSpc>
              <a:buNone/>
            </a:pPr>
            <a:r>
              <a:rPr lang="en-GB" sz="1400" b="0">
                <a:solidFill>
                  <a:srgbClr val="173F35"/>
                </a:solidFill>
                <a:latin typeface="Arial"/>
              </a:rPr>
              <a:t>Use / query</a:t>
            </a:r>
          </a:p>
        </p:txBody>
      </p:sp>
      <p:sp xmlns:p="http://schemas.openxmlformats.org/presentationml/2006/main" xmlns:a="http://schemas.openxmlformats.org/drawingml/2006/main">
        <p:nvSpPr>
          <p:cNvPr id="900024" name="Story-39-profile-centre" descr=""/>
          <p:cNvSpPr txBox="1"/>
          <p:nvPr/>
        </p:nvSpPr>
        <p:spPr>
          <a:xfrm>
            <a:off x="9363456" y="3877056"/>
            <a:ext cx="365760" cy="365760"/>
          </a:xfrm>
          <a:prstGeom prst="ellipse">
            <a:avLst/>
          </a:prstGeom>
          <a:solidFill>
            <a:srgbClr val="FAF9F6"/>
          </a:solidFill>
          <a:ln w="15875">
            <a:solidFill>
              <a:srgbClr val="173F35"/>
            </a:solid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5" name="Story-39-next-validation" descr="Next: direct task and comprehension tests, assisted routes, real handoffs and total effort."/>
          <p:cNvSpPr txBox="1"/>
          <p:nvPr/>
        </p:nvSpPr>
        <p:spPr>
          <a:xfrm>
            <a:off x="548640" y="5870448"/>
            <a:ext cx="11091672" cy="22860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Next: direct task and comprehension tests, assisted routes, real handoffs and total effort.</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hlinkClick r:id="rId3" action="ppaction://hlinksldjump"/>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rId3" action="ppaction://hlinksldjump"/>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BRD / PRD</a:t>
            </a:r>
          </a:p>
        </p:txBody>
      </p:sp>
      <p:sp>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Epic #73</a:t>
            </a:r>
          </a:p>
        </p:txBody>
      </p:sp>
      <p:sp>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Feature #76</a:t>
            </a:r>
          </a:p>
        </p:txBody>
      </p:sp>
      <p:sp>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Story #77</a:t>
            </a:r>
          </a:p>
        </p:txBody>
      </p:sp>
      <p:sp>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PR #376</a:t>
            </a:r>
          </a:p>
        </p:txBody>
      </p:sp>
      <p:sp>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tIns="9144" rIns="18288" bIns="9144" anchor="t">
            <a:noAutofit/>
          </a:bodyPr>
          <a:lstStyle/>
          <a:p>
            <a:pPr algn="l">
              <a:lnSpc>
                <a:spcPct val="105000"/>
              </a:lnSpc>
              <a:buNone/>
            </a:pPr>
            <a:r>
              <a:rPr lang="en-GB" sz="1400" b="0" dirty="0">
                <a:solidFill>
                  <a:srgbClr val="173F35"/>
                </a:solidFill>
                <a:latin typeface="Arial"/>
              </a:rPr>
              <a:t>PR evidence is not whole-journey acceptance. HVE has human stops; the coordinator was owner-designed.</a:t>
            </a:r>
          </a:p>
        </p:txBody>
      </p:sp>
      <p:sp>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p:nvSpPr>
          <p:cNvPr id="900008" name="Story-40-arm-a-bg"/>
          <p:cNvSpPr txBox="1"/>
          <p:nvPr/>
        </p:nvSpPr>
        <p:spPr>
          <a:xfrm>
            <a:off x="548640"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9" name="Story-40-arm-b-bg"/>
          <p:cNvSpPr txBox="1"/>
          <p:nvPr/>
        </p:nvSpPr>
        <p:spPr>
          <a:xfrm>
            <a:off x="4361688"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0" name="Story-40-arm-c-bg"/>
          <p:cNvSpPr txBox="1"/>
          <p:nvPr/>
        </p:nvSpPr>
        <p:spPr>
          <a:xfrm>
            <a:off x="8174736" y="3456432"/>
            <a:ext cx="3465576"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1" name="Story-40-arm-a" descr="A / Feature only"/>
          <p:cNvSpPr txBox="1"/>
          <p:nvPr/>
        </p:nvSpPr>
        <p:spPr>
          <a:xfrm>
            <a:off x="731520"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A / Feature only</a:t>
            </a:r>
          </a:p>
        </p:txBody>
      </p:sp>
      <p:sp>
        <p:nvSpPr>
          <p:cNvPr id="900012" name="Story-40-arm-a-detail" descr="No extra review budget"/>
          <p:cNvSpPr txBox="1"/>
          <p:nvPr/>
        </p:nvSpPr>
        <p:spPr>
          <a:xfrm>
            <a:off x="731520"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No extra review budget</a:t>
            </a:r>
          </a:p>
        </p:txBody>
      </p:sp>
      <p:sp>
        <p:nvSpPr>
          <p:cNvPr id="900013" name="Story-40-arm-b" descr="B / Consolidate"/>
          <p:cNvSpPr txBox="1"/>
          <p:nvPr/>
        </p:nvSpPr>
        <p:spPr>
          <a:xfrm>
            <a:off x="4544568"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B / Consolidate</a:t>
            </a:r>
          </a:p>
        </p:txBody>
      </p:sp>
      <p:sp>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Review / refactor + tests / note</a:t>
            </a:r>
          </a:p>
        </p:txBody>
      </p:sp>
      <p:sp>
        <p:nvSpPr>
          <p:cNvPr id="900015" name="Story-40-arm-c" descr="C / Read-only review"/>
          <p:cNvSpPr txBox="1"/>
          <p:nvPr/>
        </p:nvSpPr>
        <p:spPr>
          <a:xfrm>
            <a:off x="8357616" y="3611880"/>
            <a:ext cx="3099816"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C / Read-only review</a:t>
            </a:r>
          </a:p>
        </p:txBody>
      </p:sp>
      <p:sp>
        <p:nvSpPr>
          <p:cNvPr id="900016" name="Story-40-arm-c-detail" descr="Same extra budget as B"/>
          <p:cNvSpPr txBox="1"/>
          <p:nvPr/>
        </p:nvSpPr>
        <p:spPr>
          <a:xfrm>
            <a:off x="8357616" y="4105656"/>
            <a:ext cx="3099816"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Same extra budget as B</a:t>
            </a:r>
          </a:p>
        </p:txBody>
      </p:sp>
      <p:sp>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hlinkClick r:id="rId3" action="ppaction://hlinksldjump"/>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rId3" action="ppaction://hlinksldjump"/>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4"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hlinkClick r:id="rId3" action="ppaction://hlinksldjump"/>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rId3" action="ppaction://hlinksldjump"/>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4"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hlinkClick r:id="rId3" action="ppaction://hlinksldjump"/>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rId3" action="ppaction://hlinksldjump"/>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4"/>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5"/>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6"/>
          <a:stretch>
            <a:fillRect/>
          </a:stretch>
        </p:blipFill>
        <p:spPr>
          <a:xfrm>
            <a:off x="8282940" y="1935480"/>
            <a:ext cx="384048" cy="384048"/>
          </a:xfrm>
          <a:prstGeom prst="rect">
            <a:avLst/>
          </a:prstGeom>
        </p:spPr>
      </p:pic>
      <p:sp>
        <p:nvSpPr>
          <p:cNvPr id="2" name="Appendix topic destination">
            <a:hlinkClick r:id="rId7"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hlinkClick r:id="rId3" action="ppaction://hlinksldjump"/>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rId3" action="ppaction://hlinksldjump"/>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4"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hlinkClick r:id="rId3" action="ppaction://hlinksldjump"/>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rId3" action="ppaction://hlinksldjump"/>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4"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Device intake is not a diagnosis or safety decision.</a:t>
            </a:r>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hlinkClick r:id="rId3" action="ppaction://hlinksldjump"/>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rId3" action="ppaction://hlinksldjump"/>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6"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46-iot-status" descr="SOURCE-ONLY TARGET FLOW / LIVE END-TO-END HUB + SQL ACCEPTANCE UNPROVED"/>
          <p:cNvSpPr txBox="1"/>
          <p:nvPr/>
        </p:nvSpPr>
        <p:spPr>
          <a:xfrm>
            <a:off x="548640" y="1655064"/>
            <a:ext cx="11091672" cy="265176"/>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SOURCE-ONLY TARGET FLOW / LIVE END-TO-END HUB + SQL ACCEPTANCE UNPROVED</a:t>
            </a:r>
          </a:p>
        </p:txBody>
      </p:sp>
      <p:sp xmlns:p="http://schemas.openxmlformats.org/presentationml/2006/main" xmlns:a="http://schemas.openxmlformats.org/drawingml/2006/main">
        <p:nvSpPr>
          <p:cNvPr id="900001" name="Story-46-intake-0-number" descr="01"/>
          <p:cNvSpPr txBox="1"/>
          <p:nvPr/>
        </p:nvSpPr>
        <p:spPr>
          <a:xfrm>
            <a:off x="1271016" y="2194560"/>
            <a:ext cx="585216" cy="58521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01</a:t>
            </a:r>
          </a:p>
        </p:txBody>
      </p:sp>
      <p:sp xmlns:p="http://schemas.openxmlformats.org/presentationml/2006/main" xmlns:a="http://schemas.openxmlformats.org/drawingml/2006/main">
        <p:nvSpPr>
          <p:cNvPr id="900002" name="Story-46-intake-0-title" descr="Synthetic&#10;device"/>
          <p:cNvSpPr txBox="1"/>
          <p:nvPr/>
        </p:nvSpPr>
        <p:spPr>
          <a:xfrm>
            <a:off x="548640"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Synthetic</a:t>
            </a:r>
          </a:p>
          <a:p>
            <a:pPr algn="ctr">
              <a:lnSpc>
                <a:spcPct val="105000"/>
              </a:lnSpc>
              <a:buNone/>
            </a:pPr>
            <a:r>
              <a:rPr lang="en-GB" sz="2200" b="1">
                <a:solidFill>
                  <a:srgbClr val="173F35"/>
                </a:solidFill>
                <a:latin typeface="Arial"/>
              </a:rPr>
              <a:t>device</a:t>
            </a:r>
          </a:p>
        </p:txBody>
      </p:sp>
      <p:sp xmlns:p="http://schemas.openxmlformats.org/presentationml/2006/main" xmlns:a="http://schemas.openxmlformats.org/drawingml/2006/main">
        <p:nvSpPr>
          <p:cNvPr id="900003" name="Story-46-intake-0-body" descr="Exact binding&#10;Stable reading ID"/>
          <p:cNvSpPr txBox="1"/>
          <p:nvPr/>
        </p:nvSpPr>
        <p:spPr>
          <a:xfrm>
            <a:off x="548640"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Exact binding</a:t>
            </a:r>
          </a:p>
          <a:p>
            <a:pPr algn="ctr">
              <a:lnSpc>
                <a:spcPct val="105000"/>
              </a:lnSpc>
              <a:buNone/>
            </a:pPr>
            <a:r>
              <a:rPr lang="en-GB" sz="1500" b="0">
                <a:solidFill>
                  <a:srgbClr val="50655E"/>
                </a:solidFill>
                <a:latin typeface="Arial"/>
              </a:rPr>
              <a:t>Stable reading ID</a:t>
            </a:r>
          </a:p>
        </p:txBody>
      </p:sp>
      <p:sp xmlns:p="http://schemas.openxmlformats.org/presentationml/2006/main" xmlns:a="http://schemas.openxmlformats.org/drawingml/2006/main">
        <p:nvSpPr>
          <p:cNvPr id="900004" name="Story-46-intake-0-arrow" descr=""/>
          <p:cNvSpPr txBox="1"/>
          <p:nvPr/>
        </p:nvSpPr>
        <p:spPr>
          <a:xfrm>
            <a:off x="2542032"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6-intake-1-number" descr="02"/>
          <p:cNvSpPr txBox="1"/>
          <p:nvPr/>
        </p:nvSpPr>
        <p:spPr>
          <a:xfrm>
            <a:off x="3538728" y="2194560"/>
            <a:ext cx="585216" cy="58521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02</a:t>
            </a:r>
          </a:p>
        </p:txBody>
      </p:sp>
      <p:sp xmlns:p="http://schemas.openxmlformats.org/presentationml/2006/main" xmlns:a="http://schemas.openxmlformats.org/drawingml/2006/main">
        <p:nvSpPr>
          <p:cNvPr id="900006" name="Story-46-intake-1-title" descr="IoT Hub&#10;Basic"/>
          <p:cNvSpPr txBox="1"/>
          <p:nvPr/>
        </p:nvSpPr>
        <p:spPr>
          <a:xfrm>
            <a:off x="2816352"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IoT Hub</a:t>
            </a:r>
          </a:p>
          <a:p>
            <a:pPr algn="ctr">
              <a:lnSpc>
                <a:spcPct val="105000"/>
              </a:lnSpc>
              <a:buNone/>
            </a:pPr>
            <a:r>
              <a:rPr lang="en-GB" sz="2200" b="1">
                <a:solidFill>
                  <a:srgbClr val="173F35"/>
                </a:solidFill>
                <a:latin typeface="Arial"/>
              </a:rPr>
              <a:t>Basic</a:t>
            </a:r>
          </a:p>
        </p:txBody>
      </p:sp>
      <p:sp xmlns:p="http://schemas.openxmlformats.org/presentationml/2006/main" xmlns:a="http://schemas.openxmlformats.org/drawingml/2006/main">
        <p:nvSpPr>
          <p:cNvPr id="900007" name="Story-46-intake-1-body" descr="Device boundary&#10;One-way intake"/>
          <p:cNvSpPr txBox="1"/>
          <p:nvPr/>
        </p:nvSpPr>
        <p:spPr>
          <a:xfrm>
            <a:off x="2816352"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Device boundary</a:t>
            </a:r>
          </a:p>
          <a:p>
            <a:pPr algn="ctr">
              <a:lnSpc>
                <a:spcPct val="105000"/>
              </a:lnSpc>
              <a:buNone/>
            </a:pPr>
            <a:r>
              <a:rPr lang="en-GB" sz="1500" b="0">
                <a:solidFill>
                  <a:srgbClr val="50655E"/>
                </a:solidFill>
                <a:latin typeface="Arial"/>
              </a:rPr>
              <a:t>One-way intake</a:t>
            </a:r>
          </a:p>
        </p:txBody>
      </p:sp>
      <p:sp xmlns:p="http://schemas.openxmlformats.org/presentationml/2006/main" xmlns:a="http://schemas.openxmlformats.org/drawingml/2006/main">
        <p:nvSpPr>
          <p:cNvPr id="900008" name="Story-46-intake-1-arrow" descr=""/>
          <p:cNvSpPr txBox="1"/>
          <p:nvPr/>
        </p:nvSpPr>
        <p:spPr>
          <a:xfrm>
            <a:off x="4809744"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6-intake-2-number" descr="03"/>
          <p:cNvSpPr txBox="1"/>
          <p:nvPr/>
        </p:nvSpPr>
        <p:spPr>
          <a:xfrm>
            <a:off x="5806440" y="2194560"/>
            <a:ext cx="585216" cy="585216"/>
          </a:xfrm>
          <a:prstGeom prst="ellipse">
            <a:avLst/>
          </a:prstGeom>
          <a:solidFill>
            <a:srgbClr val="FFF1D6"/>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03</a:t>
            </a:r>
          </a:p>
        </p:txBody>
      </p:sp>
      <p:sp xmlns:p="http://schemas.openxmlformats.org/presentationml/2006/main" xmlns:a="http://schemas.openxmlformats.org/drawingml/2006/main">
        <p:nvSpPr>
          <p:cNvPr id="900010" name="Story-46-intake-2-title" descr="Private&#10;Event Hub"/>
          <p:cNvSpPr txBox="1"/>
          <p:nvPr/>
        </p:nvSpPr>
        <p:spPr>
          <a:xfrm>
            <a:off x="5084064"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Private</a:t>
            </a:r>
          </a:p>
          <a:p>
            <a:pPr algn="ctr">
              <a:lnSpc>
                <a:spcPct val="105000"/>
              </a:lnSpc>
              <a:buNone/>
            </a:pPr>
            <a:r>
              <a:rPr lang="en-GB" sz="2200" b="1">
                <a:solidFill>
                  <a:srgbClr val="173F35"/>
                </a:solidFill>
                <a:latin typeface="Arial"/>
              </a:rPr>
              <a:t>Event Hub</a:t>
            </a:r>
          </a:p>
        </p:txBody>
      </p:sp>
      <p:sp xmlns:p="http://schemas.openxmlformats.org/presentationml/2006/main" xmlns:a="http://schemas.openxmlformats.org/drawingml/2006/main">
        <p:nvSpPr>
          <p:cNvPr id="900011" name="Story-46-intake-2-body" descr="Hub-only sender&#10;Keyless receiver"/>
          <p:cNvSpPr txBox="1"/>
          <p:nvPr/>
        </p:nvSpPr>
        <p:spPr>
          <a:xfrm>
            <a:off x="5084064"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Hub-only sender</a:t>
            </a:r>
          </a:p>
          <a:p>
            <a:pPr algn="ctr">
              <a:lnSpc>
                <a:spcPct val="105000"/>
              </a:lnSpc>
              <a:buNone/>
            </a:pPr>
            <a:r>
              <a:rPr lang="en-GB" sz="1500" b="0">
                <a:solidFill>
                  <a:srgbClr val="50655E"/>
                </a:solidFill>
                <a:latin typeface="Arial"/>
              </a:rPr>
              <a:t>Keyless receiver</a:t>
            </a:r>
          </a:p>
        </p:txBody>
      </p:sp>
      <p:sp xmlns:p="http://schemas.openxmlformats.org/presentationml/2006/main" xmlns:a="http://schemas.openxmlformats.org/drawingml/2006/main">
        <p:nvSpPr>
          <p:cNvPr id="900012" name="Story-46-intake-2-arrow" descr=""/>
          <p:cNvSpPr txBox="1"/>
          <p:nvPr/>
        </p:nvSpPr>
        <p:spPr>
          <a:xfrm>
            <a:off x="7077456"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6-intake-3-number" descr="04"/>
          <p:cNvSpPr txBox="1"/>
          <p:nvPr/>
        </p:nvSpPr>
        <p:spPr>
          <a:xfrm>
            <a:off x="8074152" y="2194560"/>
            <a:ext cx="585216" cy="585216"/>
          </a:xfrm>
          <a:prstGeom prst="ellipse">
            <a:avLst/>
          </a:prstGeom>
          <a:solidFill>
            <a:srgbClr val="E8F2FB"/>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04</a:t>
            </a:r>
          </a:p>
        </p:txBody>
      </p:sp>
      <p:sp xmlns:p="http://schemas.openxmlformats.org/presentationml/2006/main" xmlns:a="http://schemas.openxmlformats.org/drawingml/2006/main">
        <p:nvSpPr>
          <p:cNvPr id="900014" name="Story-46-intake-3-title" descr="API + SQL"/>
          <p:cNvSpPr txBox="1"/>
          <p:nvPr/>
        </p:nvSpPr>
        <p:spPr>
          <a:xfrm>
            <a:off x="7351776"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API + SQL</a:t>
            </a:r>
          </a:p>
        </p:txBody>
      </p:sp>
      <p:sp xmlns:p="http://schemas.openxmlformats.org/presentationml/2006/main" xmlns:a="http://schemas.openxmlformats.org/drawingml/2006/main">
        <p:nvSpPr>
          <p:cNvPr id="900015" name="Story-46-intake-3-body" descr="Validate and replay&#10;Owned data-quality tasks"/>
          <p:cNvSpPr txBox="1"/>
          <p:nvPr/>
        </p:nvSpPr>
        <p:spPr>
          <a:xfrm>
            <a:off x="7351776"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Validate and replay</a:t>
            </a:r>
          </a:p>
          <a:p>
            <a:pPr algn="ctr">
              <a:lnSpc>
                <a:spcPct val="105000"/>
              </a:lnSpc>
              <a:buNone/>
            </a:pPr>
            <a:r>
              <a:rPr lang="en-GB" sz="1500" b="0">
                <a:solidFill>
                  <a:srgbClr val="50655E"/>
                </a:solidFill>
                <a:latin typeface="Arial"/>
              </a:rPr>
              <a:t>Owned data-quality tasks</a:t>
            </a:r>
          </a:p>
        </p:txBody>
      </p:sp>
      <p:sp xmlns:p="http://schemas.openxmlformats.org/presentationml/2006/main" xmlns:a="http://schemas.openxmlformats.org/drawingml/2006/main">
        <p:nvSpPr>
          <p:cNvPr id="900016" name="Story-46-intake-3-arrow" descr=""/>
          <p:cNvSpPr txBox="1"/>
          <p:nvPr/>
        </p:nvSpPr>
        <p:spPr>
          <a:xfrm>
            <a:off x="9345168" y="2395728"/>
            <a:ext cx="256032"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46-intake-4-number" descr="05"/>
          <p:cNvSpPr txBox="1"/>
          <p:nvPr/>
        </p:nvSpPr>
        <p:spPr>
          <a:xfrm>
            <a:off x="10341864" y="2194560"/>
            <a:ext cx="585216" cy="585216"/>
          </a:xfrm>
          <a:prstGeom prst="ellipse">
            <a:avLst/>
          </a:prstGeom>
          <a:solidFill>
            <a:srgbClr val="E8F1ED"/>
          </a:solidFill>
          <a:ln>
            <a:noFill/>
          </a:ln>
        </p:spPr>
        <p:txBody>
          <a:bodyPr wrap="square" lIns="18288" rIns="18288" tIns="9144" bIns="9144" anchor="ctr">
            <a:noAutofit/>
          </a:bodyPr>
          <a:lstStyle/>
          <a:p>
            <a:pPr algn="ctr">
              <a:lnSpc>
                <a:spcPct val="105000"/>
              </a:lnSpc>
              <a:buNone/>
            </a:pPr>
            <a:r>
              <a:rPr lang="en-GB" sz="1900" b="1">
                <a:solidFill>
                  <a:srgbClr val="173F35"/>
                </a:solidFill>
                <a:latin typeface="Arial"/>
              </a:rPr>
              <a:t>05</a:t>
            </a:r>
          </a:p>
        </p:txBody>
      </p:sp>
      <p:sp xmlns:p="http://schemas.openxmlformats.org/presentationml/2006/main" xmlns:a="http://schemas.openxmlformats.org/drawingml/2006/main">
        <p:nvSpPr>
          <p:cNvPr id="900018" name="Story-46-intake-4-title" descr="Human&#10;review"/>
          <p:cNvSpPr txBox="1"/>
          <p:nvPr/>
        </p:nvSpPr>
        <p:spPr>
          <a:xfrm>
            <a:off x="9619488" y="3054096"/>
            <a:ext cx="2020824" cy="658368"/>
          </a:xfrm>
          <a:prstGeom prst="rect">
            <a:avLst/>
          </a:prstGeom>
          <a:noFill/>
          <a:ln>
            <a:noFill/>
          </a:ln>
        </p:spPr>
        <p:txBody>
          <a:bodyPr wrap="square" lIns="18288" rIns="18288" tIns="9144" bIns="9144" anchor="t">
            <a:noAutofit/>
          </a:bodyPr>
          <a:lstStyle/>
          <a:p>
            <a:pPr algn="ctr">
              <a:lnSpc>
                <a:spcPct val="105000"/>
              </a:lnSpc>
              <a:buNone/>
            </a:pPr>
            <a:r>
              <a:rPr lang="en-GB" sz="2200" b="1">
                <a:solidFill>
                  <a:srgbClr val="173F35"/>
                </a:solidFill>
                <a:latin typeface="Arial"/>
              </a:rPr>
              <a:t>Human</a:t>
            </a:r>
          </a:p>
          <a:p>
            <a:pPr algn="ctr">
              <a:lnSpc>
                <a:spcPct val="105000"/>
              </a:lnSpc>
              <a:buNone/>
            </a:pPr>
            <a:r>
              <a:rPr lang="en-GB" sz="2200" b="1">
                <a:solidFill>
                  <a:srgbClr val="173F35"/>
                </a:solidFill>
                <a:latin typeface="Arial"/>
              </a:rPr>
              <a:t>review</a:t>
            </a:r>
          </a:p>
        </p:txBody>
      </p:sp>
      <p:sp xmlns:p="http://schemas.openxmlformats.org/presentationml/2006/main" xmlns:a="http://schemas.openxmlformats.org/drawingml/2006/main">
        <p:nvSpPr>
          <p:cNvPr id="900019" name="Story-46-intake-4-body" descr="Review the signal&#10;No diagnosis"/>
          <p:cNvSpPr txBox="1"/>
          <p:nvPr/>
        </p:nvSpPr>
        <p:spPr>
          <a:xfrm>
            <a:off x="9619488" y="3959352"/>
            <a:ext cx="2020824" cy="640080"/>
          </a:xfrm>
          <a:prstGeom prst="rect">
            <a:avLst/>
          </a:prstGeom>
          <a:noFill/>
          <a:ln>
            <a:noFill/>
          </a:ln>
        </p:spPr>
        <p:txBody>
          <a:bodyPr wrap="square" lIns="18288" rIns="18288" tIns="9144" bIns="9144" anchor="t">
            <a:noAutofit/>
          </a:bodyPr>
          <a:lstStyle/>
          <a:p>
            <a:pPr algn="ctr">
              <a:lnSpc>
                <a:spcPct val="105000"/>
              </a:lnSpc>
              <a:buNone/>
            </a:pPr>
            <a:r>
              <a:rPr lang="en-GB" sz="1500" b="0">
                <a:solidFill>
                  <a:srgbClr val="50655E"/>
                </a:solidFill>
                <a:latin typeface="Arial"/>
              </a:rPr>
              <a:t>Review the signal</a:t>
            </a:r>
          </a:p>
          <a:p>
            <a:pPr algn="ctr">
              <a:lnSpc>
                <a:spcPct val="105000"/>
              </a:lnSpc>
              <a:buNone/>
            </a:pPr>
            <a:r>
              <a:rPr lang="en-GB" sz="1500" b="0">
                <a:solidFill>
                  <a:srgbClr val="50655E"/>
                </a:solidFill>
                <a:latin typeface="Arial"/>
              </a:rPr>
              <a:t>No diagnosis</a:t>
            </a:r>
          </a:p>
        </p:txBody>
      </p:sp>
      <p:sp xmlns:p="http://schemas.openxmlformats.org/presentationml/2006/main" xmlns:a="http://schemas.openxmlformats.org/drawingml/2006/main">
        <p:nvSpPr>
          <p:cNvPr id="900020" name="Story-46-basic-rationale" descr="Why Basic: device identity + one-way intake. No Standard device-control features needed."/>
          <p:cNvSpPr txBox="1"/>
          <p:nvPr/>
        </p:nvSpPr>
        <p:spPr>
          <a:xfrm>
            <a:off x="548640" y="4855464"/>
            <a:ext cx="11091672" cy="329184"/>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Why Basic: device identity + one-way intake. No Standard device-control features needed.</a:t>
            </a:r>
          </a:p>
        </p:txBody>
      </p:sp>
      <p:sp xmlns:p="http://schemas.openxmlformats.org/presentationml/2006/main" xmlns:a="http://schemas.openxmlformats.org/drawingml/2006/main">
        <p:nvSpPr>
          <p:cNvPr id="900021" name="Story-46-safety-bypass-fill" descr=""/>
          <p:cNvSpPr txBox="1"/>
          <p:nvPr/>
        </p:nvSpPr>
        <p:spPr>
          <a:xfrm>
            <a:off x="548640" y="5468112"/>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46-safety-bypass" descr="Hazard reports go straight to human safety. Neither telemetry nor AI may delay the response."/>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Hazard reports go straight to human safety. Neither telemetry nor AI may delay the response.</a:t>
            </a:r>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841248"/>
            <a:ext cx="11091672" cy="6583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Keep SQL for control. Evaluate Fabric for analytics.</a:t>
            </a:r>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hlinkClick r:id="rId3" action="ppaction://hlinksldjump"/>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rId3" action="ppaction://hlinksldjump"/>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 xmlns:p="http://schemas.openxmlformats.org/presentationml/2006/main" xmlns:a="http://schemas.openxmlformats.org/drawingml/2006/main">
        <p:nvSpPr>
          <p:cNvPr id="900000" name="Story-47-retained-label" descr="RETAIN / OPERATIONAL CONTROL"/>
          <p:cNvSpPr txBox="1"/>
          <p:nvPr/>
        </p:nvSpPr>
        <p:spPr>
          <a:xfrm>
            <a:off x="548640" y="1746504"/>
            <a:ext cx="5367528"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RETAIN / OPERATIONAL CONTROL</a:t>
            </a:r>
          </a:p>
        </p:txBody>
      </p:sp>
      <p:sp xmlns:p="http://schemas.openxmlformats.org/presentationml/2006/main" xmlns:a="http://schemas.openxmlformats.org/drawingml/2006/main">
        <p:nvSpPr>
          <p:cNvPr id="900001" name="Story-47-sql-cylinder" descr="AZURE&#10;SQL"/>
          <p:cNvSpPr txBox="1"/>
          <p:nvPr/>
        </p:nvSpPr>
        <p:spPr>
          <a:xfrm>
            <a:off x="822960" y="2286000"/>
            <a:ext cx="1993392" cy="1298448"/>
          </a:xfrm>
          <a:prstGeom prst="can">
            <a:avLst/>
          </a:prstGeom>
          <a:solidFill>
            <a:srgbClr val="E8F1ED"/>
          </a:solidFill>
          <a:ln w="15875">
            <a:solidFill>
              <a:srgbClr val="173F35"/>
            </a:solidFill>
          </a:ln>
        </p:spPr>
        <p:txBody>
          <a:bodyPr wrap="square" lIns="18288" rIns="18288" tIns="9144" bIns="9144" anchor="ctr">
            <a:noAutofit/>
          </a:bodyPr>
          <a:lstStyle/>
          <a:p>
            <a:pPr algn="ctr">
              <a:lnSpc>
                <a:spcPct val="105000"/>
              </a:lnSpc>
              <a:buNone/>
            </a:pPr>
            <a:r>
              <a:rPr lang="en-GB" sz="2400" b="1">
                <a:solidFill>
                  <a:srgbClr val="173F35"/>
                </a:solidFill>
                <a:latin typeface="Arial"/>
              </a:rPr>
              <a:t>AZURE</a:t>
            </a:r>
          </a:p>
          <a:p>
            <a:pPr algn="ctr">
              <a:lnSpc>
                <a:spcPct val="105000"/>
              </a:lnSpc>
              <a:buNone/>
            </a:pPr>
            <a:r>
              <a:rPr lang="en-GB" sz="2400" b="1">
                <a:solidFill>
                  <a:srgbClr val="173F35"/>
                </a:solidFill>
                <a:latin typeface="Arial"/>
              </a:rPr>
              <a:t>SQL</a:t>
            </a:r>
          </a:p>
        </p:txBody>
      </p:sp>
      <p:sp xmlns:p="http://schemas.openxmlformats.org/presentationml/2006/main" xmlns:a="http://schemas.openxmlformats.org/drawingml/2006/main">
        <p:nvSpPr>
          <p:cNvPr id="900002" name="Story-47-sql-authority" descr="Transactions&#10;Ledger and audit&#10;Accountable workflow"/>
          <p:cNvSpPr txBox="1"/>
          <p:nvPr/>
        </p:nvSpPr>
        <p:spPr>
          <a:xfrm>
            <a:off x="3136392" y="2395728"/>
            <a:ext cx="2779776" cy="1005840"/>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Transactions</a:t>
            </a:r>
          </a:p>
          <a:p>
            <a:pPr algn="l">
              <a:lnSpc>
                <a:spcPct val="105000"/>
              </a:lnSpc>
              <a:buNone/>
            </a:pPr>
            <a:r>
              <a:rPr lang="en-GB" sz="1900" b="1">
                <a:solidFill>
                  <a:srgbClr val="173F35"/>
                </a:solidFill>
                <a:latin typeface="Arial"/>
              </a:rPr>
              <a:t>Ledger and audit</a:t>
            </a:r>
          </a:p>
          <a:p>
            <a:pPr algn="l">
              <a:lnSpc>
                <a:spcPct val="105000"/>
              </a:lnSpc>
              <a:buNone/>
            </a:pPr>
            <a:r>
              <a:rPr lang="en-GB" sz="1900" b="1">
                <a:solidFill>
                  <a:srgbClr val="173F35"/>
                </a:solidFill>
                <a:latin typeface="Arial"/>
              </a:rPr>
              <a:t>Accountable workflow</a:t>
            </a:r>
          </a:p>
        </p:txBody>
      </p:sp>
      <p:sp xmlns:p="http://schemas.openxmlformats.org/presentationml/2006/main" xmlns:a="http://schemas.openxmlformats.org/drawingml/2006/main">
        <p:nvSpPr>
          <p:cNvPr id="900003" name="Story-47-retained-detail" descr="Keep Excel / M365 as bounded inputs.&#10;Compare full integration and control costs.&#10;Fabric SQL lacks ledger creation;&#10;a warehouse is not the write workflow."/>
          <p:cNvSpPr txBox="1"/>
          <p:nvPr/>
        </p:nvSpPr>
        <p:spPr>
          <a:xfrm>
            <a:off x="548640" y="3931920"/>
            <a:ext cx="5367528" cy="1106424"/>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Keep Excel / M365 as bounded inputs.</a:t>
            </a:r>
          </a:p>
          <a:p>
            <a:pPr algn="l">
              <a:lnSpc>
                <a:spcPct val="105000"/>
              </a:lnSpc>
              <a:buNone/>
            </a:pPr>
            <a:r>
              <a:rPr lang="en-GB" sz="1700" b="0">
                <a:solidFill>
                  <a:srgbClr val="173F35"/>
                </a:solidFill>
                <a:latin typeface="Arial"/>
              </a:rPr>
              <a:t>Compare full integration and control costs.</a:t>
            </a:r>
          </a:p>
          <a:p>
            <a:pPr algn="l">
              <a:lnSpc>
                <a:spcPct val="105000"/>
              </a:lnSpc>
              <a:buNone/>
            </a:pPr>
            <a:r>
              <a:rPr lang="en-GB" sz="1700" b="0">
                <a:solidFill>
                  <a:srgbClr val="173F35"/>
                </a:solidFill>
                <a:latin typeface="Arial"/>
              </a:rPr>
              <a:t>Fabric SQL lacks ledger creation;</a:t>
            </a:r>
          </a:p>
          <a:p>
            <a:pPr algn="l">
              <a:lnSpc>
                <a:spcPct val="105000"/>
              </a:lnSpc>
              <a:buNone/>
            </a:pPr>
            <a:r>
              <a:rPr lang="en-GB" sz="1700" b="0">
                <a:solidFill>
                  <a:srgbClr val="173F35"/>
                </a:solidFill>
                <a:latin typeface="Arial"/>
              </a:rPr>
              <a:t>a warehouse is not the write workflow.</a:t>
            </a:r>
          </a:p>
        </p:txBody>
      </p:sp>
      <p:sp xmlns:p="http://schemas.openxmlformats.org/presentationml/2006/main" xmlns:a="http://schemas.openxmlformats.org/drawingml/2006/main">
        <p:nvSpPr>
          <p:cNvPr id="900004" name="Story-47-analytics-divider" descr=""/>
          <p:cNvSpPr txBox="1"/>
          <p:nvPr/>
        </p:nvSpPr>
        <p:spPr>
          <a:xfrm>
            <a:off x="6163056" y="1746504"/>
            <a:ext cx="13716" cy="3493008"/>
          </a:xfrm>
          <a:prstGeom prst="rect">
            <a:avLst/>
          </a:prstGeom>
          <a:solidFill>
            <a:srgbClr val="C7D8CF"/>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7-future-analytics-label" descr="FUTURE CHOICE / SELECTIVE ANALYTICS"/>
          <p:cNvSpPr txBox="1"/>
          <p:nvPr/>
        </p:nvSpPr>
        <p:spPr>
          <a:xfrm>
            <a:off x="6519672" y="1746504"/>
            <a:ext cx="5120640" cy="274320"/>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885500"/>
                </a:solidFill>
                <a:latin typeface="Arial"/>
              </a:rPr>
              <a:t>FUTURE CHOICE / SELECTIVE ANALYTICS</a:t>
            </a:r>
          </a:p>
        </p:txBody>
      </p:sp>
      <p:sp xmlns:p="http://schemas.openxmlformats.org/presentationml/2006/main" xmlns:a="http://schemas.openxmlformats.org/drawingml/2006/main">
        <p:nvSpPr>
          <p:cNvPr id="900006" name="Story-47-analytics-value" descr="Reusable cross-home history.&#10;Shared measures and portfolio reports."/>
          <p:cNvSpPr txBox="1"/>
          <p:nvPr/>
        </p:nvSpPr>
        <p:spPr>
          <a:xfrm>
            <a:off x="6519672" y="2286000"/>
            <a:ext cx="5120640" cy="786384"/>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Reusable cross-home history.</a:t>
            </a:r>
          </a:p>
          <a:p>
            <a:pPr algn="l">
              <a:lnSpc>
                <a:spcPct val="105000"/>
              </a:lnSpc>
              <a:buNone/>
            </a:pPr>
            <a:r>
              <a:rPr lang="en-GB" sz="2100" b="1">
                <a:solidFill>
                  <a:srgbClr val="173F35"/>
                </a:solidFill>
                <a:latin typeface="Arial"/>
              </a:rPr>
              <a:t>Shared measures and portfolio reports.</a:t>
            </a:r>
          </a:p>
        </p:txBody>
      </p:sp>
      <p:sp xmlns:p="http://schemas.openxmlformats.org/presentationml/2006/main" xmlns:a="http://schemas.openxmlformats.org/drawingml/2006/main">
        <p:nvSpPr>
          <p:cNvPr id="900007" name="Story-47-curated-stage" descr="Curated&#10;facts"/>
          <p:cNvSpPr txBox="1"/>
          <p:nvPr/>
        </p:nvSpPr>
        <p:spPr>
          <a:xfrm>
            <a:off x="6519672" y="3429000"/>
            <a:ext cx="1408176" cy="566928"/>
          </a:xfrm>
          <a:prstGeom prst="rect">
            <a:avLst/>
          </a:prstGeom>
          <a:solidFill>
            <a:srgbClr val="E8F1ED"/>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Curated</a:t>
            </a:r>
          </a:p>
          <a:p>
            <a:pPr algn="ctr">
              <a:lnSpc>
                <a:spcPct val="105000"/>
              </a:lnSpc>
              <a:buNone/>
            </a:pPr>
            <a:r>
              <a:rPr lang="en-GB" sz="1600" b="0">
                <a:solidFill>
                  <a:srgbClr val="173F35"/>
                </a:solidFill>
                <a:latin typeface="Arial"/>
              </a:rPr>
              <a:t>facts</a:t>
            </a:r>
          </a:p>
        </p:txBody>
      </p:sp>
      <p:sp xmlns:p="http://schemas.openxmlformats.org/presentationml/2006/main" xmlns:a="http://schemas.openxmlformats.org/drawingml/2006/main">
        <p:nvSpPr>
          <p:cNvPr id="900008" name="Story-47-facts-analytics" descr=""/>
          <p:cNvSpPr txBox="1"/>
          <p:nvPr/>
        </p:nvSpPr>
        <p:spPr>
          <a:xfrm>
            <a:off x="8028432" y="3602736"/>
            <a:ext cx="28346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7-analytics-stage" descr="Analytics"/>
          <p:cNvSpPr txBox="1"/>
          <p:nvPr/>
        </p:nvSpPr>
        <p:spPr>
          <a:xfrm>
            <a:off x="8403336" y="3429000"/>
            <a:ext cx="1408176" cy="566928"/>
          </a:xfrm>
          <a:prstGeom prst="rect">
            <a:avLst/>
          </a:prstGeom>
          <a:solidFill>
            <a:srgbClr val="E8F2FB"/>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Analytics</a:t>
            </a:r>
          </a:p>
        </p:txBody>
      </p:sp>
      <p:sp xmlns:p="http://schemas.openxmlformats.org/presentationml/2006/main" xmlns:a="http://schemas.openxmlformats.org/drawingml/2006/main">
        <p:nvSpPr>
          <p:cNvPr id="900010" name="Story-47-analytics-reports" descr=""/>
          <p:cNvSpPr txBox="1"/>
          <p:nvPr/>
        </p:nvSpPr>
        <p:spPr>
          <a:xfrm>
            <a:off x="9912096" y="3602736"/>
            <a:ext cx="283464" cy="201168"/>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47-reports-stage" descr="Staff&#10;reports"/>
          <p:cNvSpPr txBox="1"/>
          <p:nvPr/>
        </p:nvSpPr>
        <p:spPr>
          <a:xfrm>
            <a:off x="10287000" y="3429000"/>
            <a:ext cx="1353312" cy="566928"/>
          </a:xfrm>
          <a:prstGeom prst="rect">
            <a:avLst/>
          </a:prstGeom>
          <a:solidFill>
            <a:srgbClr val="E8F1ED"/>
          </a:solidFill>
          <a:ln>
            <a:noFill/>
          </a:ln>
        </p:spPr>
        <p:txBody>
          <a:bodyPr wrap="square" lIns="18288" rIns="18288" tIns="9144" bIns="9144" anchor="ctr">
            <a:noAutofit/>
          </a:bodyPr>
          <a:lstStyle/>
          <a:p>
            <a:pPr algn="ctr">
              <a:lnSpc>
                <a:spcPct val="105000"/>
              </a:lnSpc>
              <a:buNone/>
            </a:pPr>
            <a:r>
              <a:rPr lang="en-GB" sz="1600" b="0">
                <a:solidFill>
                  <a:srgbClr val="173F35"/>
                </a:solidFill>
                <a:latin typeface="Arial"/>
              </a:rPr>
              <a:t>Staff</a:t>
            </a:r>
          </a:p>
          <a:p>
            <a:pPr algn="ctr">
              <a:lnSpc>
                <a:spcPct val="105000"/>
              </a:lnSpc>
              <a:buNone/>
            </a:pPr>
            <a:r>
              <a:rPr lang="en-GB" sz="1600" b="0">
                <a:solidFill>
                  <a:srgbClr val="173F35"/>
                </a:solidFill>
                <a:latin typeface="Arial"/>
              </a:rPr>
              <a:t>reports</a:t>
            </a:r>
          </a:p>
        </p:txBody>
      </p:sp>
      <p:sp xmlns:p="http://schemas.openxmlformats.org/presentationml/2006/main" xmlns:a="http://schemas.openxmlformats.org/drawingml/2006/main">
        <p:nvSpPr>
          <p:cNvPr id="900012" name="Story-47-simpler-comparator" descr="Compare with SQL views + Power BI.&#10;Require better effort, freshness or total cost."/>
          <p:cNvSpPr txBox="1"/>
          <p:nvPr/>
        </p:nvSpPr>
        <p:spPr>
          <a:xfrm>
            <a:off x="6519672" y="4389120"/>
            <a:ext cx="5120640" cy="676656"/>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Compare with SQL views + Power BI.</a:t>
            </a:r>
          </a:p>
          <a:p>
            <a:pPr algn="l">
              <a:lnSpc>
                <a:spcPct val="105000"/>
              </a:lnSpc>
              <a:buNone/>
            </a:pPr>
            <a:r>
              <a:rPr lang="en-GB" sz="1700" b="0">
                <a:solidFill>
                  <a:srgbClr val="173F35"/>
                </a:solidFill>
                <a:latin typeface="Arial"/>
              </a:rPr>
              <a:t>Require better effort, freshness or total cost.</a:t>
            </a:r>
          </a:p>
        </p:txBody>
      </p:sp>
      <p:sp xmlns:p="http://schemas.openxmlformats.org/presentationml/2006/main" xmlns:a="http://schemas.openxmlformats.org/drawingml/2006/main">
        <p:nvSpPr>
          <p:cNvPr id="900013" name="Story-47-analytics-authority-fill" descr=""/>
          <p:cNvSpPr txBox="1"/>
          <p:nvPr/>
        </p:nvSpPr>
        <p:spPr>
          <a:xfrm>
            <a:off x="548640" y="5468112"/>
            <a:ext cx="11091672" cy="5669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47-analytics-authority" descr="NO PURCHASE OR EXPORT APPROVED  |  Access, history and total cost need separate review."/>
          <p:cNvSpPr txBox="1"/>
          <p:nvPr/>
        </p:nvSpPr>
        <p:spPr>
          <a:xfrm>
            <a:off x="749808" y="5586984"/>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885500"/>
                </a:solidFill>
                <a:latin typeface="Arial"/>
              </a:rPr>
              <a:t>NO PURCHASE OR EXPORT APPROVED  |  Access, history and total cost need separate review.</a:t>
            </a:r>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hlinkClick r:id="rId3" action="ppaction://hlinksldjump"/>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rId3" action="ppaction://hlinksldjump"/>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hlinkClick r:id="rId3" action="ppaction://hlinksldjump"/>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rId3" action="ppaction://hlinksldjump"/>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hlinkClick r:id="rId3" action="ppaction://hlinksldjump"/>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rId3" action="ppaction://hlinksldjump"/>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4"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hlinkClick r:id="rId3" action="ppaction://hlinksldjump"/>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rId3" action="ppaction://hlinksldjump"/>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4"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hlinkClick r:id="rId3" action="ppaction://hlinksldjump"/>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rId3" action="ppaction://hlinksldjump"/>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4"/>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5"/>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6"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hlinkClick r:id="rId3" action="ppaction://hlinksldjump"/>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rId3" action="ppaction://hlinksldjump"/>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hlinkClick r:id="rId3" action="ppaction://hlinksldjump"/>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rId3" action="ppaction://hlinksldjump"/>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4"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106</TotalTime>
  <Words>35126</Words>
  <Application>Microsoft Office PowerPoint</Application>
  <PresentationFormat>Widescreen</PresentationFormat>
  <Paragraphs>2672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7</cp:revision>
  <dcterms:created xsi:type="dcterms:W3CDTF">2026-10-23T08:48:25Z</dcterms:created>
  <dcterms:modified xsi:type="dcterms:W3CDTF">2026-10-28T17:09:06Z</dcterms:modified>
  <cp:category/>
</cp:coreProperties>
</file>