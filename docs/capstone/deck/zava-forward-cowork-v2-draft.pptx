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24.10.2026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S01 | More homes ready. Faster. With control intact.
TIMING: 40 s for this slide (all builds together) · 00:00-00:40 on the 23:45 narration clock.
SAY
Good morning. Zava North Homes has 60,000 homes and three legal clocks running. In the next 25 minutes I will show you the size of that challenge in hard numbers, how we analysed it, the product we designed for it and a forecast you can hold us to.
Zava Forward is one accountable workbench for the retrofit programme, with damp, mould and hazard referral built into every decision: every home has an owner, every decision has evidence, and AI does the preparation so your people can make the calls that matter.
My ask is simple and specific: fund the validation gate, then scale. Let me show you why it is worth it.
SOURCES AND CALCULATIONS
Case brief (E01); exercise addendum (E02).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S02 | 15,600 homes to lift by 2030. Thousands more to keep safe.
TIMING: 70 s for this slide (all builds together) · 00:40-01:50 on the 23:45 narration clock.
SAY
Let me put numbers on the challenge. These are national statistics for social housing in England, applied to Zava's 60,000 homes.
Twenty-six per cent of social homes are still below EPC band C. For Zava that is about 15,600 homes that must be lifted by April 2030.
Six per cent of housing association homes have damp. That is about 3,600 homes. And 38 per cent of housing association households say they live with condensation, damp or mould: about 22,800 households who may pick up the phone.
The median landlord logs 53.5 stage-one complaints per 1,000 homes a year. For Zava, about 3,210 complaints, each one a test of whether the organisation knows what is happening in that home.
This is not a backlog you clear with more spreadsheets. It is a flow you have to run.
SOURCES AND CALCULATIONS
EHS 2024-25 Chapter 1 and Chapter 2 (MHCLG, 29 Jan 2026); SRS MEES final-stage impact assessment (DESNZ/MHCLG, 1 Apr 2026); Tenant Satisfaction Measures 2024/25 headline report (RSH, 4 Nov 2025). Calculation: rate × 60,000, rounded.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S03 | Three clocks are already running.
TIMING: 70 s for this slide (all builds together) · 01:50-03:00 on the 23:45 narration clock.
SAY
Three regulatory clocks are already running, and they converge on the same homes.
First, Awaab's Law. Since 27 October 2025, social landlords must make emergency hazards safe within 24 hours and investigate significant damp and mould within 10 working days, with a written summary to the tenant within three working days.
Second, on 30 November 2026, five weeks from now, phase two adds excess cold and heat, falls, fire and electrical hazards. From that day a cold, inefficient home is a legal hazard, not just a carbon statistic. Retrofit and repairs become one programme.
Third, the government decided on 28 January 2026 that every social rented home must reach EPC band C by 1 April 2030, with a 10,000 pound spend cap per home. And from 2035 a new Decent Homes Standard applies, which on the government's own modelling 42 per cent of housing association homes would fail today.
Every one of these clocks needs the same thing: knowing the state of each home, who owns the next action and what evidence supports it.
SOURCES AND CALCULATIONS
Awaab's Law guidance for social landlords (MHCLG, updated 16 Jul 2026); Awaab's Law collection (MHCLG, 13 Jul 2026); Improving the energy efficiency of socially rented homes: government response (MHCLG/DESNZ, 1 Apr 2026) and summary of responses (28 Jan 2026); New Decent Homes Standard policy statement and EHS modelling briefing (MHCLG, 28 Jan 2026).
RELATED ANSWERS: B24 = slide 51.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S04 | Homes don't stall on ambition. They stall between teams.
TIMING: 50 s for this slide (all builds together) · 03:00-03:50 on the 23:45 narration clock.
SAY
Here is what we found when we walked the journey of a single home. The ambition is there. The money is there. Homes stall in the gaps between teams.
A survey says one thing and the stock record says another. Funding needs evidence the assessor has not signed. The resident has not agreed a date. The contractor finishes, but quality acceptance and handover are separate events. Every gap moves the delay to the next team, and on a dashboard it looks like progress because starts go up.
So we changed the management question. Not how many recommendations did we generate, but how many homes reached an accepted handover, how much effort it took and what is blocked, by whom, right now.
SOURCES AND CALCULATIONS
Exercise addendum and journey atlas (E02, E08); agent-request challenge (E03).
RELATED ANSWERS: B01 = slide 28.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1 of 2 - click through to the next build]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AI usage is one input to the evidence-preparation value test. No inference price, whole-programme AI cost, saving or payback is established. We still need complete cost accounting and accepted outcomes above an agreed quality floor.
Forecast assumptions: national EPC and retrofit cost averages applied to the 60,000-home stock; straight-line delivery from 1 November 2026; grant at 50 per cent of the average cost, capped at 7,500 pounds. These retrofit scenarios do not establish AI pricing or measured benefit.
SOURCES AND CALCULATIONS
EHS 2024-25 Ch.2 (avg cost to C, HA £6,082); SRS MEES final IA (26% below C; ~1.1m homes; Wave 3 £1.585bn); WH:SHF Wave 3 guidance (cap £7,500, 50% co-funding); case brief GBP 40m ambition (E01); historical operator usage (E19). Issue #435 requires no Tokenomics price, saving or payback claim. The imported handoff retains the earlier unvalidated inference scenario as history only.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S06 | Six weeks of product work sit under these slides.
TIMING: 60 s for this slide (all builds together) · 05:20-06:20 on the 23:45 narration clock.
SAY
Before we show you the product, I want you to see the work underneath it, because that is where the value is.
These slides sit on six weeks of product work: 480 commits, 233 merged pull requests and six architecture decision records. A business requirements document and a product requirements document with 142 requirements and 196 acceptance criteria. 34 research documents, 28 journey maps, a what-if study with 20 scenarios and a backlog of 189 items generated from all of it.
And here is the part I am proudest of: the contributors are one architect, GitHub Copilot and automation. That is the delivery model we are proposing for Zava too: a small accountable team, multiplied by AI, governed by evidence.
This is a product-management story first: understand the problem, test the assumptions, then build.
SOURCES AND CALCULATIONS
Repository home page and pull request search, 23 Oct 2026: 480 commits on main, 233 merged pull requests, 3 contributors; docs/adrs (6 ADRs); BRD v0.19.0 (52 FR, 12 NFR, 103 AC) and PRD v0.18.0 (61 FR, 17 NFR, 93 AC); docs/reference/research (34 documents); journey atlas (28 maps); agent what-if study (20 scenarios); AMA Plan board (189 items). BRD created 11 Sep 2026; first pull request 20 Sep 2026.
</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S07 | We designed for the people who move a home forward.
TIMING: 60 s for this slide (all builds together) · 06:20-07:20 on the 23:45 narration clock.
SAY
We designed for the people who actually move a home forward, and we were specific about what each of them needs.
The Executive Director of Assets needs one view of progress and risk. Building Safety needs hazards that never wait behind a retrofit queue. The Retrofit Programme Manager needs every blocked home to have an owner. Finance needs grant-ready evidence and a clear cash position. Procurement needs committed contractor capacity and controlled work orders. Resident Engagement needs choice, consent and remedies on record. The Neighbourhood Housing Officer needs one story per home, so nobody has to explain the same problem twice. And the Data and Performance Lead needs numbers the board can trust.
At the centre is the resident and the household, with a real choice, a representative where they need one, and a non-digital route.
The pain points came straight out of our journey research: repeated explanations, unclear ownership, conflicting evidence, avoidable visits and premature completion claims. The product removes each of them.
SOURCES AND CALCULATIONS
Company profile research, 8-role decision map (sector-informed role hypotheses); customer journey atlas main finding (repeated explanations, unclear receiving ownership, conflicting evidence, avoidable visits, premature completion claims); PRD role perspectives; BRD "no single view of each home's state, blocker, owner and next step".
RELATED ANSWERS: B12 = slide 39.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S08 | We challenged the brief to make it shippable.
TIMING: 70 s for this slide (all builds together) · 07:20-08:30 on the 23:45 narration clock.
SAY
The original brief asked for five autonomous AI agents, from stock prioritisation to quality verification, with autonomy up to level four. We took the brief seriously, and that is exactly why we challenged it.
We ran it past nine role instruments. Their verdict was clear: none of the five should run end to end. So we kept all five responsibilities as five bounded assistants on one proposal service.
We also refused the easy story that the spreadsheets are the problem. As our requirements put it, Zava does not have a spreadsheet problem, it has a delivery control problem that spreadsheets make harder to see. The first investment is data ownership and workflow, then AI.
We kept AI, and changed its job: AI prepares, people decide, because consent, safety and money need a named human.
The portal is optional, not rejected. Issue #441 assesses resident self-service to reduce avoidable status calls and protect staff working time. Phone, email, letter and visits stay available. Portal/workflow comes first; any resident-answer assistant is separately gated, human-reviewed and off for routine automation. No benefit has been measured.
SOURCES AND CALCULATIONS
Issue #441, read 23 October 2026: owner-confirmed Option B reuses case/API authority; portal/workflow first, resident-answer task separately gated. Its latest public comment reports a Research-stage integration blocker and no published PR. The owner reports local work in progress, not inspected implementation or approval. Per-message human review remains normative; routine automation stays off pending requirements-owner disposition and separate release approval.
Original case brief: five agents with autonomy L2-L4 (E01); agent-request challenge and agent what-if study: "none of the five requested agents should be end-to-end" (E03, WIS); BRD L161-166 spreadsheet quote; discovery brief: first investment is data ownership and workflow instrumentation; PRD: one proposal service, not five applications; architecture README: no resident portal required, separate workers deferred, Foundry Agent Service not used.
RELATED ANSWERS: B03 = slide 30; B14 = slide 41.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S09 | Every prototype taught us something we kept.
TIMING: 50 s for this slide (all builds together) · 08:30-09:20 on the 23:45 narration clock.
SAY
We did not design this on a whiteboard. Every prototype taught us something we kept.
It started on 20 September with a review of the open decisions in the requirements. The first prototype gave each role its own perspective, and taught us that roles need their own queues. On 6 October we reviewed eleven perspectives, nine workflow filters and eight constructed cases, found inconsistent owner labels, and fixed them in the requirements. Two days later the MVP replaced the prototype with one shared workbench.
On 11 October we made real AI, Azure SQL and Blob storage mandatory, and the decision-model and generative calls worked. By 14 October five assistants were making real, citation-validated proposals backed by 73 SQL tests, and the evidence survived a service restart. This morning we merged the Tokenomics requirements: AI is managed by cost per accepted outcome.
Twenty-five days from the first prototype review to five real assistants. Every lesson became a requirement, a decision or a test.
SOURCES AND CALCULATIONS
PR #1 (opened 20 Sep 2026); PR #19 four role-based task perspectives (PRD L1726); 6 Oct HTML review (PRD L1736-1746); 8 Oct MVP replaced prototype (PRD L414-419); 11 Oct real AI, SQL and Azure required (ADD L182-213); PR #58 (ADD L277-285); five-assistant exercise 13-14 Oct (ADD L252-273; PRD L588-621): 5 citation-validated proposals, 6,884 tokens, 73 SQL tests, persistence across restart; PR #433 Tokenomics (merged 23 Oct 2026). "25 days" = 20 Sep to 14 Oct.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S11 | Meet the Workbench: every home, one owner, one next step.
TIMING: 70 s for this slide (all builds together) · 10:30-11:40 on the 23:45 narration clock.
SAY
This is the product. We call it the Workbench, and it is deliberately simple.
Every person opens to their cases. Every case shows one next owner, a plain status and the evidence behind it. When two sources disagree, the case does not disappear into an amber dot: it goes to the person who can resolve it, with the clock visible.
AI sits in the side panel. It prepares a summary, a letter or a funding pack, and a person accepts it or rejects it with a reason. Nothing is approved by a model.
This is not a slideware concept. The work-queue signals, controlled bulk edits, hazard referral, grant and claim states, forecasts and the accept-or-reject AI suggestions are already delivered in the MVP backlog. What you see here is the product view of that delivered work, with fictional homes.
SOURCES AND CALCULATIONS
AMA Plan project snapshot 2026-10-23 07:21 UTC (E20): Done items #77, #78, #85, #95, #102, #105, #106; epic #73 and feature #76. Prototype learnings and owner feedback PR #26 (E15).
RELATED ANSWERS: B02 = slide 29.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S12 | One home, end to end: the exception has an owner the moment it appears.
TIMING: 60 s for this slide (all builds together) · 11:40-12:40 on the 23:45 narration clock.
SAY
Let me walk one home through the product. It is fictional, but every step is a real capability.
A survey or a resident report arrives. If it is a hazard, the Awaab's Law clock starts and the hazard route goes straight to the people who own it, without waiting for the retrofit queue.
The assessor sees that two sources disagree about the home's energy evidence. The conflict becomes an owned task, and only the decisions that depend on it wait. Everything else keeps moving.
AI prepares the evidence summary and resident letter for human review. Phone, email, letter and officer visits remain available. Issue #441 assesses an optional portal so residents can find status without waiting for a call and staff can retain focused working time. This is a benefit hypothesis, not a delivered channel. Portal use, silence and access never become works consent.
The contractor works from a controlled work order; quality acceptance is independent; Finance closes the grant claim on the same record. One home, one trail, one owner at every step.
SOURCES AND CALCULATIONS
Customer journey atlas and ADR 0003 (E08); AMA Plan Done items #84 stock reconciliation and sign-off, #85 hazard referral, #87 offer versus commitment and appointments, #88 resident updates, #90 provider work orders, #91 per-measure quality acceptance, #95 grant states, #106 accept or reject with reason.
RELATED ANSWERS: B06 = slide 33; B23 = slide 50.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S13 | 189 backlog items, 16 epics, one coherent product.
TIMING: 50 s for this slide (all builds together) · 12:40-13:30 on the 23:45 narration clock.
SAY
Behind the workbench is a real, structured product backlog. 189 items across 16 epics, generated from the business requirements, the product requirements and the architecture decisions.
54 are delivered, 24 are in progress and 111 are queued and ready to be picked up in dependency order. Every item traces back to a requirement and forward to a pull request with its evidence.
This is what makes the plan credible: we are not asking you to imagine a product. We are showing you the inventory of one, and the order we will build the rest in.
SOURCES AND CALCULATIONS
AMA Plan project snapshot (E20): 189 items; labels: 16 epic, 110 feature, 34 story, 29 other; status 54 Done, 24 In Progress, 111 Todo. Per-epic counts computed from item area labels (items outside the 16 epic areas: 28).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S14 | Start Monday with the spreadsheets you already run.
TIMING: 70 s for this slide (all builds together) · 13:30-14:40 on the 23:45 narration clock.
SAY
Adoption is where good products die, so we designed the first day, not just the hundredth.
Zava runs the programme on spreadsheets today. On day one the importer takes those workbooks, previews them, validates every row, quarantines anything that fails and never modifies the source file. Then we run side by side with named Excel editors, compare read-only, and only when the team trusts the numbers do the workbooks become read-only. It is a strangler plan, not a big bang.
Going the other way, anything in the workbench exports to Excel or CSV, without write-back, so Finance's models and the board pack keep working. Stakeholder progress packs are already delivered, and evidence export is being built.
And it lives inside Microsoft 365. Staff sign in with Entra ID today, the profile comes from Microsoft Graph, operations alerts can flow to a Teams channel, a SharePoint evidence library is designed in, and Teams review nudges are on the roadmap. Microsoft 365 is where people work and documents live; the workbench stays the system of record, and a hazard is never routed through a Teams nudge.
SOURCES AND CALCULATIONS
PRD FR-029/AC-031 (import declared Excel structures; quarantine; source unchanged), FR-030 (export to Excel or CSV, no write-back), NFR-010, transition plan L235-243, performance targets L1283; infra/main.bicep (entraClientId, teamsWebhookUrl, evidenceStore=sharepoint option); architecture README (EasyAuth sign-in; Graph User.Read profile photo; SharePoint adapter not yet implemented; Teams never an approval or safety path); AMA Plan #80 (Todo), #100 (In Progress), #102 (Done).
RELATED ANSWERS: B20 = slide 47.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S15 | AI where it earns its place: five assistants, one workbench, people decide.
TIMING: 70 s for this slide (all builds together) · 14:40-15:50 on the 23:45 narration clock.
SAY
We put AI exactly where it earns its keep, and nowhere else.
Known policy and arithmetic stay in rules: eligibility, freshness, consent and release gates are deterministic, fast and repeatable. Where the task is choosing between supplied candidates, a learned decision model scores them and can abstain. Where the job is explaining evidence or drafting a letter, generative AI writes a cited draft.
The original brief asked for five agents. We kept all five responsibilities as five assistants on one proposal service: prioritisation, assessment, funding evidence, coordination and quality evidence. The task registry and the accept-or-reject flow are delivered; the five assistants are being built on top.
Every suggestion is accepted or rejected with a reason, which means we learn from every decision, and if the AI is switched off the workflow keeps running.
SOURCES AND CALCULATIONS
AI placement diagram and Decision 1 research (E04); five-assistant runtime and proposal lifecycle (E09); AMA Plan #105 AI task registry and proposal envelope (Done), #106 suggestions, accept or reject with reason, workflow-only fallback (Done), #107 five reactive and proactive assistants on one proposal service (In Progress), #214 home-specific cited chat (In Progress).
RELATED ANSWERS: B04 = slide 31; B11 = slide 38.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1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2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CURRENT DEPLOYMENT QUALIFICATION (24 OCTOBER 2026)
Implemented source functionality and historical exercise observations are not a claim of current deployed access. The cutover evidence pack records four-route 403 responses and unmet staff sign-in/Graph prerequisites. Current browser/role, SQL and real-AI acceptance remain outstanding. Do not describe Entra or Graph as currently live on the strength of this diagram.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3 of 3 - complete slide]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In-use monitoring closes the feedback loop: sensors or a labelled simulator send temperature and humidity via IoT Hub Basic, through API checks into SQL; deterministic signals ask a person to review. This accepted exercise design is not live integration or diagnosis. Resident reports bypass it. Excel and Microsoft 365 remain; #441 assesses optional resident self-service, not a deployed portal.
CURRENT DEPLOYMENT QUALIFICATION (24 OCTOBER 2026)
Implemented source functionality and historical exercise observations are not a claim of current deployed access. The cutover evidence pack records four-route 403 responses and unmet staff sign-in/Graph prerequisites. Current browser/role, SQL and real-AI acceptance remain outstanding. Do not describe Entra or Graph as currently live on the strength of this diagram.
SOURCES AND CALCULATIONS
ADR 0003, decision 6 and implementation status: Basic IoT Hub is accepted for exercise device-to-cloud telemetry; live identity, transport, derived analysis and review-task acceptance remain separate gates. Signals never suppress resident reports, diagnose hazards, change priority or release holds. Issue #441, read 23 October 2026: optional portal/workflow first; bounded resident-answer task separately gated, per-message human review normative and routine automation off. No measured call reduction or time saving is claimed.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S19 | Built with AI, governed by people.
TIMING: 60 s for this slide (all builds together) · 19:30-20:30 on the 23:45 narration clock.
SAY
How did a small team produce this much in six weeks? We put AI to work on the build itself, with the same discipline we apply to the product.
480 commits and 233 merged pull requests, from one architect, GitHub Copilot and automation. Every requirement becomes an epic, features and stories. Each story becomes one bounded task: research, plan, implement, review, on its own branch, ending in a pull request with tests and evidence. Agents implement; people and independent review keep the gate.
Here is a real trace: the home case epic 73, the role-based queue feature 76, the work-queue story 77, delivered in pull request 376 with browser verification.
That is the delivery engine Zava gets with this product: small, fast and accountable.
SOURCES AND CALCULATIONS
Repository counts on 23 Oct 2026 (480 commits, 233 merged PRs, 3 contributors); AMA Plan board (E20); trace #73 → #76 → #77 → PR #376 (E16); delivery method evidence (E14).
RELATED ANSWERS: B13 = slide 40.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S20 | Validate, pilot, scale: on the clock to April 2030.
TIMING: 60 s for this slide (all builds together) · 20:30-21:30 on the 23:45 narration clock.
SAY
Here is the plan, on the real calendar.
Phase 0, six to eight weeks: validate one connected journey against a paired comparator, so we measure what the workflow improves and what the AI adds on top.
Then a six to nine month pilot with clear targets from our requirements: at least 50 accepted handovers from 80 to 100 candidate homes, cycle time at least 20 per cent shorter and 25 per cent fewer coordination hours per home. It lands inside the wave 3 funding window, which runs to March 2028.
Then scale. The arithmetic is fixed: 88 homes a week to reach 15,600 homes by 1 April 2030. The workbench is how Zava runs that pace with control intact.
SOURCES AND CALCULATIONS
BRD BG-011 pilot proposal (Phase 0 6-8 weeks; pilot 6-9 months; ≥50 accepted handovers from 80-100 candidates; ≥20% shorter cycle time; 25% fewer coordination hours per home; targets under review, OD-18); measurement design (E10); Awaab's Law phase 2 30 Nov 2026 (MHCLG); WH:SHF wave 3 spend by 31 Mar 2028; EPC C 1 Apr 2030 (MHCLG/DESNZ); pace from the forecast slide.
RELATED ANSWERS: B17 = slide 44.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S21 | Decision today: fund the validation gate.
TIMING: 60 s for this slide (all builds together) · 21:30-22:30 on the 23:45 narration clock.
SAY
So here is the decision I am asking for today: fund Phase 0, six to eight weeks to validate one connected journey.
The scope is one connected journey and a paired comparator. The owners are named roles: the programme defines accepted progress, Finance sets the cost boundary and approves the spend, the technical owner proves the deployment, and control reviewers own acceptance.
We measure accepted handovers per week, preparation and review time, rework and the cost per accepted outcome. When quality, control and net value clear the bar, we scale. That is a small, finite commitment that buys a decision-quality answer, on the way to 88 homes a week.
SOURCES AND CALCULATIONS
Decision card from the authoring package S16 (E02, E10, E11, E13).
RELATED ANSWERS: B15 = slide 42.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S22 | See it work: one home, one exception, one accountable next step.
TIMING: 45 s for this slide (all builds together) · 22:30-23:15 on the 23:45 narration clock.
SAY
Now let me show you, rather than tell you. In the next ten minutes, watch three things.
Watch the evidence conflict find its owner. Watch what the AI drafts, and what only a person can approve. And watch the record keep the next action, so nothing disappears between teams.
We confirm the route at preflight: the live exercise, or a recorded walkthrough of the same steps. Either way you will see the same home, the same exception and the same accountable next step.
SOURCES AND CALCULATIONS
Ten-minute demo runbook: routes L and E, preflight checklist, eight-minute core route (E07, E13).
RELATED ANSWERS: B18 = slide 45.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S23 | More homes ready, with control intact.
TIMING: 30 s for this slide (all builds together) · 23:15-23:45 on the 23:45 narration clock.
SAY
Let me close where we started. 15,600 homes to lift by 2030, thousands more to keep safe, and a product that runs that programme one accountable decision at a time.
Agree the validation gate. Name the owners. And let's start the 2030 run.
Thank you.
SOURCES AND CALCULATIONS
Summary of the forecast and decision slides.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QX | Question index - appendix, navigation only
NOT PART OF THE SPOKEN ROUTE. Slide 26 (S23, the close) is the last spoken slide. Do not advance into the appendix during the talk.
HOW TO NAVIGATE
In Slide Show, type the slide number and press Enter to jump to an answer (for example 52 + Enter for B25). Each answer slide shows the main slide to return to and its number. Question index = slide 27.
The live build engine could not create clickable internal hyperlinks or hidden slides; add them in desktop PowerPoint using the link map in the build handoff before delivery, then validate them in the target viewer.
INTERRUPTION PROTOCOL (from audience-and-delivery.md)
1. Restate: "Your question is whether [business concern], rather than simply whether the model works."
2. Answer first in one sentence. State the relevant evidence and its limit.
3. Ask for a decision only when appropriate; otherwise park the deeper detail with an owner and return to the current main slide.
Bridges: "The short answer is no: that is a proposed control, not an observed one." | "There are two questions there: whether the workflow works, and whether AI improves it. We test them separately." | "I do not have a defensible unit price today. Here is the denominator and evidence the next gate must produce." | "We retained the five responsibilities and changed the autonomy." | "That would change the authority boundary; it needs a separate decision."
Do not say a decision has been made because the audience did not object. A full backup explanation replaces detail on the main route; it does not add free time.
FULL QUESTION LIST (slide titles B01-B27)
B01 (slide 28, return S04 slide 4): Why not fix the process and hire more people instead?
B02 (slide 29, return S11 slide 12): Is this replacing our housing system or integrating with it?
B03 (slide 30, return S08 slide 9): Why did you not build exactly the five agents we requested?
B04 (slide 31, return S15 slide 16): How do Decision Models reduce cost and response time?
B05 (slide 32, return S18 slide 21): What does the technology cost today?
B06 (slide 33, return S12 slide 13): How do residents retain choice, especially without digital access?
B07 (slide 34, return S17 slide 20): What stops a human from rubber-stamping AI?
B08 (slide 35, return S05 slide 6): Will this double retrofit delivery and capture GBP 40 million?
B09 (slide 36, return S10 slide 11): What is the per-home business case and cash exposure?
B10 (slide 37, return S16 slide 19): Why not deploy each agent independently?
B11 (slide 38, return S15 slide 16): What proves the AI is real and useful rather than a template?
B12 (slide 39, return S07 slide 8): Did you validate this with real residents and staff?
B13 (slide 40, return S19 slide 22): How did the requirements become an agent-delivered backlog?
B14 (slide 41, return S08 slide 9): Is this actually agentic if so much is deterministic?
B15 (slide 42, return S21 slide 24): What exactly must happen before a pilot or production decision?
B16 (slide 43, return S17 slide 20): What happens if the model, cloud or deployment fails?
B17 (slide 44, return S20 slide 23): When can we go live and who owns the next step?
B18 (slide 45, return S22 slide 25): Can you demonstrate a new live action right now?
B19 (slide 46, return S16 slide 19): Where do sensors fit and can AI diagnose damp or mould?
B20 (slide 47, return S14 slide 15): Why Azure instead of M365, Power Platform or buying a product?
B21 (slide 48, return S17 slide 20): How do you prevent hallucinations and prompt injection?
B22 (slide 49, return S16 slide 19): Can customer data leave the UK or train a provider's model?
B23 (slide 50, return S12 slide 13): How will you know this is fair and accessible?
B24 (slide 51, return S03 slide 3): How will you keep policy, law and funding rules current?
B25 (slide 52, return S18 slide 21): What is your Tokenomics unit and can the AI bill run away?
B26 (slide 53, return S18 slide 21): Why not cache every answer and route everything to the cheapest model?
B27 (slide 54, return S18 slide 21): What stops chat and agent sprawl multiplying hidden calls?
</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B01 | Why not fix the process and hire more people instead?
Question-led appendix answer | Audience: CEO / COO | Not part of the spoken route; show only when asked.
ANSWER FIRST (one sentence), THEN THE STRONGEST EVIDENCE AND ITS LIMIT
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ON-SLIDE COPY (slides.json, verbatim)
- Process improvement is the baseline
- AI must beat the same workflow without AI
- Physical delivery capacity still limits throughput
VISUAL
Three options with explicit trade-offs: manual/process only; workflow + rules; workflow + bounded AI.
RETURN
Return to S04 (slide 4), the bottleneck between teams.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Saved time is capacity until Finance confirms a real value destination.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B02 | Is this replacing our housing system or integrating with it?
Question-led appendix answer | Audience: CIO / COO | Not part of the spoken route; show only when asked.
ANSWER FIRST (one sentence), THEN THE STRONGEST EVIDENCE AND ITS LIMIT
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ON-SLIDE COPY (slides.json, verbatim)
- Demonstrator of coordination and evidence contracts
- No live housing/repairs integration proven
- Integration scope, authority and migration need separate discovery
VISUAL
Current workbench solid; customer systems outlined and labelled 'future integration appraisal'.
RETURN
Return to S11 (slide 12), meet the workbench.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B03 | Why did you not build exactly the five agents we requested?
Question-led appendix answer | Audience: CEO / sponsor / CTO | Not part of the spoken route; show only when asked.
ANSWER FIRST (one sentence), THEN THE STRONGEST EVIDENCE AND ITS LIMIT
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ON-SLIDE COPY (slides.json, verbatim)
- Five requested responsibilities are preserved
- Autonomy is bounded by decision rights and risk
- Five assistants != five independent runtimes
VISUAL
Five-row mapping: original responsibility -&gt; bounded help -&gt; human decision owner. Funding -&gt; Finance submits; quality -&gt; independent professional accepts; coordination -&gt; resident agrees; stock -&gt; approved policy/human review; assessment -&gt; qualified reviewer.
RETURN
Return to S08 (slide 9), what we challenged.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B04 | How do Decision Models reduce cost and response time?
Question-led appendix answer | Audience: CFO / CTO | Not part of the spoken route; show only when asked.
ANSWER FIRST (one sentence), THEN THE STRONGEST EVIDENCE AND ITS LIMIT
Decision 1 has historical narrow real-call feasibility for source-bound candidate selection; it is a learned scorer, not a deterministic decision table. A bounded scoring call may need less generation, but access, serving method, candidate count and human correction determine the result. Cheaper and faster results are calibrated in the pilot. Compare rules/manual, parser/templates, Decision 1 and generation on identical held-out tasks, counting abstentions, errors, review, retries, hosting and usage. Separately, a historical prototype recorded 0.03 ms workflow-only gates versus a 12.5 s median agent drafting step. Those are different outputs, not an equivalent-task speedup: keep explicit policy and arithmetic deterministic, then test whether drafting earns its cost.
ON-SLIDE COPY (slides.json, verbatim)
- Bounded candidates may avoid long-form generation
- Compare complete tasks, not endpoint prices
- Cheaper and faster results are calibrated in the pilot
VISUAL
Task-cost equation plus a blank comparison table marked 'Not measured', never invented bars. Columns: accepted quality, total staff time, p50/p95 latency, cost/accepted task, critical errors.
RETURN
Return to S15 (slide 16), AI where it earns its place.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Decision 1 is learned scoring, not deterministic rules. Its cheaper/faster advantage is not yet measured and it is not a proven deployed Foundry tier.</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B05 | What does the technology cost today?</a:t>
            </a:r>
          </a:p>
          <a:p>
            <a:r>
              <a:rPr lang="en-US"/>
              <a:t>Question-led appendix answer, CFO; outside spoken route.</a:t>
            </a:r>
            <a:endParaRPr lang="en-US"/>
          </a:p>
          <a:p>
            <a:r>
              <a:rPr lang="en-US"/>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r>
              <a:rPr lang="en-US"/>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r>
              <a:rPr lang="en-US"/>
              <a:t>E11 dated owner decision; E05 unexecuted money-control requirements; E21 recovered inference scenario in evidence/ai-cost-evidence.md (2026-10-24), secondary price as at 2026-10-23. No issue #435 acceptance. Return to caller uses Last Slide Viewed; separate topic link S18 slide 21 only for index entry.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B06 | How do residents retain choice, especially without digital access?
Question-led appendix answer | Audience: CEO / resident-services leader | Not part of the spoken route; show only when asked.
ANSWER FIRST (one sentence), THEN THE STRONGEST EVIDENCE AND ITS LIMIT
The current workbench is staff-facing; an optional resident portal is under assessment in issue #441. The hypothesis is that self-service status access could reduce avoidable calls and long interruptions of staff working time, without shifting work onto residents. Test staff interruption time, total handling/review effort, resident effort, access and comprehension; no saving is measured. Owner-confirmed Option B reuses existing case/API authority: portal/workflow first, any bounded resident-answer task separately gated. Per-message human review remains normative and routine automation is off. Phone, email, letters, visits and accessible assisted routes remain available without detriment. Preferred/safe contact and task-limited representative rights must be explicit. Sent does not mean received; silence, portal use and access never mean works consent. The issue remains open with a Research-stage integration blocker and no published PR at the retrieved snapshot. Direct resident research, privacy and accessibility acceptance remain separate gates.
ON-SLIDE COPY (slides.json, verbatim)
- Optional portal under assessment; assisted routes stay. Issue #441 retrieved 2026-10-23: https://github.com/jmservera/ama/issues/441 and latest comment https://github.com/jmservera/ama/issues/441#issuecomment-6374724922. The owner reports unpublished local work; this presentation does not inspect or accept it.
- Offer != agreement; silence != consent
- Representative authority is task-limited
VISUAL
Resident at the centre, digital and assisted routes of equal visual weight. No invented quote or photograph presented as a real resident.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E08 | docs/adrs/0003-journey-derived-capabilities-runtime-fit.md; docs/reference/research/ux/customer-journeys/customer-journey-atlas.md | Context and Decisions 1-5; journey-derived authority, offer/commitment and independent closure
   Classification: Owner-accepted scoped ADR direction and role-instrument desk research
   Supports: Separate offers, resident decisions, representative authority, remedies and controlled progression
   Limit: No direct resident/staff validation, professional appointment or lawful-processing acceptance.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The home is fictional and explicitly labelled as such; no resident, testimonial or approval is invented.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B07 | What stops a human from rubber-stamping AI?
Question-led appendix answer | Audience: Risk / compliance / COO | Not part of the spoken route; show only when asked.
ANSWER FIRST (one sentence), THEN THE STRONGEST EVIDENCE AND ITS LIMIT
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ON-SLIDE COPY (slides.json, verbatim)
- Source verification before proposal acceptance
- Current permission, evidence and independent authority
- Meaningful oversight remains a human acceptance gate
VISUAL
diagrams/04-controlled-ai-flow.svg, with review and separate domain action highlighted.
RETURN
Return to S17 (slide 20), controls by design.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B08 | Will this double retrofit delivery and capture GBP 40 million?
Question-led appendix answer | Audience: CEO / CFO | Not part of the spoken route; show only when asked.
ANSWER FIRST (one sentence), THEN THE STRONGEST EVIDENCE AND ITS LIMIT
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ON-SLIDE COPY (slides.json, verbatim)
- Original brief ambitions: the outcomes the pilot measures
- Capacity, scope, eligibility and cash all constrain value
- Frozen cohorts and attributable comparisons required
VISUAL
Ambition -&gt; dependencies -&gt; test -&gt; observed result, with the final cell explicitly outstanding.
RETURN
Return to S05 (slide 6), the forecast.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The 60,000-home stock, the 980-case retained programme and small test cohorts are different populations.
- Saved time is capacity until Finance confirms a real value destination.</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B09 | What is the per-home business case and cash exposure?</a:t>
            </a:r>
          </a:p>
          <a:p>
            <a:r>
              <a:rPr lang="en-US"/>
              <a:t>Question-led appendix answer, CFO/asset executive; outside spoken route.</a:t>
            </a:r>
            <a:endParaRPr lang="en-US"/>
          </a:p>
          <a:p>
            <a:r>
              <a:rPr lang="en-US"/>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r>
              <a:rPr lang="en-US"/>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r>
              <a:rPr lang="en-US"/>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r>
              <a:rPr lang="en-US"/>
              <a:t>E02 exercise fixtures; E21 evidence/ai-cost-evidence.md, Recovered Council Comparison (2026-10-24). Keep GBP works distinct from USD technology; no comparison percentage without approved FX. Return to caller: Last Slide Viewed; separate topic S10 slide 11 for index entry only.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B10 | Why not deploy each agent independently?
Question-led appendix answer | Audience: CTO / CIO | Not part of the spoken route; show only when asked.
ANSWER FIRST (one sentence), THEN THE STRONGEST EVIDENCE AND ITS LIMIT
Independent workers can be appropriate when load, isolation, deployment cadence or resilience requires them. They also introduce queue ownership, retries, duplicate handling and distributed state. The five assistants currently use the API proposal service, with short SQL transactions and inference outside locks. Do not draw deferred orchestrator/queue/worker placeholders as the active five-agent implementation. A future split needs explicit contracts, operational evidence and a separate decision.
ON-SLIDE COPY (slides.json, verbatim)
- Current runtime: shared API and SQL
- Separate workers add failure and operating boundaries
- Split when measured isolation or load justifies it
VISUAL
Current single runtime left; future split right, dashed and labelled deferred. No suggestion of a deployed Service Bus or Foundry Agent Service.
RETURN
Return to S16 (slide 19), architecture and security boundaries.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B11 | What proves the AI is real and useful rather than a template?
Question-led appendix answer | Audience: CTO / panel | Not part of the spoken route; show only when asked.
ANSWER FIRST (one sentence), THEN THE STRONGEST EVIDENCE AND ITS LIMIT
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ON-SLIDE COPY (slides.json, verbatim)
- Provider/model/usage and source=ai evidence
- Template/replay is clearly labelled as a fallback
- Real invocation proven; calibrated quality and value come from the pilot
VISUAL
Three evidence cards: invocation; semantic acceptance; incremental value. Keep the latter gates outstanding.
RETURN
Return to S15 (slide 16), AI where it earns its place.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- 6,884 tokens across five runs is a historical observation without human acceptance - not a price, a quality result or an accepted-outcome denominator.</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B12 | Did you validate this with real residents and staff?
Question-led appendix answer | Audience: CEO / COO / panel | Not part of the spoken route; show only when asked.
ANSWER FIRST (one sentence), THEN THE STRONGEST EVIDENCE AND ITS LIMIT
There is useful owner feedback, prototype review and structured role-instrument research. Those sources can expose plausible tensions but cannot speak for real residents, establish workforce acceptance or approve a service. The pilot tests the design with the right people and accessible routes, under privacy and research controls. No invented testimonial, persona quote or expert artifact review should be presented as a real customer's endorsement.
ON-SLIDE COPY (slides.json, verbatim)
- Owner feedback and role-instrument review informed design
- Role agents sharpened the design; customers validate it
- Human task and comprehension validation: next milestone
VISUAL
Evidence categories in separate boxes: owner feedback; desk/role research; actual human validation outstanding.
RETURN
Return to S07 (slide 8), who we designed for. Question index = slide 27. In Slide Show type the number and press Enter.
A full backup explanation replaces detail on the main route; it does not add free time.
EVIDENCE AND CLAIM CLASSIFICATION
E14 | docs/reference/log.md; delivery-method-evidence.md | Dated prototype/MVP and knowledge-base history; HVE/RPI milestone citations in bundled report
   Classification: Repository chronology and documented method
   Supports: Iterative learning and evidence-led research/plan/implement/review
   Limit: Method and artifact evidence, not a measured productivity gain or real customer validation.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B13 | How did the requirements become an agent-delivered backlog?
Question-led appendix answer | Audience: CIO / engineering leader / panel | Not part of the spoken route; show only when asked.
ANSWER FIRST (one sentence), THEN THE STRONGEST EVIDENCE AND ITS LIMIT
The owner recalls approximately 180 issues including epics and stories; today's board has 189 items across epics, features, stories and other issues. Keep historical waves and dated scopes separate. One concrete chain is epic #73 -&gt; feature #76 -&gt; story #77: the story cites PRD FR-004/032/034, specifies queue definitions and versioned reset behaviour, and records delivery/local browser evidence in PR #376. That trace is inspectable, but a closed story is not whole-epic or current cloud/human acceptance. BRD, PRD and ADRs constrain bounded research/plan/implementation/review tasks. Independent review and owner decisions remain separate; counts are not measured productivity.
ON-SLIDE COPY (slides.json, verbatim)
- BRD, PRD and ADRs generated a hierarchical issue backlog
- Current board: 189 items; 16 epic, 110 feature, 34 story, 29 other
- Bounded RPI, dependencies, pull requests and retained findings
VISUAL
Use epic #73 -&gt; feature #76 -&gt; story #77 -&gt; PR #376 as the concrete trace. Show the story's PRD FR-004/032/034 and local-browser versus human/cloud acceptance boundary. No accepted-completion pie chart.
RETURN
Return to S19 (slide 22), how we build. Question index = slide 27. In Slide Show type the number and press Enter.
A full backup explanation replaces detail on the main route; it does not add free time.
EVIDENCE AND CLAIM CLASSIFICATION
E14 | docs/reference/log.md; delivery-method-evidence.md | Dated prototype/MVP and knowledge-base history; HVE/RPI milestone citations in bundled report
   Classification: Repository chronology and documented method
   Supports: Iterative learning and evidence-led research/plan/implement/review
   Limit: Method and artifact evidence, not a measured productivity gain or real customer validation.
E16 | docs/reference/log.md; docs/reference/research/ux/zava-forward-prototype-profile-review.md; delivery-method-evidence.md; project-snapshot.json; https://github.com/jmservera/ama/issues/73; https://github.com/jmservera/ama/issues/77 | Historical generation waves and source versions; dated hierarchy and current board projection
   Classification: Repository/GitHub historical snapshots plus owner's approximate scale recollection
   Supports: BRD/PRD/ADR-derived backlog across epics, features and stories; around 180 issues is not 180 agents or stories alone
   Limit: Counts are snapshot-specific. Current board status and original generation count are not accepted completion.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E20 | project-snapshot.json; project-snapshot.html; project-snapshot.png | AMA Plan project 7, retrieved 2026-10-23T07:21:14Z
   Classification: Read-only GitHub API projection, not a screenshot of the GitHub website
   Supports: 189 current board items; 16 epic, 110 feature, 34 story labels, 29 unclassified; 111 Todo, 24 In Progress, 54 Done
   Limit: Private board. Readme says originally generated 2026-10-15 excluding agentic-workflows-labelled issues and includes open/closed issues. Current statuses do not establish acceptance; no exact historical 180 count inferred.
EVIDENCE GUARDRAILS FOR THIS SLIDE
- Approximately 180 describes the owner's historical backlog scale (epics, features and user stories) - not agents, not stories alone, not accepted completion. Use the dated snapshots in E16/E20 for exact figures (189 board items on 2026-10-23 07:21 UTC).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B14 | Is this actually agentic if so much is deterministic?
Question-led appendix answer | Audience: Innovation leader / CTO | Not part of the spoken route; show only when asked.
ANSWER FIRST (one sentence), THEN THE STRONGEST EVIDENCE AND ITS LIMIT
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ON-SLIDE COPY (slides.json, verbatim)
- Reasoning and preparation are bounded capabilities
- Deterministic orchestration protects controlled state
- Autonomy is task-specific, not a marketing label
VISUAL
Three ownership bands: policy/state; reasoning/preparation; accountable decision.
RETURN
Return to S08 (slide 9), what we challenged. Question index = slide 27. In Slide Show type the number and press Enter.
A full backup explanation replaces detail on the main route; it does not add free time.
EVIDENCE AND CLAIM CLASSIFICATION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B15 | What exactly must happen before a pilot or production decision?
Question-led appendix answer | Audience: CEO / CIO / risk | Not part of the spoken route; show only when asked.
ANSWER FIRST (one sentence), THEN THE STRONGEST EVIDENCE AND ITS LIMIT
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ON-SLIDE COPY (slides.json, verbatim)
- Current deployment, roles, SQL and real-AI evidence
- Human, privacy, professional and accessibility acceptance
- Measured value, cost, recovery and explicit release decision
VISUAL
Three mandatory gates with owner role and required artifact, all labelled pending until evidence exists.
RETURN
Return to S21 (slide 24), the decision.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EVIDENCE GUARDRAILS FOR THIS SLIDE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B16 | What happens if the model, cloud or deployment fails?
Question-led appendix answer | Audience: COO / CIO | Not part of the spoken route; show only when asked.
ANSWER FIRST (one sentence), THEN THE STRONGEST EVIDENCE AND ITS LIMIT
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ON-SLIDE COPY (slides.json, verbatim)
- No approval from failure or stale evidence
- Owned manual work and independent safety handling
- Restart proven; full restore drill is the next milestone
VISUAL
diagrams/05-operations.svg. Use an explicit manual lane; no unsupported availability percentage, RTO or RPO.
RETURN
Return to S17 (slide 20), controls by design.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TEXT ALTERNATIVE (diagram 05: operations)
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This is a responsibility/control view, not a deployment/network topology. No connectors are needed: the three columns are concerns, not request hops.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B17 | When can we go live and who owns the next step?
Question-led appendix answer | Audience: CEO / sponsor | Not part of the spoken route; show only when asked.
ANSWER FIRST (one sentence), THEN THE STRONGEST EVIDENCE AND ITS LIMIT
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ON-SLIDE COPY (slides.json, verbatim)
- Dependency-led plan: dates follow the gates
- Programme owns scope; Finance owns spend review
- Technical and control owners supply acceptance evidence
VISUAL
Readiness sequence with dependencies rather than calendar dates.
RETURN
Return to S20 (slide 23), the roadmap.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USD 700 is the owner-set October all-in forecast ceiling - not a monthly production cost or unconditional tranche authority. Execution prerequisites remain blocked and authority expires 2026-10-25T16:02Z. USD 450/month is historical.</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B18 | Can you demonstrate a new live action right now?
Question-led appendix answer | Audience: Any executive | Not part of the spoken route; show only when asked.
ANSWER FIRST (one sentence), THEN THE STRONGEST EVIDENCE AND ITS LIMIT
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ON-SLIDE COPY (slides.json, verbatim)
- Only pre-authorised, reversible constructed scope
- No unplanned role, network, spend or data changes
- Fallback is visibly labelled evidence, never simulated live proof
VISUAL
Demo route selector: live passed / labelled evidence / unavailable. No silent mock fallback.
RETURN
Return to S22 (slide 25), the demo.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B19 | Where do sensors fit and can AI diagnose damp or mould?
Question-led appendix answer | Audience: Asset / safety / CTO | Not part of the spoken route; show only when asked.
ANSWER FIRST (one sentence), THEN THE STRONGEST EVIDENCE AND ITS LIMIT
The accepted ADR selects Basic IoT Hub for exercise device-to-cloud telemetry. The finite offline consumer has local engineering evidence; it does not establish live device identity, transport, Azure SQL, analysis or application acceptance. Proposed analysis is deterministic and source/version-bound. Missing data is insufficient, not safe. No AI or sensor result may suppress a resident report, diagnose a hazard or release a hold. Raw device/resident context must not leak into prompts or map payloads.
ON-SLIDE COPY (slides.json, verbatim)
- IoT Hub Basic is an exercise design decision
- Offline consumer tested locally; live Hub integration remains a separate gate. In-use temperature/humidity trends could help identify a need for post-retrofit follow-up; this is a value hypothesis, not measured prevention or diagnostic accuracy. The main architecture build now shows this sensor-to-human-review path.
- Signals request human review, never diagnose or suppress
VISUAL
diagrams/06-sensor-target.svg, with the whole telemetry path dashed and independent safety route solid.
RETURN
Return to S16 (slide 19), architecture and security boundaries. Question index = slide 27. In Slide Show type the number and press Enter.
A full backup explanation replaces detail on the main route; it does not add free time.
EVIDENCE AND CLAIM CLASSIFICATION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
TEXT ALTERNATIVE (diagram 06: sensor target)
A device or explicitly labelled simulator uses a distinct identity and stable reading ID. The target transport is Azure IoT Hub Basic, device-to-cloud only for the exercise. The API validates mapping/time and appends idempotently to SQL, with owned data-quality exceptions. A derived deterministic signal may request human review; it does not diagnose a hazard or change priority. Missing data is insufficient. All telemetry boxes and arrows are dashed because this end-to-end live path is not accepted. A solid separate human safety route handles resident reports independently.
Do not label a simulator or finite offline consumer as deployed telemetry. No new IoT threshold, device credential or operational legal claim is supplied.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B20 | Why Azure instead of M365, Power Platform or buying a product?
Question-led appendix answer | Audience: CIO / CFO | Not part of the spoken route; show only when asked.
ANSWER FIRST (one sentence), THEN THE STRONGEST EVIDENCE AND ITS LIMIT
Azure is the selected exercise realisation, not proof that custom development is commercially superior. Compare an existing housing product, M365/Power Platform configuration and custom Azure against the same workflow, permissions, audit, integration, accessibility, model terms and total cost. Existing licences and tenant capability cannot be assumed. A training preference is not customer value. The current source gives us testable contracts and trade-offs to take into that appraisal, not a completed procurement decision.
ON-SLIDE COPY (slides.json, verbatim)
- Appraise buy/configure/build on the same requirements
- The Azure exercise proves the contracts end to end
- Licensing, integration, control and TCO decide
VISUAL
Option matrix with evidence required; no unsupported winning score.
RETURN
Return to S14 (slide 15), Excel in, Excel out and Microsoft 365.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B21 | How do you prevent hallucinations and prompt injection?
Question-led appendix answer | Audience: CISO / CTO / risk | Not part of the spoken route; show only when asked.
ANSWER FIRST (one sentence), THEN THE STRONGEST EVIDENCE AND ITS LIMIT
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ON-SLIDE COPY (slides.json, verbatim)
- Permitted task context and source/version binding
- Schema/citation checks plus independent semantic review
- Built to contain vulnerabilities and hallucinations, not to deny them
VISUAL
diagrams/04-controlled-ai-flow.svg with untrusted evidence and review boundaries called out in notes.
RETURN
Return to S17 (slide 20), controls by design. Question index = slide 27. In Slide Show type the number and press Enter.
A full backup explanation replaces detail on the main route; it does not add free time.
EVIDENCE AND CLAIM CLASSIFICATION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B22 | Can customer data leave the UK or train a provider's model?
Question-led appendix answer | Audience: DPO / CISO / CIO | Not part of the spoken route; show only when asked.
ANSWER FIRST (one sentence), THEN THE STRONGEST EVIDENCE AND ITS LIMIT
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ON-SLIDE COPY (slides.json, verbatim)
- Processing geography is set by the deployment type
- Verify exact model, deployment type and contract
- No real resident data or private dataset in this handoff
VISUAL
Processing decision checklist, no unverified UK-only green badge.
RETURN
Return to S16 (slide 19), architecture and security boundaries.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B23 | How will you know this is fair and accessible?
Question-led appendix answer | Audience: CEO / resident services / risk | Not part of the spoken route; show only when asked.
ANSWER FIRST (one sentence), THEN THE STRONGEST EVIDENCE AND ITS LIMIT
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ON-SLIDE COPY (slides.json, verbatim)
- No-digital route and understandable explanations
- Cohort errors, exclusions and unknowns are visible
- Engineering checks != resident or WCAG acceptance
VISUAL
Outcome comparison with guardrails and visible unknowns, not a compliance seal.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B24 | How will you keep policy, law and funding rules current?
Question-led appendix answer | Audience: Risk / legal / CFO | Not part of the spoken route; show only when asked.
ANSWER FIRST (one sentence), THEN THE STRONGEST EVIDENCE AND ITS LIMIT
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Legal dates come from official government publications (Oct 2026); Zava's legal review confirms them.
ON-SLIDE COPY (slides.json, verbatim)
- Dated sources with authority classification
- Detected change -&gt; reviewed rule change -&gt; tests
- No silent model update to live controls
VISUAL
Source -&gt; reviewed change item -&gt; approved control version -&gt; regression evidence.
RETURN
Return to S03 (slide 3), three clocks.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E18 | docs/reference/regulatory/README.md | Authority and Use; Change Assessment and Monitoring Register; Managed Update Workflow
   Classification: Repository source-governance convention
   Supports: Dated sources, authority hierarchy, human approval and reviewed control updates
   Limit: No live legal-source currentness check or operational activation performed for this package.
EVIDENCE GUARDRAILS FOR THIS SLIDE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B25 | What is your Tokenomics unit and can the AI bill run away?</a:t>
            </a:r>
          </a:p>
          <a:p>
            <a:r>
              <a:rPr lang="en-US"/>
              <a:t>Question-led appendix answer, CFO/panel; outside spoken route.</a:t>
            </a:r>
            <a:endParaRPr lang="en-US"/>
          </a:p>
          <a:p>
            <a:r>
              <a:rPr lang="en-US"/>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r>
              <a:rPr lang="en-US"/>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r>
              <a:rPr lang="en-US"/>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r>
              <a:rPr lang="en-US"/>
              <a:t>E19 historical usage, E05 BRD FR-052/NFR-012/OD-51 and PRD acceptance requirements, E11 dated envelope, E21 evidence/ai-cost-evidence.md, Recovered Council Comparison (2026-10-24). Return to caller via Last Slide Viewed; fixed topic S18 slide 21 only for index entry.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B26 | Why not cache every answer and route everything to the cheapest model?
Question-led appendix answer | Audience: CIO / CTO / CFO | Not part of the spoken route; show only when asked.
ANSWER FIRST (one sentence), THEN THE STRONGEST EVIDENCE AND ITS LIMIT
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ON-SLIDE COPY (slides.json, verbatim)
- Same permission, evidence version and task validity required
- Smallest model must clear held-out quality and latency thresholds
- Change one lever, compare, then keep or revert
VISUAL
One-lever experiment: baseline -&gt; routing OR context OR cache -&gt; quality/latency/cost check -&gt; retain/revert.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B27 | What stops chat and agent sprawl multiplying hidden calls?
Question-led appendix answer | Audience: CTO / CIO / panel | Not part of the spoken route; show only when asked.
ANSWER FIRST (one sentence), THEN THE STRONGEST EVIDENCE AND ITS LIMIT
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ON-SLIDE COPY (slides.json, verbatim)
- Deterministic state graph, not an open-ended agent loop
- Existing bounded authority expires and exhausts
- Per-request call/depth limits are proposed, Not run
VISUAL
One user request branching into a bounded call tree, all proposed request bounds marked dashed. Avoid presenting draft Big-T notation as an industry standard.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6.png"/><Relationship Id="rId4" Type="http://schemas.openxmlformats.org/officeDocument/2006/relationships/image" Target="../media/image18.png"/><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3.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4.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5.jpeg"/><Relationship Id="rId7"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2.png"/></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4.png"/><Relationship Id="rId18" Type="http://schemas.openxmlformats.org/officeDocument/2006/relationships/image" Target="../media/image23.png"/><Relationship Id="rId3" Type="http://schemas.openxmlformats.org/officeDocument/2006/relationships/image" Target="../media/image9.png"/><Relationship Id="rId7" Type="http://schemas.openxmlformats.org/officeDocument/2006/relationships/image" Target="../media/image18.png"/><Relationship Id="rId12" Type="http://schemas.openxmlformats.org/officeDocument/2006/relationships/image" Target="../media/image26.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21.png"/><Relationship Id="rId10"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27.png"/></Relationships>
</file>

<file path=ppt/slides/_rels/slide1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27.png"/><Relationship Id="rId4" Type="http://schemas.openxmlformats.org/officeDocument/2006/relationships/image" Target="../media/image28.png"/><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4.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 Target="slide16.xm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slide" Target="slide16.xm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slide" Target="slide24.xm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20.xml"/><Relationship Id="rId5" Type="http://schemas.openxmlformats.org/officeDocument/2006/relationships/image" Target="../media/image33.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slide" Target="slide19.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slide" Target="slide21.xml"/><Relationship Id="rId4" Type="http://schemas.openxmlformats.org/officeDocument/2006/relationships/image" Target="../media/image38.png"/></Relationships>
</file>

<file path=ppt/slides/_rels/slide53.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fund the validation gate, then scale</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Three clocks are already running.</a:t>
            </a:r>
          </a:p>
          <a:p>
            <a:pPr algn="l">
              <a:buNone/>
            </a:pPr>
            <a:r>
              <a:rPr lang="en-US" sz="100">
                <a:effectLst/>
              </a:rPr>
              <a:t> </a:t>
            </a:r>
            <a:endParaRPr lang="en-US"/>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59" name="Milestone 1 date">
            <a:extLst>
              <a:ext uri="{FF2B5EF4-FFF2-40B4-BE49-F238E27FC236}">
                <a16:creationId xmlns:a16="http://schemas.microsoft.com/office/drawing/2014/main" id="{95DFB502-033F-3D47-6296-E180439D1C8E}"/>
              </a:ext>
            </a:extLst>
          </p:cNvPr>
          <p:cNvSpPr/>
          <p:nvPr/>
        </p:nvSpPr>
        <p:spPr>
          <a:xfrm>
            <a:off x="591312"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27 Oct 2025</a:t>
            </a:r>
          </a:p>
          <a:p>
            <a:pPr algn="ctr">
              <a:buNone/>
            </a:pPr>
            <a:r>
              <a:rPr lang="en-US" sz="100">
                <a:effectLst/>
              </a:rPr>
              <a:t> </a:t>
            </a: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74" name="Milestone 1 label">
            <a:extLst>
              <a:ext uri="{FF2B5EF4-FFF2-40B4-BE49-F238E27FC236}">
                <a16:creationId xmlns:a16="http://schemas.microsoft.com/office/drawing/2014/main" id="{02B92FF5-B5D0-1ACD-074E-43337F723AF2}"/>
              </a:ext>
            </a:extLst>
          </p:cNvPr>
          <p:cNvSpPr/>
          <p:nvPr/>
        </p:nvSpPr>
        <p:spPr>
          <a:xfrm>
            <a:off x="507492" y="3037676"/>
            <a:ext cx="2301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Awaab's Law phase 1</a:t>
            </a:r>
          </a:p>
          <a:p>
            <a:pPr algn="ctr">
              <a:buNone/>
            </a:pPr>
            <a:r>
              <a:rPr lang="en-US" sz="100">
                <a:effectLst/>
              </a:rPr>
              <a:t> </a:t>
            </a:r>
            <a:endParaRPr lang="en-US"/>
          </a:p>
        </p:txBody>
      </p:sp>
      <p:sp>
        <p:nvSpPr>
          <p:cNvPr id="30483" name="Milestone 1 detail">
            <a:extLst>
              <a:ext uri="{FF2B5EF4-FFF2-40B4-BE49-F238E27FC236}">
                <a16:creationId xmlns:a16="http://schemas.microsoft.com/office/drawing/2014/main" id="{8BF1E34F-8081-83A2-CD09-BA38E1887AC7}"/>
              </a:ext>
            </a:extLst>
          </p:cNvPr>
          <p:cNvSpPr/>
          <p:nvPr/>
        </p:nvSpPr>
        <p:spPr>
          <a:xfrm>
            <a:off x="507492" y="3503676"/>
            <a:ext cx="23012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24 hours to make safe,</a:t>
            </a:r>
          </a:p>
          <a:p>
            <a:pPr algn="ctr">
              <a:buNone/>
            </a:pPr>
            <a:r>
              <a:rPr lang="en-US" sz="1400">
                <a:solidFill>
                  <a:srgbClr val="173F35"/>
                </a:solidFill>
                <a:effectLst/>
                <a:latin typeface="Arial" panose="020B0604020202020204" pitchFamily="34" charset="0"/>
              </a:rPr>
              <a:t>10 working days</a:t>
            </a:r>
          </a:p>
          <a:p>
            <a:pPr algn="ctr">
              <a:buNone/>
            </a:pPr>
            <a:r>
              <a:rPr lang="en-US" sz="1400">
                <a:solidFill>
                  <a:srgbClr val="173F35"/>
                </a:solidFill>
                <a:effectLst/>
                <a:latin typeface="Arial" panose="020B0604020202020204" pitchFamily="34" charset="0"/>
              </a:rPr>
              <a:t>to investigate</a:t>
            </a:r>
            <a:endParaRPr lang="en-US"/>
          </a:p>
        </p:txBody>
      </p:sp>
      <p:sp>
        <p:nvSpPr>
          <p:cNvPr id="30493" name="Milestone 2 date">
            <a:extLst>
              <a:ext uri="{FF2B5EF4-FFF2-40B4-BE49-F238E27FC236}">
                <a16:creationId xmlns:a16="http://schemas.microsoft.com/office/drawing/2014/main" id="{EA9A70E2-2D5C-E6CA-9232-19CEB4A3EFB4}"/>
              </a:ext>
            </a:extLst>
          </p:cNvPr>
          <p:cNvSpPr/>
          <p:nvPr/>
        </p:nvSpPr>
        <p:spPr>
          <a:xfrm>
            <a:off x="2810256"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7A4B00"/>
                </a:solidFill>
                <a:effectLst/>
                <a:latin typeface="Arial" panose="020B0604020202020204" pitchFamily="34" charset="0"/>
              </a:rPr>
              <a:t>30 Nov 2026</a:t>
            </a:r>
          </a:p>
          <a:p>
            <a:pPr algn="ctr">
              <a:buNone/>
            </a:pPr>
            <a:r>
              <a:rPr lang="en-US" sz="100">
                <a:effectLst/>
              </a:rPr>
              <a:t> </a:t>
            </a: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16" name="Milestone 2 label">
            <a:extLst>
              <a:ext uri="{FF2B5EF4-FFF2-40B4-BE49-F238E27FC236}">
                <a16:creationId xmlns:a16="http://schemas.microsoft.com/office/drawing/2014/main" id="{4300E95C-DEA0-35B9-FA1A-6C6CC2A353B0}"/>
              </a:ext>
            </a:extLst>
          </p:cNvPr>
          <p:cNvSpPr/>
          <p:nvPr/>
        </p:nvSpPr>
        <p:spPr>
          <a:xfrm>
            <a:off x="2810256"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Excess cold and heat join the law</a:t>
            </a:r>
          </a:p>
          <a:p>
            <a:pPr algn="ctr">
              <a:buNone/>
            </a:pPr>
            <a:r>
              <a:rPr lang="en-US" sz="100">
                <a:effectLst/>
              </a:rPr>
              <a:t> </a:t>
            </a:r>
            <a:endParaRPr lang="en-US"/>
          </a:p>
        </p:txBody>
      </p:sp>
      <p:sp>
        <p:nvSpPr>
          <p:cNvPr id="30529" name="5 weeks away pill">
            <a:extLst>
              <a:ext uri="{FF2B5EF4-FFF2-40B4-BE49-F238E27FC236}">
                <a16:creationId xmlns:a16="http://schemas.microsoft.com/office/drawing/2014/main" id="{74711BCB-D7DC-4869-9B2E-4D1F6993FFAA}"/>
              </a:ext>
            </a:extLst>
          </p:cNvPr>
          <p:cNvSpPr/>
          <p:nvPr/>
        </p:nvSpPr>
        <p:spPr>
          <a:xfrm>
            <a:off x="2990088" y="3793236"/>
            <a:ext cx="17739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5 WEEKS AWAY</a:t>
            </a:r>
          </a:p>
          <a:p>
            <a:pPr algn="ctr">
              <a:buNone/>
            </a:pPr>
            <a:r>
              <a:rPr lang="en-US" sz="100">
                <a:effectLst/>
              </a:rPr>
              <a:t> </a:t>
            </a:r>
            <a:endParaRPr lang="en-US"/>
          </a:p>
        </p:txBody>
      </p:sp>
      <p:sp>
        <p:nvSpPr>
          <p:cNvPr id="30543" name="Milestone 3 date">
            <a:extLst>
              <a:ext uri="{FF2B5EF4-FFF2-40B4-BE49-F238E27FC236}">
                <a16:creationId xmlns:a16="http://schemas.microsoft.com/office/drawing/2014/main" id="{27029D47-36AE-494D-C4DB-F8A0E0402108}"/>
              </a:ext>
            </a:extLst>
          </p:cNvPr>
          <p:cNvSpPr/>
          <p:nvPr/>
        </p:nvSpPr>
        <p:spPr>
          <a:xfrm>
            <a:off x="5029200"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2027</a:t>
            </a:r>
          </a:p>
          <a:p>
            <a:pPr algn="ctr">
              <a:buNone/>
            </a:pPr>
            <a:r>
              <a:rPr lang="en-US" sz="100">
                <a:effectLst/>
              </a:rPr>
              <a:t> </a:t>
            </a: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74" name="Milestone 3 label">
            <a:extLst>
              <a:ext uri="{FF2B5EF4-FFF2-40B4-BE49-F238E27FC236}">
                <a16:creationId xmlns:a16="http://schemas.microsoft.com/office/drawing/2014/main" id="{EC070ECF-9C02-61EB-B7FD-6CFE1F2AA7E2}"/>
              </a:ext>
            </a:extLst>
          </p:cNvPr>
          <p:cNvSpPr/>
          <p:nvPr/>
        </p:nvSpPr>
        <p:spPr>
          <a:xfrm>
            <a:off x="5029200"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Phase 3: all remaining hazards</a:t>
            </a:r>
          </a:p>
          <a:p>
            <a:pPr algn="ctr">
              <a:buNone/>
            </a:pPr>
            <a:r>
              <a:rPr lang="en-US" sz="100">
                <a:effectLst/>
              </a:rPr>
              <a:t> </a:t>
            </a:r>
            <a:endParaRPr lang="en-US"/>
          </a:p>
        </p:txBody>
      </p:sp>
      <p:sp>
        <p:nvSpPr>
          <p:cNvPr id="30591" name="Milestone 4 date">
            <a:extLst>
              <a:ext uri="{FF2B5EF4-FFF2-40B4-BE49-F238E27FC236}">
                <a16:creationId xmlns:a16="http://schemas.microsoft.com/office/drawing/2014/main" id="{B78F5803-44B9-69E1-64CD-9A094152F593}"/>
              </a:ext>
            </a:extLst>
          </p:cNvPr>
          <p:cNvSpPr/>
          <p:nvPr/>
        </p:nvSpPr>
        <p:spPr>
          <a:xfrm>
            <a:off x="7248144"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28" name="Milestone 4 label">
            <a:extLst>
              <a:ext uri="{FF2B5EF4-FFF2-40B4-BE49-F238E27FC236}">
                <a16:creationId xmlns:a16="http://schemas.microsoft.com/office/drawing/2014/main" id="{8AB0295F-A0D8-2C3C-7665-8ABBEF45998C}"/>
              </a:ext>
            </a:extLst>
          </p:cNvPr>
          <p:cNvSpPr/>
          <p:nvPr/>
        </p:nvSpPr>
        <p:spPr>
          <a:xfrm>
            <a:off x="7248144"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Every social home at EPC C</a:t>
            </a:r>
          </a:p>
          <a:p>
            <a:pPr algn="ctr">
              <a:buNone/>
            </a:pPr>
            <a:r>
              <a:rPr lang="en-US" sz="100">
                <a:effectLst/>
              </a:rPr>
              <a:t> </a:t>
            </a:r>
            <a:endParaRPr lang="en-US"/>
          </a:p>
        </p:txBody>
      </p:sp>
      <p:sp>
        <p:nvSpPr>
          <p:cNvPr id="30648" name="Milestone 5 date">
            <a:extLst>
              <a:ext uri="{FF2B5EF4-FFF2-40B4-BE49-F238E27FC236}">
                <a16:creationId xmlns:a16="http://schemas.microsoft.com/office/drawing/2014/main" id="{ED9C75B5-7163-F259-5454-D1649CF5935F}"/>
              </a:ext>
            </a:extLst>
          </p:cNvPr>
          <p:cNvSpPr/>
          <p:nvPr/>
        </p:nvSpPr>
        <p:spPr>
          <a:xfrm>
            <a:off x="9467088"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2035</a:t>
            </a:r>
          </a:p>
          <a:p>
            <a:pPr algn="ctr">
              <a:buNone/>
            </a:pPr>
            <a:r>
              <a:rPr lang="en-US" sz="100">
                <a:effectLst/>
              </a:rPr>
              <a:t> </a:t>
            </a: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91" name="Milestone 5 label">
            <a:extLst>
              <a:ext uri="{FF2B5EF4-FFF2-40B4-BE49-F238E27FC236}">
                <a16:creationId xmlns:a16="http://schemas.microsoft.com/office/drawing/2014/main" id="{CF3087D8-B6F7-78B7-2A64-BFC17DA614F5}"/>
              </a:ext>
            </a:extLst>
          </p:cNvPr>
          <p:cNvSpPr/>
          <p:nvPr/>
        </p:nvSpPr>
        <p:spPr>
          <a:xfrm>
            <a:off x="9467088"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New Decent Homes Standard</a:t>
            </a:r>
          </a:p>
          <a:p>
            <a:pPr algn="ctr">
              <a:buNone/>
            </a:pPr>
            <a:r>
              <a:rPr lang="en-US" sz="100">
                <a:effectLst/>
              </a:rPr>
              <a:t> </a:t>
            </a: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63" name="Insight text">
            <a:extLst>
              <a:ext uri="{FF2B5EF4-FFF2-40B4-BE49-F238E27FC236}">
                <a16:creationId xmlns:a16="http://schemas.microsoft.com/office/drawing/2014/main" id="{A3448B98-F37C-FA3F-0B8E-049FD65D1CD2}"/>
              </a:ext>
            </a:extLst>
          </p:cNvPr>
          <p:cNvSpPr/>
          <p:nvPr/>
        </p:nvSpPr>
        <p:spPr>
          <a:xfrm>
            <a:off x="1600200" y="4808220"/>
            <a:ext cx="986028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E9B14C"/>
                </a:solidFill>
                <a:effectLst/>
                <a:latin typeface="Arial" panose="020B0604020202020204" pitchFamily="34" charset="0"/>
              </a:rPr>
              <a:t>From 30 Nov 2026, cold homes are a legal hazard:</a:t>
            </a:r>
          </a:p>
          <a:p>
            <a:pPr algn="l">
              <a:buNone/>
            </a:pPr>
            <a:r>
              <a:rPr lang="en-US" sz="2200" b="1">
                <a:solidFill>
                  <a:srgbClr val="FAF9F6"/>
                </a:solidFill>
                <a:effectLst/>
                <a:latin typeface="Arial" panose="020B0604020202020204" pitchFamily="34" charset="0"/>
              </a:rPr>
              <a:t>retrofit and repairs become one programme.</a:t>
            </a: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designed for the people who move a home forward.</a:t>
            </a:r>
          </a:p>
          <a:p>
            <a:pPr algn="l">
              <a:buNone/>
            </a:pPr>
            <a:r>
              <a:rPr lang="en-US" sz="100">
                <a:effectLst/>
              </a:rPr>
              <a:t> </a:t>
            </a:r>
            <a:endParaRPr lang="en-US"/>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943051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company profile research (8-role decision map) · customer journey atlas · PRD role perspectives</a:t>
            </a:r>
          </a:p>
          <a:p>
            <a:pPr algn="l">
              <a:buNone/>
            </a:pPr>
            <a:r>
              <a:rPr lang="en-US" sz="100">
                <a:effectLst/>
              </a:rPr>
              <a:t> </a:t>
            </a:r>
            <a:endParaRPr lang="en-US"/>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p:nvSpPr>
          <p:cNvPr id="33806" name="Rail 1">
            <a:extLst>
              <a:ext uri="{FF2B5EF4-FFF2-40B4-BE49-F238E27FC236}">
                <a16:creationId xmlns:a16="http://schemas.microsoft.com/office/drawing/2014/main" id="{B634CF6E-AD65-3436-9371-44D8828F8DB3}"/>
              </a:ext>
            </a:extLst>
          </p:cNvPr>
          <p:cNvSpPr/>
          <p:nvPr/>
        </p:nvSpPr>
        <p:spPr>
          <a:xfrm rot="2364961">
            <a:off x="4107024" y="248602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12" name="Rail 2">
            <a:extLst>
              <a:ext uri="{FF2B5EF4-FFF2-40B4-BE49-F238E27FC236}">
                <a16:creationId xmlns:a16="http://schemas.microsoft.com/office/drawing/2014/main" id="{0B5C1950-B3B0-8B23-D7FA-8C6DB67E67F8}"/>
              </a:ext>
            </a:extLst>
          </p:cNvPr>
          <p:cNvSpPr/>
          <p:nvPr/>
        </p:nvSpPr>
        <p:spPr>
          <a:xfrm rot="919248">
            <a:off x="4330295" y="296100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19" name="Rail 3">
            <a:extLst>
              <a:ext uri="{FF2B5EF4-FFF2-40B4-BE49-F238E27FC236}">
                <a16:creationId xmlns:a16="http://schemas.microsoft.com/office/drawing/2014/main" id="{C8C6B706-288F-2A7D-9E7C-48C22697873F}"/>
              </a:ext>
            </a:extLst>
          </p:cNvPr>
          <p:cNvSpPr/>
          <p:nvPr/>
        </p:nvSpPr>
        <p:spPr>
          <a:xfrm rot="20680752">
            <a:off x="4330295" y="343598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27" name="Rail 4">
            <a:extLst>
              <a:ext uri="{FF2B5EF4-FFF2-40B4-BE49-F238E27FC236}">
                <a16:creationId xmlns:a16="http://schemas.microsoft.com/office/drawing/2014/main" id="{ECD89432-AD91-B80C-2EAF-C0CF7259F723}"/>
              </a:ext>
            </a:extLst>
          </p:cNvPr>
          <p:cNvSpPr/>
          <p:nvPr/>
        </p:nvSpPr>
        <p:spPr>
          <a:xfrm rot="19235039">
            <a:off x="4107024" y="391096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36" name="Rail 5">
            <a:extLst>
              <a:ext uri="{FF2B5EF4-FFF2-40B4-BE49-F238E27FC236}">
                <a16:creationId xmlns:a16="http://schemas.microsoft.com/office/drawing/2014/main" id="{06273F87-C5BE-85B8-4B1E-292763261FBB}"/>
              </a:ext>
            </a:extLst>
          </p:cNvPr>
          <p:cNvSpPr/>
          <p:nvPr/>
        </p:nvSpPr>
        <p:spPr>
          <a:xfrm rot="8435039">
            <a:off x="5840786" y="248602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46" name="Rail 6">
            <a:extLst>
              <a:ext uri="{FF2B5EF4-FFF2-40B4-BE49-F238E27FC236}">
                <a16:creationId xmlns:a16="http://schemas.microsoft.com/office/drawing/2014/main" id="{912637A1-55A6-2397-9959-236591EBBB81}"/>
              </a:ext>
            </a:extLst>
          </p:cNvPr>
          <p:cNvSpPr/>
          <p:nvPr/>
        </p:nvSpPr>
        <p:spPr>
          <a:xfrm rot="9880752">
            <a:off x="6064057" y="296100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57" name="Rail 7">
            <a:extLst>
              <a:ext uri="{FF2B5EF4-FFF2-40B4-BE49-F238E27FC236}">
                <a16:creationId xmlns:a16="http://schemas.microsoft.com/office/drawing/2014/main" id="{3B50A214-A07D-3070-0915-58F059E83F65}"/>
              </a:ext>
            </a:extLst>
          </p:cNvPr>
          <p:cNvSpPr/>
          <p:nvPr/>
        </p:nvSpPr>
        <p:spPr>
          <a:xfrm rot="11719248">
            <a:off x="6064057" y="343598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69" name="Rail 8">
            <a:extLst>
              <a:ext uri="{FF2B5EF4-FFF2-40B4-BE49-F238E27FC236}">
                <a16:creationId xmlns:a16="http://schemas.microsoft.com/office/drawing/2014/main" id="{8DE705A7-A914-4079-3C05-E4B991B4DFE4}"/>
              </a:ext>
            </a:extLst>
          </p:cNvPr>
          <p:cNvSpPr/>
          <p:nvPr/>
        </p:nvSpPr>
        <p:spPr>
          <a:xfrm rot="13164961">
            <a:off x="5840786" y="391096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82" name="Resident hub">
            <a:extLst>
              <a:ext uri="{FF2B5EF4-FFF2-40B4-BE49-F238E27FC236}">
                <a16:creationId xmlns:a16="http://schemas.microsoft.com/office/drawing/2014/main" id="{41938319-EED0-89C8-D41E-E61D624211BB}"/>
              </a:ext>
            </a:extLst>
          </p:cNvPr>
          <p:cNvSpPr/>
          <p:nvPr/>
        </p:nvSpPr>
        <p:spPr>
          <a:xfrm>
            <a:off x="4861560" y="1973580"/>
            <a:ext cx="2468880" cy="2468880"/>
          </a:xfrm>
          <a:prstGeom prst="ellipse">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96" name="Role 1 disc">
            <a:extLst>
              <a:ext uri="{FF2B5EF4-FFF2-40B4-BE49-F238E27FC236}">
                <a16:creationId xmlns:a16="http://schemas.microsoft.com/office/drawing/2014/main" id="{2E31727C-D1A6-FBDE-DAB3-953D96FE6A10}"/>
              </a:ext>
            </a:extLst>
          </p:cNvPr>
          <p:cNvSpPr/>
          <p:nvPr/>
        </p:nvSpPr>
        <p:spPr>
          <a:xfrm>
            <a:off x="3996478" y="141732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11" name="Role 1 text">
            <a:extLst>
              <a:ext uri="{FF2B5EF4-FFF2-40B4-BE49-F238E27FC236}">
                <a16:creationId xmlns:a16="http://schemas.microsoft.com/office/drawing/2014/main" id="{D2616A69-BCDE-DF8D-0CA8-F16EFED35909}"/>
              </a:ext>
            </a:extLst>
          </p:cNvPr>
          <p:cNvSpPr/>
          <p:nvPr/>
        </p:nvSpPr>
        <p:spPr>
          <a:xfrm>
            <a:off x="548640" y="153162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Executive Director of Assets</a:t>
            </a:r>
          </a:p>
          <a:p>
            <a:pPr algn="r">
              <a:buNone/>
            </a:pPr>
            <a:r>
              <a:rPr lang="en-US" sz="1300">
                <a:solidFill>
                  <a:srgbClr val="2E6B5E"/>
                </a:solidFill>
                <a:effectLst/>
                <a:latin typeface="Arial" panose="020B0604020202020204" pitchFamily="34" charset="0"/>
              </a:rPr>
              <a:t>one view of progress and risk</a:t>
            </a:r>
            <a:endParaRPr lang="en-US"/>
          </a:p>
        </p:txBody>
      </p:sp>
      <p:sp>
        <p:nvSpPr>
          <p:cNvPr id="33927" name="Role 2 disc">
            <a:extLst>
              <a:ext uri="{FF2B5EF4-FFF2-40B4-BE49-F238E27FC236}">
                <a16:creationId xmlns:a16="http://schemas.microsoft.com/office/drawing/2014/main" id="{FC2E0BCB-A049-E2C4-087C-2F83E23342B4}"/>
              </a:ext>
            </a:extLst>
          </p:cNvPr>
          <p:cNvSpPr/>
          <p:nvPr/>
        </p:nvSpPr>
        <p:spPr>
          <a:xfrm>
            <a:off x="3996478" y="236728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44" name="Role 2 text">
            <a:extLst>
              <a:ext uri="{FF2B5EF4-FFF2-40B4-BE49-F238E27FC236}">
                <a16:creationId xmlns:a16="http://schemas.microsoft.com/office/drawing/2014/main" id="{E90EA6E2-11C9-247B-3D72-51708358E2ED}"/>
              </a:ext>
            </a:extLst>
          </p:cNvPr>
          <p:cNvSpPr/>
          <p:nvPr/>
        </p:nvSpPr>
        <p:spPr>
          <a:xfrm>
            <a:off x="548640" y="237490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Head of Building Safety and Compliance</a:t>
            </a:r>
          </a:p>
          <a:p>
            <a:pPr algn="r">
              <a:buNone/>
            </a:pPr>
            <a:r>
              <a:rPr lang="en-US" sz="1300">
                <a:solidFill>
                  <a:srgbClr val="2E6B5E"/>
                </a:solidFill>
                <a:effectLst/>
                <a:latin typeface="Arial" panose="020B0604020202020204" pitchFamily="34" charset="0"/>
              </a:rPr>
              <a:t>hazards never wait behind retrofit</a:t>
            </a:r>
            <a:endParaRPr lang="en-US"/>
          </a:p>
        </p:txBody>
      </p:sp>
      <p:sp>
        <p:nvSpPr>
          <p:cNvPr id="33962" name="Role 3 disc">
            <a:extLst>
              <a:ext uri="{FF2B5EF4-FFF2-40B4-BE49-F238E27FC236}">
                <a16:creationId xmlns:a16="http://schemas.microsoft.com/office/drawing/2014/main" id="{E4039944-497B-8B4B-42FA-0BF9F9F72CF8}"/>
              </a:ext>
            </a:extLst>
          </p:cNvPr>
          <p:cNvSpPr/>
          <p:nvPr/>
        </p:nvSpPr>
        <p:spPr>
          <a:xfrm>
            <a:off x="3996478" y="331724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81" name="Role 3 text">
            <a:extLst>
              <a:ext uri="{FF2B5EF4-FFF2-40B4-BE49-F238E27FC236}">
                <a16:creationId xmlns:a16="http://schemas.microsoft.com/office/drawing/2014/main" id="{B53D0598-6C43-D67C-B590-EDAB7327D5EC}"/>
              </a:ext>
            </a:extLst>
          </p:cNvPr>
          <p:cNvSpPr/>
          <p:nvPr/>
        </p:nvSpPr>
        <p:spPr>
          <a:xfrm>
            <a:off x="548640" y="343154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Retrofit Programme Manager</a:t>
            </a:r>
          </a:p>
          <a:p>
            <a:pPr algn="r">
              <a:buNone/>
            </a:pPr>
            <a:r>
              <a:rPr lang="en-US" sz="1300">
                <a:solidFill>
                  <a:srgbClr val="2E6B5E"/>
                </a:solidFill>
                <a:effectLst/>
                <a:latin typeface="Arial" panose="020B0604020202020204" pitchFamily="34" charset="0"/>
              </a:rPr>
              <a:t>every blocked home has an owner</a:t>
            </a:r>
            <a:endParaRPr lang="en-US"/>
          </a:p>
        </p:txBody>
      </p:sp>
      <p:sp>
        <p:nvSpPr>
          <p:cNvPr id="34001" name="Role 4 disc">
            <a:extLst>
              <a:ext uri="{FF2B5EF4-FFF2-40B4-BE49-F238E27FC236}">
                <a16:creationId xmlns:a16="http://schemas.microsoft.com/office/drawing/2014/main" id="{BA397BCB-BD38-0FAE-270A-5653FE31E808}"/>
              </a:ext>
            </a:extLst>
          </p:cNvPr>
          <p:cNvSpPr/>
          <p:nvPr/>
        </p:nvSpPr>
        <p:spPr>
          <a:xfrm>
            <a:off x="3996478" y="426720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22" name="Role 4 text">
            <a:extLst>
              <a:ext uri="{FF2B5EF4-FFF2-40B4-BE49-F238E27FC236}">
                <a16:creationId xmlns:a16="http://schemas.microsoft.com/office/drawing/2014/main" id="{A584E3A9-DC86-1343-26DB-2157EEA190AA}"/>
              </a:ext>
            </a:extLst>
          </p:cNvPr>
          <p:cNvSpPr/>
          <p:nvPr/>
        </p:nvSpPr>
        <p:spPr>
          <a:xfrm>
            <a:off x="548640" y="438150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Head of Finance, Capital and Grants</a:t>
            </a:r>
          </a:p>
          <a:p>
            <a:pPr algn="r">
              <a:buNone/>
            </a:pPr>
            <a:r>
              <a:rPr lang="en-US" sz="1300">
                <a:solidFill>
                  <a:srgbClr val="2E6B5E"/>
                </a:solidFill>
                <a:effectLst/>
                <a:latin typeface="Arial" panose="020B0604020202020204" pitchFamily="34" charset="0"/>
              </a:rPr>
              <a:t>grant-ready evidence and cash position</a:t>
            </a:r>
            <a:endParaRPr lang="en-US"/>
          </a:p>
        </p:txBody>
      </p:sp>
      <p:sp>
        <p:nvSpPr>
          <p:cNvPr id="34044" name="Role 5 disc">
            <a:extLst>
              <a:ext uri="{FF2B5EF4-FFF2-40B4-BE49-F238E27FC236}">
                <a16:creationId xmlns:a16="http://schemas.microsoft.com/office/drawing/2014/main" id="{AAA674DC-3E52-7AF3-1CC4-AD100B811F16}"/>
              </a:ext>
            </a:extLst>
          </p:cNvPr>
          <p:cNvSpPr/>
          <p:nvPr/>
        </p:nvSpPr>
        <p:spPr>
          <a:xfrm>
            <a:off x="7464002" y="141732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67" name="Role 5 text">
            <a:extLst>
              <a:ext uri="{FF2B5EF4-FFF2-40B4-BE49-F238E27FC236}">
                <a16:creationId xmlns:a16="http://schemas.microsoft.com/office/drawing/2014/main" id="{5585EEC1-8C40-F541-D895-3B2B3462E805}"/>
              </a:ext>
            </a:extLst>
          </p:cNvPr>
          <p:cNvSpPr/>
          <p:nvPr/>
        </p:nvSpPr>
        <p:spPr>
          <a:xfrm>
            <a:off x="8286962" y="142494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Head of Procurement and Contract Management</a:t>
            </a:r>
          </a:p>
          <a:p>
            <a:pPr algn="l">
              <a:buNone/>
            </a:pPr>
            <a:r>
              <a:rPr lang="en-US" sz="1300">
                <a:solidFill>
                  <a:srgbClr val="2E6B5E"/>
                </a:solidFill>
                <a:effectLst/>
                <a:latin typeface="Arial" panose="020B0604020202020204" pitchFamily="34" charset="0"/>
              </a:rPr>
              <a:t>committed capacity, controlled work orders</a:t>
            </a:r>
            <a:endParaRPr lang="en-US"/>
          </a:p>
        </p:txBody>
      </p:sp>
      <p:sp>
        <p:nvSpPr>
          <p:cNvPr id="34091" name="Role 6 disc">
            <a:extLst>
              <a:ext uri="{FF2B5EF4-FFF2-40B4-BE49-F238E27FC236}">
                <a16:creationId xmlns:a16="http://schemas.microsoft.com/office/drawing/2014/main" id="{FC6B6292-A743-AB40-B6F5-48A8F4E43C79}"/>
              </a:ext>
            </a:extLst>
          </p:cNvPr>
          <p:cNvSpPr/>
          <p:nvPr/>
        </p:nvSpPr>
        <p:spPr>
          <a:xfrm>
            <a:off x="7464002" y="236728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16" name="Role 6 text">
            <a:extLst>
              <a:ext uri="{FF2B5EF4-FFF2-40B4-BE49-F238E27FC236}">
                <a16:creationId xmlns:a16="http://schemas.microsoft.com/office/drawing/2014/main" id="{D0AB4E46-27F2-44F1-C122-574878B1BA9F}"/>
              </a:ext>
            </a:extLst>
          </p:cNvPr>
          <p:cNvSpPr/>
          <p:nvPr/>
        </p:nvSpPr>
        <p:spPr>
          <a:xfrm>
            <a:off x="8286962" y="237490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Head of Resident Engagement and Insight</a:t>
            </a:r>
          </a:p>
          <a:p>
            <a:pPr algn="l">
              <a:buNone/>
            </a:pPr>
            <a:r>
              <a:rPr lang="en-US" sz="1300">
                <a:solidFill>
                  <a:srgbClr val="2E6B5E"/>
                </a:solidFill>
                <a:effectLst/>
                <a:latin typeface="Arial" panose="020B0604020202020204" pitchFamily="34" charset="0"/>
              </a:rPr>
              <a:t>choice, consent and remedies on record</a:t>
            </a:r>
            <a:endParaRPr lang="en-US"/>
          </a:p>
        </p:txBody>
      </p:sp>
      <p:sp>
        <p:nvSpPr>
          <p:cNvPr id="34142" name="Role 7 disc">
            <a:extLst>
              <a:ext uri="{FF2B5EF4-FFF2-40B4-BE49-F238E27FC236}">
                <a16:creationId xmlns:a16="http://schemas.microsoft.com/office/drawing/2014/main" id="{181584BE-691A-3C70-CA4D-CC49703C1289}"/>
              </a:ext>
            </a:extLst>
          </p:cNvPr>
          <p:cNvSpPr/>
          <p:nvPr/>
        </p:nvSpPr>
        <p:spPr>
          <a:xfrm>
            <a:off x="7464002" y="331724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69" name="Role 7 text">
            <a:extLst>
              <a:ext uri="{FF2B5EF4-FFF2-40B4-BE49-F238E27FC236}">
                <a16:creationId xmlns:a16="http://schemas.microsoft.com/office/drawing/2014/main" id="{5D0F1E1B-6A99-5C49-D827-ACA81C12AC80}"/>
              </a:ext>
            </a:extLst>
          </p:cNvPr>
          <p:cNvSpPr/>
          <p:nvPr/>
        </p:nvSpPr>
        <p:spPr>
          <a:xfrm>
            <a:off x="8286962" y="3332480"/>
            <a:ext cx="3356398"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Neighbourhood Housing Officer</a:t>
            </a:r>
          </a:p>
          <a:p>
            <a:pPr algn="l">
              <a:buNone/>
            </a:pPr>
            <a:r>
              <a:rPr lang="en-US" sz="1300">
                <a:solidFill>
                  <a:srgbClr val="2E6B5E"/>
                </a:solidFill>
                <a:effectLst/>
                <a:latin typeface="Arial" panose="020B0604020202020204" pitchFamily="34" charset="0"/>
              </a:rPr>
              <a:t>one story per home, no repeated explanations</a:t>
            </a:r>
            <a:endParaRPr lang="en-US"/>
          </a:p>
        </p:txBody>
      </p:sp>
      <p:sp>
        <p:nvSpPr>
          <p:cNvPr id="34197" name="Role 8 disc">
            <a:extLst>
              <a:ext uri="{FF2B5EF4-FFF2-40B4-BE49-F238E27FC236}">
                <a16:creationId xmlns:a16="http://schemas.microsoft.com/office/drawing/2014/main" id="{6246DA79-2DF2-5868-3B6E-EEA9CEA2889A}"/>
              </a:ext>
            </a:extLst>
          </p:cNvPr>
          <p:cNvSpPr/>
          <p:nvPr/>
        </p:nvSpPr>
        <p:spPr>
          <a:xfrm>
            <a:off x="7464002" y="426720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26" name="Role 8 text">
            <a:extLst>
              <a:ext uri="{FF2B5EF4-FFF2-40B4-BE49-F238E27FC236}">
                <a16:creationId xmlns:a16="http://schemas.microsoft.com/office/drawing/2014/main" id="{7DDD8D33-B81F-1DC2-C8C0-2DE989446636}"/>
              </a:ext>
            </a:extLst>
          </p:cNvPr>
          <p:cNvSpPr/>
          <p:nvPr/>
        </p:nvSpPr>
        <p:spPr>
          <a:xfrm>
            <a:off x="8286962" y="438150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Data and Performance Lead</a:t>
            </a:r>
          </a:p>
          <a:p>
            <a:pPr algn="l">
              <a:buNone/>
            </a:pPr>
            <a:r>
              <a:rPr lang="en-US" sz="1300">
                <a:solidFill>
                  <a:srgbClr val="2E6B5E"/>
                </a:solidFill>
                <a:effectLst/>
                <a:latin typeface="Arial" panose="020B0604020202020204" pitchFamily="34" charset="0"/>
              </a:rPr>
              <a:t>numbers the board can trust</a:t>
            </a:r>
            <a:endParaRPr lang="en-US"/>
          </a:p>
        </p:txBody>
      </p:sp>
      <p:sp>
        <p:nvSpPr>
          <p:cNvPr id="34256" name="Resident label">
            <a:extLst>
              <a:ext uri="{FF2B5EF4-FFF2-40B4-BE49-F238E27FC236}">
                <a16:creationId xmlns:a16="http://schemas.microsoft.com/office/drawing/2014/main" id="{C70D0A5B-EF73-C9C6-5E3A-110D004502C2}"/>
              </a:ext>
            </a:extLst>
          </p:cNvPr>
          <p:cNvSpPr/>
          <p:nvPr/>
        </p:nvSpPr>
        <p:spPr>
          <a:xfrm>
            <a:off x="4907280" y="3113532"/>
            <a:ext cx="237744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Resident and household</a:t>
            </a:r>
          </a:p>
          <a:p>
            <a:pPr algn="ctr">
              <a:buNone/>
            </a:pPr>
            <a:r>
              <a:rPr lang="en-US" sz="1300">
                <a:solidFill>
                  <a:srgbClr val="2E6B5E"/>
                </a:solidFill>
                <a:effectLst/>
                <a:latin typeface="Arial" panose="020B0604020202020204" pitchFamily="34" charset="0"/>
              </a:rPr>
              <a:t>choice, representative, phone, letter or visit</a:t>
            </a:r>
            <a:endParaRPr lang="en-US"/>
          </a:p>
        </p:txBody>
      </p:sp>
      <p:sp>
        <p:nvSpPr>
          <p:cNvPr id="34287" name="Statement 1 card">
            <a:extLst>
              <a:ext uri="{FF2B5EF4-FFF2-40B4-BE49-F238E27FC236}">
                <a16:creationId xmlns:a16="http://schemas.microsoft.com/office/drawing/2014/main" id="{623396CC-77CE-9A9E-5989-73CFF02A827C}"/>
              </a:ext>
            </a:extLst>
          </p:cNvPr>
          <p:cNvSpPr/>
          <p:nvPr/>
        </p:nvSpPr>
        <p:spPr>
          <a:xfrm>
            <a:off x="548640" y="5227320"/>
            <a:ext cx="2839273"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19" name="Statement 1">
            <a:extLst>
              <a:ext uri="{FF2B5EF4-FFF2-40B4-BE49-F238E27FC236}">
                <a16:creationId xmlns:a16="http://schemas.microsoft.com/office/drawing/2014/main" id="{DB94EC83-B0AD-BA0C-713A-556DAB79668E}"/>
              </a:ext>
            </a:extLst>
          </p:cNvPr>
          <p:cNvSpPr/>
          <p:nvPr/>
        </p:nvSpPr>
        <p:spPr>
          <a:xfrm>
            <a:off x="594360" y="5318760"/>
            <a:ext cx="2747833"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Eight roles, one resident at the centre</a:t>
            </a:r>
          </a:p>
          <a:p>
            <a:pPr algn="l">
              <a:buNone/>
            </a:pPr>
            <a:r>
              <a:rPr lang="en-US" sz="100">
                <a:effectLst/>
              </a:rPr>
              <a:t> </a:t>
            </a:r>
            <a:endParaRPr lang="en-US"/>
          </a:p>
        </p:txBody>
      </p:sp>
      <p:sp>
        <p:nvSpPr>
          <p:cNvPr id="34352" name="Statement 2 card">
            <a:extLst>
              <a:ext uri="{FF2B5EF4-FFF2-40B4-BE49-F238E27FC236}">
                <a16:creationId xmlns:a16="http://schemas.microsoft.com/office/drawing/2014/main" id="{1B02F7E9-E9BC-053E-789A-5C14322DD2D2}"/>
              </a:ext>
            </a:extLst>
          </p:cNvPr>
          <p:cNvSpPr/>
          <p:nvPr/>
        </p:nvSpPr>
        <p:spPr>
          <a:xfrm>
            <a:off x="3570793" y="5227320"/>
            <a:ext cx="3595856"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86" name="Statement 2">
            <a:extLst>
              <a:ext uri="{FF2B5EF4-FFF2-40B4-BE49-F238E27FC236}">
                <a16:creationId xmlns:a16="http://schemas.microsoft.com/office/drawing/2014/main" id="{D7D4A7F6-0DE7-F93C-2D46-9DBCEEAFE5A8}"/>
              </a:ext>
            </a:extLst>
          </p:cNvPr>
          <p:cNvSpPr/>
          <p:nvPr/>
        </p:nvSpPr>
        <p:spPr>
          <a:xfrm>
            <a:off x="3616513" y="5318760"/>
            <a:ext cx="3504416"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resident keeps a real choice and a non-digital route</a:t>
            </a:r>
          </a:p>
          <a:p>
            <a:pPr algn="l">
              <a:buNone/>
            </a:pPr>
            <a:r>
              <a:rPr lang="en-US" sz="100">
                <a:effectLst/>
              </a:rPr>
              <a:t> </a:t>
            </a:r>
            <a:endParaRPr lang="en-US"/>
          </a:p>
        </p:txBody>
      </p:sp>
      <p:sp>
        <p:nvSpPr>
          <p:cNvPr id="34421" name="Statement 3 card">
            <a:extLst>
              <a:ext uri="{FF2B5EF4-FFF2-40B4-BE49-F238E27FC236}">
                <a16:creationId xmlns:a16="http://schemas.microsoft.com/office/drawing/2014/main" id="{191C83CA-20AA-B130-DB88-F0C7C765239F}"/>
              </a:ext>
            </a:extLst>
          </p:cNvPr>
          <p:cNvSpPr/>
          <p:nvPr/>
        </p:nvSpPr>
        <p:spPr>
          <a:xfrm>
            <a:off x="7349529" y="5227320"/>
            <a:ext cx="4293830"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57" name="Statement 3">
            <a:extLst>
              <a:ext uri="{FF2B5EF4-FFF2-40B4-BE49-F238E27FC236}">
                <a16:creationId xmlns:a16="http://schemas.microsoft.com/office/drawing/2014/main" id="{34C8CA21-BAF3-003E-BDC7-17ACA944B506}"/>
              </a:ext>
            </a:extLst>
          </p:cNvPr>
          <p:cNvSpPr/>
          <p:nvPr/>
        </p:nvSpPr>
        <p:spPr>
          <a:xfrm>
            <a:off x="7395249" y="5318760"/>
            <a:ext cx="420239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Each role gets its queue, its evidence and its decision, nothing more</a:t>
            </a:r>
          </a:p>
          <a:p>
            <a:pPr algn="l">
              <a:buNone/>
            </a:pPr>
            <a:r>
              <a:rPr lang="en-US" sz="100">
                <a:effectLst/>
              </a:rPr>
              <a:t> </a:t>
            </a:r>
            <a:endParaRPr lang="en-US"/>
          </a:p>
        </p:txBody>
      </p:sp>
      <p:pic>
        <p:nvPicPr>
          <p:cNvPr id="34458" name="Resident icon" descr="House icon">
            <a:extLst>
              <a:ext uri="{FF2B5EF4-FFF2-40B4-BE49-F238E27FC236}">
                <a16:creationId xmlns:a16="http://schemas.microsoft.com/office/drawing/2014/main" id="{0630750D-0D92-BCF6-2390-327B1BA10D24}"/>
              </a:ext>
            </a:extLst>
          </p:cNvPr>
          <p:cNvPicPr>
            <a:picLocks noChangeAspect="1"/>
          </p:cNvPicPr>
          <p:nvPr/>
        </p:nvPicPr>
        <p:blipFill>
          <a:blip r:embed="rId3"/>
          <a:stretch>
            <a:fillRect/>
          </a:stretch>
        </p:blipFill>
        <p:spPr>
          <a:xfrm>
            <a:off x="5821680" y="2555748"/>
            <a:ext cx="548640" cy="548640"/>
          </a:xfrm>
          <a:prstGeom prst="rect">
            <a:avLst/>
          </a:prstGeom>
        </p:spPr>
      </p:pic>
      <p:pic>
        <p:nvPicPr>
          <p:cNvPr id="34459" name="Role 1 icon" descr="Forecast icon">
            <a:extLst>
              <a:ext uri="{FF2B5EF4-FFF2-40B4-BE49-F238E27FC236}">
                <a16:creationId xmlns:a16="http://schemas.microsoft.com/office/drawing/2014/main" id="{BB197DA1-803E-712D-E385-3BF8441404D2}"/>
              </a:ext>
            </a:extLst>
          </p:cNvPr>
          <p:cNvPicPr>
            <a:picLocks noChangeAspect="1"/>
          </p:cNvPicPr>
          <p:nvPr/>
        </p:nvPicPr>
        <p:blipFill>
          <a:blip r:embed="rId4"/>
          <a:stretch>
            <a:fillRect/>
          </a:stretch>
        </p:blipFill>
        <p:spPr>
          <a:xfrm>
            <a:off x="4110778" y="1531620"/>
            <a:ext cx="502920" cy="502920"/>
          </a:xfrm>
          <a:prstGeom prst="rect">
            <a:avLst/>
          </a:prstGeom>
        </p:spPr>
      </p:pic>
      <p:pic>
        <p:nvPicPr>
          <p:cNvPr id="34460" name="Role 2 icon" descr="Security icon">
            <a:extLst>
              <a:ext uri="{FF2B5EF4-FFF2-40B4-BE49-F238E27FC236}">
                <a16:creationId xmlns:a16="http://schemas.microsoft.com/office/drawing/2014/main" id="{57F599AA-483C-3862-EA4A-C34949178CE8}"/>
              </a:ext>
            </a:extLst>
          </p:cNvPr>
          <p:cNvPicPr>
            <a:picLocks noChangeAspect="1"/>
          </p:cNvPicPr>
          <p:nvPr/>
        </p:nvPicPr>
        <p:blipFill>
          <a:blip r:embed="rId5"/>
          <a:stretch>
            <a:fillRect/>
          </a:stretch>
        </p:blipFill>
        <p:spPr>
          <a:xfrm>
            <a:off x="4110778" y="2481580"/>
            <a:ext cx="502920" cy="502920"/>
          </a:xfrm>
          <a:prstGeom prst="rect">
            <a:avLst/>
          </a:prstGeom>
        </p:spPr>
      </p:pic>
      <p:pic>
        <p:nvPicPr>
          <p:cNvPr id="34461" name="Role 3 icon" descr="Route icon">
            <a:extLst>
              <a:ext uri="{FF2B5EF4-FFF2-40B4-BE49-F238E27FC236}">
                <a16:creationId xmlns:a16="http://schemas.microsoft.com/office/drawing/2014/main" id="{E6D4E60D-CC54-5A00-8620-26062CC89C6B}"/>
              </a:ext>
            </a:extLst>
          </p:cNvPr>
          <p:cNvPicPr>
            <a:picLocks noChangeAspect="1"/>
          </p:cNvPicPr>
          <p:nvPr/>
        </p:nvPicPr>
        <p:blipFill>
          <a:blip r:embed="rId6"/>
          <a:stretch>
            <a:fillRect/>
          </a:stretch>
        </p:blipFill>
        <p:spPr>
          <a:xfrm>
            <a:off x="4110778" y="3431540"/>
            <a:ext cx="502920" cy="502920"/>
          </a:xfrm>
          <a:prstGeom prst="rect">
            <a:avLst/>
          </a:prstGeom>
        </p:spPr>
      </p:pic>
      <p:pic>
        <p:nvPicPr>
          <p:cNvPr id="34462" name="Role 4 icon" descr="Cost icon">
            <a:extLst>
              <a:ext uri="{FF2B5EF4-FFF2-40B4-BE49-F238E27FC236}">
                <a16:creationId xmlns:a16="http://schemas.microsoft.com/office/drawing/2014/main" id="{68C01C32-17A9-C317-B982-CA7F66350533}"/>
              </a:ext>
            </a:extLst>
          </p:cNvPr>
          <p:cNvPicPr>
            <a:picLocks noChangeAspect="1"/>
          </p:cNvPicPr>
          <p:nvPr/>
        </p:nvPicPr>
        <p:blipFill>
          <a:blip r:embed="rId7"/>
          <a:stretch>
            <a:fillRect/>
          </a:stretch>
        </p:blipFill>
        <p:spPr>
          <a:xfrm>
            <a:off x="4110778" y="4381500"/>
            <a:ext cx="502920" cy="502920"/>
          </a:xfrm>
          <a:prstGeom prst="rect">
            <a:avLst/>
          </a:prstGeom>
        </p:spPr>
      </p:pic>
      <p:pic>
        <p:nvPicPr>
          <p:cNvPr id="34463" name="Role 5 icon" descr="Contractor icon">
            <a:extLst>
              <a:ext uri="{FF2B5EF4-FFF2-40B4-BE49-F238E27FC236}">
                <a16:creationId xmlns:a16="http://schemas.microsoft.com/office/drawing/2014/main" id="{7E2899D5-0AAD-5327-FDC4-187161DFAD1C}"/>
              </a:ext>
            </a:extLst>
          </p:cNvPr>
          <p:cNvPicPr>
            <a:picLocks noChangeAspect="1"/>
          </p:cNvPicPr>
          <p:nvPr/>
        </p:nvPicPr>
        <p:blipFill>
          <a:blip r:embed="rId8"/>
          <a:stretch>
            <a:fillRect/>
          </a:stretch>
        </p:blipFill>
        <p:spPr>
          <a:xfrm>
            <a:off x="7578302" y="1531620"/>
            <a:ext cx="502920" cy="502920"/>
          </a:xfrm>
          <a:prstGeom prst="rect">
            <a:avLst/>
          </a:prstGeom>
        </p:spPr>
      </p:pic>
      <p:pic>
        <p:nvPicPr>
          <p:cNvPr id="34464" name="Role 6 icon" descr="Conversation icon">
            <a:extLst>
              <a:ext uri="{FF2B5EF4-FFF2-40B4-BE49-F238E27FC236}">
                <a16:creationId xmlns:a16="http://schemas.microsoft.com/office/drawing/2014/main" id="{EDD7A9BF-41EE-8166-8774-1DE9DEC1E0E7}"/>
              </a:ext>
            </a:extLst>
          </p:cNvPr>
          <p:cNvPicPr>
            <a:picLocks noChangeAspect="1"/>
          </p:cNvPicPr>
          <p:nvPr/>
        </p:nvPicPr>
        <p:blipFill>
          <a:blip r:embed="rId9"/>
          <a:stretch>
            <a:fillRect/>
          </a:stretch>
        </p:blipFill>
        <p:spPr>
          <a:xfrm>
            <a:off x="7578302" y="2481580"/>
            <a:ext cx="502920" cy="502920"/>
          </a:xfrm>
          <a:prstGeom prst="rect">
            <a:avLst/>
          </a:prstGeom>
        </p:spPr>
      </p:pic>
      <p:pic>
        <p:nvPicPr>
          <p:cNvPr id="34465" name="Role 7 icon" descr="House icon">
            <a:extLst>
              <a:ext uri="{FF2B5EF4-FFF2-40B4-BE49-F238E27FC236}">
                <a16:creationId xmlns:a16="http://schemas.microsoft.com/office/drawing/2014/main" id="{B0ECCAC2-E060-5A10-0E68-75D6CEFA5B7B}"/>
              </a:ext>
            </a:extLst>
          </p:cNvPr>
          <p:cNvPicPr>
            <a:picLocks noChangeAspect="1"/>
          </p:cNvPicPr>
          <p:nvPr/>
        </p:nvPicPr>
        <p:blipFill>
          <a:blip r:embed="rId3"/>
          <a:stretch>
            <a:fillRect/>
          </a:stretch>
        </p:blipFill>
        <p:spPr>
          <a:xfrm>
            <a:off x="7578302" y="3431540"/>
            <a:ext cx="502920" cy="502920"/>
          </a:xfrm>
          <a:prstGeom prst="rect">
            <a:avLst/>
          </a:prstGeom>
        </p:spPr>
      </p:pic>
      <p:pic>
        <p:nvPicPr>
          <p:cNvPr id="34466" name="Role 8 icon" descr="Evidence icon">
            <a:extLst>
              <a:ext uri="{FF2B5EF4-FFF2-40B4-BE49-F238E27FC236}">
                <a16:creationId xmlns:a16="http://schemas.microsoft.com/office/drawing/2014/main" id="{5FBDC606-D5EB-10FF-A97C-03877AB9665E}"/>
              </a:ext>
            </a:extLst>
          </p:cNvPr>
          <p:cNvPicPr>
            <a:picLocks noChangeAspect="1"/>
          </p:cNvPicPr>
          <p:nvPr/>
        </p:nvPicPr>
        <p:blipFill>
          <a:blip r:embed="rId10"/>
          <a:stretch>
            <a:fillRect/>
          </a:stretch>
        </p:blipFill>
        <p:spPr>
          <a:xfrm>
            <a:off x="7578302" y="4381500"/>
            <a:ext cx="502920" cy="502920"/>
          </a:xfrm>
          <a:prstGeom prst="rect">
            <a:avLst/>
          </a:prstGeom>
        </p:spPr>
      </p:pic>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Five autonomous agents, autonomy L2-L4</a:t>
            </a:r>
          </a:p>
          <a:p>
            <a:pPr algn="l">
              <a:buNone/>
            </a:pPr>
            <a:r>
              <a:rPr lang="en-US" sz="100">
                <a:effectLst/>
              </a:rPr>
              <a:t> </a:t>
            </a:r>
            <a:endParaRPr lang="en-US"/>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bounded assistants on one proposal service</a:t>
            </a:r>
          </a:p>
          <a:p>
            <a:pPr algn="l">
              <a:buNone/>
            </a:pPr>
            <a:r>
              <a:rPr lang="en-US" sz="100">
                <a:effectLst/>
              </a:rPr>
              <a:t> </a:t>
            </a:r>
            <a:endParaRPr lang="en-US"/>
          </a:p>
        </p:txBody>
      </p:sp>
      <p:sp>
        <p:nvSpPr>
          <p:cNvPr id="34557" name="Card 1 why">
            <a:extLst>
              <a:ext uri="{FF2B5EF4-FFF2-40B4-BE49-F238E27FC236}">
                <a16:creationId xmlns:a16="http://schemas.microsoft.com/office/drawing/2014/main" id="{8114C4C5-A547-E3F7-EFF3-1F62B155DD3A}"/>
              </a:ext>
            </a:extLst>
          </p:cNvPr>
          <p:cNvSpPr/>
          <p:nvPr/>
        </p:nvSpPr>
        <p:spPr>
          <a:xfrm>
            <a:off x="24932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our 9 role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AI makes decisions</a:t>
            </a:r>
          </a:p>
          <a:p>
            <a:pPr algn="l">
              <a:buNone/>
            </a:pPr>
            <a:r>
              <a:rPr lang="en-US" sz="100">
                <a:effectLst/>
              </a:rPr>
              <a:t> </a:t>
            </a:r>
            <a:endParaRPr lang="en-US"/>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prepares, people decide</a:t>
            </a:r>
          </a:p>
          <a:p>
            <a:pPr algn="l">
              <a:buNone/>
            </a:pPr>
            <a:r>
              <a:rPr lang="en-US" sz="100">
                <a:effectLst/>
              </a:rPr>
              <a:t> </a:t>
            </a:r>
            <a:endParaRPr lang="en-US"/>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8855" name="Home interior picture" descr="Warm, tidy terraced-home living room in winter with a radiator under a window clearing of condensation, a small dehumidifier and plants.">
            <a:extLst>
              <a:ext uri="{FF2B5EF4-FFF2-40B4-BE49-F238E27FC236}">
                <a16:creationId xmlns:a16="http://schemas.microsoft.com/office/drawing/2014/main" id="{3E8DC0E0-B52F-961C-BC86-BC9547CAAD9E}"/>
              </a:ext>
            </a:extLst>
          </p:cNvPr>
          <p:cNvPicPr>
            <a:picLocks noChangeAspect="1"/>
          </p:cNvPicPr>
          <p:nvPr/>
        </p:nvPicPr>
        <p:blipFill>
          <a:blip r:embed="rId3"/>
          <a:stretch>
            <a:fillRect/>
          </a:stretch>
        </p:blipFill>
        <p:spPr>
          <a:xfrm>
            <a:off x="0" y="1879"/>
            <a:ext cx="4632960" cy="6854242"/>
          </a:xfrm>
          <a:prstGeom prst="rect">
            <a:avLst/>
          </a:prstGeom>
        </p:spPr>
      </p:pic>
      <p:sp>
        <p:nvSpPr>
          <p:cNvPr id="38856" name="Eyebrow">
            <a:extLst>
              <a:ext uri="{FF2B5EF4-FFF2-40B4-BE49-F238E27FC236}">
                <a16:creationId xmlns:a16="http://schemas.microsoft.com/office/drawing/2014/main" id="{86E9FDFB-9EE1-AEFD-A395-ED72C8E6D0EB}"/>
              </a:ext>
            </a:extLst>
          </p:cNvPr>
          <p:cNvSpPr/>
          <p:nvPr/>
        </p:nvSpPr>
        <p:spPr>
          <a:xfrm>
            <a:off x="5090160" y="365760"/>
            <a:ext cx="65532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8858" name="Slide title">
            <a:extLst>
              <a:ext uri="{FF2B5EF4-FFF2-40B4-BE49-F238E27FC236}">
                <a16:creationId xmlns:a16="http://schemas.microsoft.com/office/drawing/2014/main" id="{45553DF9-78EC-71B4-745A-A5FB2B94A64E}"/>
              </a:ext>
            </a:extLst>
          </p:cNvPr>
          <p:cNvSpPr/>
          <p:nvPr/>
        </p:nvSpPr>
        <p:spPr>
          <a:xfrm>
            <a:off x="5090160" y="685800"/>
            <a:ext cx="655320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One home, end to end: the exception</a:t>
            </a:r>
          </a:p>
          <a:p>
            <a:pPr algn="l">
              <a:buNone/>
            </a:pPr>
            <a:r>
              <a:rPr lang="en-US" sz="2800" b="1">
                <a:solidFill>
                  <a:srgbClr val="173F35"/>
                </a:solidFill>
                <a:effectLst/>
                <a:latin typeface="Arial" panose="020B0604020202020204" pitchFamily="34" charset="0"/>
              </a:rPr>
              <a:t>has an owner the moment it appears.</a:t>
            </a:r>
            <a:endParaRPr lang="en-US"/>
          </a:p>
        </p:txBody>
      </p:sp>
      <p:sp>
        <p:nvSpPr>
          <p:cNvPr id="38861" name="Footer sources">
            <a:extLst>
              <a:ext uri="{FF2B5EF4-FFF2-40B4-BE49-F238E27FC236}">
                <a16:creationId xmlns:a16="http://schemas.microsoft.com/office/drawing/2014/main" id="{3B743F3A-8B7F-C65F-26D1-6BAEA813C552}"/>
              </a:ext>
            </a:extLst>
          </p:cNvPr>
          <p:cNvSpPr/>
          <p:nvPr/>
        </p:nvSpPr>
        <p:spPr>
          <a:xfrm>
            <a:off x="5090160" y="5943600"/>
            <a:ext cx="4526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journey atlas and ADR 0003 (E08) · AMA Plan board: #84, #85, #87, #88, #90, #91, #95, #106</a:t>
            </a:r>
          </a:p>
          <a:p>
            <a:pPr algn="l">
              <a:buNone/>
            </a:pPr>
            <a:r>
              <a:rPr lang="en-US" sz="100">
                <a:effectLst/>
              </a:rPr>
              <a:t> </a:t>
            </a:r>
            <a:endParaRPr lang="en-US"/>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p:nvSpPr>
          <p:cNvPr id="38870" name="Statement band">
            <a:extLst>
              <a:ext uri="{FF2B5EF4-FFF2-40B4-BE49-F238E27FC236}">
                <a16:creationId xmlns:a16="http://schemas.microsoft.com/office/drawing/2014/main" id="{115D440E-A1A4-D9D1-3B46-084A9F9CE2EC}"/>
              </a:ext>
            </a:extLst>
          </p:cNvPr>
          <p:cNvSpPr/>
          <p:nvPr/>
        </p:nvSpPr>
        <p:spPr>
          <a:xfrm>
            <a:off x="0" y="3794760"/>
            <a:ext cx="4632960" cy="2560320"/>
          </a:xfrm>
          <a:prstGeom prst="rect">
            <a:avLst/>
          </a:prstGeom>
          <a:solidFill>
            <a:srgbClr val="173F35">
              <a:alpha val="8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76" name="Statement 1">
            <a:extLst>
              <a:ext uri="{FF2B5EF4-FFF2-40B4-BE49-F238E27FC236}">
                <a16:creationId xmlns:a16="http://schemas.microsoft.com/office/drawing/2014/main" id="{32F9B987-605D-E36D-7A65-473F5E75D432}"/>
              </a:ext>
            </a:extLst>
          </p:cNvPr>
          <p:cNvSpPr/>
          <p:nvPr/>
        </p:nvSpPr>
        <p:spPr>
          <a:xfrm>
            <a:off x="365760" y="402336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From report to accepted handover on one record</a:t>
            </a:r>
          </a:p>
          <a:p>
            <a:pPr algn="l">
              <a:buNone/>
            </a:pPr>
            <a:r>
              <a:rPr lang="en-US" sz="100">
                <a:effectLst/>
              </a:rPr>
              <a:t> </a:t>
            </a:r>
            <a:endParaRPr lang="en-US"/>
          </a:p>
        </p:txBody>
      </p:sp>
      <p:sp>
        <p:nvSpPr>
          <p:cNvPr id="38883" name="Statement 2">
            <a:extLst>
              <a:ext uri="{FF2B5EF4-FFF2-40B4-BE49-F238E27FC236}">
                <a16:creationId xmlns:a16="http://schemas.microsoft.com/office/drawing/2014/main" id="{FCFB2A0B-3A9B-FCF0-CDB2-184A857C2AE7}"/>
              </a:ext>
            </a:extLst>
          </p:cNvPr>
          <p:cNvSpPr/>
          <p:nvPr/>
        </p:nvSpPr>
        <p:spPr>
          <a:xfrm>
            <a:off x="365760" y="475488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AI drafts; the assessor, the resident and Finance decide</a:t>
            </a:r>
          </a:p>
          <a:p>
            <a:pPr algn="l">
              <a:buNone/>
            </a:pPr>
            <a:r>
              <a:rPr lang="en-US" sz="100">
                <a:effectLst/>
              </a:rPr>
              <a:t> </a:t>
            </a:r>
            <a:endParaRPr lang="en-US"/>
          </a:p>
        </p:txBody>
      </p:sp>
      <p:sp>
        <p:nvSpPr>
          <p:cNvPr id="38891" name="Statement 3">
            <a:extLst>
              <a:ext uri="{FF2B5EF4-FFF2-40B4-BE49-F238E27FC236}">
                <a16:creationId xmlns:a16="http://schemas.microsoft.com/office/drawing/2014/main" id="{B2A10FF3-18F0-415C-9EE6-5E6DC8453349}"/>
              </a:ext>
            </a:extLst>
          </p:cNvPr>
          <p:cNvSpPr/>
          <p:nvPr/>
        </p:nvSpPr>
        <p:spPr>
          <a:xfrm>
            <a:off x="365760" y="548640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Assisted routes stay; optional portal under assessment</a:t>
            </a:r>
          </a:p>
          <a:p>
            <a:pPr algn="l">
              <a:buNone/>
            </a:pPr>
            <a:r>
              <a:rPr lang="en-US" sz="100">
                <a:effectLst/>
              </a:rPr>
              <a:t> </a:t>
            </a:r>
            <a:endParaRPr lang="en-US"/>
          </a:p>
        </p:txBody>
      </p:sp>
      <p:sp>
        <p:nvSpPr>
          <p:cNvPr id="38900" name="Journey label">
            <a:extLst>
              <a:ext uri="{FF2B5EF4-FFF2-40B4-BE49-F238E27FC236}">
                <a16:creationId xmlns:a16="http://schemas.microsoft.com/office/drawing/2014/main" id="{51CCF43A-7B24-75B9-8132-F1DAFC2C2C11}"/>
              </a:ext>
            </a:extLst>
          </p:cNvPr>
          <p:cNvSpPr/>
          <p:nvPr/>
        </p:nvSpPr>
        <p:spPr>
          <a:xfrm>
            <a:off x="5090160" y="1530784"/>
            <a:ext cx="6553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50655E"/>
                </a:solidFill>
                <a:effectLst/>
                <a:latin typeface="Arial" panose="020B0604020202020204" pitchFamily="34" charset="0"/>
              </a:rPr>
              <a:t>EXAMPLE-HOME-0587 (fictional)</a:t>
            </a:r>
          </a:p>
          <a:p>
            <a:pPr algn="l">
              <a:buNone/>
            </a:pPr>
            <a:r>
              <a:rPr lang="en-US" sz="100">
                <a:effectLst/>
              </a:rPr>
              <a:t> </a:t>
            </a:r>
            <a:endParaRPr lang="en-US"/>
          </a:p>
        </p:txBody>
      </p:sp>
      <p:sp>
        <p:nvSpPr>
          <p:cNvPr id="38910" name="Journey rail">
            <a:extLst>
              <a:ext uri="{FF2B5EF4-FFF2-40B4-BE49-F238E27FC236}">
                <a16:creationId xmlns:a16="http://schemas.microsoft.com/office/drawing/2014/main" id="{C5128F6E-3675-C577-B726-1659A50B3AF2}"/>
              </a:ext>
            </a:extLst>
          </p:cNvPr>
          <p:cNvSpPr/>
          <p:nvPr/>
        </p:nvSpPr>
        <p:spPr>
          <a:xfrm>
            <a:off x="5323332" y="2231136"/>
            <a:ext cx="45720" cy="320040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21" name="Step 1 disc">
            <a:extLst>
              <a:ext uri="{FF2B5EF4-FFF2-40B4-BE49-F238E27FC236}">
                <a16:creationId xmlns:a16="http://schemas.microsoft.com/office/drawing/2014/main" id="{D6983635-DE8C-04FA-96B9-5C5A69F9BB19}"/>
              </a:ext>
            </a:extLst>
          </p:cNvPr>
          <p:cNvSpPr/>
          <p:nvPr/>
        </p:nvSpPr>
        <p:spPr>
          <a:xfrm>
            <a:off x="5090160" y="197510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33" name="Step 1 name">
            <a:extLst>
              <a:ext uri="{FF2B5EF4-FFF2-40B4-BE49-F238E27FC236}">
                <a16:creationId xmlns:a16="http://schemas.microsoft.com/office/drawing/2014/main" id="{C6DD4C43-4D2A-4A70-3600-AEFD3E9522CA}"/>
              </a:ext>
            </a:extLst>
          </p:cNvPr>
          <p:cNvSpPr/>
          <p:nvPr/>
        </p:nvSpPr>
        <p:spPr>
          <a:xfrm>
            <a:off x="5693664" y="197849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Report or survey arrives</a:t>
            </a:r>
          </a:p>
          <a:p>
            <a:pPr algn="l">
              <a:buNone/>
            </a:pPr>
            <a:r>
              <a:rPr lang="en-US" sz="100">
                <a:effectLst/>
              </a:rPr>
              <a:t> </a:t>
            </a:r>
            <a:endParaRPr lang="en-US"/>
          </a:p>
        </p:txBody>
      </p:sp>
      <p:sp>
        <p:nvSpPr>
          <p:cNvPr id="38946" name="Step 1 note">
            <a:extLst>
              <a:ext uri="{FF2B5EF4-FFF2-40B4-BE49-F238E27FC236}">
                <a16:creationId xmlns:a16="http://schemas.microsoft.com/office/drawing/2014/main" id="{1A610513-074E-683A-650D-F214D6038F3E}"/>
              </a:ext>
            </a:extLst>
          </p:cNvPr>
          <p:cNvSpPr/>
          <p:nvPr/>
        </p:nvSpPr>
        <p:spPr>
          <a:xfrm>
            <a:off x="6938571" y="2298536"/>
            <a:ext cx="4704789"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Awaab clock starts if it is a hazard</a:t>
            </a:r>
          </a:p>
          <a:p>
            <a:pPr algn="l">
              <a:buNone/>
            </a:pPr>
            <a:r>
              <a:rPr lang="en-US" sz="100">
                <a:effectLst/>
              </a:rPr>
              <a:t> </a:t>
            </a:r>
            <a:endParaRPr lang="en-US"/>
          </a:p>
        </p:txBody>
      </p:sp>
      <p:sp>
        <p:nvSpPr>
          <p:cNvPr id="38960" name="Step 1 owner">
            <a:extLst>
              <a:ext uri="{FF2B5EF4-FFF2-40B4-BE49-F238E27FC236}">
                <a16:creationId xmlns:a16="http://schemas.microsoft.com/office/drawing/2014/main" id="{5482C687-C524-75A9-6A69-01A9139BF15D}"/>
              </a:ext>
            </a:extLst>
          </p:cNvPr>
          <p:cNvSpPr/>
          <p:nvPr/>
        </p:nvSpPr>
        <p:spPr>
          <a:xfrm>
            <a:off x="5693664" y="2298536"/>
            <a:ext cx="1427638"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Housing officer ·</a:t>
            </a:r>
          </a:p>
          <a:p>
            <a:pPr algn="l">
              <a:buNone/>
            </a:pPr>
            <a:r>
              <a:rPr lang="en-US" sz="100">
                <a:effectLst/>
              </a:rPr>
              <a:t> </a:t>
            </a:r>
            <a:endParaRPr lang="en-US"/>
          </a:p>
        </p:txBody>
      </p:sp>
      <p:sp>
        <p:nvSpPr>
          <p:cNvPr id="38975" name="Step 2 disc">
            <a:extLst>
              <a:ext uri="{FF2B5EF4-FFF2-40B4-BE49-F238E27FC236}">
                <a16:creationId xmlns:a16="http://schemas.microsoft.com/office/drawing/2014/main" id="{64516853-788D-5589-9D56-7092D7A3F394}"/>
              </a:ext>
            </a:extLst>
          </p:cNvPr>
          <p:cNvSpPr/>
          <p:nvPr/>
        </p:nvSpPr>
        <p:spPr>
          <a:xfrm>
            <a:off x="5090160" y="261518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91" name="Step 2 name">
            <a:extLst>
              <a:ext uri="{FF2B5EF4-FFF2-40B4-BE49-F238E27FC236}">
                <a16:creationId xmlns:a16="http://schemas.microsoft.com/office/drawing/2014/main" id="{A04CE34A-894F-8A80-FACD-90E6A195A3F2}"/>
              </a:ext>
            </a:extLst>
          </p:cNvPr>
          <p:cNvSpPr/>
          <p:nvPr/>
        </p:nvSpPr>
        <p:spPr>
          <a:xfrm>
            <a:off x="5693664" y="261857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Evidence assembled, conflict flagged</a:t>
            </a:r>
          </a:p>
          <a:p>
            <a:pPr algn="l">
              <a:buNone/>
            </a:pPr>
            <a:r>
              <a:rPr lang="en-US" sz="100">
                <a:effectLst/>
              </a:rPr>
              <a:t> </a:t>
            </a:r>
            <a:endParaRPr lang="en-US"/>
          </a:p>
        </p:txBody>
      </p:sp>
      <p:sp>
        <p:nvSpPr>
          <p:cNvPr id="39008" name="Step 2 chip">
            <a:extLst>
              <a:ext uri="{FF2B5EF4-FFF2-40B4-BE49-F238E27FC236}">
                <a16:creationId xmlns:a16="http://schemas.microsoft.com/office/drawing/2014/main" id="{CC14C451-F772-0720-C4DC-97954C3ED13E}"/>
              </a:ext>
            </a:extLst>
          </p:cNvPr>
          <p:cNvSpPr/>
          <p:nvPr/>
        </p:nvSpPr>
        <p:spPr>
          <a:xfrm>
            <a:off x="9851136" y="300837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#84</a:t>
            </a:r>
          </a:p>
          <a:p>
            <a:pPr algn="ctr">
              <a:buNone/>
            </a:pPr>
            <a:r>
              <a:rPr lang="en-US" sz="100">
                <a:effectLst/>
              </a:rPr>
              <a:t> </a:t>
            </a:r>
            <a:endParaRPr lang="en-US"/>
          </a:p>
        </p:txBody>
      </p:sp>
      <p:sp>
        <p:nvSpPr>
          <p:cNvPr id="39026" name="Step 2 owner">
            <a:extLst>
              <a:ext uri="{FF2B5EF4-FFF2-40B4-BE49-F238E27FC236}">
                <a16:creationId xmlns:a16="http://schemas.microsoft.com/office/drawing/2014/main" id="{306FEAA5-447D-EA27-C921-ABE28B58190F}"/>
              </a:ext>
            </a:extLst>
          </p:cNvPr>
          <p:cNvSpPr/>
          <p:nvPr/>
        </p:nvSpPr>
        <p:spPr>
          <a:xfrm>
            <a:off x="5693664" y="2938616"/>
            <a:ext cx="90753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Assessor</a:t>
            </a:r>
          </a:p>
          <a:p>
            <a:pPr algn="l">
              <a:buNone/>
            </a:pPr>
            <a:r>
              <a:rPr lang="en-US" sz="100">
                <a:effectLst/>
              </a:rPr>
              <a:t> </a:t>
            </a:r>
            <a:endParaRPr lang="en-US"/>
          </a:p>
        </p:txBody>
      </p:sp>
      <p:sp>
        <p:nvSpPr>
          <p:cNvPr id="39045" name="Step 3 disc">
            <a:extLst>
              <a:ext uri="{FF2B5EF4-FFF2-40B4-BE49-F238E27FC236}">
                <a16:creationId xmlns:a16="http://schemas.microsoft.com/office/drawing/2014/main" id="{FAA430A7-5BB6-CAE7-1EFA-43C37D571710}"/>
              </a:ext>
            </a:extLst>
          </p:cNvPr>
          <p:cNvSpPr/>
          <p:nvPr/>
        </p:nvSpPr>
        <p:spPr>
          <a:xfrm>
            <a:off x="5090160" y="325526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65" name="Step 3 name">
            <a:extLst>
              <a:ext uri="{FF2B5EF4-FFF2-40B4-BE49-F238E27FC236}">
                <a16:creationId xmlns:a16="http://schemas.microsoft.com/office/drawing/2014/main" id="{BACDE203-D599-1A2F-6CBD-9A52B83381D5}"/>
              </a:ext>
            </a:extLst>
          </p:cNvPr>
          <p:cNvSpPr/>
          <p:nvPr/>
        </p:nvSpPr>
        <p:spPr>
          <a:xfrm>
            <a:off x="5693664" y="325865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AI drafts summary and resident letter</a:t>
            </a:r>
          </a:p>
          <a:p>
            <a:pPr algn="l">
              <a:buNone/>
            </a:pPr>
            <a:r>
              <a:rPr lang="en-US" sz="100">
                <a:effectLst/>
              </a:rPr>
              <a:t> </a:t>
            </a:r>
            <a:endParaRPr lang="en-US"/>
          </a:p>
        </p:txBody>
      </p:sp>
      <p:sp>
        <p:nvSpPr>
          <p:cNvPr id="39086" name="Step 3 chip">
            <a:extLst>
              <a:ext uri="{FF2B5EF4-FFF2-40B4-BE49-F238E27FC236}">
                <a16:creationId xmlns:a16="http://schemas.microsoft.com/office/drawing/2014/main" id="{8F57B887-47E0-8189-CFEB-7F189BBA71BE}"/>
              </a:ext>
            </a:extLst>
          </p:cNvPr>
          <p:cNvSpPr/>
          <p:nvPr/>
        </p:nvSpPr>
        <p:spPr>
          <a:xfrm>
            <a:off x="9750552" y="3648456"/>
            <a:ext cx="189280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#106</a:t>
            </a:r>
          </a:p>
          <a:p>
            <a:pPr algn="ctr">
              <a:buNone/>
            </a:pPr>
            <a:r>
              <a:rPr lang="en-US" sz="100">
                <a:effectLst/>
              </a:rPr>
              <a:t> </a:t>
            </a:r>
            <a:endParaRPr lang="en-US"/>
          </a:p>
        </p:txBody>
      </p:sp>
      <p:sp>
        <p:nvSpPr>
          <p:cNvPr id="39108" name="Step 3 owner">
            <a:extLst>
              <a:ext uri="{FF2B5EF4-FFF2-40B4-BE49-F238E27FC236}">
                <a16:creationId xmlns:a16="http://schemas.microsoft.com/office/drawing/2014/main" id="{42552DD6-0EFD-E119-0FBA-93C30658D7AA}"/>
              </a:ext>
            </a:extLst>
          </p:cNvPr>
          <p:cNvSpPr/>
          <p:nvPr/>
        </p:nvSpPr>
        <p:spPr>
          <a:xfrm>
            <a:off x="5693664" y="3578696"/>
            <a:ext cx="1797893"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reviewed by a person</a:t>
            </a:r>
          </a:p>
          <a:p>
            <a:pPr algn="l">
              <a:buNone/>
            </a:pPr>
            <a:r>
              <a:rPr lang="en-US" sz="100">
                <a:effectLst/>
              </a:rPr>
              <a:t> </a:t>
            </a:r>
            <a:endParaRPr lang="en-US"/>
          </a:p>
        </p:txBody>
      </p:sp>
      <p:sp>
        <p:nvSpPr>
          <p:cNvPr id="39131" name="Step 4 disc">
            <a:extLst>
              <a:ext uri="{FF2B5EF4-FFF2-40B4-BE49-F238E27FC236}">
                <a16:creationId xmlns:a16="http://schemas.microsoft.com/office/drawing/2014/main" id="{27327362-029D-C306-21CF-541FB9971178}"/>
              </a:ext>
            </a:extLst>
          </p:cNvPr>
          <p:cNvSpPr/>
          <p:nvPr/>
        </p:nvSpPr>
        <p:spPr>
          <a:xfrm>
            <a:off x="5090160" y="389534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55" name="Step 4 name">
            <a:extLst>
              <a:ext uri="{FF2B5EF4-FFF2-40B4-BE49-F238E27FC236}">
                <a16:creationId xmlns:a16="http://schemas.microsoft.com/office/drawing/2014/main" id="{EACD4B5D-4BA8-38AE-F9DE-57E8ECFFC69D}"/>
              </a:ext>
            </a:extLst>
          </p:cNvPr>
          <p:cNvSpPr/>
          <p:nvPr/>
        </p:nvSpPr>
        <p:spPr>
          <a:xfrm>
            <a:off x="5693664" y="389873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Resident agrees a date by phone, letter or visit</a:t>
            </a:r>
          </a:p>
          <a:p>
            <a:pPr algn="l">
              <a:buNone/>
            </a:pPr>
            <a:r>
              <a:rPr lang="en-US" sz="100">
                <a:effectLst/>
              </a:rPr>
              <a:t> </a:t>
            </a:r>
            <a:endParaRPr lang="en-US"/>
          </a:p>
        </p:txBody>
      </p:sp>
      <p:sp>
        <p:nvSpPr>
          <p:cNvPr id="39180" name="Step 4 chip">
            <a:extLst>
              <a:ext uri="{FF2B5EF4-FFF2-40B4-BE49-F238E27FC236}">
                <a16:creationId xmlns:a16="http://schemas.microsoft.com/office/drawing/2014/main" id="{E5978440-1DF0-8671-7EFE-3CEF4EC8E6EE}"/>
              </a:ext>
            </a:extLst>
          </p:cNvPr>
          <p:cNvSpPr/>
          <p:nvPr/>
        </p:nvSpPr>
        <p:spPr>
          <a:xfrm>
            <a:off x="9851136" y="428853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#87</a:t>
            </a:r>
          </a:p>
          <a:p>
            <a:pPr algn="ctr">
              <a:buNone/>
            </a:pPr>
            <a:r>
              <a:rPr lang="en-US" sz="100">
                <a:effectLst/>
              </a:rPr>
              <a:t> </a:t>
            </a:r>
            <a:endParaRPr lang="en-US"/>
          </a:p>
        </p:txBody>
      </p:sp>
      <p:sp>
        <p:nvSpPr>
          <p:cNvPr id="39206" name="Step 4 owner">
            <a:extLst>
              <a:ext uri="{FF2B5EF4-FFF2-40B4-BE49-F238E27FC236}">
                <a16:creationId xmlns:a16="http://schemas.microsoft.com/office/drawing/2014/main" id="{202C8110-D676-9F70-5BA9-234AC1B869C4}"/>
              </a:ext>
            </a:extLst>
          </p:cNvPr>
          <p:cNvSpPr/>
          <p:nvPr/>
        </p:nvSpPr>
        <p:spPr>
          <a:xfrm>
            <a:off x="5693664" y="4218776"/>
            <a:ext cx="880199"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Resident</a:t>
            </a:r>
          </a:p>
          <a:p>
            <a:pPr algn="l">
              <a:buNone/>
            </a:pPr>
            <a:r>
              <a:rPr lang="en-US" sz="100">
                <a:effectLst/>
              </a:rPr>
              <a:t> </a:t>
            </a:r>
            <a:endParaRPr lang="en-US"/>
          </a:p>
        </p:txBody>
      </p:sp>
      <p:sp>
        <p:nvSpPr>
          <p:cNvPr id="39233" name="Step 5 disc">
            <a:extLst>
              <a:ext uri="{FF2B5EF4-FFF2-40B4-BE49-F238E27FC236}">
                <a16:creationId xmlns:a16="http://schemas.microsoft.com/office/drawing/2014/main" id="{B6022851-288A-B555-5E12-7CFA6120BB10}"/>
              </a:ext>
            </a:extLst>
          </p:cNvPr>
          <p:cNvSpPr/>
          <p:nvPr/>
        </p:nvSpPr>
        <p:spPr>
          <a:xfrm>
            <a:off x="5090160" y="453542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61" name="Step 5 name">
            <a:extLst>
              <a:ext uri="{FF2B5EF4-FFF2-40B4-BE49-F238E27FC236}">
                <a16:creationId xmlns:a16="http://schemas.microsoft.com/office/drawing/2014/main" id="{513B1470-A8BB-7CC2-C583-ADEDF9C27544}"/>
              </a:ext>
            </a:extLst>
          </p:cNvPr>
          <p:cNvSpPr/>
          <p:nvPr/>
        </p:nvSpPr>
        <p:spPr>
          <a:xfrm>
            <a:off x="5693664" y="453881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 order and quality acceptance</a:t>
            </a:r>
          </a:p>
          <a:p>
            <a:pPr algn="l">
              <a:buNone/>
            </a:pPr>
            <a:r>
              <a:rPr lang="en-US" sz="100">
                <a:effectLst/>
              </a:rPr>
              <a:t> </a:t>
            </a:r>
            <a:endParaRPr lang="en-US"/>
          </a:p>
        </p:txBody>
      </p:sp>
      <p:sp>
        <p:nvSpPr>
          <p:cNvPr id="39290" name="Step 5 chip">
            <a:extLst>
              <a:ext uri="{FF2B5EF4-FFF2-40B4-BE49-F238E27FC236}">
                <a16:creationId xmlns:a16="http://schemas.microsoft.com/office/drawing/2014/main" id="{7B306E36-C61C-A260-9FD9-A0092154F041}"/>
              </a:ext>
            </a:extLst>
          </p:cNvPr>
          <p:cNvSpPr/>
          <p:nvPr/>
        </p:nvSpPr>
        <p:spPr>
          <a:xfrm>
            <a:off x="9503664" y="4928616"/>
            <a:ext cx="213969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#90 #91</a:t>
            </a:r>
          </a:p>
          <a:p>
            <a:pPr algn="ctr">
              <a:buNone/>
            </a:pPr>
            <a:r>
              <a:rPr lang="en-US" sz="100">
                <a:effectLst/>
              </a:rPr>
              <a:t> </a:t>
            </a:r>
            <a:endParaRPr lang="en-US"/>
          </a:p>
        </p:txBody>
      </p:sp>
      <p:sp>
        <p:nvSpPr>
          <p:cNvPr id="39320" name="Step 5 owner">
            <a:extLst>
              <a:ext uri="{FF2B5EF4-FFF2-40B4-BE49-F238E27FC236}">
                <a16:creationId xmlns:a16="http://schemas.microsoft.com/office/drawing/2014/main" id="{13135D2A-6EDE-BD5F-40F6-3BB394375487}"/>
              </a:ext>
            </a:extLst>
          </p:cNvPr>
          <p:cNvSpPr/>
          <p:nvPr/>
        </p:nvSpPr>
        <p:spPr>
          <a:xfrm>
            <a:off x="5693664" y="4858856"/>
            <a:ext cx="2380813"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Contractor + independent QA</a:t>
            </a:r>
          </a:p>
          <a:p>
            <a:pPr algn="l">
              <a:buNone/>
            </a:pPr>
            <a:r>
              <a:rPr lang="en-US" sz="100">
                <a:effectLst/>
              </a:rPr>
              <a:t> </a:t>
            </a:r>
            <a:endParaRPr lang="en-US"/>
          </a:p>
        </p:txBody>
      </p:sp>
      <p:sp>
        <p:nvSpPr>
          <p:cNvPr id="39351" name="Step 6 disc">
            <a:extLst>
              <a:ext uri="{FF2B5EF4-FFF2-40B4-BE49-F238E27FC236}">
                <a16:creationId xmlns:a16="http://schemas.microsoft.com/office/drawing/2014/main" id="{ADEB64FF-502D-6AA3-6CD6-AD32D292A7FD}"/>
              </a:ext>
            </a:extLst>
          </p:cNvPr>
          <p:cNvSpPr/>
          <p:nvPr/>
        </p:nvSpPr>
        <p:spPr>
          <a:xfrm>
            <a:off x="5090160" y="517550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83" name="Step 6 name">
            <a:extLst>
              <a:ext uri="{FF2B5EF4-FFF2-40B4-BE49-F238E27FC236}">
                <a16:creationId xmlns:a16="http://schemas.microsoft.com/office/drawing/2014/main" id="{F9BB02D6-6696-3EC7-3873-7FCB3AC70A06}"/>
              </a:ext>
            </a:extLst>
          </p:cNvPr>
          <p:cNvSpPr/>
          <p:nvPr/>
        </p:nvSpPr>
        <p:spPr>
          <a:xfrm>
            <a:off x="5693664" y="517889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Handover and grant claim</a:t>
            </a:r>
          </a:p>
          <a:p>
            <a:pPr algn="l">
              <a:buNone/>
            </a:pPr>
            <a:r>
              <a:rPr lang="en-US" sz="100">
                <a:effectLst/>
              </a:rPr>
              <a:t> </a:t>
            </a:r>
            <a:endParaRPr lang="en-US"/>
          </a:p>
        </p:txBody>
      </p:sp>
      <p:sp>
        <p:nvSpPr>
          <p:cNvPr id="39416" name="Step 6 chip">
            <a:extLst>
              <a:ext uri="{FF2B5EF4-FFF2-40B4-BE49-F238E27FC236}">
                <a16:creationId xmlns:a16="http://schemas.microsoft.com/office/drawing/2014/main" id="{E50B9EB3-9030-BE21-733A-0107CAEE83AA}"/>
              </a:ext>
            </a:extLst>
          </p:cNvPr>
          <p:cNvSpPr/>
          <p:nvPr/>
        </p:nvSpPr>
        <p:spPr>
          <a:xfrm>
            <a:off x="9851136" y="556869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#95</a:t>
            </a:r>
          </a:p>
          <a:p>
            <a:pPr algn="ctr">
              <a:buNone/>
            </a:pPr>
            <a:r>
              <a:rPr lang="en-US" sz="100">
                <a:effectLst/>
              </a:rPr>
              <a:t> </a:t>
            </a:r>
            <a:endParaRPr lang="en-US"/>
          </a:p>
        </p:txBody>
      </p:sp>
      <p:sp>
        <p:nvSpPr>
          <p:cNvPr id="39450" name="Step 6 owner">
            <a:extLst>
              <a:ext uri="{FF2B5EF4-FFF2-40B4-BE49-F238E27FC236}">
                <a16:creationId xmlns:a16="http://schemas.microsoft.com/office/drawing/2014/main" id="{05FF5DC0-B447-3C41-3D71-2CC4EE3357A3}"/>
              </a:ext>
            </a:extLst>
          </p:cNvPr>
          <p:cNvSpPr/>
          <p:nvPr/>
        </p:nvSpPr>
        <p:spPr>
          <a:xfrm>
            <a:off x="5693664" y="5498936"/>
            <a:ext cx="815945"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Finance</a:t>
            </a:r>
          </a:p>
          <a:p>
            <a:pPr algn="l">
              <a:buNone/>
            </a:pPr>
            <a:r>
              <a:rPr lang="en-US" sz="100">
                <a:effectLst/>
              </a:rPr>
              <a:t> </a:t>
            </a:r>
            <a:endParaRPr lang="en-US"/>
          </a:p>
        </p:txBody>
      </p:sp>
      <p:pic>
        <p:nvPicPr>
          <p:cNvPr id="39451" name="Step 1 icon" descr="Survey icon">
            <a:extLst>
              <a:ext uri="{FF2B5EF4-FFF2-40B4-BE49-F238E27FC236}">
                <a16:creationId xmlns:a16="http://schemas.microsoft.com/office/drawing/2014/main" id="{6B7B846C-91FA-6ADF-36AC-55A59CD73159}"/>
              </a:ext>
            </a:extLst>
          </p:cNvPr>
          <p:cNvPicPr>
            <a:picLocks noChangeAspect="1"/>
          </p:cNvPicPr>
          <p:nvPr/>
        </p:nvPicPr>
        <p:blipFill>
          <a:blip r:embed="rId4"/>
          <a:stretch>
            <a:fillRect/>
          </a:stretch>
        </p:blipFill>
        <p:spPr>
          <a:xfrm>
            <a:off x="5172456" y="2057400"/>
            <a:ext cx="347472" cy="347472"/>
          </a:xfrm>
          <a:prstGeom prst="rect">
            <a:avLst/>
          </a:prstGeom>
        </p:spPr>
      </p:pic>
      <p:pic>
        <p:nvPicPr>
          <p:cNvPr id="39452" name="Step 2 icon" descr="Evidence icon">
            <a:extLst>
              <a:ext uri="{FF2B5EF4-FFF2-40B4-BE49-F238E27FC236}">
                <a16:creationId xmlns:a16="http://schemas.microsoft.com/office/drawing/2014/main" id="{77666DB8-9FBC-3288-B277-2982293616B7}"/>
              </a:ext>
            </a:extLst>
          </p:cNvPr>
          <p:cNvPicPr>
            <a:picLocks noChangeAspect="1"/>
          </p:cNvPicPr>
          <p:nvPr/>
        </p:nvPicPr>
        <p:blipFill>
          <a:blip r:embed="rId5"/>
          <a:stretch>
            <a:fillRect/>
          </a:stretch>
        </p:blipFill>
        <p:spPr>
          <a:xfrm>
            <a:off x="5172456" y="2697480"/>
            <a:ext cx="347472" cy="347472"/>
          </a:xfrm>
          <a:prstGeom prst="rect">
            <a:avLst/>
          </a:prstGeom>
        </p:spPr>
      </p:pic>
      <p:pic>
        <p:nvPicPr>
          <p:cNvPr id="39453" name="Step 3 icon" descr="AI icon">
            <a:extLst>
              <a:ext uri="{FF2B5EF4-FFF2-40B4-BE49-F238E27FC236}">
                <a16:creationId xmlns:a16="http://schemas.microsoft.com/office/drawing/2014/main" id="{89362BB4-139A-44BD-77D1-C3590AB7034B}"/>
              </a:ext>
            </a:extLst>
          </p:cNvPr>
          <p:cNvPicPr>
            <a:picLocks noChangeAspect="1"/>
          </p:cNvPicPr>
          <p:nvPr/>
        </p:nvPicPr>
        <p:blipFill>
          <a:blip r:embed="rId6"/>
          <a:stretch>
            <a:fillRect/>
          </a:stretch>
        </p:blipFill>
        <p:spPr>
          <a:xfrm>
            <a:off x="5172456" y="3337560"/>
            <a:ext cx="347472" cy="347472"/>
          </a:xfrm>
          <a:prstGeom prst="rect">
            <a:avLst/>
          </a:prstGeom>
        </p:spPr>
      </p:pic>
      <p:pic>
        <p:nvPicPr>
          <p:cNvPr id="39454" name="Step 4 icon" descr="People and roles icon">
            <a:extLst>
              <a:ext uri="{FF2B5EF4-FFF2-40B4-BE49-F238E27FC236}">
                <a16:creationId xmlns:a16="http://schemas.microsoft.com/office/drawing/2014/main" id="{9DB79DEE-9B1D-E8C5-A670-AAFEE87219AC}"/>
              </a:ext>
            </a:extLst>
          </p:cNvPr>
          <p:cNvPicPr>
            <a:picLocks noChangeAspect="1"/>
          </p:cNvPicPr>
          <p:nvPr/>
        </p:nvPicPr>
        <p:blipFill>
          <a:blip r:embed="rId7"/>
          <a:stretch>
            <a:fillRect/>
          </a:stretch>
        </p:blipFill>
        <p:spPr>
          <a:xfrm>
            <a:off x="5172456" y="3977640"/>
            <a:ext cx="347472" cy="347472"/>
          </a:xfrm>
          <a:prstGeom prst="rect">
            <a:avLst/>
          </a:prstGeom>
        </p:spPr>
      </p:pic>
      <p:pic>
        <p:nvPicPr>
          <p:cNvPr id="39455" name="Step 5 icon" descr="Contractor icon">
            <a:extLst>
              <a:ext uri="{FF2B5EF4-FFF2-40B4-BE49-F238E27FC236}">
                <a16:creationId xmlns:a16="http://schemas.microsoft.com/office/drawing/2014/main" id="{D25C5034-8AA1-4EF8-E260-267E40EA626A}"/>
              </a:ext>
            </a:extLst>
          </p:cNvPr>
          <p:cNvPicPr>
            <a:picLocks noChangeAspect="1"/>
          </p:cNvPicPr>
          <p:nvPr/>
        </p:nvPicPr>
        <p:blipFill>
          <a:blip r:embed="rId8"/>
          <a:stretch>
            <a:fillRect/>
          </a:stretch>
        </p:blipFill>
        <p:spPr>
          <a:xfrm>
            <a:off x="5172456" y="4617720"/>
            <a:ext cx="347472" cy="347472"/>
          </a:xfrm>
          <a:prstGeom prst="rect">
            <a:avLst/>
          </a:prstGeom>
        </p:spPr>
      </p:pic>
      <p:pic>
        <p:nvPicPr>
          <p:cNvPr id="39456" name="Step 6 icon" descr="Cost icon">
            <a:extLst>
              <a:ext uri="{FF2B5EF4-FFF2-40B4-BE49-F238E27FC236}">
                <a16:creationId xmlns:a16="http://schemas.microsoft.com/office/drawing/2014/main" id="{85F4CF5C-5E87-02B3-133B-1BCC12A13F46}"/>
              </a:ext>
            </a:extLst>
          </p:cNvPr>
          <p:cNvPicPr>
            <a:picLocks noChangeAspect="1"/>
          </p:cNvPicPr>
          <p:nvPr/>
        </p:nvPicPr>
        <p:blipFill>
          <a:blip r:embed="rId9"/>
          <a:stretch>
            <a:fillRect/>
          </a:stretch>
        </p:blipFill>
        <p:spPr>
          <a:xfrm>
            <a:off x="5172456" y="5257800"/>
            <a:ext cx="347472" cy="347472"/>
          </a:xfrm>
          <a:prstGeom prst="rect">
            <a:avLst/>
          </a:prstGeom>
        </p:spPr>
      </p:pic>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189 backlog items, 16 epics, one coherent product.</a:t>
            </a:r>
          </a:p>
          <a:p>
            <a:pPr algn="l">
              <a:buNone/>
            </a:pPr>
            <a:r>
              <a:rPr lang="en-US" sz="100">
                <a:effectLst/>
              </a:rPr>
              <a:t> </a:t>
            </a:r>
            <a:endParaRPr lang="en-US"/>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 AMA Plan project 7 snapshot, 23 Oct 2026 07:21 UTC (API projection of GitHub issues)</a:t>
            </a:r>
          </a:p>
          <a:p>
            <a:pPr algn="l">
              <a:buNone/>
            </a:pPr>
            <a:r>
              <a:rPr lang="en-US" sz="100">
                <a:effectLst/>
              </a:rPr>
              <a:t> </a:t>
            </a:r>
            <a:endParaRPr lang="en-US"/>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p:nvSpPr>
          <p:cNvPr id="39471" name="Epic tile 1">
            <a:extLst>
              <a:ext uri="{FF2B5EF4-FFF2-40B4-BE49-F238E27FC236}">
                <a16:creationId xmlns:a16="http://schemas.microsoft.com/office/drawing/2014/main" id="{1615A875-967D-A3E2-AD89-A01676B1AE0D}"/>
              </a:ext>
            </a:extLst>
          </p:cNvPr>
          <p:cNvSpPr/>
          <p:nvPr/>
        </p:nvSpPr>
        <p:spPr>
          <a:xfrm>
            <a:off x="548640"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77" name="Epic 1 name">
            <a:extLst>
              <a:ext uri="{FF2B5EF4-FFF2-40B4-BE49-F238E27FC236}">
                <a16:creationId xmlns:a16="http://schemas.microsoft.com/office/drawing/2014/main" id="{83C823BA-9D2D-23D4-CB86-35A718701968}"/>
              </a:ext>
            </a:extLst>
          </p:cNvPr>
          <p:cNvSpPr/>
          <p:nvPr/>
        </p:nvSpPr>
        <p:spPr>
          <a:xfrm>
            <a:off x="941832"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Home case and workbench</a:t>
            </a:r>
          </a:p>
          <a:p>
            <a:pPr algn="l">
              <a:buNone/>
            </a:pPr>
            <a:r>
              <a:rPr lang="en-US" sz="100">
                <a:effectLst/>
              </a:rPr>
              <a:t> </a:t>
            </a:r>
            <a:endParaRPr lang="en-US"/>
          </a:p>
        </p:txBody>
      </p:sp>
      <p:sp>
        <p:nvSpPr>
          <p:cNvPr id="39484" name="Epic 1 track">
            <a:extLst>
              <a:ext uri="{FF2B5EF4-FFF2-40B4-BE49-F238E27FC236}">
                <a16:creationId xmlns:a16="http://schemas.microsoft.com/office/drawing/2014/main" id="{B054232A-0785-9808-E063-26F210594CB6}"/>
              </a:ext>
            </a:extLst>
          </p:cNvPr>
          <p:cNvSpPr/>
          <p:nvPr/>
        </p:nvSpPr>
        <p:spPr>
          <a:xfrm>
            <a:off x="640080"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92" name="Epic 1 delivered bar">
            <a:extLst>
              <a:ext uri="{FF2B5EF4-FFF2-40B4-BE49-F238E27FC236}">
                <a16:creationId xmlns:a16="http://schemas.microsoft.com/office/drawing/2014/main" id="{98AB816B-D7BC-428B-9480-C55E85CCB909}"/>
              </a:ext>
            </a:extLst>
          </p:cNvPr>
          <p:cNvSpPr/>
          <p:nvPr/>
        </p:nvSpPr>
        <p:spPr>
          <a:xfrm>
            <a:off x="640080"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01" name="Epic 1 queued bar">
            <a:extLst>
              <a:ext uri="{FF2B5EF4-FFF2-40B4-BE49-F238E27FC236}">
                <a16:creationId xmlns:a16="http://schemas.microsoft.com/office/drawing/2014/main" id="{34E2BC26-6B07-D472-B9B8-8135A2AFB7F6}"/>
              </a:ext>
            </a:extLst>
          </p:cNvPr>
          <p:cNvSpPr/>
          <p:nvPr/>
        </p:nvSpPr>
        <p:spPr>
          <a:xfrm>
            <a:off x="756745" y="2116836"/>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11" name="Epic 1 delivered count">
            <a:extLst>
              <a:ext uri="{FF2B5EF4-FFF2-40B4-BE49-F238E27FC236}">
                <a16:creationId xmlns:a16="http://schemas.microsoft.com/office/drawing/2014/main" id="{A504EDD0-5756-F76A-DA54-418730BD7AC4}"/>
              </a:ext>
            </a:extLst>
          </p:cNvPr>
          <p:cNvSpPr/>
          <p:nvPr/>
        </p:nvSpPr>
        <p:spPr>
          <a:xfrm>
            <a:off x="5486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522" name="Epic 1 in progress count">
            <a:extLst>
              <a:ext uri="{FF2B5EF4-FFF2-40B4-BE49-F238E27FC236}">
                <a16:creationId xmlns:a16="http://schemas.microsoft.com/office/drawing/2014/main" id="{4B63F270-AD5C-AD52-B377-353546125781}"/>
              </a:ext>
            </a:extLst>
          </p:cNvPr>
          <p:cNvSpPr/>
          <p:nvPr/>
        </p:nvSpPr>
        <p:spPr>
          <a:xfrm>
            <a:off x="93268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534" name="Epic 1 queued count">
            <a:extLst>
              <a:ext uri="{FF2B5EF4-FFF2-40B4-BE49-F238E27FC236}">
                <a16:creationId xmlns:a16="http://schemas.microsoft.com/office/drawing/2014/main" id="{F55F16DB-E7DD-15EC-A19D-EA6A60AA1B13}"/>
              </a:ext>
            </a:extLst>
          </p:cNvPr>
          <p:cNvSpPr/>
          <p:nvPr/>
        </p:nvSpPr>
        <p:spPr>
          <a:xfrm>
            <a:off x="131673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39547" name="Epic tile 2">
            <a:extLst>
              <a:ext uri="{FF2B5EF4-FFF2-40B4-BE49-F238E27FC236}">
                <a16:creationId xmlns:a16="http://schemas.microsoft.com/office/drawing/2014/main" id="{08EC7A73-BC46-969F-A540-943304D598DF}"/>
              </a:ext>
            </a:extLst>
          </p:cNvPr>
          <p:cNvSpPr/>
          <p:nvPr/>
        </p:nvSpPr>
        <p:spPr>
          <a:xfrm>
            <a:off x="2523744"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61" name="Epic 2 name">
            <a:extLst>
              <a:ext uri="{FF2B5EF4-FFF2-40B4-BE49-F238E27FC236}">
                <a16:creationId xmlns:a16="http://schemas.microsoft.com/office/drawing/2014/main" id="{4333FE9C-294D-E4B7-FB81-015878051E34}"/>
              </a:ext>
            </a:extLst>
          </p:cNvPr>
          <p:cNvSpPr/>
          <p:nvPr/>
        </p:nvSpPr>
        <p:spPr>
          <a:xfrm>
            <a:off x="2916936"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Safety and consent</a:t>
            </a:r>
          </a:p>
          <a:p>
            <a:pPr algn="l">
              <a:buNone/>
            </a:pPr>
            <a:r>
              <a:rPr lang="en-US" sz="100">
                <a:effectLst/>
              </a:rPr>
              <a:t> </a:t>
            </a:r>
            <a:endParaRPr lang="en-US"/>
          </a:p>
        </p:txBody>
      </p:sp>
      <p:sp>
        <p:nvSpPr>
          <p:cNvPr id="39576" name="Epic 2 track">
            <a:extLst>
              <a:ext uri="{FF2B5EF4-FFF2-40B4-BE49-F238E27FC236}">
                <a16:creationId xmlns:a16="http://schemas.microsoft.com/office/drawing/2014/main" id="{DE0F94BE-4BCC-38D2-AA54-D36FB7ABCB0D}"/>
              </a:ext>
            </a:extLst>
          </p:cNvPr>
          <p:cNvSpPr/>
          <p:nvPr/>
        </p:nvSpPr>
        <p:spPr>
          <a:xfrm>
            <a:off x="2615184"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92" name="Epic 2 delivered bar">
            <a:extLst>
              <a:ext uri="{FF2B5EF4-FFF2-40B4-BE49-F238E27FC236}">
                <a16:creationId xmlns:a16="http://schemas.microsoft.com/office/drawing/2014/main" id="{47941CCA-2950-AB45-4F10-CD4ED285D07C}"/>
              </a:ext>
            </a:extLst>
          </p:cNvPr>
          <p:cNvSpPr/>
          <p:nvPr/>
        </p:nvSpPr>
        <p:spPr>
          <a:xfrm>
            <a:off x="2615184" y="2116836"/>
            <a:ext cx="233330"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09" name="Epic 2 queued bar">
            <a:extLst>
              <a:ext uri="{FF2B5EF4-FFF2-40B4-BE49-F238E27FC236}">
                <a16:creationId xmlns:a16="http://schemas.microsoft.com/office/drawing/2014/main" id="{CDFE35A8-AA36-0DD9-9629-5D09E3C54CB6}"/>
              </a:ext>
            </a:extLst>
          </p:cNvPr>
          <p:cNvSpPr/>
          <p:nvPr/>
        </p:nvSpPr>
        <p:spPr>
          <a:xfrm>
            <a:off x="2848514" y="2116836"/>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27" name="Epic 2 delivered count">
            <a:extLst>
              <a:ext uri="{FF2B5EF4-FFF2-40B4-BE49-F238E27FC236}">
                <a16:creationId xmlns:a16="http://schemas.microsoft.com/office/drawing/2014/main" id="{90D5C5E1-C79A-3D03-6382-325FD6023729}"/>
              </a:ext>
            </a:extLst>
          </p:cNvPr>
          <p:cNvSpPr/>
          <p:nvPr/>
        </p:nvSpPr>
        <p:spPr>
          <a:xfrm>
            <a:off x="25237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4</a:t>
            </a:r>
          </a:p>
          <a:p>
            <a:pPr algn="l">
              <a:buNone/>
            </a:pPr>
            <a:r>
              <a:rPr lang="en-US" sz="100">
                <a:effectLst/>
              </a:rPr>
              <a:t> </a:t>
            </a:r>
            <a:endParaRPr lang="en-US"/>
          </a:p>
        </p:txBody>
      </p:sp>
      <p:sp>
        <p:nvSpPr>
          <p:cNvPr id="39646" name="Epic 2 in progress count">
            <a:extLst>
              <a:ext uri="{FF2B5EF4-FFF2-40B4-BE49-F238E27FC236}">
                <a16:creationId xmlns:a16="http://schemas.microsoft.com/office/drawing/2014/main" id="{1FF2108B-66BA-4716-AEC4-0383201D21BB}"/>
              </a:ext>
            </a:extLst>
          </p:cNvPr>
          <p:cNvSpPr/>
          <p:nvPr/>
        </p:nvSpPr>
        <p:spPr>
          <a:xfrm>
            <a:off x="290779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666" name="Epic 2 queued count">
            <a:extLst>
              <a:ext uri="{FF2B5EF4-FFF2-40B4-BE49-F238E27FC236}">
                <a16:creationId xmlns:a16="http://schemas.microsoft.com/office/drawing/2014/main" id="{2344DE37-6921-8AA3-F4DA-31F939057F4D}"/>
              </a:ext>
            </a:extLst>
          </p:cNvPr>
          <p:cNvSpPr/>
          <p:nvPr/>
        </p:nvSpPr>
        <p:spPr>
          <a:xfrm>
            <a:off x="32918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39687" name="Epic tile 3">
            <a:extLst>
              <a:ext uri="{FF2B5EF4-FFF2-40B4-BE49-F238E27FC236}">
                <a16:creationId xmlns:a16="http://schemas.microsoft.com/office/drawing/2014/main" id="{F0EBD501-A9AE-8DB3-184B-30BCC032878E}"/>
              </a:ext>
            </a:extLst>
          </p:cNvPr>
          <p:cNvSpPr/>
          <p:nvPr/>
        </p:nvSpPr>
        <p:spPr>
          <a:xfrm>
            <a:off x="4498848"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09" name="Epic 3 name">
            <a:extLst>
              <a:ext uri="{FF2B5EF4-FFF2-40B4-BE49-F238E27FC236}">
                <a16:creationId xmlns:a16="http://schemas.microsoft.com/office/drawing/2014/main" id="{966891B2-20FD-C9CA-1690-AFF74E2BB483}"/>
              </a:ext>
            </a:extLst>
          </p:cNvPr>
          <p:cNvSpPr/>
          <p:nvPr/>
        </p:nvSpPr>
        <p:spPr>
          <a:xfrm>
            <a:off x="4892040"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Capacity and quality</a:t>
            </a:r>
          </a:p>
          <a:p>
            <a:pPr algn="l">
              <a:buNone/>
            </a:pPr>
            <a:r>
              <a:rPr lang="en-US" sz="100">
                <a:effectLst/>
              </a:rPr>
              <a:t> </a:t>
            </a:r>
            <a:endParaRPr lang="en-US"/>
          </a:p>
        </p:txBody>
      </p:sp>
      <p:sp>
        <p:nvSpPr>
          <p:cNvPr id="39732" name="Epic 3 track">
            <a:extLst>
              <a:ext uri="{FF2B5EF4-FFF2-40B4-BE49-F238E27FC236}">
                <a16:creationId xmlns:a16="http://schemas.microsoft.com/office/drawing/2014/main" id="{C17B0D96-5545-CA6A-4F8E-38BC1A91CAF4}"/>
              </a:ext>
            </a:extLst>
          </p:cNvPr>
          <p:cNvSpPr/>
          <p:nvPr/>
        </p:nvSpPr>
        <p:spPr>
          <a:xfrm>
            <a:off x="4590288"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56" name="Epic 3 delivered bar">
            <a:extLst>
              <a:ext uri="{FF2B5EF4-FFF2-40B4-BE49-F238E27FC236}">
                <a16:creationId xmlns:a16="http://schemas.microsoft.com/office/drawing/2014/main" id="{F77985F1-70CF-29BB-F232-BF59EFA04522}"/>
              </a:ext>
            </a:extLst>
          </p:cNvPr>
          <p:cNvSpPr/>
          <p:nvPr/>
        </p:nvSpPr>
        <p:spPr>
          <a:xfrm>
            <a:off x="4590288"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81" name="Epic 3 queued bar">
            <a:extLst>
              <a:ext uri="{FF2B5EF4-FFF2-40B4-BE49-F238E27FC236}">
                <a16:creationId xmlns:a16="http://schemas.microsoft.com/office/drawing/2014/main" id="{6B2CD820-FEBD-A7B7-02A2-26A9428A9E48}"/>
              </a:ext>
            </a:extLst>
          </p:cNvPr>
          <p:cNvSpPr/>
          <p:nvPr/>
        </p:nvSpPr>
        <p:spPr>
          <a:xfrm>
            <a:off x="4706953" y="2116836"/>
            <a:ext cx="174997"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807" name="Epic 3 delivered count">
            <a:extLst>
              <a:ext uri="{FF2B5EF4-FFF2-40B4-BE49-F238E27FC236}">
                <a16:creationId xmlns:a16="http://schemas.microsoft.com/office/drawing/2014/main" id="{F19F5B46-E713-BB2A-20E5-7657FBBFEA17}"/>
              </a:ext>
            </a:extLst>
          </p:cNvPr>
          <p:cNvSpPr/>
          <p:nvPr/>
        </p:nvSpPr>
        <p:spPr>
          <a:xfrm>
            <a:off x="44988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834" name="Epic 3 in progress count">
            <a:extLst>
              <a:ext uri="{FF2B5EF4-FFF2-40B4-BE49-F238E27FC236}">
                <a16:creationId xmlns:a16="http://schemas.microsoft.com/office/drawing/2014/main" id="{69043818-9B88-15EB-896D-BFB001A14628}"/>
              </a:ext>
            </a:extLst>
          </p:cNvPr>
          <p:cNvSpPr/>
          <p:nvPr/>
        </p:nvSpPr>
        <p:spPr>
          <a:xfrm>
            <a:off x="488289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862" name="Epic 3 queued count">
            <a:extLst>
              <a:ext uri="{FF2B5EF4-FFF2-40B4-BE49-F238E27FC236}">
                <a16:creationId xmlns:a16="http://schemas.microsoft.com/office/drawing/2014/main" id="{6D891715-926D-D377-94C8-3E7A9BFFF18D}"/>
              </a:ext>
            </a:extLst>
          </p:cNvPr>
          <p:cNvSpPr/>
          <p:nvPr/>
        </p:nvSpPr>
        <p:spPr>
          <a:xfrm>
            <a:off x="52669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3</a:t>
            </a:r>
          </a:p>
          <a:p>
            <a:pPr algn="l">
              <a:buNone/>
            </a:pPr>
            <a:r>
              <a:rPr lang="en-US" sz="100">
                <a:effectLst/>
              </a:rPr>
              <a:t> </a:t>
            </a:r>
            <a:endParaRPr lang="en-US"/>
          </a:p>
        </p:txBody>
      </p:sp>
      <p:sp>
        <p:nvSpPr>
          <p:cNvPr id="39891" name="Epic tile 4">
            <a:extLst>
              <a:ext uri="{FF2B5EF4-FFF2-40B4-BE49-F238E27FC236}">
                <a16:creationId xmlns:a16="http://schemas.microsoft.com/office/drawing/2014/main" id="{8364EA49-25C0-29F5-4147-98757C90988E}"/>
              </a:ext>
            </a:extLst>
          </p:cNvPr>
          <p:cNvSpPr/>
          <p:nvPr/>
        </p:nvSpPr>
        <p:spPr>
          <a:xfrm>
            <a:off x="6473952"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21" name="Epic 4 name">
            <a:extLst>
              <a:ext uri="{FF2B5EF4-FFF2-40B4-BE49-F238E27FC236}">
                <a16:creationId xmlns:a16="http://schemas.microsoft.com/office/drawing/2014/main" id="{288C15BF-BF72-7FB9-A1F5-F50F72714F48}"/>
              </a:ext>
            </a:extLst>
          </p:cNvPr>
          <p:cNvSpPr/>
          <p:nvPr/>
        </p:nvSpPr>
        <p:spPr>
          <a:xfrm>
            <a:off x="6867144"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Finance and grants</a:t>
            </a:r>
          </a:p>
          <a:p>
            <a:pPr algn="l">
              <a:buNone/>
            </a:pPr>
            <a:r>
              <a:rPr lang="en-US" sz="100">
                <a:effectLst/>
              </a:rPr>
              <a:t> </a:t>
            </a:r>
            <a:endParaRPr lang="en-US"/>
          </a:p>
        </p:txBody>
      </p:sp>
      <p:sp>
        <p:nvSpPr>
          <p:cNvPr id="39952" name="Epic 4 track">
            <a:extLst>
              <a:ext uri="{FF2B5EF4-FFF2-40B4-BE49-F238E27FC236}">
                <a16:creationId xmlns:a16="http://schemas.microsoft.com/office/drawing/2014/main" id="{4EEAED34-59EF-B2BE-443A-3E7B7D2F1C32}"/>
              </a:ext>
            </a:extLst>
          </p:cNvPr>
          <p:cNvSpPr/>
          <p:nvPr/>
        </p:nvSpPr>
        <p:spPr>
          <a:xfrm>
            <a:off x="6565392"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84" name="Epic 4 delivered bar">
            <a:extLst>
              <a:ext uri="{FF2B5EF4-FFF2-40B4-BE49-F238E27FC236}">
                <a16:creationId xmlns:a16="http://schemas.microsoft.com/office/drawing/2014/main" id="{D8E159A2-A161-A276-F2FE-6FD04A234B28}"/>
              </a:ext>
            </a:extLst>
          </p:cNvPr>
          <p:cNvSpPr/>
          <p:nvPr/>
        </p:nvSpPr>
        <p:spPr>
          <a:xfrm>
            <a:off x="6565392"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17" name="Epic 4 in progress bar">
            <a:extLst>
              <a:ext uri="{FF2B5EF4-FFF2-40B4-BE49-F238E27FC236}">
                <a16:creationId xmlns:a16="http://schemas.microsoft.com/office/drawing/2014/main" id="{8C73B6C5-28AB-C067-1A1D-E1607F04872D}"/>
              </a:ext>
            </a:extLst>
          </p:cNvPr>
          <p:cNvSpPr/>
          <p:nvPr/>
        </p:nvSpPr>
        <p:spPr>
          <a:xfrm>
            <a:off x="6682057" y="2116836"/>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51" name="Epic 4 queued bar">
            <a:extLst>
              <a:ext uri="{FF2B5EF4-FFF2-40B4-BE49-F238E27FC236}">
                <a16:creationId xmlns:a16="http://schemas.microsoft.com/office/drawing/2014/main" id="{7E42BA54-433A-7050-312B-D4BCA7AD6703}"/>
              </a:ext>
            </a:extLst>
          </p:cNvPr>
          <p:cNvSpPr/>
          <p:nvPr/>
        </p:nvSpPr>
        <p:spPr>
          <a:xfrm>
            <a:off x="6798722" y="2116836"/>
            <a:ext cx="11666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86" name="Epic 4 delivered count">
            <a:extLst>
              <a:ext uri="{FF2B5EF4-FFF2-40B4-BE49-F238E27FC236}">
                <a16:creationId xmlns:a16="http://schemas.microsoft.com/office/drawing/2014/main" id="{EC786664-3628-5A7B-9B21-2CFEA5EC3DEA}"/>
              </a:ext>
            </a:extLst>
          </p:cNvPr>
          <p:cNvSpPr/>
          <p:nvPr/>
        </p:nvSpPr>
        <p:spPr>
          <a:xfrm>
            <a:off x="647395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122" name="Epic 4 in progress count">
            <a:extLst>
              <a:ext uri="{FF2B5EF4-FFF2-40B4-BE49-F238E27FC236}">
                <a16:creationId xmlns:a16="http://schemas.microsoft.com/office/drawing/2014/main" id="{13254650-C925-8BA7-6F05-EE4E8915E9B8}"/>
              </a:ext>
            </a:extLst>
          </p:cNvPr>
          <p:cNvSpPr/>
          <p:nvPr/>
        </p:nvSpPr>
        <p:spPr>
          <a:xfrm>
            <a:off x="685800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0159" name="Epic 4 queued count">
            <a:extLst>
              <a:ext uri="{FF2B5EF4-FFF2-40B4-BE49-F238E27FC236}">
                <a16:creationId xmlns:a16="http://schemas.microsoft.com/office/drawing/2014/main" id="{19409DDF-9BDD-B7FA-434F-DC6FAF0E7A17}"/>
              </a:ext>
            </a:extLst>
          </p:cNvPr>
          <p:cNvSpPr/>
          <p:nvPr/>
        </p:nvSpPr>
        <p:spPr>
          <a:xfrm>
            <a:off x="72420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0197" name="Epic tile 5">
            <a:extLst>
              <a:ext uri="{FF2B5EF4-FFF2-40B4-BE49-F238E27FC236}">
                <a16:creationId xmlns:a16="http://schemas.microsoft.com/office/drawing/2014/main" id="{03FC93BB-8A47-2DA2-FD90-46C05BC31AE4}"/>
              </a:ext>
            </a:extLst>
          </p:cNvPr>
          <p:cNvSpPr/>
          <p:nvPr/>
        </p:nvSpPr>
        <p:spPr>
          <a:xfrm>
            <a:off x="548640"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236" name="Epic 5 name">
            <a:extLst>
              <a:ext uri="{FF2B5EF4-FFF2-40B4-BE49-F238E27FC236}">
                <a16:creationId xmlns:a16="http://schemas.microsoft.com/office/drawing/2014/main" id="{20843483-0A7F-0886-C491-13FB5DAA8A3A}"/>
              </a:ext>
            </a:extLst>
          </p:cNvPr>
          <p:cNvSpPr/>
          <p:nvPr/>
        </p:nvSpPr>
        <p:spPr>
          <a:xfrm>
            <a:off x="941832"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Insight and forecasting</a:t>
            </a:r>
          </a:p>
          <a:p>
            <a:pPr algn="l">
              <a:buNone/>
            </a:pPr>
            <a:r>
              <a:rPr lang="en-US" sz="100">
                <a:effectLst/>
              </a:rPr>
              <a:t> </a:t>
            </a:r>
            <a:endParaRPr lang="en-US"/>
          </a:p>
        </p:txBody>
      </p:sp>
      <p:sp>
        <p:nvSpPr>
          <p:cNvPr id="40276" name="Epic 5 track">
            <a:extLst>
              <a:ext uri="{FF2B5EF4-FFF2-40B4-BE49-F238E27FC236}">
                <a16:creationId xmlns:a16="http://schemas.microsoft.com/office/drawing/2014/main" id="{BEEF2A10-71E0-9785-78C1-5A75EB4DFCE3}"/>
              </a:ext>
            </a:extLst>
          </p:cNvPr>
          <p:cNvSpPr/>
          <p:nvPr/>
        </p:nvSpPr>
        <p:spPr>
          <a:xfrm>
            <a:off x="640080"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17" name="Epic 5 delivered bar">
            <a:extLst>
              <a:ext uri="{FF2B5EF4-FFF2-40B4-BE49-F238E27FC236}">
                <a16:creationId xmlns:a16="http://schemas.microsoft.com/office/drawing/2014/main" id="{4E8E387E-FCF4-235E-2282-C02B8C8117CB}"/>
              </a:ext>
            </a:extLst>
          </p:cNvPr>
          <p:cNvSpPr/>
          <p:nvPr/>
        </p:nvSpPr>
        <p:spPr>
          <a:xfrm>
            <a:off x="640080" y="3223260"/>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59" name="Epic 5 queued bar">
            <a:extLst>
              <a:ext uri="{FF2B5EF4-FFF2-40B4-BE49-F238E27FC236}">
                <a16:creationId xmlns:a16="http://schemas.microsoft.com/office/drawing/2014/main" id="{574CC97F-972A-A7EC-229F-C0ED09506DCB}"/>
              </a:ext>
            </a:extLst>
          </p:cNvPr>
          <p:cNvSpPr/>
          <p:nvPr/>
        </p:nvSpPr>
        <p:spPr>
          <a:xfrm>
            <a:off x="815077" y="3223260"/>
            <a:ext cx="58333"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402" name="Epic 5 delivered count">
            <a:extLst>
              <a:ext uri="{FF2B5EF4-FFF2-40B4-BE49-F238E27FC236}">
                <a16:creationId xmlns:a16="http://schemas.microsoft.com/office/drawing/2014/main" id="{11FA64B5-46D1-FC86-8DE0-CC054BC484E9}"/>
              </a:ext>
            </a:extLst>
          </p:cNvPr>
          <p:cNvSpPr/>
          <p:nvPr/>
        </p:nvSpPr>
        <p:spPr>
          <a:xfrm>
            <a:off x="5486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0446" name="Epic 5 in progress count">
            <a:extLst>
              <a:ext uri="{FF2B5EF4-FFF2-40B4-BE49-F238E27FC236}">
                <a16:creationId xmlns:a16="http://schemas.microsoft.com/office/drawing/2014/main" id="{2C9C648C-EC03-E6A8-F178-A4D349683CD6}"/>
              </a:ext>
            </a:extLst>
          </p:cNvPr>
          <p:cNvSpPr/>
          <p:nvPr/>
        </p:nvSpPr>
        <p:spPr>
          <a:xfrm>
            <a:off x="93268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0491" name="Epic 5 queued count">
            <a:extLst>
              <a:ext uri="{FF2B5EF4-FFF2-40B4-BE49-F238E27FC236}">
                <a16:creationId xmlns:a16="http://schemas.microsoft.com/office/drawing/2014/main" id="{430ED200-AC55-B976-BAD5-8933B1706E3E}"/>
              </a:ext>
            </a:extLst>
          </p:cNvPr>
          <p:cNvSpPr/>
          <p:nvPr/>
        </p:nvSpPr>
        <p:spPr>
          <a:xfrm>
            <a:off x="131673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537" name="Epic tile 6">
            <a:extLst>
              <a:ext uri="{FF2B5EF4-FFF2-40B4-BE49-F238E27FC236}">
                <a16:creationId xmlns:a16="http://schemas.microsoft.com/office/drawing/2014/main" id="{DD9CE2EE-8AF1-A327-CDC1-594DC74B21A6}"/>
              </a:ext>
            </a:extLst>
          </p:cNvPr>
          <p:cNvSpPr/>
          <p:nvPr/>
        </p:nvSpPr>
        <p:spPr>
          <a:xfrm>
            <a:off x="2523744"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584" name="Epic 6 name">
            <a:extLst>
              <a:ext uri="{FF2B5EF4-FFF2-40B4-BE49-F238E27FC236}">
                <a16:creationId xmlns:a16="http://schemas.microsoft.com/office/drawing/2014/main" id="{CF2F2329-1FDC-2B67-1B2C-2C677EEFCB0D}"/>
              </a:ext>
            </a:extLst>
          </p:cNvPr>
          <p:cNvSpPr/>
          <p:nvPr/>
        </p:nvSpPr>
        <p:spPr>
          <a:xfrm>
            <a:off x="2916936"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Bounded AI</a:t>
            </a:r>
          </a:p>
          <a:p>
            <a:pPr algn="l">
              <a:buNone/>
            </a:pPr>
            <a:r>
              <a:rPr lang="en-US" sz="100">
                <a:effectLst/>
              </a:rPr>
              <a:t> </a:t>
            </a:r>
            <a:endParaRPr lang="en-US"/>
          </a:p>
        </p:txBody>
      </p:sp>
      <p:sp>
        <p:nvSpPr>
          <p:cNvPr id="40632" name="Epic 6 track">
            <a:extLst>
              <a:ext uri="{FF2B5EF4-FFF2-40B4-BE49-F238E27FC236}">
                <a16:creationId xmlns:a16="http://schemas.microsoft.com/office/drawing/2014/main" id="{45FE2CF6-0E7F-93D1-4FE6-BD845FD90D62}"/>
              </a:ext>
            </a:extLst>
          </p:cNvPr>
          <p:cNvSpPr/>
          <p:nvPr/>
        </p:nvSpPr>
        <p:spPr>
          <a:xfrm>
            <a:off x="2615184"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681" name="Epic 6 delivered bar">
            <a:extLst>
              <a:ext uri="{FF2B5EF4-FFF2-40B4-BE49-F238E27FC236}">
                <a16:creationId xmlns:a16="http://schemas.microsoft.com/office/drawing/2014/main" id="{88D7900C-5B97-E8C9-E458-87F2F8AFB213}"/>
              </a:ext>
            </a:extLst>
          </p:cNvPr>
          <p:cNvSpPr/>
          <p:nvPr/>
        </p:nvSpPr>
        <p:spPr>
          <a:xfrm>
            <a:off x="2615184" y="3223260"/>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31" name="Epic 6 in progress bar">
            <a:extLst>
              <a:ext uri="{FF2B5EF4-FFF2-40B4-BE49-F238E27FC236}">
                <a16:creationId xmlns:a16="http://schemas.microsoft.com/office/drawing/2014/main" id="{9B5D0D61-8180-2421-3989-8BAC5B1D6BA7}"/>
              </a:ext>
            </a:extLst>
          </p:cNvPr>
          <p:cNvSpPr/>
          <p:nvPr/>
        </p:nvSpPr>
        <p:spPr>
          <a:xfrm>
            <a:off x="2731849" y="3223260"/>
            <a:ext cx="174997"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82" name="Epic 6 queued bar">
            <a:extLst>
              <a:ext uri="{FF2B5EF4-FFF2-40B4-BE49-F238E27FC236}">
                <a16:creationId xmlns:a16="http://schemas.microsoft.com/office/drawing/2014/main" id="{58C7F098-E1C3-7D91-1825-FBB047E7DEEC}"/>
              </a:ext>
            </a:extLst>
          </p:cNvPr>
          <p:cNvSpPr/>
          <p:nvPr/>
        </p:nvSpPr>
        <p:spPr>
          <a:xfrm>
            <a:off x="2906846" y="3223260"/>
            <a:ext cx="5833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834" name="Epic 6 delivered count">
            <a:extLst>
              <a:ext uri="{FF2B5EF4-FFF2-40B4-BE49-F238E27FC236}">
                <a16:creationId xmlns:a16="http://schemas.microsoft.com/office/drawing/2014/main" id="{481491DB-E3E9-5E0E-C81B-EBDB881CBD0F}"/>
              </a:ext>
            </a:extLst>
          </p:cNvPr>
          <p:cNvSpPr/>
          <p:nvPr/>
        </p:nvSpPr>
        <p:spPr>
          <a:xfrm>
            <a:off x="25237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887" name="Epic 6 in progress count">
            <a:extLst>
              <a:ext uri="{FF2B5EF4-FFF2-40B4-BE49-F238E27FC236}">
                <a16:creationId xmlns:a16="http://schemas.microsoft.com/office/drawing/2014/main" id="{CC7931A1-C31C-4C5C-B74E-4A470D81F19A}"/>
              </a:ext>
            </a:extLst>
          </p:cNvPr>
          <p:cNvSpPr/>
          <p:nvPr/>
        </p:nvSpPr>
        <p:spPr>
          <a:xfrm>
            <a:off x="290779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3</a:t>
            </a:r>
          </a:p>
          <a:p>
            <a:pPr algn="l">
              <a:buNone/>
            </a:pPr>
            <a:r>
              <a:rPr lang="en-US" sz="100">
                <a:effectLst/>
              </a:rPr>
              <a:t> </a:t>
            </a:r>
            <a:endParaRPr lang="en-US"/>
          </a:p>
        </p:txBody>
      </p:sp>
      <p:sp>
        <p:nvSpPr>
          <p:cNvPr id="40941" name="Epic 6 queued count">
            <a:extLst>
              <a:ext uri="{FF2B5EF4-FFF2-40B4-BE49-F238E27FC236}">
                <a16:creationId xmlns:a16="http://schemas.microsoft.com/office/drawing/2014/main" id="{92335C81-8296-FA9F-A0E7-17B68E787122}"/>
              </a:ext>
            </a:extLst>
          </p:cNvPr>
          <p:cNvSpPr/>
          <p:nvPr/>
        </p:nvSpPr>
        <p:spPr>
          <a:xfrm>
            <a:off x="32918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996" name="Epic tile 7">
            <a:extLst>
              <a:ext uri="{FF2B5EF4-FFF2-40B4-BE49-F238E27FC236}">
                <a16:creationId xmlns:a16="http://schemas.microsoft.com/office/drawing/2014/main" id="{3B1E4854-17CE-382A-991B-27B714E77182}"/>
              </a:ext>
            </a:extLst>
          </p:cNvPr>
          <p:cNvSpPr/>
          <p:nvPr/>
        </p:nvSpPr>
        <p:spPr>
          <a:xfrm>
            <a:off x="4498848"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052" name="Epic 7 name">
            <a:extLst>
              <a:ext uri="{FF2B5EF4-FFF2-40B4-BE49-F238E27FC236}">
                <a16:creationId xmlns:a16="http://schemas.microsoft.com/office/drawing/2014/main" id="{9B2FA306-FC77-BBCF-DECE-7BE9D2F3F657}"/>
              </a:ext>
            </a:extLst>
          </p:cNvPr>
          <p:cNvSpPr/>
          <p:nvPr/>
        </p:nvSpPr>
        <p:spPr>
          <a:xfrm>
            <a:off x="4892040"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IoT monitoring</a:t>
            </a:r>
          </a:p>
          <a:p>
            <a:pPr algn="l">
              <a:buNone/>
            </a:pPr>
            <a:r>
              <a:rPr lang="en-US" sz="100">
                <a:effectLst/>
              </a:rPr>
              <a:t> </a:t>
            </a:r>
            <a:endParaRPr lang="en-US"/>
          </a:p>
        </p:txBody>
      </p:sp>
      <p:sp>
        <p:nvSpPr>
          <p:cNvPr id="41109" name="Epic 7 track">
            <a:extLst>
              <a:ext uri="{FF2B5EF4-FFF2-40B4-BE49-F238E27FC236}">
                <a16:creationId xmlns:a16="http://schemas.microsoft.com/office/drawing/2014/main" id="{C794F151-BB48-7127-A2B6-8DD7B82744C1}"/>
              </a:ext>
            </a:extLst>
          </p:cNvPr>
          <p:cNvSpPr/>
          <p:nvPr/>
        </p:nvSpPr>
        <p:spPr>
          <a:xfrm>
            <a:off x="4590288"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167" name="Epic 7 delivered bar">
            <a:extLst>
              <a:ext uri="{FF2B5EF4-FFF2-40B4-BE49-F238E27FC236}">
                <a16:creationId xmlns:a16="http://schemas.microsoft.com/office/drawing/2014/main" id="{42AA7CA0-8F3D-AFAA-A929-136103ACBC17}"/>
              </a:ext>
            </a:extLst>
          </p:cNvPr>
          <p:cNvSpPr/>
          <p:nvPr/>
        </p:nvSpPr>
        <p:spPr>
          <a:xfrm>
            <a:off x="4590288" y="3223260"/>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26" name="Epic 7 queued bar">
            <a:extLst>
              <a:ext uri="{FF2B5EF4-FFF2-40B4-BE49-F238E27FC236}">
                <a16:creationId xmlns:a16="http://schemas.microsoft.com/office/drawing/2014/main" id="{C5C665B8-B271-238C-1790-0C89DA6D40D8}"/>
              </a:ext>
            </a:extLst>
          </p:cNvPr>
          <p:cNvSpPr/>
          <p:nvPr/>
        </p:nvSpPr>
        <p:spPr>
          <a:xfrm>
            <a:off x="4648620" y="3223260"/>
            <a:ext cx="11666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86" name="Epic 7 delivered count">
            <a:extLst>
              <a:ext uri="{FF2B5EF4-FFF2-40B4-BE49-F238E27FC236}">
                <a16:creationId xmlns:a16="http://schemas.microsoft.com/office/drawing/2014/main" id="{4ECDAA8C-5B02-6200-165F-7729E87E15A9}"/>
              </a:ext>
            </a:extLst>
          </p:cNvPr>
          <p:cNvSpPr/>
          <p:nvPr/>
        </p:nvSpPr>
        <p:spPr>
          <a:xfrm>
            <a:off x="44988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1347" name="Epic 7 in progress count">
            <a:extLst>
              <a:ext uri="{FF2B5EF4-FFF2-40B4-BE49-F238E27FC236}">
                <a16:creationId xmlns:a16="http://schemas.microsoft.com/office/drawing/2014/main" id="{D0657394-860A-A168-C264-B48AF3B4C9E9}"/>
              </a:ext>
            </a:extLst>
          </p:cNvPr>
          <p:cNvSpPr/>
          <p:nvPr/>
        </p:nvSpPr>
        <p:spPr>
          <a:xfrm>
            <a:off x="488289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1409" name="Epic 7 queued count">
            <a:extLst>
              <a:ext uri="{FF2B5EF4-FFF2-40B4-BE49-F238E27FC236}">
                <a16:creationId xmlns:a16="http://schemas.microsoft.com/office/drawing/2014/main" id="{D4A73A11-70B6-299C-4FCA-7919FEC14337}"/>
              </a:ext>
            </a:extLst>
          </p:cNvPr>
          <p:cNvSpPr/>
          <p:nvPr/>
        </p:nvSpPr>
        <p:spPr>
          <a:xfrm>
            <a:off x="52669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1472" name="Epic tile 8">
            <a:extLst>
              <a:ext uri="{FF2B5EF4-FFF2-40B4-BE49-F238E27FC236}">
                <a16:creationId xmlns:a16="http://schemas.microsoft.com/office/drawing/2014/main" id="{FA2B5401-5184-7AE8-3AFC-C334B32AED66}"/>
              </a:ext>
            </a:extLst>
          </p:cNvPr>
          <p:cNvSpPr/>
          <p:nvPr/>
        </p:nvSpPr>
        <p:spPr>
          <a:xfrm>
            <a:off x="6473952"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36" name="Epic 8 name">
            <a:extLst>
              <a:ext uri="{FF2B5EF4-FFF2-40B4-BE49-F238E27FC236}">
                <a16:creationId xmlns:a16="http://schemas.microsoft.com/office/drawing/2014/main" id="{6F0AFC86-324B-B403-7E42-48B545732A29}"/>
              </a:ext>
            </a:extLst>
          </p:cNvPr>
          <p:cNvSpPr/>
          <p:nvPr/>
        </p:nvSpPr>
        <p:spPr>
          <a:xfrm>
            <a:off x="6867144"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Platform and security</a:t>
            </a:r>
          </a:p>
          <a:p>
            <a:pPr algn="l">
              <a:buNone/>
            </a:pPr>
            <a:r>
              <a:rPr lang="en-US" sz="100">
                <a:effectLst/>
              </a:rPr>
              <a:t> </a:t>
            </a:r>
            <a:endParaRPr lang="en-US"/>
          </a:p>
        </p:txBody>
      </p:sp>
      <p:sp>
        <p:nvSpPr>
          <p:cNvPr id="41601" name="Epic 8 track">
            <a:extLst>
              <a:ext uri="{FF2B5EF4-FFF2-40B4-BE49-F238E27FC236}">
                <a16:creationId xmlns:a16="http://schemas.microsoft.com/office/drawing/2014/main" id="{AAE4CA33-8C92-1CCF-2B83-24BD9C2CEFB9}"/>
              </a:ext>
            </a:extLst>
          </p:cNvPr>
          <p:cNvSpPr/>
          <p:nvPr/>
        </p:nvSpPr>
        <p:spPr>
          <a:xfrm>
            <a:off x="6565392"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67" name="Epic 8 in progress bar">
            <a:extLst>
              <a:ext uri="{FF2B5EF4-FFF2-40B4-BE49-F238E27FC236}">
                <a16:creationId xmlns:a16="http://schemas.microsoft.com/office/drawing/2014/main" id="{DAF5B928-16C7-8989-52B9-6D5EE15F8D38}"/>
              </a:ext>
            </a:extLst>
          </p:cNvPr>
          <p:cNvSpPr/>
          <p:nvPr/>
        </p:nvSpPr>
        <p:spPr>
          <a:xfrm>
            <a:off x="6565392" y="3223260"/>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34" name="Epic 8 queued bar">
            <a:extLst>
              <a:ext uri="{FF2B5EF4-FFF2-40B4-BE49-F238E27FC236}">
                <a16:creationId xmlns:a16="http://schemas.microsoft.com/office/drawing/2014/main" id="{FF6FC4D5-6339-6EF9-EB53-C51BFFB81431}"/>
              </a:ext>
            </a:extLst>
          </p:cNvPr>
          <p:cNvSpPr/>
          <p:nvPr/>
        </p:nvSpPr>
        <p:spPr>
          <a:xfrm>
            <a:off x="6623724" y="3223260"/>
            <a:ext cx="466660"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02" name="Epic 8 delivered count">
            <a:extLst>
              <a:ext uri="{FF2B5EF4-FFF2-40B4-BE49-F238E27FC236}">
                <a16:creationId xmlns:a16="http://schemas.microsoft.com/office/drawing/2014/main" id="{700818F2-C232-C6FF-84B5-47DF53ED5768}"/>
              </a:ext>
            </a:extLst>
          </p:cNvPr>
          <p:cNvSpPr/>
          <p:nvPr/>
        </p:nvSpPr>
        <p:spPr>
          <a:xfrm>
            <a:off x="647395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1871" name="Epic 8 in progress count">
            <a:extLst>
              <a:ext uri="{FF2B5EF4-FFF2-40B4-BE49-F238E27FC236}">
                <a16:creationId xmlns:a16="http://schemas.microsoft.com/office/drawing/2014/main" id="{739B454E-1866-F515-38D7-C26774801569}"/>
              </a:ext>
            </a:extLst>
          </p:cNvPr>
          <p:cNvSpPr/>
          <p:nvPr/>
        </p:nvSpPr>
        <p:spPr>
          <a:xfrm>
            <a:off x="685800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1941" name="Epic 8 queued count">
            <a:extLst>
              <a:ext uri="{FF2B5EF4-FFF2-40B4-BE49-F238E27FC236}">
                <a16:creationId xmlns:a16="http://schemas.microsoft.com/office/drawing/2014/main" id="{69625984-139B-47E6-6C75-69E05EB961B1}"/>
              </a:ext>
            </a:extLst>
          </p:cNvPr>
          <p:cNvSpPr/>
          <p:nvPr/>
        </p:nvSpPr>
        <p:spPr>
          <a:xfrm>
            <a:off x="72420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8</a:t>
            </a:r>
          </a:p>
          <a:p>
            <a:pPr algn="l">
              <a:buNone/>
            </a:pPr>
            <a:r>
              <a:rPr lang="en-US" sz="100">
                <a:effectLst/>
              </a:rPr>
              <a:t> </a:t>
            </a:r>
            <a:endParaRPr lang="en-US"/>
          </a:p>
        </p:txBody>
      </p:sp>
      <p:sp>
        <p:nvSpPr>
          <p:cNvPr id="42012" name="Epic tile 9">
            <a:extLst>
              <a:ext uri="{FF2B5EF4-FFF2-40B4-BE49-F238E27FC236}">
                <a16:creationId xmlns:a16="http://schemas.microsoft.com/office/drawing/2014/main" id="{11636425-AC6F-790E-D669-076C0DCCCDE4}"/>
              </a:ext>
            </a:extLst>
          </p:cNvPr>
          <p:cNvSpPr/>
          <p:nvPr/>
        </p:nvSpPr>
        <p:spPr>
          <a:xfrm>
            <a:off x="548640"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84" name="Epic 9 name">
            <a:extLst>
              <a:ext uri="{FF2B5EF4-FFF2-40B4-BE49-F238E27FC236}">
                <a16:creationId xmlns:a16="http://schemas.microsoft.com/office/drawing/2014/main" id="{A8FE7E1E-0843-9619-9EA7-DDB2484398A3}"/>
              </a:ext>
            </a:extLst>
          </p:cNvPr>
          <p:cNvSpPr/>
          <p:nvPr/>
        </p:nvSpPr>
        <p:spPr>
          <a:xfrm>
            <a:off x="941832"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Governance</a:t>
            </a:r>
          </a:p>
          <a:p>
            <a:pPr algn="l">
              <a:buNone/>
            </a:pPr>
            <a:r>
              <a:rPr lang="en-US" sz="100">
                <a:effectLst/>
              </a:rPr>
              <a:t> </a:t>
            </a:r>
            <a:endParaRPr lang="en-US"/>
          </a:p>
        </p:txBody>
      </p:sp>
      <p:sp>
        <p:nvSpPr>
          <p:cNvPr id="42157" name="Epic 9 track">
            <a:extLst>
              <a:ext uri="{FF2B5EF4-FFF2-40B4-BE49-F238E27FC236}">
                <a16:creationId xmlns:a16="http://schemas.microsoft.com/office/drawing/2014/main" id="{C05E9977-E4C9-5AD9-0A96-86A2B9B2F9F6}"/>
              </a:ext>
            </a:extLst>
          </p:cNvPr>
          <p:cNvSpPr/>
          <p:nvPr/>
        </p:nvSpPr>
        <p:spPr>
          <a:xfrm>
            <a:off x="640080"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31" name="Epic 9 delivered bar">
            <a:extLst>
              <a:ext uri="{FF2B5EF4-FFF2-40B4-BE49-F238E27FC236}">
                <a16:creationId xmlns:a16="http://schemas.microsoft.com/office/drawing/2014/main" id="{B0498D8E-4C14-A88F-5D3F-E54A040A46C4}"/>
              </a:ext>
            </a:extLst>
          </p:cNvPr>
          <p:cNvSpPr/>
          <p:nvPr/>
        </p:nvSpPr>
        <p:spPr>
          <a:xfrm>
            <a:off x="640080"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06" name="Epic 9 in progress bar">
            <a:extLst>
              <a:ext uri="{FF2B5EF4-FFF2-40B4-BE49-F238E27FC236}">
                <a16:creationId xmlns:a16="http://schemas.microsoft.com/office/drawing/2014/main" id="{C72D058A-50F0-363F-0FBE-EF962E810C40}"/>
              </a:ext>
            </a:extLst>
          </p:cNvPr>
          <p:cNvSpPr/>
          <p:nvPr/>
        </p:nvSpPr>
        <p:spPr>
          <a:xfrm>
            <a:off x="698412"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82" name="Epic 9 queued bar">
            <a:extLst>
              <a:ext uri="{FF2B5EF4-FFF2-40B4-BE49-F238E27FC236}">
                <a16:creationId xmlns:a16="http://schemas.microsoft.com/office/drawing/2014/main" id="{12682D42-CF69-AE14-6402-4F8641CC2317}"/>
              </a:ext>
            </a:extLst>
          </p:cNvPr>
          <p:cNvSpPr/>
          <p:nvPr/>
        </p:nvSpPr>
        <p:spPr>
          <a:xfrm>
            <a:off x="756745" y="4329684"/>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59" name="Epic 9 delivered count">
            <a:extLst>
              <a:ext uri="{FF2B5EF4-FFF2-40B4-BE49-F238E27FC236}">
                <a16:creationId xmlns:a16="http://schemas.microsoft.com/office/drawing/2014/main" id="{018A772D-743A-139D-24E2-39D91B9E3084}"/>
              </a:ext>
            </a:extLst>
          </p:cNvPr>
          <p:cNvSpPr/>
          <p:nvPr/>
        </p:nvSpPr>
        <p:spPr>
          <a:xfrm>
            <a:off x="5486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2537" name="Epic 9 in progress count">
            <a:extLst>
              <a:ext uri="{FF2B5EF4-FFF2-40B4-BE49-F238E27FC236}">
                <a16:creationId xmlns:a16="http://schemas.microsoft.com/office/drawing/2014/main" id="{173901CC-64F1-F140-4DA7-A7F9D6BA35AD}"/>
              </a:ext>
            </a:extLst>
          </p:cNvPr>
          <p:cNvSpPr/>
          <p:nvPr/>
        </p:nvSpPr>
        <p:spPr>
          <a:xfrm>
            <a:off x="93268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2616" name="Epic 9 queued count">
            <a:extLst>
              <a:ext uri="{FF2B5EF4-FFF2-40B4-BE49-F238E27FC236}">
                <a16:creationId xmlns:a16="http://schemas.microsoft.com/office/drawing/2014/main" id="{C3B5B5E3-6160-1085-D8F8-E3B53C37CB59}"/>
              </a:ext>
            </a:extLst>
          </p:cNvPr>
          <p:cNvSpPr/>
          <p:nvPr/>
        </p:nvSpPr>
        <p:spPr>
          <a:xfrm>
            <a:off x="131673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2696" name="Epic tile 10">
            <a:extLst>
              <a:ext uri="{FF2B5EF4-FFF2-40B4-BE49-F238E27FC236}">
                <a16:creationId xmlns:a16="http://schemas.microsoft.com/office/drawing/2014/main" id="{5011770B-6105-2350-C89B-85D1CC464F90}"/>
              </a:ext>
            </a:extLst>
          </p:cNvPr>
          <p:cNvSpPr/>
          <p:nvPr/>
        </p:nvSpPr>
        <p:spPr>
          <a:xfrm>
            <a:off x="2523744"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77" name="Epic 10 name">
            <a:extLst>
              <a:ext uri="{FF2B5EF4-FFF2-40B4-BE49-F238E27FC236}">
                <a16:creationId xmlns:a16="http://schemas.microsoft.com/office/drawing/2014/main" id="{2CA111CE-FDDD-09F0-26F2-7B852B710C35}"/>
              </a:ext>
            </a:extLst>
          </p:cNvPr>
          <p:cNvSpPr/>
          <p:nvPr/>
        </p:nvSpPr>
        <p:spPr>
          <a:xfrm>
            <a:off x="2916936"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Infrastructure as code</a:t>
            </a:r>
          </a:p>
          <a:p>
            <a:pPr algn="l">
              <a:buNone/>
            </a:pPr>
            <a:r>
              <a:rPr lang="en-US" sz="100">
                <a:effectLst/>
              </a:rPr>
              <a:t> </a:t>
            </a:r>
            <a:endParaRPr lang="en-US"/>
          </a:p>
        </p:txBody>
      </p:sp>
      <p:sp>
        <p:nvSpPr>
          <p:cNvPr id="42859" name="Epic 10 track">
            <a:extLst>
              <a:ext uri="{FF2B5EF4-FFF2-40B4-BE49-F238E27FC236}">
                <a16:creationId xmlns:a16="http://schemas.microsoft.com/office/drawing/2014/main" id="{E6D45FEB-3A10-2358-A08F-FBDB2ABBCFB9}"/>
              </a:ext>
            </a:extLst>
          </p:cNvPr>
          <p:cNvSpPr/>
          <p:nvPr/>
        </p:nvSpPr>
        <p:spPr>
          <a:xfrm>
            <a:off x="2615184"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942" name="Epic 10 in progress bar">
            <a:extLst>
              <a:ext uri="{FF2B5EF4-FFF2-40B4-BE49-F238E27FC236}">
                <a16:creationId xmlns:a16="http://schemas.microsoft.com/office/drawing/2014/main" id="{52EC6809-FE9F-0E6D-162A-837183442BC0}"/>
              </a:ext>
            </a:extLst>
          </p:cNvPr>
          <p:cNvSpPr/>
          <p:nvPr/>
        </p:nvSpPr>
        <p:spPr>
          <a:xfrm>
            <a:off x="2615184"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026" name="Epic 10 queued bar">
            <a:extLst>
              <a:ext uri="{FF2B5EF4-FFF2-40B4-BE49-F238E27FC236}">
                <a16:creationId xmlns:a16="http://schemas.microsoft.com/office/drawing/2014/main" id="{BE2864A9-6129-1700-28A4-FCC2C876B49F}"/>
              </a:ext>
            </a:extLst>
          </p:cNvPr>
          <p:cNvSpPr/>
          <p:nvPr/>
        </p:nvSpPr>
        <p:spPr>
          <a:xfrm>
            <a:off x="2731849" y="4329684"/>
            <a:ext cx="64165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111" name="Epic 10 delivered count">
            <a:extLst>
              <a:ext uri="{FF2B5EF4-FFF2-40B4-BE49-F238E27FC236}">
                <a16:creationId xmlns:a16="http://schemas.microsoft.com/office/drawing/2014/main" id="{682FFA5D-B0DC-BB52-27EF-9E2B98740F5F}"/>
              </a:ext>
            </a:extLst>
          </p:cNvPr>
          <p:cNvSpPr/>
          <p:nvPr/>
        </p:nvSpPr>
        <p:spPr>
          <a:xfrm>
            <a:off x="25237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3197" name="Epic 10 in progress count">
            <a:extLst>
              <a:ext uri="{FF2B5EF4-FFF2-40B4-BE49-F238E27FC236}">
                <a16:creationId xmlns:a16="http://schemas.microsoft.com/office/drawing/2014/main" id="{D90A50C3-3A07-A93C-61DE-CDBD53425C19}"/>
              </a:ext>
            </a:extLst>
          </p:cNvPr>
          <p:cNvSpPr/>
          <p:nvPr/>
        </p:nvSpPr>
        <p:spPr>
          <a:xfrm>
            <a:off x="290779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3284" name="Epic 10 queued count">
            <a:extLst>
              <a:ext uri="{FF2B5EF4-FFF2-40B4-BE49-F238E27FC236}">
                <a16:creationId xmlns:a16="http://schemas.microsoft.com/office/drawing/2014/main" id="{1504B982-5CA5-5A8D-CC8A-F4EE9287FC1A}"/>
              </a:ext>
            </a:extLst>
          </p:cNvPr>
          <p:cNvSpPr/>
          <p:nvPr/>
        </p:nvSpPr>
        <p:spPr>
          <a:xfrm>
            <a:off x="32918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11</a:t>
            </a:r>
          </a:p>
          <a:p>
            <a:pPr algn="l">
              <a:buNone/>
            </a:pPr>
            <a:r>
              <a:rPr lang="en-US" sz="100">
                <a:effectLst/>
              </a:rPr>
              <a:t> </a:t>
            </a:r>
            <a:endParaRPr lang="en-US"/>
          </a:p>
        </p:txBody>
      </p:sp>
      <p:sp>
        <p:nvSpPr>
          <p:cNvPr id="43372" name="Epic tile 11">
            <a:extLst>
              <a:ext uri="{FF2B5EF4-FFF2-40B4-BE49-F238E27FC236}">
                <a16:creationId xmlns:a16="http://schemas.microsoft.com/office/drawing/2014/main" id="{3A08125F-8133-E2B3-6DEF-CD33E4721624}"/>
              </a:ext>
            </a:extLst>
          </p:cNvPr>
          <p:cNvSpPr/>
          <p:nvPr/>
        </p:nvSpPr>
        <p:spPr>
          <a:xfrm>
            <a:off x="4498848"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461" name="Epic 11 name">
            <a:extLst>
              <a:ext uri="{FF2B5EF4-FFF2-40B4-BE49-F238E27FC236}">
                <a16:creationId xmlns:a16="http://schemas.microsoft.com/office/drawing/2014/main" id="{AEA36FAE-F173-EF31-3639-78895325965C}"/>
              </a:ext>
            </a:extLst>
          </p:cNvPr>
          <p:cNvSpPr/>
          <p:nvPr/>
        </p:nvSpPr>
        <p:spPr>
          <a:xfrm>
            <a:off x="4892040"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UX and accessibility</a:t>
            </a:r>
          </a:p>
          <a:p>
            <a:pPr algn="l">
              <a:buNone/>
            </a:pPr>
            <a:r>
              <a:rPr lang="en-US" sz="100">
                <a:effectLst/>
              </a:rPr>
              <a:t> </a:t>
            </a:r>
            <a:endParaRPr lang="en-US"/>
          </a:p>
        </p:txBody>
      </p:sp>
      <p:sp>
        <p:nvSpPr>
          <p:cNvPr id="43551" name="Epic 11 track">
            <a:extLst>
              <a:ext uri="{FF2B5EF4-FFF2-40B4-BE49-F238E27FC236}">
                <a16:creationId xmlns:a16="http://schemas.microsoft.com/office/drawing/2014/main" id="{0AE2FCA7-356B-8FC0-862E-AA95689265EE}"/>
              </a:ext>
            </a:extLst>
          </p:cNvPr>
          <p:cNvSpPr/>
          <p:nvPr/>
        </p:nvSpPr>
        <p:spPr>
          <a:xfrm>
            <a:off x="4590288"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642" name="Epic 11 delivered bar">
            <a:extLst>
              <a:ext uri="{FF2B5EF4-FFF2-40B4-BE49-F238E27FC236}">
                <a16:creationId xmlns:a16="http://schemas.microsoft.com/office/drawing/2014/main" id="{E1E0E860-E630-283E-87CC-7BE18F85EEEA}"/>
              </a:ext>
            </a:extLst>
          </p:cNvPr>
          <p:cNvSpPr/>
          <p:nvPr/>
        </p:nvSpPr>
        <p:spPr>
          <a:xfrm>
            <a:off x="4590288"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34" name="Epic 11 in progress bar">
            <a:extLst>
              <a:ext uri="{FF2B5EF4-FFF2-40B4-BE49-F238E27FC236}">
                <a16:creationId xmlns:a16="http://schemas.microsoft.com/office/drawing/2014/main" id="{16C9B743-D3D2-7D5C-13DE-0DBD555835F1}"/>
              </a:ext>
            </a:extLst>
          </p:cNvPr>
          <p:cNvSpPr/>
          <p:nvPr/>
        </p:nvSpPr>
        <p:spPr>
          <a:xfrm>
            <a:off x="4648620"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27" name="Epic 11 queued bar">
            <a:extLst>
              <a:ext uri="{FF2B5EF4-FFF2-40B4-BE49-F238E27FC236}">
                <a16:creationId xmlns:a16="http://schemas.microsoft.com/office/drawing/2014/main" id="{B1A04E0D-7E22-94AA-D10C-81A10F3C5D5A}"/>
              </a:ext>
            </a:extLst>
          </p:cNvPr>
          <p:cNvSpPr/>
          <p:nvPr/>
        </p:nvSpPr>
        <p:spPr>
          <a:xfrm>
            <a:off x="4765285" y="4329684"/>
            <a:ext cx="75832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21" name="Epic 11 delivered count">
            <a:extLst>
              <a:ext uri="{FF2B5EF4-FFF2-40B4-BE49-F238E27FC236}">
                <a16:creationId xmlns:a16="http://schemas.microsoft.com/office/drawing/2014/main" id="{E084AF30-EEEA-C9AE-D4BC-EA30C108BEFD}"/>
              </a:ext>
            </a:extLst>
          </p:cNvPr>
          <p:cNvSpPr/>
          <p:nvPr/>
        </p:nvSpPr>
        <p:spPr>
          <a:xfrm>
            <a:off x="44988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016" name="Epic 11 in progress count">
            <a:extLst>
              <a:ext uri="{FF2B5EF4-FFF2-40B4-BE49-F238E27FC236}">
                <a16:creationId xmlns:a16="http://schemas.microsoft.com/office/drawing/2014/main" id="{034BE952-39AB-865F-19C3-2CAC20B9EF5B}"/>
              </a:ext>
            </a:extLst>
          </p:cNvPr>
          <p:cNvSpPr/>
          <p:nvPr/>
        </p:nvSpPr>
        <p:spPr>
          <a:xfrm>
            <a:off x="488289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4112" name="Epic 11 queued count">
            <a:extLst>
              <a:ext uri="{FF2B5EF4-FFF2-40B4-BE49-F238E27FC236}">
                <a16:creationId xmlns:a16="http://schemas.microsoft.com/office/drawing/2014/main" id="{DD8BC81F-0E35-4801-02BE-53C3F07089C3}"/>
              </a:ext>
            </a:extLst>
          </p:cNvPr>
          <p:cNvSpPr/>
          <p:nvPr/>
        </p:nvSpPr>
        <p:spPr>
          <a:xfrm>
            <a:off x="52669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13</a:t>
            </a:r>
          </a:p>
          <a:p>
            <a:pPr algn="l">
              <a:buNone/>
            </a:pPr>
            <a:r>
              <a:rPr lang="en-US" sz="100">
                <a:effectLst/>
              </a:rPr>
              <a:t> </a:t>
            </a:r>
            <a:endParaRPr lang="en-US"/>
          </a:p>
        </p:txBody>
      </p:sp>
      <p:sp>
        <p:nvSpPr>
          <p:cNvPr id="44209" name="Epic tile 12">
            <a:extLst>
              <a:ext uri="{FF2B5EF4-FFF2-40B4-BE49-F238E27FC236}">
                <a16:creationId xmlns:a16="http://schemas.microsoft.com/office/drawing/2014/main" id="{1EB794A3-2040-B0A5-354A-A32D5A60B37D}"/>
              </a:ext>
            </a:extLst>
          </p:cNvPr>
          <p:cNvSpPr/>
          <p:nvPr/>
        </p:nvSpPr>
        <p:spPr>
          <a:xfrm>
            <a:off x="6473952"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07" name="Epic 12 name">
            <a:extLst>
              <a:ext uri="{FF2B5EF4-FFF2-40B4-BE49-F238E27FC236}">
                <a16:creationId xmlns:a16="http://schemas.microsoft.com/office/drawing/2014/main" id="{191CF2DA-0452-A499-2774-C03BABFB8D12}"/>
              </a:ext>
            </a:extLst>
          </p:cNvPr>
          <p:cNvSpPr/>
          <p:nvPr/>
        </p:nvSpPr>
        <p:spPr>
          <a:xfrm>
            <a:off x="6867144"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Agent chat</a:t>
            </a:r>
          </a:p>
          <a:p>
            <a:pPr algn="l">
              <a:buNone/>
            </a:pPr>
            <a:r>
              <a:rPr lang="en-US" sz="100">
                <a:effectLst/>
              </a:rPr>
              <a:t> </a:t>
            </a:r>
            <a:endParaRPr lang="en-US"/>
          </a:p>
        </p:txBody>
      </p:sp>
      <p:sp>
        <p:nvSpPr>
          <p:cNvPr id="44406" name="Epic 12 track">
            <a:extLst>
              <a:ext uri="{FF2B5EF4-FFF2-40B4-BE49-F238E27FC236}">
                <a16:creationId xmlns:a16="http://schemas.microsoft.com/office/drawing/2014/main" id="{69A8D6EE-82F9-6C09-9C00-69E5EA922466}"/>
              </a:ext>
            </a:extLst>
          </p:cNvPr>
          <p:cNvSpPr/>
          <p:nvPr/>
        </p:nvSpPr>
        <p:spPr>
          <a:xfrm>
            <a:off x="6565392"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506" name="Epic 12 delivered bar">
            <a:extLst>
              <a:ext uri="{FF2B5EF4-FFF2-40B4-BE49-F238E27FC236}">
                <a16:creationId xmlns:a16="http://schemas.microsoft.com/office/drawing/2014/main" id="{0CCC0EA3-8136-306C-5A74-525D9072E81D}"/>
              </a:ext>
            </a:extLst>
          </p:cNvPr>
          <p:cNvSpPr/>
          <p:nvPr/>
        </p:nvSpPr>
        <p:spPr>
          <a:xfrm>
            <a:off x="6565392"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607" name="Epic 12 in progress bar">
            <a:extLst>
              <a:ext uri="{FF2B5EF4-FFF2-40B4-BE49-F238E27FC236}">
                <a16:creationId xmlns:a16="http://schemas.microsoft.com/office/drawing/2014/main" id="{DBFEF01E-ED79-6CAE-12A9-2FC0717D5C45}"/>
              </a:ext>
            </a:extLst>
          </p:cNvPr>
          <p:cNvSpPr/>
          <p:nvPr/>
        </p:nvSpPr>
        <p:spPr>
          <a:xfrm>
            <a:off x="6623724"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709" name="Epic 12 queued bar">
            <a:extLst>
              <a:ext uri="{FF2B5EF4-FFF2-40B4-BE49-F238E27FC236}">
                <a16:creationId xmlns:a16="http://schemas.microsoft.com/office/drawing/2014/main" id="{235B4718-B3D6-AADA-2AF5-5B4B3DAFAAB1}"/>
              </a:ext>
            </a:extLst>
          </p:cNvPr>
          <p:cNvSpPr/>
          <p:nvPr/>
        </p:nvSpPr>
        <p:spPr>
          <a:xfrm>
            <a:off x="6682057" y="4329684"/>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812" name="Epic 12 delivered count">
            <a:extLst>
              <a:ext uri="{FF2B5EF4-FFF2-40B4-BE49-F238E27FC236}">
                <a16:creationId xmlns:a16="http://schemas.microsoft.com/office/drawing/2014/main" id="{4B0F93D6-F002-A30B-CCCB-4134E153F283}"/>
              </a:ext>
            </a:extLst>
          </p:cNvPr>
          <p:cNvSpPr/>
          <p:nvPr/>
        </p:nvSpPr>
        <p:spPr>
          <a:xfrm>
            <a:off x="647395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916" name="Epic 12 in progress count">
            <a:extLst>
              <a:ext uri="{FF2B5EF4-FFF2-40B4-BE49-F238E27FC236}">
                <a16:creationId xmlns:a16="http://schemas.microsoft.com/office/drawing/2014/main" id="{ECF154D2-B788-13B5-E979-F48147F9E60C}"/>
              </a:ext>
            </a:extLst>
          </p:cNvPr>
          <p:cNvSpPr/>
          <p:nvPr/>
        </p:nvSpPr>
        <p:spPr>
          <a:xfrm>
            <a:off x="685800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5021" name="Epic 12 queued count">
            <a:extLst>
              <a:ext uri="{FF2B5EF4-FFF2-40B4-BE49-F238E27FC236}">
                <a16:creationId xmlns:a16="http://schemas.microsoft.com/office/drawing/2014/main" id="{A1C1CC39-826A-7926-B889-731855A556B9}"/>
              </a:ext>
            </a:extLst>
          </p:cNvPr>
          <p:cNvSpPr/>
          <p:nvPr/>
        </p:nvSpPr>
        <p:spPr>
          <a:xfrm>
            <a:off x="72420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45127" name="Epic tile 13">
            <a:extLst>
              <a:ext uri="{FF2B5EF4-FFF2-40B4-BE49-F238E27FC236}">
                <a16:creationId xmlns:a16="http://schemas.microsoft.com/office/drawing/2014/main" id="{D9139794-2960-22F4-76A8-1D2D9ABDEBA3}"/>
              </a:ext>
            </a:extLst>
          </p:cNvPr>
          <p:cNvSpPr/>
          <p:nvPr/>
        </p:nvSpPr>
        <p:spPr>
          <a:xfrm>
            <a:off x="548640"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234" name="Epic 13 name">
            <a:extLst>
              <a:ext uri="{FF2B5EF4-FFF2-40B4-BE49-F238E27FC236}">
                <a16:creationId xmlns:a16="http://schemas.microsoft.com/office/drawing/2014/main" id="{F3372555-3E97-6367-2912-D8625E3852AD}"/>
              </a:ext>
            </a:extLst>
          </p:cNvPr>
          <p:cNvSpPr/>
          <p:nvPr/>
        </p:nvSpPr>
        <p:spPr>
          <a:xfrm>
            <a:off x="941832"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Synthetic data</a:t>
            </a:r>
          </a:p>
          <a:p>
            <a:pPr algn="l">
              <a:buNone/>
            </a:pPr>
            <a:r>
              <a:rPr lang="en-US" sz="100">
                <a:effectLst/>
              </a:rPr>
              <a:t> </a:t>
            </a:r>
            <a:endParaRPr lang="en-US"/>
          </a:p>
        </p:txBody>
      </p:sp>
      <p:sp>
        <p:nvSpPr>
          <p:cNvPr id="45342" name="Epic 13 track">
            <a:extLst>
              <a:ext uri="{FF2B5EF4-FFF2-40B4-BE49-F238E27FC236}">
                <a16:creationId xmlns:a16="http://schemas.microsoft.com/office/drawing/2014/main" id="{B68389B0-4447-A582-D720-F15B39BF7ED0}"/>
              </a:ext>
            </a:extLst>
          </p:cNvPr>
          <p:cNvSpPr/>
          <p:nvPr/>
        </p:nvSpPr>
        <p:spPr>
          <a:xfrm>
            <a:off x="640080"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451" name="Epic 13 delivered bar">
            <a:extLst>
              <a:ext uri="{FF2B5EF4-FFF2-40B4-BE49-F238E27FC236}">
                <a16:creationId xmlns:a16="http://schemas.microsoft.com/office/drawing/2014/main" id="{94FBC1D1-EAA3-80E9-CF8C-5268522A7069}"/>
              </a:ext>
            </a:extLst>
          </p:cNvPr>
          <p:cNvSpPr/>
          <p:nvPr/>
        </p:nvSpPr>
        <p:spPr>
          <a:xfrm>
            <a:off x="640080" y="5436108"/>
            <a:ext cx="52499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561" name="Epic 13 in progress bar">
            <a:extLst>
              <a:ext uri="{FF2B5EF4-FFF2-40B4-BE49-F238E27FC236}">
                <a16:creationId xmlns:a16="http://schemas.microsoft.com/office/drawing/2014/main" id="{2BCAB353-0599-B8F3-E7F2-0C039BF165F6}"/>
              </a:ext>
            </a:extLst>
          </p:cNvPr>
          <p:cNvSpPr/>
          <p:nvPr/>
        </p:nvSpPr>
        <p:spPr>
          <a:xfrm>
            <a:off x="1165072"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672" name="Epic 13 queued bar">
            <a:extLst>
              <a:ext uri="{FF2B5EF4-FFF2-40B4-BE49-F238E27FC236}">
                <a16:creationId xmlns:a16="http://schemas.microsoft.com/office/drawing/2014/main" id="{9C6389C1-8D08-3B09-8AF1-7E2FE13C35AD}"/>
              </a:ext>
            </a:extLst>
          </p:cNvPr>
          <p:cNvSpPr/>
          <p:nvPr/>
        </p:nvSpPr>
        <p:spPr>
          <a:xfrm>
            <a:off x="1223404" y="5436108"/>
            <a:ext cx="110831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784" name="Epic 13 delivered count">
            <a:extLst>
              <a:ext uri="{FF2B5EF4-FFF2-40B4-BE49-F238E27FC236}">
                <a16:creationId xmlns:a16="http://schemas.microsoft.com/office/drawing/2014/main" id="{77CFFEA6-0DC8-7166-5957-7DC0BBD64F42}"/>
              </a:ext>
            </a:extLst>
          </p:cNvPr>
          <p:cNvSpPr/>
          <p:nvPr/>
        </p:nvSpPr>
        <p:spPr>
          <a:xfrm>
            <a:off x="5486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9</a:t>
            </a:r>
          </a:p>
          <a:p>
            <a:pPr algn="l">
              <a:buNone/>
            </a:pPr>
            <a:r>
              <a:rPr lang="en-US" sz="100">
                <a:effectLst/>
              </a:rPr>
              <a:t> </a:t>
            </a:r>
            <a:endParaRPr lang="en-US"/>
          </a:p>
        </p:txBody>
      </p:sp>
      <p:sp>
        <p:nvSpPr>
          <p:cNvPr id="45897" name="Epic 13 in progress count">
            <a:extLst>
              <a:ext uri="{FF2B5EF4-FFF2-40B4-BE49-F238E27FC236}">
                <a16:creationId xmlns:a16="http://schemas.microsoft.com/office/drawing/2014/main" id="{8A0C6D2D-C637-80DF-B063-5F62D10C00FC}"/>
              </a:ext>
            </a:extLst>
          </p:cNvPr>
          <p:cNvSpPr/>
          <p:nvPr/>
        </p:nvSpPr>
        <p:spPr>
          <a:xfrm>
            <a:off x="93268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6011" name="Epic 13 queued count">
            <a:extLst>
              <a:ext uri="{FF2B5EF4-FFF2-40B4-BE49-F238E27FC236}">
                <a16:creationId xmlns:a16="http://schemas.microsoft.com/office/drawing/2014/main" id="{B31AE8C5-50F9-6F3B-765C-CE3FAD7A54FC}"/>
              </a:ext>
            </a:extLst>
          </p:cNvPr>
          <p:cNvSpPr/>
          <p:nvPr/>
        </p:nvSpPr>
        <p:spPr>
          <a:xfrm>
            <a:off x="131673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19</a:t>
            </a:r>
          </a:p>
          <a:p>
            <a:pPr algn="l">
              <a:buNone/>
            </a:pPr>
            <a:r>
              <a:rPr lang="en-US" sz="100">
                <a:effectLst/>
              </a:rPr>
              <a:t> </a:t>
            </a:r>
            <a:endParaRPr lang="en-US"/>
          </a:p>
        </p:txBody>
      </p:sp>
      <p:sp>
        <p:nvSpPr>
          <p:cNvPr id="46126" name="Epic tile 14">
            <a:extLst>
              <a:ext uri="{FF2B5EF4-FFF2-40B4-BE49-F238E27FC236}">
                <a16:creationId xmlns:a16="http://schemas.microsoft.com/office/drawing/2014/main" id="{7D64E8F2-F272-ABB2-5319-8DDC82FDF9AB}"/>
              </a:ext>
            </a:extLst>
          </p:cNvPr>
          <p:cNvSpPr/>
          <p:nvPr/>
        </p:nvSpPr>
        <p:spPr>
          <a:xfrm>
            <a:off x="2523744"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242" name="Epic 14 name">
            <a:extLst>
              <a:ext uri="{FF2B5EF4-FFF2-40B4-BE49-F238E27FC236}">
                <a16:creationId xmlns:a16="http://schemas.microsoft.com/office/drawing/2014/main" id="{A97FBE47-4FA8-ACF6-0802-9332A545DF4E}"/>
              </a:ext>
            </a:extLst>
          </p:cNvPr>
          <p:cNvSpPr/>
          <p:nvPr/>
        </p:nvSpPr>
        <p:spPr>
          <a:xfrm>
            <a:off x="2916936"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Repository restructure</a:t>
            </a:r>
          </a:p>
          <a:p>
            <a:pPr algn="l">
              <a:buNone/>
            </a:pPr>
            <a:r>
              <a:rPr lang="en-US" sz="100">
                <a:effectLst/>
              </a:rPr>
              <a:t> </a:t>
            </a:r>
            <a:endParaRPr lang="en-US"/>
          </a:p>
        </p:txBody>
      </p:sp>
      <p:sp>
        <p:nvSpPr>
          <p:cNvPr id="46359" name="Epic 14 track">
            <a:extLst>
              <a:ext uri="{FF2B5EF4-FFF2-40B4-BE49-F238E27FC236}">
                <a16:creationId xmlns:a16="http://schemas.microsoft.com/office/drawing/2014/main" id="{1F417936-EB5B-7624-8E04-41159CB461BE}"/>
              </a:ext>
            </a:extLst>
          </p:cNvPr>
          <p:cNvSpPr/>
          <p:nvPr/>
        </p:nvSpPr>
        <p:spPr>
          <a:xfrm>
            <a:off x="2615184"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77" name="Epic 14 delivered bar">
            <a:extLst>
              <a:ext uri="{FF2B5EF4-FFF2-40B4-BE49-F238E27FC236}">
                <a16:creationId xmlns:a16="http://schemas.microsoft.com/office/drawing/2014/main" id="{EF2A0CA0-1CCA-0609-9404-F6F07DFEB931}"/>
              </a:ext>
            </a:extLst>
          </p:cNvPr>
          <p:cNvSpPr/>
          <p:nvPr/>
        </p:nvSpPr>
        <p:spPr>
          <a:xfrm>
            <a:off x="2615184" y="5436108"/>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96" name="Epic 14 in progress bar">
            <a:extLst>
              <a:ext uri="{FF2B5EF4-FFF2-40B4-BE49-F238E27FC236}">
                <a16:creationId xmlns:a16="http://schemas.microsoft.com/office/drawing/2014/main" id="{D5D9A924-1214-5A1D-499E-FE39F948A73B}"/>
              </a:ext>
            </a:extLst>
          </p:cNvPr>
          <p:cNvSpPr/>
          <p:nvPr/>
        </p:nvSpPr>
        <p:spPr>
          <a:xfrm>
            <a:off x="2790181" y="5436108"/>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16" name="Epic 14 queued bar">
            <a:extLst>
              <a:ext uri="{FF2B5EF4-FFF2-40B4-BE49-F238E27FC236}">
                <a16:creationId xmlns:a16="http://schemas.microsoft.com/office/drawing/2014/main" id="{E6A4DE54-D87E-E7A8-A73E-53033A30A171}"/>
              </a:ext>
            </a:extLst>
          </p:cNvPr>
          <p:cNvSpPr/>
          <p:nvPr/>
        </p:nvSpPr>
        <p:spPr>
          <a:xfrm>
            <a:off x="2848514" y="5436108"/>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37" name="Epic 14 delivered count">
            <a:extLst>
              <a:ext uri="{FF2B5EF4-FFF2-40B4-BE49-F238E27FC236}">
                <a16:creationId xmlns:a16="http://schemas.microsoft.com/office/drawing/2014/main" id="{2FFB175C-AC40-A82C-8AF6-AFAC7CE287C4}"/>
              </a:ext>
            </a:extLst>
          </p:cNvPr>
          <p:cNvSpPr/>
          <p:nvPr/>
        </p:nvSpPr>
        <p:spPr>
          <a:xfrm>
            <a:off x="25237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6959" name="Epic 14 in progress count">
            <a:extLst>
              <a:ext uri="{FF2B5EF4-FFF2-40B4-BE49-F238E27FC236}">
                <a16:creationId xmlns:a16="http://schemas.microsoft.com/office/drawing/2014/main" id="{106385A8-B043-BF07-9B63-1335F9808BCE}"/>
              </a:ext>
            </a:extLst>
          </p:cNvPr>
          <p:cNvSpPr/>
          <p:nvPr/>
        </p:nvSpPr>
        <p:spPr>
          <a:xfrm>
            <a:off x="290779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7082" name="Epic 14 queued count">
            <a:extLst>
              <a:ext uri="{FF2B5EF4-FFF2-40B4-BE49-F238E27FC236}">
                <a16:creationId xmlns:a16="http://schemas.microsoft.com/office/drawing/2014/main" id="{30966F52-CACA-1F44-83D5-34FF15F597E8}"/>
              </a:ext>
            </a:extLst>
          </p:cNvPr>
          <p:cNvSpPr/>
          <p:nvPr/>
        </p:nvSpPr>
        <p:spPr>
          <a:xfrm>
            <a:off x="32918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7206" name="Epic tile 15">
            <a:extLst>
              <a:ext uri="{FF2B5EF4-FFF2-40B4-BE49-F238E27FC236}">
                <a16:creationId xmlns:a16="http://schemas.microsoft.com/office/drawing/2014/main" id="{32AAF4CA-EB4D-57AC-6480-062E133AFAEB}"/>
              </a:ext>
            </a:extLst>
          </p:cNvPr>
          <p:cNvSpPr/>
          <p:nvPr/>
        </p:nvSpPr>
        <p:spPr>
          <a:xfrm>
            <a:off x="4498848"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31" name="Epic 15 name">
            <a:extLst>
              <a:ext uri="{FF2B5EF4-FFF2-40B4-BE49-F238E27FC236}">
                <a16:creationId xmlns:a16="http://schemas.microsoft.com/office/drawing/2014/main" id="{34F63D05-16E8-B177-BD5C-45F2F400508E}"/>
              </a:ext>
            </a:extLst>
          </p:cNvPr>
          <p:cNvSpPr/>
          <p:nvPr/>
        </p:nvSpPr>
        <p:spPr>
          <a:xfrm>
            <a:off x="4892040"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Regulatory assistant</a:t>
            </a:r>
          </a:p>
          <a:p>
            <a:pPr algn="l">
              <a:buNone/>
            </a:pPr>
            <a:r>
              <a:rPr lang="en-US" sz="100">
                <a:effectLst/>
              </a:rPr>
              <a:t> </a:t>
            </a:r>
            <a:endParaRPr lang="en-US"/>
          </a:p>
        </p:txBody>
      </p:sp>
      <p:sp>
        <p:nvSpPr>
          <p:cNvPr id="47457" name="Epic 15 track">
            <a:extLst>
              <a:ext uri="{FF2B5EF4-FFF2-40B4-BE49-F238E27FC236}">
                <a16:creationId xmlns:a16="http://schemas.microsoft.com/office/drawing/2014/main" id="{3ED44572-3BC0-E66D-8E4D-99674A6C9D93}"/>
              </a:ext>
            </a:extLst>
          </p:cNvPr>
          <p:cNvSpPr/>
          <p:nvPr/>
        </p:nvSpPr>
        <p:spPr>
          <a:xfrm>
            <a:off x="4590288"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84" name="Epic 15 delivered bar">
            <a:extLst>
              <a:ext uri="{FF2B5EF4-FFF2-40B4-BE49-F238E27FC236}">
                <a16:creationId xmlns:a16="http://schemas.microsoft.com/office/drawing/2014/main" id="{4C47C88B-A9D2-4085-DB7B-A8336F7D7D5E}"/>
              </a:ext>
            </a:extLst>
          </p:cNvPr>
          <p:cNvSpPr/>
          <p:nvPr/>
        </p:nvSpPr>
        <p:spPr>
          <a:xfrm>
            <a:off x="4590288" y="5436108"/>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12" name="Epic 15 in progress bar">
            <a:extLst>
              <a:ext uri="{FF2B5EF4-FFF2-40B4-BE49-F238E27FC236}">
                <a16:creationId xmlns:a16="http://schemas.microsoft.com/office/drawing/2014/main" id="{68D214E1-AD76-F22B-49A4-FD898DBEBEB1}"/>
              </a:ext>
            </a:extLst>
          </p:cNvPr>
          <p:cNvSpPr/>
          <p:nvPr/>
        </p:nvSpPr>
        <p:spPr>
          <a:xfrm>
            <a:off x="4706953"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841" name="Epic 15 queued bar">
            <a:extLst>
              <a:ext uri="{FF2B5EF4-FFF2-40B4-BE49-F238E27FC236}">
                <a16:creationId xmlns:a16="http://schemas.microsoft.com/office/drawing/2014/main" id="{6B252743-6AA6-C340-A4D2-39817F70D98D}"/>
              </a:ext>
            </a:extLst>
          </p:cNvPr>
          <p:cNvSpPr/>
          <p:nvPr/>
        </p:nvSpPr>
        <p:spPr>
          <a:xfrm>
            <a:off x="4765285" y="5436108"/>
            <a:ext cx="34999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971" name="Epic 15 delivered count">
            <a:extLst>
              <a:ext uri="{FF2B5EF4-FFF2-40B4-BE49-F238E27FC236}">
                <a16:creationId xmlns:a16="http://schemas.microsoft.com/office/drawing/2014/main" id="{E886E31F-DCD2-A05C-5768-4BAE309CCEBE}"/>
              </a:ext>
            </a:extLst>
          </p:cNvPr>
          <p:cNvSpPr/>
          <p:nvPr/>
        </p:nvSpPr>
        <p:spPr>
          <a:xfrm>
            <a:off x="44988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8102" name="Epic 15 in progress count">
            <a:extLst>
              <a:ext uri="{FF2B5EF4-FFF2-40B4-BE49-F238E27FC236}">
                <a16:creationId xmlns:a16="http://schemas.microsoft.com/office/drawing/2014/main" id="{0262411D-035D-140D-D9C2-F4BDA5B523EF}"/>
              </a:ext>
            </a:extLst>
          </p:cNvPr>
          <p:cNvSpPr/>
          <p:nvPr/>
        </p:nvSpPr>
        <p:spPr>
          <a:xfrm>
            <a:off x="488289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8234" name="Epic 15 queued count">
            <a:extLst>
              <a:ext uri="{FF2B5EF4-FFF2-40B4-BE49-F238E27FC236}">
                <a16:creationId xmlns:a16="http://schemas.microsoft.com/office/drawing/2014/main" id="{2BDEB4A6-D685-A295-EBEC-92D9F7FB73A1}"/>
              </a:ext>
            </a:extLst>
          </p:cNvPr>
          <p:cNvSpPr/>
          <p:nvPr/>
        </p:nvSpPr>
        <p:spPr>
          <a:xfrm>
            <a:off x="52669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8367" name="Epic tile 16">
            <a:extLst>
              <a:ext uri="{FF2B5EF4-FFF2-40B4-BE49-F238E27FC236}">
                <a16:creationId xmlns:a16="http://schemas.microsoft.com/office/drawing/2014/main" id="{ACC454A2-707E-44E9-357D-0284BAD8E3E9}"/>
              </a:ext>
            </a:extLst>
          </p:cNvPr>
          <p:cNvSpPr/>
          <p:nvPr/>
        </p:nvSpPr>
        <p:spPr>
          <a:xfrm>
            <a:off x="6473952"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501" name="Epic 16 name">
            <a:extLst>
              <a:ext uri="{FF2B5EF4-FFF2-40B4-BE49-F238E27FC236}">
                <a16:creationId xmlns:a16="http://schemas.microsoft.com/office/drawing/2014/main" id="{90EF07D2-46D4-1989-4AA0-6190DD617745}"/>
              </a:ext>
            </a:extLst>
          </p:cNvPr>
          <p:cNvSpPr/>
          <p:nvPr/>
        </p:nvSpPr>
        <p:spPr>
          <a:xfrm>
            <a:off x="6867144"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Responsible AI</a:t>
            </a:r>
          </a:p>
          <a:p>
            <a:pPr algn="l">
              <a:buNone/>
            </a:pPr>
            <a:r>
              <a:rPr lang="en-US" sz="100">
                <a:effectLst/>
              </a:rPr>
              <a:t> </a:t>
            </a:r>
            <a:endParaRPr lang="en-US"/>
          </a:p>
        </p:txBody>
      </p:sp>
      <p:sp>
        <p:nvSpPr>
          <p:cNvPr id="48636" name="Epic 16 track">
            <a:extLst>
              <a:ext uri="{FF2B5EF4-FFF2-40B4-BE49-F238E27FC236}">
                <a16:creationId xmlns:a16="http://schemas.microsoft.com/office/drawing/2014/main" id="{CF765600-0006-A70B-AFBC-6851C3C98090}"/>
              </a:ext>
            </a:extLst>
          </p:cNvPr>
          <p:cNvSpPr/>
          <p:nvPr/>
        </p:nvSpPr>
        <p:spPr>
          <a:xfrm>
            <a:off x="6565392"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772" name="Epic 16 in progress bar">
            <a:extLst>
              <a:ext uri="{FF2B5EF4-FFF2-40B4-BE49-F238E27FC236}">
                <a16:creationId xmlns:a16="http://schemas.microsoft.com/office/drawing/2014/main" id="{7B06C4C2-95D1-A9D3-7822-8EE267870E5C}"/>
              </a:ext>
            </a:extLst>
          </p:cNvPr>
          <p:cNvSpPr/>
          <p:nvPr/>
        </p:nvSpPr>
        <p:spPr>
          <a:xfrm>
            <a:off x="6565392" y="5436108"/>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909" name="Epic 16 queued bar">
            <a:extLst>
              <a:ext uri="{FF2B5EF4-FFF2-40B4-BE49-F238E27FC236}">
                <a16:creationId xmlns:a16="http://schemas.microsoft.com/office/drawing/2014/main" id="{B4947D67-BF0D-CE31-B108-2B23D451868D}"/>
              </a:ext>
            </a:extLst>
          </p:cNvPr>
          <p:cNvSpPr/>
          <p:nvPr/>
        </p:nvSpPr>
        <p:spPr>
          <a:xfrm>
            <a:off x="6682057" y="5436108"/>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047" name="Epic 16 delivered count">
            <a:extLst>
              <a:ext uri="{FF2B5EF4-FFF2-40B4-BE49-F238E27FC236}">
                <a16:creationId xmlns:a16="http://schemas.microsoft.com/office/drawing/2014/main" id="{668F372D-DE84-66C5-F83B-D6C914823D95}"/>
              </a:ext>
            </a:extLst>
          </p:cNvPr>
          <p:cNvSpPr/>
          <p:nvPr/>
        </p:nvSpPr>
        <p:spPr>
          <a:xfrm>
            <a:off x="647395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9186" name="Epic 16 in progress count">
            <a:extLst>
              <a:ext uri="{FF2B5EF4-FFF2-40B4-BE49-F238E27FC236}">
                <a16:creationId xmlns:a16="http://schemas.microsoft.com/office/drawing/2014/main" id="{4A815485-A6E1-DA65-605D-FD26F98617F3}"/>
              </a:ext>
            </a:extLst>
          </p:cNvPr>
          <p:cNvSpPr/>
          <p:nvPr/>
        </p:nvSpPr>
        <p:spPr>
          <a:xfrm>
            <a:off x="685800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9326" name="Epic 16 queued count">
            <a:extLst>
              <a:ext uri="{FF2B5EF4-FFF2-40B4-BE49-F238E27FC236}">
                <a16:creationId xmlns:a16="http://schemas.microsoft.com/office/drawing/2014/main" id="{A6183167-3875-9958-B3C0-4D288F1510DC}"/>
              </a:ext>
            </a:extLst>
          </p:cNvPr>
          <p:cNvSpPr/>
          <p:nvPr/>
        </p:nvSpPr>
        <p:spPr>
          <a:xfrm>
            <a:off x="72420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9467" name="Counter delivered number">
            <a:extLst>
              <a:ext uri="{FF2B5EF4-FFF2-40B4-BE49-F238E27FC236}">
                <a16:creationId xmlns:a16="http://schemas.microsoft.com/office/drawing/2014/main" id="{73E06EBF-930F-9965-F254-AE2EABDD931E}"/>
              </a:ext>
            </a:extLst>
          </p:cNvPr>
          <p:cNvSpPr/>
          <p:nvPr/>
        </p:nvSpPr>
        <p:spPr>
          <a:xfrm>
            <a:off x="8524416" y="1374992"/>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E6B5E"/>
                </a:solidFill>
                <a:effectLst/>
                <a:latin typeface="Arial" panose="020B0604020202020204" pitchFamily="34" charset="0"/>
              </a:rPr>
              <a:t>54</a:t>
            </a:r>
          </a:p>
          <a:p>
            <a:pPr algn="r">
              <a:buNone/>
            </a:pPr>
            <a:r>
              <a:rPr lang="en-US" sz="100">
                <a:effectLst/>
              </a:rPr>
              <a:t> </a:t>
            </a:r>
            <a:endParaRPr lang="en-US"/>
          </a:p>
        </p:txBody>
      </p:sp>
      <p:sp>
        <p:nvSpPr>
          <p:cNvPr id="49609" name="Counter delivered key">
            <a:extLst>
              <a:ext uri="{FF2B5EF4-FFF2-40B4-BE49-F238E27FC236}">
                <a16:creationId xmlns:a16="http://schemas.microsoft.com/office/drawing/2014/main" id="{E04A41DC-227A-8F16-0546-86FFE8DED621}"/>
              </a:ext>
            </a:extLst>
          </p:cNvPr>
          <p:cNvSpPr/>
          <p:nvPr/>
        </p:nvSpPr>
        <p:spPr>
          <a:xfrm>
            <a:off x="9597189" y="1820456"/>
            <a:ext cx="155448" cy="15544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752" name="Counter delivered label">
            <a:extLst>
              <a:ext uri="{FF2B5EF4-FFF2-40B4-BE49-F238E27FC236}">
                <a16:creationId xmlns:a16="http://schemas.microsoft.com/office/drawing/2014/main" id="{A4838E81-D756-65F5-5A6E-93A575445921}"/>
              </a:ext>
            </a:extLst>
          </p:cNvPr>
          <p:cNvSpPr/>
          <p:nvPr/>
        </p:nvSpPr>
        <p:spPr>
          <a:xfrm>
            <a:off x="9734349" y="1639444"/>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delivered</a:t>
            </a:r>
          </a:p>
          <a:p>
            <a:pPr algn="l">
              <a:buNone/>
            </a:pPr>
            <a:r>
              <a:rPr lang="en-US" sz="100">
                <a:effectLst/>
              </a:rPr>
              <a:t> </a:t>
            </a:r>
            <a:endParaRPr lang="en-US"/>
          </a:p>
        </p:txBody>
      </p:sp>
      <p:sp>
        <p:nvSpPr>
          <p:cNvPr id="49896" name="Counter in progress number">
            <a:extLst>
              <a:ext uri="{FF2B5EF4-FFF2-40B4-BE49-F238E27FC236}">
                <a16:creationId xmlns:a16="http://schemas.microsoft.com/office/drawing/2014/main" id="{262F6E3A-31A1-BED9-DBCA-1E513DB84A4F}"/>
              </a:ext>
            </a:extLst>
          </p:cNvPr>
          <p:cNvSpPr/>
          <p:nvPr/>
        </p:nvSpPr>
        <p:spPr>
          <a:xfrm>
            <a:off x="8524416" y="1960208"/>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F5F8A"/>
                </a:solidFill>
                <a:effectLst/>
                <a:latin typeface="Arial" panose="020B0604020202020204" pitchFamily="34" charset="0"/>
              </a:rPr>
              <a:t>24</a:t>
            </a:r>
          </a:p>
          <a:p>
            <a:pPr algn="r">
              <a:buNone/>
            </a:pPr>
            <a:r>
              <a:rPr lang="en-US" sz="100">
                <a:effectLst/>
              </a:rPr>
              <a:t> </a:t>
            </a:r>
            <a:endParaRPr lang="en-US"/>
          </a:p>
        </p:txBody>
      </p:sp>
      <p:sp>
        <p:nvSpPr>
          <p:cNvPr id="50041" name="Counter in progress key">
            <a:extLst>
              <a:ext uri="{FF2B5EF4-FFF2-40B4-BE49-F238E27FC236}">
                <a16:creationId xmlns:a16="http://schemas.microsoft.com/office/drawing/2014/main" id="{E03EF8C5-F778-4D63-AE83-895AEA01046C}"/>
              </a:ext>
            </a:extLst>
          </p:cNvPr>
          <p:cNvSpPr/>
          <p:nvPr/>
        </p:nvSpPr>
        <p:spPr>
          <a:xfrm>
            <a:off x="9597189" y="2405672"/>
            <a:ext cx="155448" cy="155448"/>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187" name="Counter in progress label">
            <a:extLst>
              <a:ext uri="{FF2B5EF4-FFF2-40B4-BE49-F238E27FC236}">
                <a16:creationId xmlns:a16="http://schemas.microsoft.com/office/drawing/2014/main" id="{785BFAC5-0E71-925D-2897-9B5EF6379F17}"/>
              </a:ext>
            </a:extLst>
          </p:cNvPr>
          <p:cNvSpPr/>
          <p:nvPr/>
        </p:nvSpPr>
        <p:spPr>
          <a:xfrm>
            <a:off x="9734349" y="2224660"/>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in progress</a:t>
            </a:r>
          </a:p>
          <a:p>
            <a:pPr algn="l">
              <a:buNone/>
            </a:pPr>
            <a:r>
              <a:rPr lang="en-US" sz="100">
                <a:effectLst/>
              </a:rPr>
              <a:t> </a:t>
            </a:r>
            <a:endParaRPr lang="en-US"/>
          </a:p>
        </p:txBody>
      </p:sp>
      <p:sp>
        <p:nvSpPr>
          <p:cNvPr id="50334" name="Counter queued number">
            <a:extLst>
              <a:ext uri="{FF2B5EF4-FFF2-40B4-BE49-F238E27FC236}">
                <a16:creationId xmlns:a16="http://schemas.microsoft.com/office/drawing/2014/main" id="{E29B6427-9D47-134F-0E99-AF564280A695}"/>
              </a:ext>
            </a:extLst>
          </p:cNvPr>
          <p:cNvSpPr/>
          <p:nvPr/>
        </p:nvSpPr>
        <p:spPr>
          <a:xfrm>
            <a:off x="8524416" y="2545424"/>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dirty="0">
                <a:solidFill>
                  <a:srgbClr val="7A4B00"/>
                </a:solidFill>
                <a:effectLst/>
                <a:latin typeface="Arial" panose="020B0604020202020204" pitchFamily="34" charset="0"/>
              </a:rPr>
              <a:t>111</a:t>
            </a:r>
          </a:p>
          <a:p>
            <a:pPr algn="r">
              <a:buNone/>
            </a:pPr>
            <a:r>
              <a:rPr lang="en-US" sz="100" dirty="0">
                <a:effectLst/>
              </a:rPr>
              <a:t> </a:t>
            </a:r>
            <a:endParaRPr lang="en-US" dirty="0"/>
          </a:p>
        </p:txBody>
      </p:sp>
      <p:sp>
        <p:nvSpPr>
          <p:cNvPr id="50482" name="Counter queued key">
            <a:extLst>
              <a:ext uri="{FF2B5EF4-FFF2-40B4-BE49-F238E27FC236}">
                <a16:creationId xmlns:a16="http://schemas.microsoft.com/office/drawing/2014/main" id="{E1FBFBFC-0B3F-AA8A-83BF-E2D991AC6EEA}"/>
              </a:ext>
            </a:extLst>
          </p:cNvPr>
          <p:cNvSpPr/>
          <p:nvPr/>
        </p:nvSpPr>
        <p:spPr>
          <a:xfrm>
            <a:off x="9597189" y="2990888"/>
            <a:ext cx="155448" cy="15544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631" name="Counter queued label">
            <a:extLst>
              <a:ext uri="{FF2B5EF4-FFF2-40B4-BE49-F238E27FC236}">
                <a16:creationId xmlns:a16="http://schemas.microsoft.com/office/drawing/2014/main" id="{78C1C20A-CE8E-9872-5EF5-8384C3BE5541}"/>
              </a:ext>
            </a:extLst>
          </p:cNvPr>
          <p:cNvSpPr/>
          <p:nvPr/>
        </p:nvSpPr>
        <p:spPr>
          <a:xfrm>
            <a:off x="9734349" y="2809876"/>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queued</a:t>
            </a:r>
          </a:p>
          <a:p>
            <a:pPr algn="l">
              <a:buNone/>
            </a:pPr>
            <a:r>
              <a:rPr lang="en-US" sz="100">
                <a:effectLst/>
              </a:rPr>
              <a:t> </a:t>
            </a:r>
            <a:endParaRPr lang="en-US"/>
          </a:p>
        </p:txBody>
      </p:sp>
      <p:sp>
        <p:nvSpPr>
          <p:cNvPr id="50781" name="Statement 2">
            <a:extLst>
              <a:ext uri="{FF2B5EF4-FFF2-40B4-BE49-F238E27FC236}">
                <a16:creationId xmlns:a16="http://schemas.microsoft.com/office/drawing/2014/main" id="{B471467C-F3D5-F498-8737-D13CB6C01F02}"/>
              </a:ext>
            </a:extLst>
          </p:cNvPr>
          <p:cNvSpPr/>
          <p:nvPr/>
        </p:nvSpPr>
        <p:spPr>
          <a:xfrm>
            <a:off x="8549640" y="3456432"/>
            <a:ext cx="30937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Generated from the BRD, PRD and architecture decisions</a:t>
            </a:r>
          </a:p>
          <a:p>
            <a:pPr algn="l">
              <a:buNone/>
            </a:pPr>
            <a:r>
              <a:rPr lang="en-US" sz="100">
                <a:effectLst/>
              </a:rPr>
              <a:t> </a:t>
            </a:r>
            <a:endParaRPr lang="en-US"/>
          </a:p>
        </p:txBody>
      </p:sp>
      <p:sp>
        <p:nvSpPr>
          <p:cNvPr id="50932" name="Statement 3">
            <a:extLst>
              <a:ext uri="{FF2B5EF4-FFF2-40B4-BE49-F238E27FC236}">
                <a16:creationId xmlns:a16="http://schemas.microsoft.com/office/drawing/2014/main" id="{A57F6551-7ACA-0B43-761C-CFD5A5FF814D}"/>
              </a:ext>
            </a:extLst>
          </p:cNvPr>
          <p:cNvSpPr/>
          <p:nvPr/>
        </p:nvSpPr>
        <p:spPr>
          <a:xfrm>
            <a:off x="8549640" y="4352544"/>
            <a:ext cx="30937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item traceable from requirement to pull request</a:t>
            </a:r>
          </a:p>
          <a:p>
            <a:pPr algn="l">
              <a:buNone/>
            </a:pPr>
            <a:r>
              <a:rPr lang="en-US" sz="100">
                <a:effectLst/>
              </a:rPr>
              <a:t> </a:t>
            </a:r>
            <a:endParaRPr lang="en-US"/>
          </a:p>
        </p:txBody>
      </p:sp>
      <p:sp>
        <p:nvSpPr>
          <p:cNvPr id="51084" name="Footnote">
            <a:extLst>
              <a:ext uri="{FF2B5EF4-FFF2-40B4-BE49-F238E27FC236}">
                <a16:creationId xmlns:a16="http://schemas.microsoft.com/office/drawing/2014/main" id="{46C15A2E-FDFC-E05E-C1C0-074D1E623016}"/>
              </a:ext>
            </a:extLst>
          </p:cNvPr>
          <p:cNvSpPr/>
          <p:nvPr/>
        </p:nvSpPr>
        <p:spPr>
          <a:xfrm>
            <a:off x="8549640" y="5059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Board totals include 28 items outside the 16 epic areas.</a:t>
            </a:r>
          </a:p>
          <a:p>
            <a:pPr algn="l">
              <a:buNone/>
            </a:pPr>
            <a:r>
              <a:rPr lang="en-US" sz="1200">
                <a:solidFill>
                  <a:srgbClr val="50655E"/>
                </a:solidFill>
                <a:effectLst/>
                <a:latin typeface="Arial" panose="020B0604020202020204" pitchFamily="34" charset="0"/>
              </a:rPr>
              <a:t>Bars to one scale: full track = 29 items.</a:t>
            </a:r>
            <a:endParaRPr lang="en-US"/>
          </a:p>
        </p:txBody>
      </p:sp>
      <p:pic>
        <p:nvPicPr>
          <p:cNvPr id="51085" name="Epic 1 icon" descr="House icon">
            <a:extLst>
              <a:ext uri="{FF2B5EF4-FFF2-40B4-BE49-F238E27FC236}">
                <a16:creationId xmlns:a16="http://schemas.microsoft.com/office/drawing/2014/main" id="{F1C1C2AC-54C3-ED3A-C72F-07D51AAA052F}"/>
              </a:ext>
            </a:extLst>
          </p:cNvPr>
          <p:cNvPicPr>
            <a:picLocks noChangeAspect="1"/>
          </p:cNvPicPr>
          <p:nvPr/>
        </p:nvPicPr>
        <p:blipFill>
          <a:blip r:embed="rId3"/>
          <a:stretch>
            <a:fillRect/>
          </a:stretch>
        </p:blipFill>
        <p:spPr>
          <a:xfrm>
            <a:off x="640080" y="1658112"/>
            <a:ext cx="329184" cy="329184"/>
          </a:xfrm>
          <a:prstGeom prst="rect">
            <a:avLst/>
          </a:prstGeom>
        </p:spPr>
      </p:pic>
      <p:pic>
        <p:nvPicPr>
          <p:cNvPr id="51086" name="Epic 2 icon" descr="Damp and mould icon">
            <a:extLst>
              <a:ext uri="{FF2B5EF4-FFF2-40B4-BE49-F238E27FC236}">
                <a16:creationId xmlns:a16="http://schemas.microsoft.com/office/drawing/2014/main" id="{2D57FD56-99A7-674A-E7CD-99981C36FA96}"/>
              </a:ext>
            </a:extLst>
          </p:cNvPr>
          <p:cNvPicPr>
            <a:picLocks noChangeAspect="1"/>
          </p:cNvPicPr>
          <p:nvPr/>
        </p:nvPicPr>
        <p:blipFill>
          <a:blip r:embed="rId4"/>
          <a:stretch>
            <a:fillRect/>
          </a:stretch>
        </p:blipFill>
        <p:spPr>
          <a:xfrm>
            <a:off x="2615184" y="1658112"/>
            <a:ext cx="329184" cy="329184"/>
          </a:xfrm>
          <a:prstGeom prst="rect">
            <a:avLst/>
          </a:prstGeom>
        </p:spPr>
      </p:pic>
      <p:pic>
        <p:nvPicPr>
          <p:cNvPr id="51087" name="Epic 3 icon" descr="Contractor icon">
            <a:extLst>
              <a:ext uri="{FF2B5EF4-FFF2-40B4-BE49-F238E27FC236}">
                <a16:creationId xmlns:a16="http://schemas.microsoft.com/office/drawing/2014/main" id="{8E0902D5-91C8-7AB8-99C7-9AD14477A069}"/>
              </a:ext>
            </a:extLst>
          </p:cNvPr>
          <p:cNvPicPr>
            <a:picLocks noChangeAspect="1"/>
          </p:cNvPicPr>
          <p:nvPr/>
        </p:nvPicPr>
        <p:blipFill>
          <a:blip r:embed="rId5"/>
          <a:stretch>
            <a:fillRect/>
          </a:stretch>
        </p:blipFill>
        <p:spPr>
          <a:xfrm>
            <a:off x="4590288" y="1658112"/>
            <a:ext cx="329184" cy="329184"/>
          </a:xfrm>
          <a:prstGeom prst="rect">
            <a:avLst/>
          </a:prstGeom>
        </p:spPr>
      </p:pic>
      <p:pic>
        <p:nvPicPr>
          <p:cNvPr id="51088" name="Epic 4 icon" descr="Cost icon">
            <a:extLst>
              <a:ext uri="{FF2B5EF4-FFF2-40B4-BE49-F238E27FC236}">
                <a16:creationId xmlns:a16="http://schemas.microsoft.com/office/drawing/2014/main" id="{5791F5A4-47D6-6422-A0FB-0439D43ED6F8}"/>
              </a:ext>
            </a:extLst>
          </p:cNvPr>
          <p:cNvPicPr>
            <a:picLocks noChangeAspect="1"/>
          </p:cNvPicPr>
          <p:nvPr/>
        </p:nvPicPr>
        <p:blipFill>
          <a:blip r:embed="rId6"/>
          <a:stretch>
            <a:fillRect/>
          </a:stretch>
        </p:blipFill>
        <p:spPr>
          <a:xfrm>
            <a:off x="6565392" y="1658112"/>
            <a:ext cx="329184" cy="329184"/>
          </a:xfrm>
          <a:prstGeom prst="rect">
            <a:avLst/>
          </a:prstGeom>
        </p:spPr>
      </p:pic>
      <p:pic>
        <p:nvPicPr>
          <p:cNvPr id="51089" name="Epic 5 icon" descr="Forecast icon">
            <a:extLst>
              <a:ext uri="{FF2B5EF4-FFF2-40B4-BE49-F238E27FC236}">
                <a16:creationId xmlns:a16="http://schemas.microsoft.com/office/drawing/2014/main" id="{9E275A9F-8A54-DC4E-C162-F5F5EE5C45AB}"/>
              </a:ext>
            </a:extLst>
          </p:cNvPr>
          <p:cNvPicPr>
            <a:picLocks noChangeAspect="1"/>
          </p:cNvPicPr>
          <p:nvPr/>
        </p:nvPicPr>
        <p:blipFill>
          <a:blip r:embed="rId7"/>
          <a:stretch>
            <a:fillRect/>
          </a:stretch>
        </p:blipFill>
        <p:spPr>
          <a:xfrm>
            <a:off x="640080" y="2764536"/>
            <a:ext cx="329184" cy="329184"/>
          </a:xfrm>
          <a:prstGeom prst="rect">
            <a:avLst/>
          </a:prstGeom>
        </p:spPr>
      </p:pic>
      <p:pic>
        <p:nvPicPr>
          <p:cNvPr id="51090" name="Epic 6 icon" descr="AI icon">
            <a:extLst>
              <a:ext uri="{FF2B5EF4-FFF2-40B4-BE49-F238E27FC236}">
                <a16:creationId xmlns:a16="http://schemas.microsoft.com/office/drawing/2014/main" id="{A1E3FC52-AA2A-CCBB-08FF-A6738F280FF3}"/>
              </a:ext>
            </a:extLst>
          </p:cNvPr>
          <p:cNvPicPr>
            <a:picLocks noChangeAspect="1"/>
          </p:cNvPicPr>
          <p:nvPr/>
        </p:nvPicPr>
        <p:blipFill>
          <a:blip r:embed="rId8"/>
          <a:stretch>
            <a:fillRect/>
          </a:stretch>
        </p:blipFill>
        <p:spPr>
          <a:xfrm>
            <a:off x="2615184" y="2764536"/>
            <a:ext cx="329184" cy="329184"/>
          </a:xfrm>
          <a:prstGeom prst="rect">
            <a:avLst/>
          </a:prstGeom>
        </p:spPr>
      </p:pic>
      <p:pic>
        <p:nvPicPr>
          <p:cNvPr id="51091" name="Epic 7 icon" descr="Warmth icon">
            <a:extLst>
              <a:ext uri="{FF2B5EF4-FFF2-40B4-BE49-F238E27FC236}">
                <a16:creationId xmlns:a16="http://schemas.microsoft.com/office/drawing/2014/main" id="{8AB2000F-ED42-0254-0A5D-536AFB6E0BD4}"/>
              </a:ext>
            </a:extLst>
          </p:cNvPr>
          <p:cNvPicPr>
            <a:picLocks noChangeAspect="1"/>
          </p:cNvPicPr>
          <p:nvPr/>
        </p:nvPicPr>
        <p:blipFill>
          <a:blip r:embed="rId9"/>
          <a:stretch>
            <a:fillRect/>
          </a:stretch>
        </p:blipFill>
        <p:spPr>
          <a:xfrm>
            <a:off x="4590288" y="2764536"/>
            <a:ext cx="329184" cy="329184"/>
          </a:xfrm>
          <a:prstGeom prst="rect">
            <a:avLst/>
          </a:prstGeom>
        </p:spPr>
      </p:pic>
      <p:pic>
        <p:nvPicPr>
          <p:cNvPr id="51092" name="Epic 8 icon" descr="Security icon">
            <a:extLst>
              <a:ext uri="{FF2B5EF4-FFF2-40B4-BE49-F238E27FC236}">
                <a16:creationId xmlns:a16="http://schemas.microsoft.com/office/drawing/2014/main" id="{32A40441-62DC-BA96-AA2B-A7119D4F2EFE}"/>
              </a:ext>
            </a:extLst>
          </p:cNvPr>
          <p:cNvPicPr>
            <a:picLocks noChangeAspect="1"/>
          </p:cNvPicPr>
          <p:nvPr/>
        </p:nvPicPr>
        <p:blipFill>
          <a:blip r:embed="rId10"/>
          <a:stretch>
            <a:fillRect/>
          </a:stretch>
        </p:blipFill>
        <p:spPr>
          <a:xfrm>
            <a:off x="6565392" y="2764536"/>
            <a:ext cx="329184" cy="329184"/>
          </a:xfrm>
          <a:prstGeom prst="rect">
            <a:avLst/>
          </a:prstGeom>
        </p:spPr>
      </p:pic>
      <p:pic>
        <p:nvPicPr>
          <p:cNvPr id="51093" name="Epic 9 icon" descr="Approval gate icon">
            <a:extLst>
              <a:ext uri="{FF2B5EF4-FFF2-40B4-BE49-F238E27FC236}">
                <a16:creationId xmlns:a16="http://schemas.microsoft.com/office/drawing/2014/main" id="{C6E251BD-3E33-93AA-2542-69A062B4247C}"/>
              </a:ext>
            </a:extLst>
          </p:cNvPr>
          <p:cNvPicPr>
            <a:picLocks noChangeAspect="1"/>
          </p:cNvPicPr>
          <p:nvPr/>
        </p:nvPicPr>
        <p:blipFill>
          <a:blip r:embed="rId11"/>
          <a:stretch>
            <a:fillRect/>
          </a:stretch>
        </p:blipFill>
        <p:spPr>
          <a:xfrm>
            <a:off x="640080" y="3870960"/>
            <a:ext cx="329184" cy="329184"/>
          </a:xfrm>
          <a:prstGeom prst="rect">
            <a:avLst/>
          </a:prstGeom>
        </p:spPr>
      </p:pic>
      <p:pic>
        <p:nvPicPr>
          <p:cNvPr id="51094" name="Epic 10 icon" descr="Cloud icon">
            <a:extLst>
              <a:ext uri="{FF2B5EF4-FFF2-40B4-BE49-F238E27FC236}">
                <a16:creationId xmlns:a16="http://schemas.microsoft.com/office/drawing/2014/main" id="{9CEFBDA5-DE75-B1F6-7453-24116B7691BD}"/>
              </a:ext>
            </a:extLst>
          </p:cNvPr>
          <p:cNvPicPr>
            <a:picLocks noChangeAspect="1"/>
          </p:cNvPicPr>
          <p:nvPr/>
        </p:nvPicPr>
        <p:blipFill>
          <a:blip r:embed="rId12"/>
          <a:stretch>
            <a:fillRect/>
          </a:stretch>
        </p:blipFill>
        <p:spPr>
          <a:xfrm>
            <a:off x="2615184" y="3870960"/>
            <a:ext cx="329184" cy="329184"/>
          </a:xfrm>
          <a:prstGeom prst="rect">
            <a:avLst/>
          </a:prstGeom>
        </p:spPr>
      </p:pic>
      <p:pic>
        <p:nvPicPr>
          <p:cNvPr id="51095" name="Epic 11 icon" descr="Prototype icon">
            <a:extLst>
              <a:ext uri="{FF2B5EF4-FFF2-40B4-BE49-F238E27FC236}">
                <a16:creationId xmlns:a16="http://schemas.microsoft.com/office/drawing/2014/main" id="{6C16D3B1-7BD4-16B3-C5E5-34B74BC7FC87}"/>
              </a:ext>
            </a:extLst>
          </p:cNvPr>
          <p:cNvPicPr>
            <a:picLocks noChangeAspect="1"/>
          </p:cNvPicPr>
          <p:nvPr/>
        </p:nvPicPr>
        <p:blipFill>
          <a:blip r:embed="rId13"/>
          <a:stretch>
            <a:fillRect/>
          </a:stretch>
        </p:blipFill>
        <p:spPr>
          <a:xfrm>
            <a:off x="4590288" y="3870960"/>
            <a:ext cx="329184" cy="329184"/>
          </a:xfrm>
          <a:prstGeom prst="rect">
            <a:avLst/>
          </a:prstGeom>
        </p:spPr>
      </p:pic>
      <p:pic>
        <p:nvPicPr>
          <p:cNvPr id="51096" name="Epic 12 icon" descr="Conversation icon">
            <a:extLst>
              <a:ext uri="{FF2B5EF4-FFF2-40B4-BE49-F238E27FC236}">
                <a16:creationId xmlns:a16="http://schemas.microsoft.com/office/drawing/2014/main" id="{09681945-4C64-A262-2708-1BF52B0E62EF}"/>
              </a:ext>
            </a:extLst>
          </p:cNvPr>
          <p:cNvPicPr>
            <a:picLocks noChangeAspect="1"/>
          </p:cNvPicPr>
          <p:nvPr/>
        </p:nvPicPr>
        <p:blipFill>
          <a:blip r:embed="rId14"/>
          <a:stretch>
            <a:fillRect/>
          </a:stretch>
        </p:blipFill>
        <p:spPr>
          <a:xfrm>
            <a:off x="6565392" y="3870960"/>
            <a:ext cx="329184" cy="329184"/>
          </a:xfrm>
          <a:prstGeom prst="rect">
            <a:avLst/>
          </a:prstGeom>
        </p:spPr>
      </p:pic>
      <p:pic>
        <p:nvPicPr>
          <p:cNvPr id="51097" name="Epic 13 icon" descr="Spreadsheet icon">
            <a:extLst>
              <a:ext uri="{FF2B5EF4-FFF2-40B4-BE49-F238E27FC236}">
                <a16:creationId xmlns:a16="http://schemas.microsoft.com/office/drawing/2014/main" id="{0180DE6B-F0E7-758C-918C-BFB197F30AA1}"/>
              </a:ext>
            </a:extLst>
          </p:cNvPr>
          <p:cNvPicPr>
            <a:picLocks noChangeAspect="1"/>
          </p:cNvPicPr>
          <p:nvPr/>
        </p:nvPicPr>
        <p:blipFill>
          <a:blip r:embed="rId15"/>
          <a:stretch>
            <a:fillRect/>
          </a:stretch>
        </p:blipFill>
        <p:spPr>
          <a:xfrm>
            <a:off x="640080" y="4977384"/>
            <a:ext cx="329184" cy="329184"/>
          </a:xfrm>
          <a:prstGeom prst="rect">
            <a:avLst/>
          </a:prstGeom>
        </p:spPr>
      </p:pic>
      <p:pic>
        <p:nvPicPr>
          <p:cNvPr id="51098" name="Epic 14 icon" descr="Route icon">
            <a:extLst>
              <a:ext uri="{FF2B5EF4-FFF2-40B4-BE49-F238E27FC236}">
                <a16:creationId xmlns:a16="http://schemas.microsoft.com/office/drawing/2014/main" id="{3D1A947A-C9C1-BAE9-A3C7-8645427066BD}"/>
              </a:ext>
            </a:extLst>
          </p:cNvPr>
          <p:cNvPicPr>
            <a:picLocks noChangeAspect="1"/>
          </p:cNvPicPr>
          <p:nvPr/>
        </p:nvPicPr>
        <p:blipFill>
          <a:blip r:embed="rId16"/>
          <a:stretch>
            <a:fillRect/>
          </a:stretch>
        </p:blipFill>
        <p:spPr>
          <a:xfrm>
            <a:off x="2615184" y="4977384"/>
            <a:ext cx="329184" cy="329184"/>
          </a:xfrm>
          <a:prstGeom prst="rect">
            <a:avLst/>
          </a:prstGeom>
        </p:spPr>
      </p:pic>
      <p:pic>
        <p:nvPicPr>
          <p:cNvPr id="51099" name="Epic 15 icon" descr="Evidence icon">
            <a:extLst>
              <a:ext uri="{FF2B5EF4-FFF2-40B4-BE49-F238E27FC236}">
                <a16:creationId xmlns:a16="http://schemas.microsoft.com/office/drawing/2014/main" id="{CCB82A9F-2FB2-91BE-26E3-6098E9A1E99E}"/>
              </a:ext>
            </a:extLst>
          </p:cNvPr>
          <p:cNvPicPr>
            <a:picLocks noChangeAspect="1"/>
          </p:cNvPicPr>
          <p:nvPr/>
        </p:nvPicPr>
        <p:blipFill>
          <a:blip r:embed="rId17"/>
          <a:stretch>
            <a:fillRect/>
          </a:stretch>
        </p:blipFill>
        <p:spPr>
          <a:xfrm>
            <a:off x="4590288" y="4977384"/>
            <a:ext cx="329184" cy="329184"/>
          </a:xfrm>
          <a:prstGeom prst="rect">
            <a:avLst/>
          </a:prstGeom>
        </p:spPr>
      </p:pic>
      <p:pic>
        <p:nvPicPr>
          <p:cNvPr id="51100" name="Epic 16 icon" descr="Research icon">
            <a:extLst>
              <a:ext uri="{FF2B5EF4-FFF2-40B4-BE49-F238E27FC236}">
                <a16:creationId xmlns:a16="http://schemas.microsoft.com/office/drawing/2014/main" id="{A0DEF99C-EC00-1C94-8059-1B6D7E1D09ED}"/>
              </a:ext>
            </a:extLst>
          </p:cNvPr>
          <p:cNvPicPr>
            <a:picLocks noChangeAspect="1"/>
          </p:cNvPicPr>
          <p:nvPr/>
        </p:nvPicPr>
        <p:blipFill>
          <a:blip r:embed="rId18"/>
          <a:stretch>
            <a:fillRect/>
          </a:stretch>
        </p:blipFill>
        <p:spPr>
          <a:xfrm>
            <a:off x="6565392" y="4977384"/>
            <a:ext cx="329184" cy="329184"/>
          </a:xfrm>
          <a:prstGeom prst="rect">
            <a:avLst/>
          </a:prstGeom>
        </p:spPr>
      </p:pic>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094" name="Lane 1">
            <a:extLst>
              <a:ext uri="{FF2B5EF4-FFF2-40B4-BE49-F238E27FC236}">
                <a16:creationId xmlns:a16="http://schemas.microsoft.com/office/drawing/2014/main" id="{1641F7CC-2437-292E-7164-058D8E3551E2}"/>
              </a:ext>
            </a:extLst>
          </p:cNvPr>
          <p:cNvSpPr/>
          <p:nvPr/>
        </p:nvSpPr>
        <p:spPr>
          <a:xfrm>
            <a:off x="548640" y="1463040"/>
            <a:ext cx="2103120" cy="297180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6" name="Sheet stock list">
            <a:extLst>
              <a:ext uri="{FF2B5EF4-FFF2-40B4-BE49-F238E27FC236}">
                <a16:creationId xmlns:a16="http://schemas.microsoft.com/office/drawing/2014/main" id="{5EE8D02E-5125-9192-F5E1-B63C8C9893D9}"/>
              </a:ext>
            </a:extLst>
          </p:cNvPr>
          <p:cNvSpPr/>
          <p:nvPr/>
        </p:nvSpPr>
        <p:spPr>
          <a:xfrm>
            <a:off x="649224" y="2526792"/>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9" name="Sheet survey tracker">
            <a:extLst>
              <a:ext uri="{FF2B5EF4-FFF2-40B4-BE49-F238E27FC236}">
                <a16:creationId xmlns:a16="http://schemas.microsoft.com/office/drawing/2014/main" id="{9306674D-DFCD-0D75-50CE-17998855EB41}"/>
              </a:ext>
            </a:extLst>
          </p:cNvPr>
          <p:cNvSpPr/>
          <p:nvPr/>
        </p:nvSpPr>
        <p:spPr>
          <a:xfrm>
            <a:off x="649224" y="2865120"/>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3" name="Sheet grant tracker">
            <a:extLst>
              <a:ext uri="{FF2B5EF4-FFF2-40B4-BE49-F238E27FC236}">
                <a16:creationId xmlns:a16="http://schemas.microsoft.com/office/drawing/2014/main" id="{3811FC6A-B9B8-F5F5-C7EF-712E1975580E}"/>
              </a:ext>
            </a:extLst>
          </p:cNvPr>
          <p:cNvSpPr/>
          <p:nvPr/>
        </p:nvSpPr>
        <p:spPr>
          <a:xfrm>
            <a:off x="649224" y="3203448"/>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8" name="Sheet contractor schedule">
            <a:extLst>
              <a:ext uri="{FF2B5EF4-FFF2-40B4-BE49-F238E27FC236}">
                <a16:creationId xmlns:a16="http://schemas.microsoft.com/office/drawing/2014/main" id="{D1917239-4A76-1FB9-07C4-D7E98247B96D}"/>
              </a:ext>
            </a:extLst>
          </p:cNvPr>
          <p:cNvSpPr/>
          <p:nvPr/>
        </p:nvSpPr>
        <p:spPr>
          <a:xfrm>
            <a:off x="649224" y="3541776"/>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14" name="Lane 2">
            <a:extLst>
              <a:ext uri="{FF2B5EF4-FFF2-40B4-BE49-F238E27FC236}">
                <a16:creationId xmlns:a16="http://schemas.microsoft.com/office/drawing/2014/main" id="{15AD7684-B527-13D1-3AB8-5F91AE8EF195}"/>
              </a:ext>
            </a:extLst>
          </p:cNvPr>
          <p:cNvSpPr/>
          <p:nvPr/>
        </p:nvSpPr>
        <p:spPr>
          <a:xfrm>
            <a:off x="3035808" y="1463040"/>
            <a:ext cx="256032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1" name="Lane 3">
            <a:extLst>
              <a:ext uri="{FF2B5EF4-FFF2-40B4-BE49-F238E27FC236}">
                <a16:creationId xmlns:a16="http://schemas.microsoft.com/office/drawing/2014/main" id="{71B46951-9204-BD65-6F8F-9BECC71FD0DB}"/>
              </a:ext>
            </a:extLst>
          </p:cNvPr>
          <p:cNvSpPr/>
          <p:nvPr/>
        </p:nvSpPr>
        <p:spPr>
          <a:xfrm>
            <a:off x="5980176" y="1463040"/>
            <a:ext cx="237744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9" name="Lane 4">
            <a:extLst>
              <a:ext uri="{FF2B5EF4-FFF2-40B4-BE49-F238E27FC236}">
                <a16:creationId xmlns:a16="http://schemas.microsoft.com/office/drawing/2014/main" id="{10DE829E-1663-544F-8E35-D8622FA9F95D}"/>
              </a:ext>
            </a:extLst>
          </p:cNvPr>
          <p:cNvSpPr/>
          <p:nvPr/>
        </p:nvSpPr>
        <p:spPr>
          <a:xfrm>
            <a:off x="8741664" y="1463040"/>
            <a:ext cx="2898648"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38" name="Arrow 1-2">
            <a:extLst>
              <a:ext uri="{FF2B5EF4-FFF2-40B4-BE49-F238E27FC236}">
                <a16:creationId xmlns:a16="http://schemas.microsoft.com/office/drawing/2014/main" id="{D8FA6A29-0413-B019-3387-27B7D6693B4D}"/>
              </a:ext>
            </a:extLst>
          </p:cNvPr>
          <p:cNvSpPr/>
          <p:nvPr/>
        </p:nvSpPr>
        <p:spPr>
          <a:xfrm>
            <a:off x="2715768"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48" name="Arrow 2-3">
            <a:extLst>
              <a:ext uri="{FF2B5EF4-FFF2-40B4-BE49-F238E27FC236}">
                <a16:creationId xmlns:a16="http://schemas.microsoft.com/office/drawing/2014/main" id="{E3E50997-1235-EFA1-28ED-2A606CE1B4C6}"/>
              </a:ext>
            </a:extLst>
          </p:cNvPr>
          <p:cNvSpPr/>
          <p:nvPr/>
        </p:nvSpPr>
        <p:spPr>
          <a:xfrm>
            <a:off x="5660136"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59" name="Arrow 3-4">
            <a:extLst>
              <a:ext uri="{FF2B5EF4-FFF2-40B4-BE49-F238E27FC236}">
                <a16:creationId xmlns:a16="http://schemas.microsoft.com/office/drawing/2014/main" id="{19E6362C-439A-4529-76E8-363C441D3760}"/>
              </a:ext>
            </a:extLst>
          </p:cNvPr>
          <p:cNvSpPr/>
          <p:nvPr/>
        </p:nvSpPr>
        <p:spPr>
          <a:xfrm>
            <a:off x="8421624"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71" name="Microsoft 365 band">
            <a:extLst>
              <a:ext uri="{FF2B5EF4-FFF2-40B4-BE49-F238E27FC236}">
                <a16:creationId xmlns:a16="http://schemas.microsoft.com/office/drawing/2014/main" id="{A5C94923-E809-1CC1-B6A6-092CF75DAAFF}"/>
              </a:ext>
            </a:extLst>
          </p:cNvPr>
          <p:cNvSpPr/>
          <p:nvPr/>
        </p:nvSpPr>
        <p:spPr>
          <a:xfrm>
            <a:off x="548640" y="4535424"/>
            <a:ext cx="11094720" cy="132892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84" name="M365 chip 1">
            <a:extLst>
              <a:ext uri="{FF2B5EF4-FFF2-40B4-BE49-F238E27FC236}">
                <a16:creationId xmlns:a16="http://schemas.microsoft.com/office/drawing/2014/main" id="{8837A139-28EB-7CF1-EFBF-D65C1909C38E}"/>
              </a:ext>
            </a:extLst>
          </p:cNvPr>
          <p:cNvSpPr/>
          <p:nvPr/>
        </p:nvSpPr>
        <p:spPr>
          <a:xfrm>
            <a:off x="303580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98" name="M365 chip 2">
            <a:extLst>
              <a:ext uri="{FF2B5EF4-FFF2-40B4-BE49-F238E27FC236}">
                <a16:creationId xmlns:a16="http://schemas.microsoft.com/office/drawing/2014/main" id="{C61D75C0-82D3-7A46-2242-51DF272697C3}"/>
              </a:ext>
            </a:extLst>
          </p:cNvPr>
          <p:cNvSpPr/>
          <p:nvPr/>
        </p:nvSpPr>
        <p:spPr>
          <a:xfrm>
            <a:off x="475731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13" name="M365 chip 3">
            <a:extLst>
              <a:ext uri="{FF2B5EF4-FFF2-40B4-BE49-F238E27FC236}">
                <a16:creationId xmlns:a16="http://schemas.microsoft.com/office/drawing/2014/main" id="{3A7F82BB-FDEB-FE85-8326-7DD53201C2DD}"/>
              </a:ext>
            </a:extLst>
          </p:cNvPr>
          <p:cNvSpPr/>
          <p:nvPr/>
        </p:nvSpPr>
        <p:spPr>
          <a:xfrm>
            <a:off x="647882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29" name="M365 chip 4">
            <a:extLst>
              <a:ext uri="{FF2B5EF4-FFF2-40B4-BE49-F238E27FC236}">
                <a16:creationId xmlns:a16="http://schemas.microsoft.com/office/drawing/2014/main" id="{887C0AAC-B3E8-D4B6-1EC8-824E1580E0B8}"/>
              </a:ext>
            </a:extLst>
          </p:cNvPr>
          <p:cNvSpPr/>
          <p:nvPr/>
        </p:nvSpPr>
        <p:spPr>
          <a:xfrm>
            <a:off x="820033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46" name="M365 chip 5">
            <a:extLst>
              <a:ext uri="{FF2B5EF4-FFF2-40B4-BE49-F238E27FC236}">
                <a16:creationId xmlns:a16="http://schemas.microsoft.com/office/drawing/2014/main" id="{4086DB01-C483-B624-CB57-26C744955B10}"/>
              </a:ext>
            </a:extLst>
          </p:cNvPr>
          <p:cNvSpPr/>
          <p:nvPr/>
        </p:nvSpPr>
        <p:spPr>
          <a:xfrm>
            <a:off x="992184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5247" name="Lane 1 icon" descr="Spreadsheet icon">
            <a:extLst>
              <a:ext uri="{FF2B5EF4-FFF2-40B4-BE49-F238E27FC236}">
                <a16:creationId xmlns:a16="http://schemas.microsoft.com/office/drawing/2014/main" id="{A60A0D02-1855-72A9-9647-2A0CE78C4F97}"/>
              </a:ext>
            </a:extLst>
          </p:cNvPr>
          <p:cNvPicPr>
            <a:picLocks noChangeAspect="1"/>
          </p:cNvPicPr>
          <p:nvPr/>
        </p:nvPicPr>
        <p:blipFill>
          <a:blip r:embed="rId3"/>
          <a:stretch>
            <a:fillRect/>
          </a:stretch>
        </p:blipFill>
        <p:spPr>
          <a:xfrm>
            <a:off x="649224" y="1563624"/>
            <a:ext cx="347472" cy="347472"/>
          </a:xfrm>
          <a:prstGeom prst="rect">
            <a:avLst/>
          </a:prstGeom>
        </p:spPr>
      </p:pic>
      <p:pic>
        <p:nvPicPr>
          <p:cNvPr id="55248" name="Lane 2 icon" descr="Research icon">
            <a:extLst>
              <a:ext uri="{FF2B5EF4-FFF2-40B4-BE49-F238E27FC236}">
                <a16:creationId xmlns:a16="http://schemas.microsoft.com/office/drawing/2014/main" id="{CEAA2512-0CD4-A3F0-911E-772EE6687E87}"/>
              </a:ext>
            </a:extLst>
          </p:cNvPr>
          <p:cNvPicPr>
            <a:picLocks noChangeAspect="1"/>
          </p:cNvPicPr>
          <p:nvPr/>
        </p:nvPicPr>
        <p:blipFill>
          <a:blip r:embed="rId4"/>
          <a:stretch>
            <a:fillRect/>
          </a:stretch>
        </p:blipFill>
        <p:spPr>
          <a:xfrm>
            <a:off x="3136392" y="1563624"/>
            <a:ext cx="347472" cy="347472"/>
          </a:xfrm>
          <a:prstGeom prst="rect">
            <a:avLst/>
          </a:prstGeom>
        </p:spPr>
      </p:pic>
      <p:pic>
        <p:nvPicPr>
          <p:cNvPr id="55249" name="Lane 3 icon" descr="People and roles icon">
            <a:extLst>
              <a:ext uri="{FF2B5EF4-FFF2-40B4-BE49-F238E27FC236}">
                <a16:creationId xmlns:a16="http://schemas.microsoft.com/office/drawing/2014/main" id="{0712210D-9C5D-D5A3-CC4B-BF16AD7847FB}"/>
              </a:ext>
            </a:extLst>
          </p:cNvPr>
          <p:cNvPicPr>
            <a:picLocks noChangeAspect="1"/>
          </p:cNvPicPr>
          <p:nvPr/>
        </p:nvPicPr>
        <p:blipFill>
          <a:blip r:embed="rId5"/>
          <a:stretch>
            <a:fillRect/>
          </a:stretch>
        </p:blipFill>
        <p:spPr>
          <a:xfrm>
            <a:off x="6080760" y="1563624"/>
            <a:ext cx="347472" cy="347472"/>
          </a:xfrm>
          <a:prstGeom prst="rect">
            <a:avLst/>
          </a:prstGeom>
        </p:spPr>
      </p:pic>
      <p:pic>
        <p:nvPicPr>
          <p:cNvPr id="55250" name="Lane 4 icon" descr="House icon">
            <a:extLst>
              <a:ext uri="{FF2B5EF4-FFF2-40B4-BE49-F238E27FC236}">
                <a16:creationId xmlns:a16="http://schemas.microsoft.com/office/drawing/2014/main" id="{B2B53EFB-321E-A7F1-23C4-64A577025A94}"/>
              </a:ext>
            </a:extLst>
          </p:cNvPr>
          <p:cNvPicPr>
            <a:picLocks noChangeAspect="1"/>
          </p:cNvPicPr>
          <p:nvPr/>
        </p:nvPicPr>
        <p:blipFill>
          <a:blip r:embed="rId6"/>
          <a:stretch>
            <a:fillRect/>
          </a:stretch>
        </p:blipFill>
        <p:spPr>
          <a:xfrm>
            <a:off x="8842248" y="1563624"/>
            <a:ext cx="347472" cy="347472"/>
          </a:xfrm>
          <a:prstGeom prst="rect">
            <a:avLst/>
          </a:prstGeom>
        </p:spPr>
      </p:pic>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Start Monday with the spreadsheets you already run.</a:t>
            </a:r>
          </a:p>
          <a:p>
            <a:pPr algn="l">
              <a:buNone/>
            </a:pPr>
            <a:r>
              <a:rPr lang="en-US" sz="100">
                <a:effectLst/>
              </a:rPr>
              <a:t> </a:t>
            </a:r>
            <a:endParaRPr lang="en-US"/>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91897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FR-029, FR-030, NFR-010 and transition plan · infra/main.bicep · architecture README · AMA Plan #80, #100, #102</a:t>
            </a:r>
          </a:p>
          <a:p>
            <a:pPr algn="l">
              <a:buNone/>
            </a:pPr>
            <a:r>
              <a:rPr lang="en-US" sz="100">
                <a:effectLst/>
              </a:rPr>
              <a:t> </a:t>
            </a:r>
            <a:endParaRPr lang="en-US"/>
          </a:p>
        </p:txBody>
      </p:sp>
      <p:sp>
        <p:nvSpPr>
          <p:cNvPr id="55260" name="Footer navigation">
            <a:extLst>
              <a:ext uri="{FF2B5EF4-FFF2-40B4-BE49-F238E27FC236}">
                <a16:creationId xmlns:a16="http://schemas.microsoft.com/office/drawing/2014/main" id="{6CD62730-CA8D-2891-F337-87472AAFECA4}"/>
              </a:ext>
            </a:extLst>
          </p:cNvPr>
          <p:cNvSpPr/>
          <p:nvPr/>
        </p:nvSpPr>
        <p:spPr>
          <a:xfrm>
            <a:off x="10043160" y="6126480"/>
            <a:ext cx="1600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S14 · Answers: B20</a:t>
            </a:r>
          </a:p>
          <a:p>
            <a:pPr algn="r">
              <a:buNone/>
            </a:pPr>
            <a:r>
              <a:rPr lang="en-US" sz="100">
                <a:effectLst/>
              </a:rPr>
              <a:t> </a:t>
            </a:r>
            <a:endParaRPr lang="en-US"/>
          </a:p>
        </p:txBody>
      </p:sp>
      <p:sp>
        <p:nvSpPr>
          <p:cNvPr id="55265" name="Lane 1 title">
            <a:extLst>
              <a:ext uri="{FF2B5EF4-FFF2-40B4-BE49-F238E27FC236}">
                <a16:creationId xmlns:a16="http://schemas.microsoft.com/office/drawing/2014/main" id="{73C1E209-DDBB-D3C9-717F-E72FD1374A60}"/>
              </a:ext>
            </a:extLst>
          </p:cNvPr>
          <p:cNvSpPr/>
          <p:nvPr/>
        </p:nvSpPr>
        <p:spPr>
          <a:xfrm>
            <a:off x="557784" y="1920240"/>
            <a:ext cx="20848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Your spreadsheets</a:t>
            </a:r>
          </a:p>
          <a:p>
            <a:pPr algn="l">
              <a:buNone/>
            </a:pPr>
            <a:r>
              <a:rPr lang="en-US" sz="1600" b="1">
                <a:solidFill>
                  <a:srgbClr val="173F35"/>
                </a:solidFill>
                <a:effectLst/>
                <a:latin typeface="Arial" panose="020B0604020202020204" pitchFamily="34" charset="0"/>
              </a:rPr>
              <a:t>today</a:t>
            </a:r>
            <a:endParaRPr lang="en-US"/>
          </a:p>
        </p:txBody>
      </p:sp>
      <p:sp>
        <p:nvSpPr>
          <p:cNvPr id="55271" name="Sheet stock list text">
            <a:extLst>
              <a:ext uri="{FF2B5EF4-FFF2-40B4-BE49-F238E27FC236}">
                <a16:creationId xmlns:a16="http://schemas.microsoft.com/office/drawing/2014/main" id="{95D69706-BF0F-58C7-265C-F2441C1FD1D7}"/>
              </a:ext>
            </a:extLst>
          </p:cNvPr>
          <p:cNvSpPr/>
          <p:nvPr/>
        </p:nvSpPr>
        <p:spPr>
          <a:xfrm>
            <a:off x="649224" y="2434172"/>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stock list</a:t>
            </a:r>
          </a:p>
          <a:p>
            <a:pPr algn="l">
              <a:buNone/>
            </a:pPr>
            <a:r>
              <a:rPr lang="en-US" sz="100">
                <a:effectLst/>
              </a:rPr>
              <a:t> </a:t>
            </a:r>
            <a:endParaRPr lang="en-US"/>
          </a:p>
        </p:txBody>
      </p:sp>
      <p:sp>
        <p:nvSpPr>
          <p:cNvPr id="55278" name="Sheet survey tracker text">
            <a:extLst>
              <a:ext uri="{FF2B5EF4-FFF2-40B4-BE49-F238E27FC236}">
                <a16:creationId xmlns:a16="http://schemas.microsoft.com/office/drawing/2014/main" id="{98248242-A9B4-EB7A-7E54-1247DDF86CD8}"/>
              </a:ext>
            </a:extLst>
          </p:cNvPr>
          <p:cNvSpPr/>
          <p:nvPr/>
        </p:nvSpPr>
        <p:spPr>
          <a:xfrm>
            <a:off x="649224" y="2772500"/>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survey tracker</a:t>
            </a:r>
          </a:p>
          <a:p>
            <a:pPr algn="l">
              <a:buNone/>
            </a:pPr>
            <a:r>
              <a:rPr lang="en-US" sz="100">
                <a:effectLst/>
              </a:rPr>
              <a:t> </a:t>
            </a:r>
            <a:endParaRPr lang="en-US"/>
          </a:p>
        </p:txBody>
      </p:sp>
      <p:sp>
        <p:nvSpPr>
          <p:cNvPr id="55286" name="Sheet grant tracker text">
            <a:extLst>
              <a:ext uri="{FF2B5EF4-FFF2-40B4-BE49-F238E27FC236}">
                <a16:creationId xmlns:a16="http://schemas.microsoft.com/office/drawing/2014/main" id="{92848ABE-43CD-B491-181F-26F73994CDC4}"/>
              </a:ext>
            </a:extLst>
          </p:cNvPr>
          <p:cNvSpPr/>
          <p:nvPr/>
        </p:nvSpPr>
        <p:spPr>
          <a:xfrm>
            <a:off x="649224" y="3110828"/>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grant tracker</a:t>
            </a:r>
          </a:p>
          <a:p>
            <a:pPr algn="l">
              <a:buNone/>
            </a:pPr>
            <a:r>
              <a:rPr lang="en-US" sz="100">
                <a:effectLst/>
              </a:rPr>
              <a:t> </a:t>
            </a:r>
            <a:endParaRPr lang="en-US"/>
          </a:p>
        </p:txBody>
      </p:sp>
      <p:sp>
        <p:nvSpPr>
          <p:cNvPr id="55295" name="Sheet contractor schedule text">
            <a:extLst>
              <a:ext uri="{FF2B5EF4-FFF2-40B4-BE49-F238E27FC236}">
                <a16:creationId xmlns:a16="http://schemas.microsoft.com/office/drawing/2014/main" id="{BB444293-DA70-0F3F-7F9C-7F6293CD6A72}"/>
              </a:ext>
            </a:extLst>
          </p:cNvPr>
          <p:cNvSpPr/>
          <p:nvPr/>
        </p:nvSpPr>
        <p:spPr>
          <a:xfrm>
            <a:off x="649224" y="3449156"/>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contractor schedule</a:t>
            </a:r>
          </a:p>
          <a:p>
            <a:pPr algn="l">
              <a:buNone/>
            </a:pPr>
            <a:r>
              <a:rPr lang="en-US" sz="100">
                <a:effectLst/>
              </a:rPr>
              <a:t> </a:t>
            </a:r>
            <a:endParaRPr lang="en-US"/>
          </a:p>
        </p:txBody>
      </p:sp>
      <p:sp>
        <p:nvSpPr>
          <p:cNvPr id="55305" name="Lane 2 title">
            <a:extLst>
              <a:ext uri="{FF2B5EF4-FFF2-40B4-BE49-F238E27FC236}">
                <a16:creationId xmlns:a16="http://schemas.microsoft.com/office/drawing/2014/main" id="{0888320D-04F4-23BD-A3B8-EB86FD97C777}"/>
              </a:ext>
            </a:extLst>
          </p:cNvPr>
          <p:cNvSpPr/>
          <p:nvPr/>
        </p:nvSpPr>
        <p:spPr>
          <a:xfrm>
            <a:off x="3044952" y="1835240"/>
            <a:ext cx="254203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Import preview</a:t>
            </a:r>
          </a:p>
          <a:p>
            <a:pPr algn="l">
              <a:buNone/>
            </a:pPr>
            <a:r>
              <a:rPr lang="en-US" sz="100">
                <a:effectLst/>
              </a:rPr>
              <a:t> </a:t>
            </a:r>
            <a:endParaRPr lang="en-US"/>
          </a:p>
        </p:txBody>
      </p:sp>
      <p:sp>
        <p:nvSpPr>
          <p:cNvPr id="55316" name="Lane 2 body">
            <a:extLst>
              <a:ext uri="{FF2B5EF4-FFF2-40B4-BE49-F238E27FC236}">
                <a16:creationId xmlns:a16="http://schemas.microsoft.com/office/drawing/2014/main" id="{78561FCA-B635-A5C5-6E1C-C1AE9CD069C8}"/>
              </a:ext>
            </a:extLst>
          </p:cNvPr>
          <p:cNvSpPr/>
          <p:nvPr/>
        </p:nvSpPr>
        <p:spPr>
          <a:xfrm>
            <a:off x="3044952" y="2237232"/>
            <a:ext cx="254203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Import today’s trackers: preview, validate, quarantine bad rows, never touch the source</a:t>
            </a:r>
          </a:p>
          <a:p>
            <a:pPr algn="l">
              <a:buNone/>
            </a:pPr>
            <a:r>
              <a:rPr lang="en-US" sz="100">
                <a:effectLst/>
              </a:rPr>
              <a:t> </a:t>
            </a:r>
            <a:endParaRPr lang="en-US"/>
          </a:p>
        </p:txBody>
      </p:sp>
      <p:sp>
        <p:nvSpPr>
          <p:cNvPr id="55328" name="Lane 2 detail">
            <a:extLst>
              <a:ext uri="{FF2B5EF4-FFF2-40B4-BE49-F238E27FC236}">
                <a16:creationId xmlns:a16="http://schemas.microsoft.com/office/drawing/2014/main" id="{04840B29-12AB-9B87-1581-76D9F7FCCE93}"/>
              </a:ext>
            </a:extLst>
          </p:cNvPr>
          <p:cNvSpPr/>
          <p:nvPr/>
        </p:nvSpPr>
        <p:spPr>
          <a:xfrm>
            <a:off x="3044952" y="3163824"/>
            <a:ext cx="25420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Map columns · 500-row import under 10 s preview target</a:t>
            </a:r>
          </a:p>
          <a:p>
            <a:pPr algn="l">
              <a:buNone/>
            </a:pPr>
            <a:r>
              <a:rPr lang="en-US" sz="100">
                <a:effectLst/>
              </a:rPr>
              <a:t> </a:t>
            </a:r>
            <a:endParaRPr lang="en-US"/>
          </a:p>
        </p:txBody>
      </p:sp>
      <p:sp>
        <p:nvSpPr>
          <p:cNvPr id="55341" name="Lane 2 pill DESIGNED · PRD FR-029">
            <a:extLst>
              <a:ext uri="{FF2B5EF4-FFF2-40B4-BE49-F238E27FC236}">
                <a16:creationId xmlns:a16="http://schemas.microsoft.com/office/drawing/2014/main" id="{E16DA279-B185-8332-B7FF-EA1E37A7389E}"/>
              </a:ext>
            </a:extLst>
          </p:cNvPr>
          <p:cNvSpPr/>
          <p:nvPr/>
        </p:nvSpPr>
        <p:spPr>
          <a:xfrm>
            <a:off x="3136392" y="3685032"/>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PRD FR-029</a:t>
            </a:r>
          </a:p>
          <a:p>
            <a:pPr algn="ctr">
              <a:buNone/>
            </a:pPr>
            <a:r>
              <a:rPr lang="en-US" sz="100">
                <a:effectLst/>
              </a:rPr>
              <a:t> </a:t>
            </a:r>
            <a:endParaRPr lang="en-US"/>
          </a:p>
        </p:txBody>
      </p:sp>
      <p:sp>
        <p:nvSpPr>
          <p:cNvPr id="55355" name="Lane 3 title">
            <a:extLst>
              <a:ext uri="{FF2B5EF4-FFF2-40B4-BE49-F238E27FC236}">
                <a16:creationId xmlns:a16="http://schemas.microsoft.com/office/drawing/2014/main" id="{575AA986-7E1D-C0CF-155C-7B39FC5C9DD3}"/>
              </a:ext>
            </a:extLst>
          </p:cNvPr>
          <p:cNvSpPr/>
          <p:nvPr/>
        </p:nvSpPr>
        <p:spPr>
          <a:xfrm>
            <a:off x="5989320" y="1835240"/>
            <a:ext cx="235915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Parallel run</a:t>
            </a:r>
          </a:p>
          <a:p>
            <a:pPr algn="l">
              <a:buNone/>
            </a:pPr>
            <a:r>
              <a:rPr lang="en-US" sz="100">
                <a:effectLst/>
              </a:rPr>
              <a:t> </a:t>
            </a:r>
            <a:endParaRPr lang="en-US"/>
          </a:p>
        </p:txBody>
      </p:sp>
      <p:sp>
        <p:nvSpPr>
          <p:cNvPr id="55370" name="Lane 3 body">
            <a:extLst>
              <a:ext uri="{FF2B5EF4-FFF2-40B4-BE49-F238E27FC236}">
                <a16:creationId xmlns:a16="http://schemas.microsoft.com/office/drawing/2014/main" id="{F684E39C-64AB-2DBC-DA40-E2BB54491271}"/>
              </a:ext>
            </a:extLst>
          </p:cNvPr>
          <p:cNvSpPr/>
          <p:nvPr/>
        </p:nvSpPr>
        <p:spPr>
          <a:xfrm>
            <a:off x="5989320" y="2237232"/>
            <a:ext cx="235915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Run side by side with named Excel editors, then switch the workbooks to read-only</a:t>
            </a:r>
          </a:p>
          <a:p>
            <a:pPr algn="l">
              <a:buNone/>
            </a:pPr>
            <a:r>
              <a:rPr lang="en-US" sz="100">
                <a:effectLst/>
              </a:rPr>
              <a:t> </a:t>
            </a:r>
            <a:endParaRPr lang="en-US"/>
          </a:p>
        </p:txBody>
      </p:sp>
      <p:sp>
        <p:nvSpPr>
          <p:cNvPr id="55386" name="Lane 3 detail">
            <a:extLst>
              <a:ext uri="{FF2B5EF4-FFF2-40B4-BE49-F238E27FC236}">
                <a16:creationId xmlns:a16="http://schemas.microsoft.com/office/drawing/2014/main" id="{87F60F0C-492E-389F-E642-E8CC49AE80AA}"/>
              </a:ext>
            </a:extLst>
          </p:cNvPr>
          <p:cNvSpPr/>
          <p:nvPr/>
        </p:nvSpPr>
        <p:spPr>
          <a:xfrm>
            <a:off x="5989320" y="3078824"/>
            <a:ext cx="2359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Read-only comparison</a:t>
            </a:r>
          </a:p>
          <a:p>
            <a:pPr algn="l">
              <a:buNone/>
            </a:pPr>
            <a:r>
              <a:rPr lang="en-US" sz="100">
                <a:effectLst/>
              </a:rPr>
              <a:t> </a:t>
            </a:r>
            <a:endParaRPr lang="en-US"/>
          </a:p>
        </p:txBody>
      </p:sp>
      <p:sp>
        <p:nvSpPr>
          <p:cNvPr id="55403" name="Lane 3 pill NEXT · #80">
            <a:extLst>
              <a:ext uri="{FF2B5EF4-FFF2-40B4-BE49-F238E27FC236}">
                <a16:creationId xmlns:a16="http://schemas.microsoft.com/office/drawing/2014/main" id="{AD1367C4-E4BB-937D-6E95-FD4A29E24E98}"/>
              </a:ext>
            </a:extLst>
          </p:cNvPr>
          <p:cNvSpPr/>
          <p:nvPr/>
        </p:nvSpPr>
        <p:spPr>
          <a:xfrm>
            <a:off x="6080760" y="3502152"/>
            <a:ext cx="11795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NEXT · #80</a:t>
            </a:r>
          </a:p>
          <a:p>
            <a:pPr algn="ctr">
              <a:buNone/>
            </a:pPr>
            <a:r>
              <a:rPr lang="en-US" sz="100">
                <a:effectLst/>
              </a:rPr>
              <a:t> </a:t>
            </a:r>
            <a:endParaRPr lang="en-US"/>
          </a:p>
        </p:txBody>
      </p:sp>
      <p:sp>
        <p:nvSpPr>
          <p:cNvPr id="55421" name="Lane 4 title">
            <a:extLst>
              <a:ext uri="{FF2B5EF4-FFF2-40B4-BE49-F238E27FC236}">
                <a16:creationId xmlns:a16="http://schemas.microsoft.com/office/drawing/2014/main" id="{96F30EF8-ECE7-75A2-3F56-57FE5008C27F}"/>
              </a:ext>
            </a:extLst>
          </p:cNvPr>
          <p:cNvSpPr/>
          <p:nvPr/>
        </p:nvSpPr>
        <p:spPr>
          <a:xfrm>
            <a:off x="8750808" y="1835240"/>
            <a:ext cx="2880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Workbench and exports</a:t>
            </a:r>
          </a:p>
          <a:p>
            <a:pPr algn="l">
              <a:buNone/>
            </a:pPr>
            <a:r>
              <a:rPr lang="en-US" sz="100">
                <a:effectLst/>
              </a:rPr>
              <a:t> </a:t>
            </a:r>
            <a:endParaRPr lang="en-US"/>
          </a:p>
        </p:txBody>
      </p:sp>
      <p:sp>
        <p:nvSpPr>
          <p:cNvPr id="55440" name="Lane 4 body">
            <a:extLst>
              <a:ext uri="{FF2B5EF4-FFF2-40B4-BE49-F238E27FC236}">
                <a16:creationId xmlns:a16="http://schemas.microsoft.com/office/drawing/2014/main" id="{79E4F4E4-9F4E-54BE-AF8F-EFCDB2B81BBB}"/>
              </a:ext>
            </a:extLst>
          </p:cNvPr>
          <p:cNvSpPr/>
          <p:nvPr/>
        </p:nvSpPr>
        <p:spPr>
          <a:xfrm>
            <a:off x="8750808" y="2152232"/>
            <a:ext cx="2880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Export to Excel or CSV any time</a:t>
            </a:r>
          </a:p>
          <a:p>
            <a:pPr algn="l">
              <a:buNone/>
            </a:pPr>
            <a:r>
              <a:rPr lang="en-US" sz="100">
                <a:effectLst/>
              </a:rPr>
              <a:t> </a:t>
            </a:r>
            <a:endParaRPr lang="en-US"/>
          </a:p>
        </p:txBody>
      </p:sp>
      <p:sp>
        <p:nvSpPr>
          <p:cNvPr id="55460" name="Lane 4 Excel or CSV export, no write-back">
            <a:extLst>
              <a:ext uri="{FF2B5EF4-FFF2-40B4-BE49-F238E27FC236}">
                <a16:creationId xmlns:a16="http://schemas.microsoft.com/office/drawing/2014/main" id="{D888D46A-F3CE-6BA1-6AFB-57A699101CDA}"/>
              </a:ext>
            </a:extLst>
          </p:cNvPr>
          <p:cNvSpPr/>
          <p:nvPr/>
        </p:nvSpPr>
        <p:spPr>
          <a:xfrm>
            <a:off x="8750808" y="24387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Excel or CSV export, no write-back</a:t>
            </a:r>
          </a:p>
          <a:p>
            <a:pPr algn="l">
              <a:buNone/>
            </a:pPr>
            <a:r>
              <a:rPr lang="en-US" sz="100">
                <a:effectLst/>
              </a:rPr>
              <a:t> </a:t>
            </a:r>
            <a:endParaRPr lang="en-US"/>
          </a:p>
        </p:txBody>
      </p:sp>
      <p:sp>
        <p:nvSpPr>
          <p:cNvPr id="55481" name="Lane 4 pill DESIGNED · FR-030">
            <a:extLst>
              <a:ext uri="{FF2B5EF4-FFF2-40B4-BE49-F238E27FC236}">
                <a16:creationId xmlns:a16="http://schemas.microsoft.com/office/drawing/2014/main" id="{0EBC22C5-2DA1-CBB3-0D9E-CB3B3EAC7BFD}"/>
              </a:ext>
            </a:extLst>
          </p:cNvPr>
          <p:cNvSpPr/>
          <p:nvPr/>
        </p:nvSpPr>
        <p:spPr>
          <a:xfrm>
            <a:off x="8842248" y="2795016"/>
            <a:ext cx="18653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55503" name="Lane 4 Progress packs">
            <a:extLst>
              <a:ext uri="{FF2B5EF4-FFF2-40B4-BE49-F238E27FC236}">
                <a16:creationId xmlns:a16="http://schemas.microsoft.com/office/drawing/2014/main" id="{8BC171AA-D219-7BC1-8A88-D30642D98BBC}"/>
              </a:ext>
            </a:extLst>
          </p:cNvPr>
          <p:cNvSpPr/>
          <p:nvPr/>
        </p:nvSpPr>
        <p:spPr>
          <a:xfrm>
            <a:off x="8750808" y="30483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Progress packs</a:t>
            </a:r>
          </a:p>
          <a:p>
            <a:pPr algn="l">
              <a:buNone/>
            </a:pPr>
            <a:r>
              <a:rPr lang="en-US" sz="100">
                <a:effectLst/>
              </a:rPr>
              <a:t> </a:t>
            </a:r>
            <a:endParaRPr lang="en-US"/>
          </a:p>
        </p:txBody>
      </p:sp>
      <p:sp>
        <p:nvSpPr>
          <p:cNvPr id="55526" name="Lane 4 pill DELIVERED #102">
            <a:extLst>
              <a:ext uri="{FF2B5EF4-FFF2-40B4-BE49-F238E27FC236}">
                <a16:creationId xmlns:a16="http://schemas.microsoft.com/office/drawing/2014/main" id="{2250ECB1-D278-ED97-1F95-3202610A416F}"/>
              </a:ext>
            </a:extLst>
          </p:cNvPr>
          <p:cNvSpPr/>
          <p:nvPr/>
        </p:nvSpPr>
        <p:spPr>
          <a:xfrm>
            <a:off x="8842248" y="3404616"/>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DELIVERED #102</a:t>
            </a:r>
          </a:p>
          <a:p>
            <a:pPr algn="ctr">
              <a:buNone/>
            </a:pPr>
            <a:r>
              <a:rPr lang="en-US" sz="100">
                <a:effectLst/>
              </a:rPr>
              <a:t> </a:t>
            </a:r>
            <a:endParaRPr lang="en-US"/>
          </a:p>
        </p:txBody>
      </p:sp>
      <p:sp>
        <p:nvSpPr>
          <p:cNvPr id="55550" name="Lane 4 Evidence export">
            <a:extLst>
              <a:ext uri="{FF2B5EF4-FFF2-40B4-BE49-F238E27FC236}">
                <a16:creationId xmlns:a16="http://schemas.microsoft.com/office/drawing/2014/main" id="{BDB0AAEE-F447-9F83-F03E-053DFCDF8807}"/>
              </a:ext>
            </a:extLst>
          </p:cNvPr>
          <p:cNvSpPr/>
          <p:nvPr/>
        </p:nvSpPr>
        <p:spPr>
          <a:xfrm>
            <a:off x="8750808" y="36579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Evidence export</a:t>
            </a:r>
          </a:p>
          <a:p>
            <a:pPr algn="l">
              <a:buNone/>
            </a:pPr>
            <a:r>
              <a:rPr lang="en-US" sz="100">
                <a:effectLst/>
              </a:rPr>
              <a:t> </a:t>
            </a:r>
            <a:endParaRPr lang="en-US"/>
          </a:p>
        </p:txBody>
      </p:sp>
      <p:sp>
        <p:nvSpPr>
          <p:cNvPr id="55575" name="Lane 4 pill BUILDING #100">
            <a:extLst>
              <a:ext uri="{FF2B5EF4-FFF2-40B4-BE49-F238E27FC236}">
                <a16:creationId xmlns:a16="http://schemas.microsoft.com/office/drawing/2014/main" id="{37174888-B8A8-E801-FDF8-2F6EAD4F853E}"/>
              </a:ext>
            </a:extLst>
          </p:cNvPr>
          <p:cNvSpPr/>
          <p:nvPr/>
        </p:nvSpPr>
        <p:spPr>
          <a:xfrm>
            <a:off x="8842248" y="4014216"/>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BUILDING #100</a:t>
            </a:r>
          </a:p>
          <a:p>
            <a:pPr algn="ctr">
              <a:buNone/>
            </a:pPr>
            <a:r>
              <a:rPr lang="en-US" sz="100">
                <a:effectLst/>
              </a:rPr>
              <a:t> </a:t>
            </a:r>
            <a:endParaRPr lang="en-US"/>
          </a:p>
        </p:txBody>
      </p:sp>
      <p:sp>
        <p:nvSpPr>
          <p:cNvPr id="55601" name="Statement 3 (Microsoft 365)">
            <a:extLst>
              <a:ext uri="{FF2B5EF4-FFF2-40B4-BE49-F238E27FC236}">
                <a16:creationId xmlns:a16="http://schemas.microsoft.com/office/drawing/2014/main" id="{B47A3AB1-93C8-74D9-CC6F-DEB574AC52B2}"/>
              </a:ext>
            </a:extLst>
          </p:cNvPr>
          <p:cNvSpPr/>
          <p:nvPr/>
        </p:nvSpPr>
        <p:spPr>
          <a:xfrm>
            <a:off x="557784" y="4669536"/>
            <a:ext cx="20848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FAF9F6"/>
                </a:solidFill>
                <a:effectLst/>
                <a:latin typeface="Arial" panose="020B0604020202020204" pitchFamily="34" charset="0"/>
              </a:rPr>
              <a:t>Microsoft 365 for sign-in, alerts and documents</a:t>
            </a:r>
          </a:p>
          <a:p>
            <a:pPr algn="l">
              <a:buNone/>
            </a:pPr>
            <a:r>
              <a:rPr lang="en-US" sz="100">
                <a:effectLst/>
              </a:rPr>
              <a:t> </a:t>
            </a:r>
            <a:endParaRPr lang="en-US"/>
          </a:p>
        </p:txBody>
      </p:sp>
      <p:sp>
        <p:nvSpPr>
          <p:cNvPr id="55628" name="M365 chip 1 name">
            <a:extLst>
              <a:ext uri="{FF2B5EF4-FFF2-40B4-BE49-F238E27FC236}">
                <a16:creationId xmlns:a16="http://schemas.microsoft.com/office/drawing/2014/main" id="{9B350A66-10B9-ADF0-3549-41081B47EF9D}"/>
              </a:ext>
            </a:extLst>
          </p:cNvPr>
          <p:cNvSpPr/>
          <p:nvPr/>
        </p:nvSpPr>
        <p:spPr>
          <a:xfrm>
            <a:off x="301752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Entra ID sign-in and roles</a:t>
            </a:r>
          </a:p>
          <a:p>
            <a:pPr algn="l">
              <a:buNone/>
            </a:pPr>
            <a:r>
              <a:rPr lang="en-US" sz="100">
                <a:effectLst/>
              </a:rPr>
              <a:t> </a:t>
            </a:r>
            <a:endParaRPr lang="en-US"/>
          </a:p>
        </p:txBody>
      </p:sp>
      <p:sp>
        <p:nvSpPr>
          <p:cNvPr id="55656" name="M365 chip 1 status">
            <a:extLst>
              <a:ext uri="{FF2B5EF4-FFF2-40B4-BE49-F238E27FC236}">
                <a16:creationId xmlns:a16="http://schemas.microsoft.com/office/drawing/2014/main" id="{43E1D41A-AAEA-C6FE-E195-2B8F991617CF}"/>
              </a:ext>
            </a:extLst>
          </p:cNvPr>
          <p:cNvSpPr/>
          <p:nvPr/>
        </p:nvSpPr>
        <p:spPr>
          <a:xfrm>
            <a:off x="310896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55685" name="M365 chip 2 name">
            <a:extLst>
              <a:ext uri="{FF2B5EF4-FFF2-40B4-BE49-F238E27FC236}">
                <a16:creationId xmlns:a16="http://schemas.microsoft.com/office/drawing/2014/main" id="{5B8B3D53-FCFE-5027-E90E-A1EF71DFA5DC}"/>
              </a:ext>
            </a:extLst>
          </p:cNvPr>
          <p:cNvSpPr/>
          <p:nvPr/>
        </p:nvSpPr>
        <p:spPr>
          <a:xfrm>
            <a:off x="473903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Microsoft Graph profile</a:t>
            </a:r>
          </a:p>
          <a:p>
            <a:pPr algn="l">
              <a:buNone/>
            </a:pPr>
            <a:r>
              <a:rPr lang="en-US" sz="100">
                <a:effectLst/>
              </a:rPr>
              <a:t> </a:t>
            </a:r>
            <a:endParaRPr lang="en-US"/>
          </a:p>
        </p:txBody>
      </p:sp>
      <p:sp>
        <p:nvSpPr>
          <p:cNvPr id="55715" name="M365 chip 2 status">
            <a:extLst>
              <a:ext uri="{FF2B5EF4-FFF2-40B4-BE49-F238E27FC236}">
                <a16:creationId xmlns:a16="http://schemas.microsoft.com/office/drawing/2014/main" id="{6DC17E0E-19C2-FDA6-3842-015BE7E953CE}"/>
              </a:ext>
            </a:extLst>
          </p:cNvPr>
          <p:cNvSpPr/>
          <p:nvPr/>
        </p:nvSpPr>
        <p:spPr>
          <a:xfrm>
            <a:off x="483047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55746" name="M365 chip 3 name">
            <a:extLst>
              <a:ext uri="{FF2B5EF4-FFF2-40B4-BE49-F238E27FC236}">
                <a16:creationId xmlns:a16="http://schemas.microsoft.com/office/drawing/2014/main" id="{0EFDADCA-5BBB-EEB7-06FF-EF2D1B3D3C56}"/>
              </a:ext>
            </a:extLst>
          </p:cNvPr>
          <p:cNvSpPr/>
          <p:nvPr/>
        </p:nvSpPr>
        <p:spPr>
          <a:xfrm>
            <a:off x="646054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operations alerts</a:t>
            </a:r>
          </a:p>
          <a:p>
            <a:pPr algn="l">
              <a:buNone/>
            </a:pPr>
            <a:r>
              <a:rPr lang="en-US" sz="100">
                <a:effectLst/>
              </a:rPr>
              <a:t> </a:t>
            </a:r>
            <a:endParaRPr lang="en-US"/>
          </a:p>
        </p:txBody>
      </p:sp>
      <p:sp>
        <p:nvSpPr>
          <p:cNvPr id="55778" name="M365 chip 3 status">
            <a:extLst>
              <a:ext uri="{FF2B5EF4-FFF2-40B4-BE49-F238E27FC236}">
                <a16:creationId xmlns:a16="http://schemas.microsoft.com/office/drawing/2014/main" id="{0CD8B42A-0DCD-A52F-A2C9-62E368FFA8EF}"/>
              </a:ext>
            </a:extLst>
          </p:cNvPr>
          <p:cNvSpPr/>
          <p:nvPr/>
        </p:nvSpPr>
        <p:spPr>
          <a:xfrm>
            <a:off x="6551980" y="5141976"/>
            <a:ext cx="139903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CONFIGURED</a:t>
            </a:r>
          </a:p>
          <a:p>
            <a:pPr algn="ctr">
              <a:buNone/>
            </a:pPr>
            <a:r>
              <a:rPr lang="en-US" sz="100">
                <a:effectLst/>
              </a:rPr>
              <a:t> </a:t>
            </a:r>
            <a:endParaRPr lang="en-US"/>
          </a:p>
        </p:txBody>
      </p:sp>
      <p:sp>
        <p:nvSpPr>
          <p:cNvPr id="55811" name="M365 chip 4 name">
            <a:extLst>
              <a:ext uri="{FF2B5EF4-FFF2-40B4-BE49-F238E27FC236}">
                <a16:creationId xmlns:a16="http://schemas.microsoft.com/office/drawing/2014/main" id="{676EF646-31FA-0904-79DD-AEC82BA4143B}"/>
              </a:ext>
            </a:extLst>
          </p:cNvPr>
          <p:cNvSpPr/>
          <p:nvPr/>
        </p:nvSpPr>
        <p:spPr>
          <a:xfrm>
            <a:off x="818205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SharePoint evidence library</a:t>
            </a:r>
          </a:p>
          <a:p>
            <a:pPr algn="l">
              <a:buNone/>
            </a:pPr>
            <a:r>
              <a:rPr lang="en-US" sz="100">
                <a:effectLst/>
              </a:rPr>
              <a:t> </a:t>
            </a:r>
            <a:endParaRPr lang="en-US"/>
          </a:p>
        </p:txBody>
      </p:sp>
      <p:sp>
        <p:nvSpPr>
          <p:cNvPr id="55845" name="M365 chip 4 status">
            <a:extLst>
              <a:ext uri="{FF2B5EF4-FFF2-40B4-BE49-F238E27FC236}">
                <a16:creationId xmlns:a16="http://schemas.microsoft.com/office/drawing/2014/main" id="{D99A1BCE-0206-81B7-8509-0364FF1869F9}"/>
              </a:ext>
            </a:extLst>
          </p:cNvPr>
          <p:cNvSpPr/>
          <p:nvPr/>
        </p:nvSpPr>
        <p:spPr>
          <a:xfrm>
            <a:off x="8273490" y="5141976"/>
            <a:ext cx="116128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a:t>
            </a:r>
          </a:p>
          <a:p>
            <a:pPr algn="ctr">
              <a:buNone/>
            </a:pPr>
            <a:r>
              <a:rPr lang="en-US" sz="100">
                <a:effectLst/>
              </a:rPr>
              <a:t> </a:t>
            </a:r>
            <a:endParaRPr lang="en-US"/>
          </a:p>
        </p:txBody>
      </p:sp>
      <p:sp>
        <p:nvSpPr>
          <p:cNvPr id="55880" name="M365 chip 5 name">
            <a:extLst>
              <a:ext uri="{FF2B5EF4-FFF2-40B4-BE49-F238E27FC236}">
                <a16:creationId xmlns:a16="http://schemas.microsoft.com/office/drawing/2014/main" id="{477DB6C1-7C20-DFB8-5A03-A03C318DF020}"/>
              </a:ext>
            </a:extLst>
          </p:cNvPr>
          <p:cNvSpPr/>
          <p:nvPr/>
        </p:nvSpPr>
        <p:spPr>
          <a:xfrm>
            <a:off x="990356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review nudges</a:t>
            </a:r>
          </a:p>
          <a:p>
            <a:pPr algn="l">
              <a:buNone/>
            </a:pPr>
            <a:r>
              <a:rPr lang="en-US" sz="100">
                <a:effectLst/>
              </a:rPr>
              <a:t> </a:t>
            </a:r>
            <a:endParaRPr lang="en-US"/>
          </a:p>
        </p:txBody>
      </p:sp>
      <p:sp>
        <p:nvSpPr>
          <p:cNvPr id="55916" name="M365 chip 5 status">
            <a:extLst>
              <a:ext uri="{FF2B5EF4-FFF2-40B4-BE49-F238E27FC236}">
                <a16:creationId xmlns:a16="http://schemas.microsoft.com/office/drawing/2014/main" id="{18910FA0-F55F-EA8D-7237-6DB1DEC3C15C}"/>
              </a:ext>
            </a:extLst>
          </p:cNvPr>
          <p:cNvSpPr/>
          <p:nvPr/>
        </p:nvSpPr>
        <p:spPr>
          <a:xfrm>
            <a:off x="9995000" y="5141976"/>
            <a:ext cx="1143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ROADMAP</a:t>
            </a:r>
          </a:p>
          <a:p>
            <a:pPr algn="ctr">
              <a:buNone/>
            </a:pPr>
            <a:r>
              <a:rPr lang="en-US" sz="100">
                <a:effectLst/>
              </a:rPr>
              <a:t> </a:t>
            </a:r>
            <a:endParaRPr lang="en-US"/>
          </a:p>
        </p:txBody>
      </p:sp>
      <p:sp>
        <p:nvSpPr>
          <p:cNvPr id="55953" name="Microsoft 365 rule">
            <a:extLst>
              <a:ext uri="{FF2B5EF4-FFF2-40B4-BE49-F238E27FC236}">
                <a16:creationId xmlns:a16="http://schemas.microsoft.com/office/drawing/2014/main" id="{42E414A7-E7BD-9083-B1D1-00D2EED51F94}"/>
              </a:ext>
            </a:extLst>
          </p:cNvPr>
          <p:cNvSpPr/>
          <p:nvPr/>
        </p:nvSpPr>
        <p:spPr>
          <a:xfrm>
            <a:off x="2944368" y="5459312"/>
            <a:ext cx="86075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Microsoft 365 is for people and documents; the workbench stays the system of record.</a:t>
            </a:r>
          </a:p>
          <a:p>
            <a:pPr algn="l">
              <a:buNone/>
            </a:pPr>
            <a:r>
              <a:rPr lang="en-US" sz="100">
                <a:effectLst/>
              </a:rPr>
              <a:t> </a:t>
            </a:r>
            <a:endParaRPr lang="en-US"/>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where it earns its place:</a:t>
            </a:r>
          </a:p>
          <a:p>
            <a:pPr algn="l">
              <a:buNone/>
            </a:pPr>
            <a:r>
              <a:rPr lang="en-US" sz="3200" b="1">
                <a:solidFill>
                  <a:srgbClr val="173F35"/>
                </a:solidFill>
                <a:effectLst/>
                <a:latin typeface="Arial" panose="020B0604020202020204" pitchFamily="34" charset="0"/>
              </a:rPr>
              <a:t>five assistants, one workbench, people decide.</a:t>
            </a:r>
            <a:endParaRPr lang="en-US"/>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p:nvSpPr>
          <p:cNvPr id="52604" name="Statement 1">
            <a:extLst>
              <a:ext uri="{FF2B5EF4-FFF2-40B4-BE49-F238E27FC236}">
                <a16:creationId xmlns:a16="http://schemas.microsoft.com/office/drawing/2014/main" id="{485ECB80-19A2-CBA0-E919-DD03B6BA2910}"/>
              </a:ext>
            </a:extLst>
          </p:cNvPr>
          <p:cNvSpPr/>
          <p:nvPr/>
        </p:nvSpPr>
        <p:spPr>
          <a:xfrm>
            <a:off x="548640" y="1926680"/>
            <a:ext cx="11094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Rules for policy and arithmetic · learned scoring for candidate choices · generative AI for drafts</a:t>
            </a:r>
          </a:p>
          <a:p>
            <a:pPr algn="l">
              <a:buNone/>
            </a:pPr>
            <a:r>
              <a:rPr lang="en-US" sz="100">
                <a:effectLst/>
              </a:rPr>
              <a:t> </a:t>
            </a:r>
            <a:endParaRPr lang="en-US"/>
          </a:p>
        </p:txBody>
      </p:sp>
      <p:sp>
        <p:nvSpPr>
          <p:cNvPr id="52610" name="Card Rules">
            <a:extLst>
              <a:ext uri="{FF2B5EF4-FFF2-40B4-BE49-F238E27FC236}">
                <a16:creationId xmlns:a16="http://schemas.microsoft.com/office/drawing/2014/main" id="{DCCC742F-2BCA-A38E-DA52-3A5838B42D9F}"/>
              </a:ext>
            </a:extLst>
          </p:cNvPr>
          <p:cNvSpPr/>
          <p:nvPr/>
        </p:nvSpPr>
        <p:spPr>
          <a:xfrm>
            <a:off x="548640" y="2450592"/>
            <a:ext cx="3545840" cy="13716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17" name="Rules title">
            <a:extLst>
              <a:ext uri="{FF2B5EF4-FFF2-40B4-BE49-F238E27FC236}">
                <a16:creationId xmlns:a16="http://schemas.microsoft.com/office/drawing/2014/main" id="{BA5738D9-D8CD-20FA-312F-7F880FA677C4}"/>
              </a:ext>
            </a:extLst>
          </p:cNvPr>
          <p:cNvSpPr/>
          <p:nvPr/>
        </p:nvSpPr>
        <p:spPr>
          <a:xfrm>
            <a:off x="62179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Rules</a:t>
            </a:r>
          </a:p>
          <a:p>
            <a:pPr algn="l">
              <a:buNone/>
            </a:pPr>
            <a:r>
              <a:rPr lang="en-US" sz="100">
                <a:effectLst/>
              </a:rPr>
              <a:t> </a:t>
            </a:r>
            <a:endParaRPr lang="en-US"/>
          </a:p>
        </p:txBody>
      </p:sp>
      <p:sp>
        <p:nvSpPr>
          <p:cNvPr id="52625" name="Rules lines">
            <a:extLst>
              <a:ext uri="{FF2B5EF4-FFF2-40B4-BE49-F238E27FC236}">
                <a16:creationId xmlns:a16="http://schemas.microsoft.com/office/drawing/2014/main" id="{C87CF421-B2B2-DA4E-4C15-406866AB87B9}"/>
              </a:ext>
            </a:extLst>
          </p:cNvPr>
          <p:cNvSpPr/>
          <p:nvPr/>
        </p:nvSpPr>
        <p:spPr>
          <a:xfrm>
            <a:off x="62179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Known policy and arithmetic</a:t>
            </a:r>
          </a:p>
          <a:p>
            <a:pPr algn="l">
              <a:buNone/>
            </a:pPr>
            <a:r>
              <a:rPr lang="en-US" sz="1400">
                <a:solidFill>
                  <a:srgbClr val="173F35"/>
                </a:solidFill>
                <a:effectLst/>
                <a:latin typeface="Arial" panose="020B0604020202020204" pitchFamily="34" charset="0"/>
              </a:rPr>
              <a:t>Deterministic, fast and repeatable</a:t>
            </a:r>
            <a:endParaRPr lang="en-US"/>
          </a:p>
        </p:txBody>
      </p:sp>
      <p:sp>
        <p:nvSpPr>
          <p:cNvPr id="52634" name="Card Decision model">
            <a:extLst>
              <a:ext uri="{FF2B5EF4-FFF2-40B4-BE49-F238E27FC236}">
                <a16:creationId xmlns:a16="http://schemas.microsoft.com/office/drawing/2014/main" id="{4D25BB4D-1BBA-A5A8-87F7-FCD46BC41B0A}"/>
              </a:ext>
            </a:extLst>
          </p:cNvPr>
          <p:cNvSpPr/>
          <p:nvPr/>
        </p:nvSpPr>
        <p:spPr>
          <a:xfrm>
            <a:off x="4323080" y="2450592"/>
            <a:ext cx="3545840" cy="13716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44" name="Decision model title">
            <a:extLst>
              <a:ext uri="{FF2B5EF4-FFF2-40B4-BE49-F238E27FC236}">
                <a16:creationId xmlns:a16="http://schemas.microsoft.com/office/drawing/2014/main" id="{9DEBAD12-8FE8-696F-87F5-A5CC3345D0FA}"/>
              </a:ext>
            </a:extLst>
          </p:cNvPr>
          <p:cNvSpPr/>
          <p:nvPr/>
        </p:nvSpPr>
        <p:spPr>
          <a:xfrm>
            <a:off x="439623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Decision model</a:t>
            </a:r>
          </a:p>
          <a:p>
            <a:pPr algn="l">
              <a:buNone/>
            </a:pPr>
            <a:r>
              <a:rPr lang="en-US" sz="100">
                <a:effectLst/>
              </a:rPr>
              <a:t> </a:t>
            </a:r>
            <a:endParaRPr lang="en-US"/>
          </a:p>
        </p:txBody>
      </p:sp>
      <p:sp>
        <p:nvSpPr>
          <p:cNvPr id="52655" name="Decision model lines">
            <a:extLst>
              <a:ext uri="{FF2B5EF4-FFF2-40B4-BE49-F238E27FC236}">
                <a16:creationId xmlns:a16="http://schemas.microsoft.com/office/drawing/2014/main" id="{1EE60E45-A323-4A66-04E5-A0F26E246386}"/>
              </a:ext>
            </a:extLst>
          </p:cNvPr>
          <p:cNvSpPr/>
          <p:nvPr/>
        </p:nvSpPr>
        <p:spPr>
          <a:xfrm>
            <a:off x="439623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Chooses between supplied candidates</a:t>
            </a:r>
          </a:p>
          <a:p>
            <a:pPr algn="l">
              <a:buNone/>
            </a:pPr>
            <a:r>
              <a:rPr lang="en-US" sz="1400">
                <a:solidFill>
                  <a:srgbClr val="173F35"/>
                </a:solidFill>
                <a:effectLst/>
                <a:latin typeface="Arial" panose="020B0604020202020204" pitchFamily="34" charset="0"/>
              </a:rPr>
              <a:t>Scores them and can abstain</a:t>
            </a:r>
            <a:endParaRPr lang="en-US"/>
          </a:p>
        </p:txBody>
      </p:sp>
      <p:sp>
        <p:nvSpPr>
          <p:cNvPr id="52667" name="Card Generative AI">
            <a:extLst>
              <a:ext uri="{FF2B5EF4-FFF2-40B4-BE49-F238E27FC236}">
                <a16:creationId xmlns:a16="http://schemas.microsoft.com/office/drawing/2014/main" id="{F4F29BD5-ECD3-6964-5093-24C1FD52E1D3}"/>
              </a:ext>
            </a:extLst>
          </p:cNvPr>
          <p:cNvSpPr/>
          <p:nvPr/>
        </p:nvSpPr>
        <p:spPr>
          <a:xfrm>
            <a:off x="8097520" y="2450592"/>
            <a:ext cx="3545840" cy="137160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80" name="Generative AI title">
            <a:extLst>
              <a:ext uri="{FF2B5EF4-FFF2-40B4-BE49-F238E27FC236}">
                <a16:creationId xmlns:a16="http://schemas.microsoft.com/office/drawing/2014/main" id="{E7D86FBB-41F0-2783-535A-780D152900F6}"/>
              </a:ext>
            </a:extLst>
          </p:cNvPr>
          <p:cNvSpPr/>
          <p:nvPr/>
        </p:nvSpPr>
        <p:spPr>
          <a:xfrm>
            <a:off x="8646160" y="2524088"/>
            <a:ext cx="292404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Generative AI</a:t>
            </a:r>
          </a:p>
          <a:p>
            <a:pPr algn="l">
              <a:buNone/>
            </a:pPr>
            <a:r>
              <a:rPr lang="en-US" sz="100">
                <a:effectLst/>
              </a:rPr>
              <a:t> </a:t>
            </a:r>
            <a:endParaRPr lang="en-US"/>
          </a:p>
        </p:txBody>
      </p:sp>
      <p:sp>
        <p:nvSpPr>
          <p:cNvPr id="52694" name="Generative AI lines">
            <a:extLst>
              <a:ext uri="{FF2B5EF4-FFF2-40B4-BE49-F238E27FC236}">
                <a16:creationId xmlns:a16="http://schemas.microsoft.com/office/drawing/2014/main" id="{61E5D5B0-ADE7-F6B3-F72A-B2B659C35741}"/>
              </a:ext>
            </a:extLst>
          </p:cNvPr>
          <p:cNvSpPr/>
          <p:nvPr/>
        </p:nvSpPr>
        <p:spPr>
          <a:xfrm>
            <a:off x="817067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Explains evidence, drafts letters</a:t>
            </a:r>
          </a:p>
          <a:p>
            <a:pPr algn="l">
              <a:buNone/>
            </a:pPr>
            <a:r>
              <a:rPr lang="en-US" sz="1400">
                <a:solidFill>
                  <a:srgbClr val="173F35"/>
                </a:solidFill>
                <a:effectLst/>
                <a:latin typeface="Arial" panose="020B0604020202020204" pitchFamily="34" charset="0"/>
              </a:rPr>
              <a:t>Writes a cited draft</a:t>
            </a:r>
            <a:endParaRPr lang="en-US"/>
          </a:p>
        </p:txBody>
      </p:sp>
      <p:sp>
        <p:nvSpPr>
          <p:cNvPr id="52709" name="Statement 2">
            <a:extLst>
              <a:ext uri="{FF2B5EF4-FFF2-40B4-BE49-F238E27FC236}">
                <a16:creationId xmlns:a16="http://schemas.microsoft.com/office/drawing/2014/main" id="{305CFD68-E643-84C9-B29A-BC480A35C14A}"/>
              </a:ext>
            </a:extLst>
          </p:cNvPr>
          <p:cNvSpPr/>
          <p:nvPr/>
        </p:nvSpPr>
        <p:spPr>
          <a:xfrm>
            <a:off x="548640" y="3862160"/>
            <a:ext cx="9144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Five assistants on one proposal service: prioritise, assess, fund, coordinate, check quality</a:t>
            </a:r>
          </a:p>
          <a:p>
            <a:pPr algn="l">
              <a:buNone/>
            </a:pPr>
            <a:r>
              <a:rPr lang="en-US" sz="100">
                <a:effectLst/>
              </a:rPr>
              <a:t> </a:t>
            </a:r>
            <a:endParaRPr lang="en-US"/>
          </a:p>
        </p:txBody>
      </p:sp>
      <p:sp>
        <p:nvSpPr>
          <p:cNvPr id="52725" name="Building pill">
            <a:extLst>
              <a:ext uri="{FF2B5EF4-FFF2-40B4-BE49-F238E27FC236}">
                <a16:creationId xmlns:a16="http://schemas.microsoft.com/office/drawing/2014/main" id="{77B4AA23-669B-F99B-6F31-6811014CB057}"/>
              </a:ext>
            </a:extLst>
          </p:cNvPr>
          <p:cNvSpPr/>
          <p:nvPr/>
        </p:nvSpPr>
        <p:spPr>
          <a:xfrm>
            <a:off x="9896856" y="3954780"/>
            <a:ext cx="17465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BUILDING #107</a:t>
            </a:r>
          </a:p>
          <a:p>
            <a:pPr algn="ctr">
              <a:buNone/>
            </a:pPr>
            <a:r>
              <a:rPr lang="en-US" sz="100">
                <a:effectLst/>
              </a:rPr>
              <a:t> </a:t>
            </a:r>
            <a:endParaRPr lang="en-US"/>
          </a:p>
        </p:txBody>
      </p:sp>
      <p:sp>
        <p:nvSpPr>
          <p:cNvPr id="52742" name="Proposal service rail">
            <a:extLst>
              <a:ext uri="{FF2B5EF4-FFF2-40B4-BE49-F238E27FC236}">
                <a16:creationId xmlns:a16="http://schemas.microsoft.com/office/drawing/2014/main" id="{C4882B06-CEBE-7AC1-0A12-6FAE139A09E8}"/>
              </a:ext>
            </a:extLst>
          </p:cNvPr>
          <p:cNvSpPr/>
          <p:nvPr/>
        </p:nvSpPr>
        <p:spPr>
          <a:xfrm>
            <a:off x="548640" y="4389120"/>
            <a:ext cx="9528048" cy="932688"/>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760" name="Assistant Prioritisation">
            <a:extLst>
              <a:ext uri="{FF2B5EF4-FFF2-40B4-BE49-F238E27FC236}">
                <a16:creationId xmlns:a16="http://schemas.microsoft.com/office/drawing/2014/main" id="{40FBBB7E-AC51-7E92-AE3A-8C8E5F9F3C96}"/>
              </a:ext>
            </a:extLst>
          </p:cNvPr>
          <p:cNvSpPr/>
          <p:nvPr/>
        </p:nvSpPr>
        <p:spPr>
          <a:xfrm>
            <a:off x="67665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52779" name="Assistant Assessment">
            <a:extLst>
              <a:ext uri="{FF2B5EF4-FFF2-40B4-BE49-F238E27FC236}">
                <a16:creationId xmlns:a16="http://schemas.microsoft.com/office/drawing/2014/main" id="{617A7457-1A5B-B5C4-8F6B-53401CB2B553}"/>
              </a:ext>
            </a:extLst>
          </p:cNvPr>
          <p:cNvSpPr/>
          <p:nvPr/>
        </p:nvSpPr>
        <p:spPr>
          <a:xfrm>
            <a:off x="246705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52799" name="Assistant Funding evidence">
            <a:extLst>
              <a:ext uri="{FF2B5EF4-FFF2-40B4-BE49-F238E27FC236}">
                <a16:creationId xmlns:a16="http://schemas.microsoft.com/office/drawing/2014/main" id="{EDA495B2-4765-2E48-99A5-107A6206C8C9}"/>
              </a:ext>
            </a:extLst>
          </p:cNvPr>
          <p:cNvSpPr/>
          <p:nvPr/>
        </p:nvSpPr>
        <p:spPr>
          <a:xfrm>
            <a:off x="425744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Funding evidence</a:t>
            </a:r>
          </a:p>
          <a:p>
            <a:pPr algn="ctr">
              <a:buNone/>
            </a:pPr>
            <a:r>
              <a:rPr lang="en-US" sz="100">
                <a:effectLst/>
              </a:rPr>
              <a:t> </a:t>
            </a:r>
            <a:endParaRPr lang="en-US"/>
          </a:p>
        </p:txBody>
      </p:sp>
      <p:sp>
        <p:nvSpPr>
          <p:cNvPr id="52820" name="Assistant Coordination">
            <a:extLst>
              <a:ext uri="{FF2B5EF4-FFF2-40B4-BE49-F238E27FC236}">
                <a16:creationId xmlns:a16="http://schemas.microsoft.com/office/drawing/2014/main" id="{3622B57B-CD5E-B22D-D1F2-70CE569726EA}"/>
              </a:ext>
            </a:extLst>
          </p:cNvPr>
          <p:cNvSpPr/>
          <p:nvPr/>
        </p:nvSpPr>
        <p:spPr>
          <a:xfrm>
            <a:off x="604784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52842" name="Assistant Quality evidence">
            <a:extLst>
              <a:ext uri="{FF2B5EF4-FFF2-40B4-BE49-F238E27FC236}">
                <a16:creationId xmlns:a16="http://schemas.microsoft.com/office/drawing/2014/main" id="{B8B70083-ED78-43B8-76A3-8D2BF0C43B1C}"/>
              </a:ext>
            </a:extLst>
          </p:cNvPr>
          <p:cNvSpPr/>
          <p:nvPr/>
        </p:nvSpPr>
        <p:spPr>
          <a:xfrm>
            <a:off x="783823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Quality evidence</a:t>
            </a:r>
          </a:p>
          <a:p>
            <a:pPr algn="ctr">
              <a:buNone/>
            </a:pPr>
            <a:r>
              <a:rPr lang="en-US" sz="100">
                <a:effectLst/>
              </a:rPr>
              <a:t> </a:t>
            </a:r>
            <a:endParaRPr lang="en-US"/>
          </a:p>
        </p:txBody>
      </p:sp>
      <p:sp>
        <p:nvSpPr>
          <p:cNvPr id="52865" name="Rail label">
            <a:extLst>
              <a:ext uri="{FF2B5EF4-FFF2-40B4-BE49-F238E27FC236}">
                <a16:creationId xmlns:a16="http://schemas.microsoft.com/office/drawing/2014/main" id="{EA2FDA95-F0F1-AEB9-FD83-AB4C160E600C}"/>
              </a:ext>
            </a:extLst>
          </p:cNvPr>
          <p:cNvSpPr/>
          <p:nvPr/>
        </p:nvSpPr>
        <p:spPr>
          <a:xfrm>
            <a:off x="585216" y="4837520"/>
            <a:ext cx="410174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FAF9F6"/>
                </a:solidFill>
                <a:effectLst/>
                <a:latin typeface="Arial" panose="020B0604020202020204" pitchFamily="34" charset="0"/>
              </a:rPr>
              <a:t>One proposal service · workflow-only fallback</a:t>
            </a:r>
          </a:p>
          <a:p>
            <a:pPr algn="l">
              <a:buNone/>
            </a:pPr>
            <a:r>
              <a:rPr lang="en-US" sz="100">
                <a:effectLst/>
              </a:rPr>
              <a:t> </a:t>
            </a:r>
            <a:endParaRPr lang="en-US"/>
          </a:p>
        </p:txBody>
      </p:sp>
      <p:sp>
        <p:nvSpPr>
          <p:cNvPr id="52889" name="Delivered pill">
            <a:extLst>
              <a:ext uri="{FF2B5EF4-FFF2-40B4-BE49-F238E27FC236}">
                <a16:creationId xmlns:a16="http://schemas.microsoft.com/office/drawing/2014/main" id="{782F9A13-7632-0610-549A-3896617503DC}"/>
              </a:ext>
            </a:extLst>
          </p:cNvPr>
          <p:cNvSpPr/>
          <p:nvPr/>
        </p:nvSpPr>
        <p:spPr>
          <a:xfrm>
            <a:off x="4796686" y="4914900"/>
            <a:ext cx="23408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#105 #106</a:t>
            </a:r>
          </a:p>
          <a:p>
            <a:pPr algn="ctr">
              <a:buNone/>
            </a:pPr>
            <a:r>
              <a:rPr lang="en-US" sz="100">
                <a:effectLst/>
              </a:rPr>
              <a:t> </a:t>
            </a:r>
            <a:endParaRPr lang="en-US"/>
          </a:p>
        </p:txBody>
      </p:sp>
      <p:sp>
        <p:nvSpPr>
          <p:cNvPr id="52914" name="Gate disc">
            <a:extLst>
              <a:ext uri="{FF2B5EF4-FFF2-40B4-BE49-F238E27FC236}">
                <a16:creationId xmlns:a16="http://schemas.microsoft.com/office/drawing/2014/main" id="{A7A04E04-72D5-9EF8-6C79-029CD3207D23}"/>
              </a:ext>
            </a:extLst>
          </p:cNvPr>
          <p:cNvSpPr/>
          <p:nvPr/>
        </p:nvSpPr>
        <p:spPr>
          <a:xfrm>
            <a:off x="10204704" y="4434840"/>
            <a:ext cx="841248" cy="841248"/>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940" name="Gate label">
            <a:extLst>
              <a:ext uri="{FF2B5EF4-FFF2-40B4-BE49-F238E27FC236}">
                <a16:creationId xmlns:a16="http://schemas.microsoft.com/office/drawing/2014/main" id="{5C63FED8-B47C-306B-3681-E9419D055FC1}"/>
              </a:ext>
            </a:extLst>
          </p:cNvPr>
          <p:cNvSpPr/>
          <p:nvPr/>
        </p:nvSpPr>
        <p:spPr>
          <a:xfrm>
            <a:off x="9710928" y="5330952"/>
            <a:ext cx="18288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Accept / reject</a:t>
            </a:r>
          </a:p>
          <a:p>
            <a:pPr algn="ctr">
              <a:buNone/>
            </a:pPr>
            <a:r>
              <a:rPr lang="en-US" sz="1400" b="1">
                <a:solidFill>
                  <a:srgbClr val="173F35"/>
                </a:solidFill>
                <a:effectLst/>
                <a:latin typeface="Arial" panose="020B0604020202020204" pitchFamily="34" charset="0"/>
              </a:rPr>
              <a:t>with reason</a:t>
            </a:r>
            <a:endParaRPr lang="en-US"/>
          </a:p>
        </p:txBody>
      </p:sp>
      <p:sp>
        <p:nvSpPr>
          <p:cNvPr id="52967" name="Statement 3">
            <a:extLst>
              <a:ext uri="{FF2B5EF4-FFF2-40B4-BE49-F238E27FC236}">
                <a16:creationId xmlns:a16="http://schemas.microsoft.com/office/drawing/2014/main" id="{F70B6219-03B8-8B34-6A0E-49604420CD7D}"/>
              </a:ext>
            </a:extLst>
          </p:cNvPr>
          <p:cNvSpPr/>
          <p:nvPr/>
        </p:nvSpPr>
        <p:spPr>
          <a:xfrm>
            <a:off x="548640" y="5343488"/>
            <a:ext cx="6858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suggestion is accepted or rejected with a reason</a:t>
            </a:r>
          </a:p>
          <a:p>
            <a:pPr algn="l">
              <a:buNone/>
            </a:pPr>
            <a:r>
              <a:rPr lang="en-US" sz="100">
                <a:effectLst/>
              </a:rPr>
              <a:t> </a:t>
            </a:r>
            <a:endParaRPr lang="en-US"/>
          </a:p>
        </p:txBody>
      </p:sp>
      <p:pic>
        <p:nvPicPr>
          <p:cNvPr id="52968" name="Azure OpenAI icon" descr="Azure OpenAI icon (official Azure icon)">
            <a:extLst>
              <a:ext uri="{FF2B5EF4-FFF2-40B4-BE49-F238E27FC236}">
                <a16:creationId xmlns:a16="http://schemas.microsoft.com/office/drawing/2014/main" id="{75ECE118-507E-E291-BC73-26F94FCC2276}"/>
              </a:ext>
            </a:extLst>
          </p:cNvPr>
          <p:cNvPicPr>
            <a:picLocks noChangeAspect="1"/>
          </p:cNvPicPr>
          <p:nvPr/>
        </p:nvPicPr>
        <p:blipFill>
          <a:blip r:embed="rId3"/>
          <a:stretch>
            <a:fillRect/>
          </a:stretch>
        </p:blipFill>
        <p:spPr>
          <a:xfrm>
            <a:off x="8262112" y="2615184"/>
            <a:ext cx="384048" cy="384048"/>
          </a:xfrm>
          <a:prstGeom prst="rect">
            <a:avLst/>
          </a:prstGeom>
        </p:spPr>
      </p:pic>
      <p:pic>
        <p:nvPicPr>
          <p:cNvPr id="52969" name="Gate icon" descr="Approval gate icon">
            <a:extLst>
              <a:ext uri="{FF2B5EF4-FFF2-40B4-BE49-F238E27FC236}">
                <a16:creationId xmlns:a16="http://schemas.microsoft.com/office/drawing/2014/main" id="{454FF3F0-B91D-8AE7-D1AF-BBF55222DA65}"/>
              </a:ext>
            </a:extLst>
          </p:cNvPr>
          <p:cNvPicPr>
            <a:picLocks noChangeAspect="1"/>
          </p:cNvPicPr>
          <p:nvPr/>
        </p:nvPicPr>
        <p:blipFill>
          <a:blip r:embed="rId4"/>
          <a:stretch>
            <a:fillRect/>
          </a:stretch>
        </p:blipFill>
        <p:spPr>
          <a:xfrm>
            <a:off x="10351008" y="4581144"/>
            <a:ext cx="548640" cy="548640"/>
          </a:xfrm>
          <a:prstGeom prst="rect">
            <a:avLst/>
          </a:prstGeom>
        </p:spPr>
      </p:pic>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Built with AI, governed by people.</a:t>
            </a:r>
          </a:p>
          <a:p>
            <a:pPr algn="l">
              <a:buNone/>
            </a:pPr>
            <a:r>
              <a:rPr lang="en-US" sz="100">
                <a:effectLst/>
              </a:rPr>
              <a:t> </a:t>
            </a:r>
            <a:endParaRPr lang="en-US"/>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30788" name="Counter 1">
            <a:extLst>
              <a:ext uri="{FF2B5EF4-FFF2-40B4-BE49-F238E27FC236}">
                <a16:creationId xmlns:a16="http://schemas.microsoft.com/office/drawing/2014/main" id="{EBBA4A49-A305-ACE6-6D77-E69B8A023DB5}"/>
              </a:ext>
            </a:extLst>
          </p:cNvPr>
          <p:cNvSpPr/>
          <p:nvPr/>
        </p:nvSpPr>
        <p:spPr>
          <a:xfrm>
            <a:off x="54864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480</a:t>
            </a:r>
          </a:p>
          <a:p>
            <a:pPr algn="l">
              <a:buNone/>
            </a:pPr>
            <a:r>
              <a:rPr lang="en-US" sz="1600">
                <a:solidFill>
                  <a:srgbClr val="173F35"/>
                </a:solidFill>
                <a:effectLst/>
                <a:latin typeface="Arial" panose="020B0604020202020204" pitchFamily="34" charset="0"/>
              </a:rPr>
              <a:t>commits</a:t>
            </a:r>
            <a:endParaRPr lang="en-US"/>
          </a:p>
        </p:txBody>
      </p:sp>
      <p:sp>
        <p:nvSpPr>
          <p:cNvPr id="30794" name="Counter 2">
            <a:extLst>
              <a:ext uri="{FF2B5EF4-FFF2-40B4-BE49-F238E27FC236}">
                <a16:creationId xmlns:a16="http://schemas.microsoft.com/office/drawing/2014/main" id="{149BED35-09EE-BD3D-CA1B-F7CFF0B5AB17}"/>
              </a:ext>
            </a:extLst>
          </p:cNvPr>
          <p:cNvSpPr/>
          <p:nvPr/>
        </p:nvSpPr>
        <p:spPr>
          <a:xfrm>
            <a:off x="240792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233</a:t>
            </a:r>
          </a:p>
          <a:p>
            <a:pPr algn="l">
              <a:buNone/>
            </a:pPr>
            <a:r>
              <a:rPr lang="en-US" sz="1600">
                <a:solidFill>
                  <a:srgbClr val="173F35"/>
                </a:solidFill>
                <a:effectLst/>
                <a:latin typeface="Arial" panose="020B0604020202020204" pitchFamily="34" charset="0"/>
              </a:rPr>
              <a:t>merged PRs</a:t>
            </a:r>
            <a:endParaRPr lang="en-US"/>
          </a:p>
        </p:txBody>
      </p:sp>
      <p:sp>
        <p:nvSpPr>
          <p:cNvPr id="30801" name="Counter 3">
            <a:extLst>
              <a:ext uri="{FF2B5EF4-FFF2-40B4-BE49-F238E27FC236}">
                <a16:creationId xmlns:a16="http://schemas.microsoft.com/office/drawing/2014/main" id="{D72929CA-225B-7316-4A06-00E7F048ACD3}"/>
              </a:ext>
            </a:extLst>
          </p:cNvPr>
          <p:cNvSpPr/>
          <p:nvPr/>
        </p:nvSpPr>
        <p:spPr>
          <a:xfrm>
            <a:off x="426720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189</a:t>
            </a:r>
          </a:p>
          <a:p>
            <a:pPr algn="l">
              <a:buNone/>
            </a:pPr>
            <a:r>
              <a:rPr lang="en-US" sz="1600">
                <a:solidFill>
                  <a:srgbClr val="173F35"/>
                </a:solidFill>
                <a:effectLst/>
                <a:latin typeface="Arial" panose="020B0604020202020204" pitchFamily="34" charset="0"/>
              </a:rPr>
              <a:t>backlog items</a:t>
            </a:r>
            <a:endParaRPr lang="en-US"/>
          </a:p>
        </p:txBody>
      </p:sp>
      <p:sp>
        <p:nvSpPr>
          <p:cNvPr id="30809" name="Counters subline">
            <a:extLst>
              <a:ext uri="{FF2B5EF4-FFF2-40B4-BE49-F238E27FC236}">
                <a16:creationId xmlns:a16="http://schemas.microsoft.com/office/drawing/2014/main" id="{ADFA2630-4DDA-638B-E04B-72CB5B330CF9}"/>
              </a:ext>
            </a:extLst>
          </p:cNvPr>
          <p:cNvSpPr/>
          <p:nvPr/>
        </p:nvSpPr>
        <p:spPr>
          <a:xfrm>
            <a:off x="548640" y="2674360"/>
            <a:ext cx="5760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from one architect, GitHub Copilot and automation</a:t>
            </a:r>
          </a:p>
          <a:p>
            <a:pPr algn="l">
              <a:buNone/>
            </a:pPr>
            <a:r>
              <a:rPr lang="en-US" sz="100">
                <a:effectLst/>
              </a:rPr>
              <a:t> </a:t>
            </a:r>
            <a:endParaRPr lang="en-US"/>
          </a:p>
        </p:txBody>
      </p:sp>
      <p:sp>
        <p:nvSpPr>
          <p:cNvPr id="30818" name="Board caption">
            <a:extLst>
              <a:ext uri="{FF2B5EF4-FFF2-40B4-BE49-F238E27FC236}">
                <a16:creationId xmlns:a16="http://schemas.microsoft.com/office/drawing/2014/main" id="{870FF120-0861-2680-C8A9-8A321CAE92F3}"/>
              </a:ext>
            </a:extLst>
          </p:cNvPr>
          <p:cNvSpPr/>
          <p:nvPr/>
        </p:nvSpPr>
        <p:spPr>
          <a:xfrm>
            <a:off x="548640" y="5158115"/>
            <a:ext cx="5760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API view of the AMA Plan board, 23 Oct 2026</a:t>
            </a:r>
          </a:p>
          <a:p>
            <a:pPr algn="l">
              <a:buNone/>
            </a:pPr>
            <a:r>
              <a:rPr lang="en-US" sz="100">
                <a:effectLst/>
              </a:rPr>
              <a:t> </a:t>
            </a:r>
            <a:endParaRPr lang="en-US"/>
          </a:p>
        </p:txBody>
      </p:sp>
      <p:sp>
        <p:nvSpPr>
          <p:cNvPr id="30828" name="Statement 2">
            <a:extLst>
              <a:ext uri="{FF2B5EF4-FFF2-40B4-BE49-F238E27FC236}">
                <a16:creationId xmlns:a16="http://schemas.microsoft.com/office/drawing/2014/main" id="{DFDC0E60-0B75-2B38-1278-7357C592C644}"/>
              </a:ext>
            </a:extLst>
          </p:cNvPr>
          <p:cNvSpPr/>
          <p:nvPr/>
        </p:nvSpPr>
        <p:spPr>
          <a:xfrm>
            <a:off x="6492240" y="1508760"/>
            <a:ext cx="5242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Requirements → epics → features →</a:t>
            </a:r>
          </a:p>
          <a:p>
            <a:pPr algn="l">
              <a:buNone/>
            </a:pPr>
            <a:r>
              <a:rPr lang="en-US" sz="1800" b="1">
                <a:solidFill>
                  <a:srgbClr val="173F35"/>
                </a:solidFill>
                <a:effectLst/>
                <a:latin typeface="Arial" panose="020B0604020202020204" pitchFamily="34" charset="0"/>
              </a:rPr>
              <a:t>stories → pull requests → evidence</a:t>
            </a:r>
            <a:endParaRPr lang="en-US"/>
          </a:p>
        </p:txBody>
      </p:sp>
      <p:sp>
        <p:nvSpPr>
          <p:cNvPr id="30839" name="Loop Research">
            <a:extLst>
              <a:ext uri="{FF2B5EF4-FFF2-40B4-BE49-F238E27FC236}">
                <a16:creationId xmlns:a16="http://schemas.microsoft.com/office/drawing/2014/main" id="{4BDD1D80-5F93-DCAA-6A4E-4645F279CD48}"/>
              </a:ext>
            </a:extLst>
          </p:cNvPr>
          <p:cNvSpPr/>
          <p:nvPr/>
        </p:nvSpPr>
        <p:spPr>
          <a:xfrm>
            <a:off x="6583680" y="246888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51" name="Loop Plan">
            <a:extLst>
              <a:ext uri="{FF2B5EF4-FFF2-40B4-BE49-F238E27FC236}">
                <a16:creationId xmlns:a16="http://schemas.microsoft.com/office/drawing/2014/main" id="{F8642986-F2AF-F570-74A8-67496B5F0BF7}"/>
              </a:ext>
            </a:extLst>
          </p:cNvPr>
          <p:cNvSpPr/>
          <p:nvPr/>
        </p:nvSpPr>
        <p:spPr>
          <a:xfrm>
            <a:off x="8992362" y="246888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64" name="Loop Implement">
            <a:extLst>
              <a:ext uri="{FF2B5EF4-FFF2-40B4-BE49-F238E27FC236}">
                <a16:creationId xmlns:a16="http://schemas.microsoft.com/office/drawing/2014/main" id="{10550232-D2C8-81B7-43D8-70F4D2AE037D}"/>
              </a:ext>
            </a:extLst>
          </p:cNvPr>
          <p:cNvSpPr/>
          <p:nvPr/>
        </p:nvSpPr>
        <p:spPr>
          <a:xfrm flipH="1">
            <a:off x="8992362" y="402336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78" name="Loop Review">
            <a:extLst>
              <a:ext uri="{FF2B5EF4-FFF2-40B4-BE49-F238E27FC236}">
                <a16:creationId xmlns:a16="http://schemas.microsoft.com/office/drawing/2014/main" id="{5EF25B4E-05A8-BF52-585C-0740E83FD917}"/>
              </a:ext>
            </a:extLst>
          </p:cNvPr>
          <p:cNvSpPr/>
          <p:nvPr/>
        </p:nvSpPr>
        <p:spPr>
          <a:xfrm flipH="1">
            <a:off x="6583680" y="4023360"/>
            <a:ext cx="2650998" cy="594360"/>
          </a:xfrm>
          <a:prstGeom prst="chevron">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93" name="Loop Research label">
            <a:extLst>
              <a:ext uri="{FF2B5EF4-FFF2-40B4-BE49-F238E27FC236}">
                <a16:creationId xmlns:a16="http://schemas.microsoft.com/office/drawing/2014/main" id="{B164AC64-FCCE-ACBA-68F9-44B05B50B49F}"/>
              </a:ext>
            </a:extLst>
          </p:cNvPr>
          <p:cNvSpPr/>
          <p:nvPr/>
        </p:nvSpPr>
        <p:spPr>
          <a:xfrm>
            <a:off x="6835140" y="249818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Research</a:t>
            </a:r>
          </a:p>
          <a:p>
            <a:pPr algn="ctr">
              <a:buNone/>
            </a:pPr>
            <a:r>
              <a:rPr lang="en-US" sz="100">
                <a:effectLst/>
              </a:rPr>
              <a:t> </a:t>
            </a:r>
            <a:endParaRPr lang="en-US"/>
          </a:p>
        </p:txBody>
      </p:sp>
      <p:sp>
        <p:nvSpPr>
          <p:cNvPr id="30909" name="Loop Plan label">
            <a:extLst>
              <a:ext uri="{FF2B5EF4-FFF2-40B4-BE49-F238E27FC236}">
                <a16:creationId xmlns:a16="http://schemas.microsoft.com/office/drawing/2014/main" id="{DD411A77-93CA-7956-B60C-101FFF403CA5}"/>
              </a:ext>
            </a:extLst>
          </p:cNvPr>
          <p:cNvSpPr/>
          <p:nvPr/>
        </p:nvSpPr>
        <p:spPr>
          <a:xfrm>
            <a:off x="9243822" y="249818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Plan</a:t>
            </a:r>
          </a:p>
          <a:p>
            <a:pPr algn="ctr">
              <a:buNone/>
            </a:pPr>
            <a:r>
              <a:rPr lang="en-US" sz="100">
                <a:effectLst/>
              </a:rPr>
              <a:t> </a:t>
            </a:r>
            <a:endParaRPr lang="en-US"/>
          </a:p>
        </p:txBody>
      </p:sp>
      <p:sp>
        <p:nvSpPr>
          <p:cNvPr id="30926" name="Loop Implement label">
            <a:extLst>
              <a:ext uri="{FF2B5EF4-FFF2-40B4-BE49-F238E27FC236}">
                <a16:creationId xmlns:a16="http://schemas.microsoft.com/office/drawing/2014/main" id="{4FE68CFD-A0C3-1073-B15B-B99C79702B6E}"/>
              </a:ext>
            </a:extLst>
          </p:cNvPr>
          <p:cNvSpPr/>
          <p:nvPr/>
        </p:nvSpPr>
        <p:spPr>
          <a:xfrm>
            <a:off x="9243822" y="405266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Implement</a:t>
            </a:r>
          </a:p>
          <a:p>
            <a:pPr algn="ctr">
              <a:buNone/>
            </a:pPr>
            <a:r>
              <a:rPr lang="en-US" sz="100">
                <a:effectLst/>
              </a:rPr>
              <a:t> </a:t>
            </a:r>
            <a:endParaRPr lang="en-US"/>
          </a:p>
        </p:txBody>
      </p:sp>
      <p:sp>
        <p:nvSpPr>
          <p:cNvPr id="30944" name="Loop Review label">
            <a:extLst>
              <a:ext uri="{FF2B5EF4-FFF2-40B4-BE49-F238E27FC236}">
                <a16:creationId xmlns:a16="http://schemas.microsoft.com/office/drawing/2014/main" id="{460DAB45-7D03-D37B-C09B-AB544A590B11}"/>
              </a:ext>
            </a:extLst>
          </p:cNvPr>
          <p:cNvSpPr/>
          <p:nvPr/>
        </p:nvSpPr>
        <p:spPr>
          <a:xfrm>
            <a:off x="6835140" y="405266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Review</a:t>
            </a:r>
          </a:p>
          <a:p>
            <a:pPr algn="ctr">
              <a:buNone/>
            </a:pPr>
            <a:r>
              <a:rPr lang="en-US" sz="100">
                <a:effectLst/>
              </a:rPr>
              <a:t> </a:t>
            </a:r>
            <a:endParaRPr lang="en-US"/>
          </a:p>
        </p:txBody>
      </p:sp>
      <p:sp>
        <p:nvSpPr>
          <p:cNvPr id="30963" name="Loop turn down">
            <a:extLst>
              <a:ext uri="{FF2B5EF4-FFF2-40B4-BE49-F238E27FC236}">
                <a16:creationId xmlns:a16="http://schemas.microsoft.com/office/drawing/2014/main" id="{B24C63D3-3310-1A79-A6FA-E51F98FEA14E}"/>
              </a:ext>
            </a:extLst>
          </p:cNvPr>
          <p:cNvSpPr/>
          <p:nvPr/>
        </p:nvSpPr>
        <p:spPr>
          <a:xfrm>
            <a:off x="11163300" y="3127248"/>
            <a:ext cx="274320" cy="83210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983" name="Loop turn up">
            <a:extLst>
              <a:ext uri="{FF2B5EF4-FFF2-40B4-BE49-F238E27FC236}">
                <a16:creationId xmlns:a16="http://schemas.microsoft.com/office/drawing/2014/main" id="{8D7A2C71-70B1-D711-0443-2470540215F3}"/>
              </a:ext>
            </a:extLst>
          </p:cNvPr>
          <p:cNvSpPr/>
          <p:nvPr/>
        </p:nvSpPr>
        <p:spPr>
          <a:xfrm>
            <a:off x="6789420" y="3127248"/>
            <a:ext cx="274320" cy="832104"/>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004" name="Loop centre label">
            <a:extLst>
              <a:ext uri="{FF2B5EF4-FFF2-40B4-BE49-F238E27FC236}">
                <a16:creationId xmlns:a16="http://schemas.microsoft.com/office/drawing/2014/main" id="{B9A43108-4714-F045-8C16-F49F8935BCE1}"/>
              </a:ext>
            </a:extLst>
          </p:cNvPr>
          <p:cNvSpPr/>
          <p:nvPr/>
        </p:nvSpPr>
        <p:spPr>
          <a:xfrm>
            <a:off x="7109460" y="3253740"/>
            <a:ext cx="40081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One bounded task per issue</a:t>
            </a:r>
          </a:p>
          <a:p>
            <a:pPr algn="ctr">
              <a:buNone/>
            </a:pPr>
            <a:r>
              <a:rPr lang="en-US" sz="1600">
                <a:solidFill>
                  <a:srgbClr val="2E6B5E"/>
                </a:solidFill>
                <a:effectLst/>
                <a:latin typeface="Arial" panose="020B0604020202020204" pitchFamily="34" charset="0"/>
              </a:rPr>
              <a:t>its own branch · reviewed pull request</a:t>
            </a:r>
            <a:endParaRPr lang="en-US"/>
          </a:p>
        </p:txBody>
      </p:sp>
      <p:sp>
        <p:nvSpPr>
          <p:cNvPr id="31026" name="Trace label">
            <a:extLst>
              <a:ext uri="{FF2B5EF4-FFF2-40B4-BE49-F238E27FC236}">
                <a16:creationId xmlns:a16="http://schemas.microsoft.com/office/drawing/2014/main" id="{A6DB19B1-A793-31C5-FB0D-B589DB817C0B}"/>
              </a:ext>
            </a:extLst>
          </p:cNvPr>
          <p:cNvSpPr/>
          <p:nvPr/>
        </p:nvSpPr>
        <p:spPr>
          <a:xfrm>
            <a:off x="6492240" y="4761320"/>
            <a:ext cx="52425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Real trace:</a:t>
            </a:r>
          </a:p>
          <a:p>
            <a:pPr algn="l">
              <a:buNone/>
            </a:pPr>
            <a:r>
              <a:rPr lang="en-US" sz="100">
                <a:effectLst/>
              </a:rPr>
              <a:t> </a:t>
            </a:r>
            <a:endParaRPr lang="en-US"/>
          </a:p>
        </p:txBody>
      </p:sp>
      <p:sp>
        <p:nvSpPr>
          <p:cNvPr id="31049" name="Trace chip 1">
            <a:extLst>
              <a:ext uri="{FF2B5EF4-FFF2-40B4-BE49-F238E27FC236}">
                <a16:creationId xmlns:a16="http://schemas.microsoft.com/office/drawing/2014/main" id="{BE8567B8-47E6-5E84-8AB3-89C8D683DA40}"/>
              </a:ext>
            </a:extLst>
          </p:cNvPr>
          <p:cNvSpPr/>
          <p:nvPr/>
        </p:nvSpPr>
        <p:spPr>
          <a:xfrm>
            <a:off x="6583680" y="5242560"/>
            <a:ext cx="978408"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epic #73</a:t>
            </a:r>
          </a:p>
          <a:p>
            <a:pPr algn="ctr">
              <a:buNone/>
            </a:pPr>
            <a:r>
              <a:rPr lang="en-US" sz="100">
                <a:effectLst/>
              </a:rPr>
              <a:t> </a:t>
            </a:r>
            <a:endParaRPr lang="en-US"/>
          </a:p>
        </p:txBody>
      </p:sp>
      <p:sp>
        <p:nvSpPr>
          <p:cNvPr id="31073" name="Trace arrow 1">
            <a:extLst>
              <a:ext uri="{FF2B5EF4-FFF2-40B4-BE49-F238E27FC236}">
                <a16:creationId xmlns:a16="http://schemas.microsoft.com/office/drawing/2014/main" id="{9C23EF48-4273-C7CC-86DC-7A708DD6611E}"/>
              </a:ext>
            </a:extLst>
          </p:cNvPr>
          <p:cNvSpPr/>
          <p:nvPr/>
        </p:nvSpPr>
        <p:spPr>
          <a:xfrm>
            <a:off x="7598664"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098" name="Trace chip 2">
            <a:extLst>
              <a:ext uri="{FF2B5EF4-FFF2-40B4-BE49-F238E27FC236}">
                <a16:creationId xmlns:a16="http://schemas.microsoft.com/office/drawing/2014/main" id="{1C4455D0-E2EF-B73B-39B9-BA970DBF51BB}"/>
              </a:ext>
            </a:extLst>
          </p:cNvPr>
          <p:cNvSpPr/>
          <p:nvPr/>
        </p:nvSpPr>
        <p:spPr>
          <a:xfrm>
            <a:off x="7772400" y="5242560"/>
            <a:ext cx="1216152"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feature #76</a:t>
            </a:r>
          </a:p>
          <a:p>
            <a:pPr algn="ctr">
              <a:buNone/>
            </a:pPr>
            <a:r>
              <a:rPr lang="en-US" sz="100">
                <a:effectLst/>
              </a:rPr>
              <a:t> </a:t>
            </a:r>
            <a:endParaRPr lang="en-US"/>
          </a:p>
        </p:txBody>
      </p:sp>
      <p:sp>
        <p:nvSpPr>
          <p:cNvPr id="31124" name="Trace arrow 2">
            <a:extLst>
              <a:ext uri="{FF2B5EF4-FFF2-40B4-BE49-F238E27FC236}">
                <a16:creationId xmlns:a16="http://schemas.microsoft.com/office/drawing/2014/main" id="{5DD47324-DDCD-E422-3B18-371D5AB0473B}"/>
              </a:ext>
            </a:extLst>
          </p:cNvPr>
          <p:cNvSpPr/>
          <p:nvPr/>
        </p:nvSpPr>
        <p:spPr>
          <a:xfrm>
            <a:off x="9025128"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151" name="Trace chip 3">
            <a:extLst>
              <a:ext uri="{FF2B5EF4-FFF2-40B4-BE49-F238E27FC236}">
                <a16:creationId xmlns:a16="http://schemas.microsoft.com/office/drawing/2014/main" id="{DDC115A7-EB4F-FFE3-EFFA-4C8D0E7118AB}"/>
              </a:ext>
            </a:extLst>
          </p:cNvPr>
          <p:cNvSpPr/>
          <p:nvPr/>
        </p:nvSpPr>
        <p:spPr>
          <a:xfrm>
            <a:off x="9198864" y="5242560"/>
            <a:ext cx="1060704"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story #77</a:t>
            </a:r>
          </a:p>
          <a:p>
            <a:pPr algn="ctr">
              <a:buNone/>
            </a:pPr>
            <a:r>
              <a:rPr lang="en-US" sz="100">
                <a:effectLst/>
              </a:rPr>
              <a:t> </a:t>
            </a:r>
            <a:endParaRPr lang="en-US"/>
          </a:p>
        </p:txBody>
      </p:sp>
      <p:sp>
        <p:nvSpPr>
          <p:cNvPr id="31179" name="Trace arrow 3">
            <a:extLst>
              <a:ext uri="{FF2B5EF4-FFF2-40B4-BE49-F238E27FC236}">
                <a16:creationId xmlns:a16="http://schemas.microsoft.com/office/drawing/2014/main" id="{9A8223EA-ACB4-57F8-E1D9-CAFFD1E2DB8E}"/>
              </a:ext>
            </a:extLst>
          </p:cNvPr>
          <p:cNvSpPr/>
          <p:nvPr/>
        </p:nvSpPr>
        <p:spPr>
          <a:xfrm>
            <a:off x="10296144"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08" name="Trace chip 4">
            <a:extLst>
              <a:ext uri="{FF2B5EF4-FFF2-40B4-BE49-F238E27FC236}">
                <a16:creationId xmlns:a16="http://schemas.microsoft.com/office/drawing/2014/main" id="{69ECE668-5910-9407-DADB-0679FFFD6A0F}"/>
              </a:ext>
            </a:extLst>
          </p:cNvPr>
          <p:cNvSpPr/>
          <p:nvPr/>
        </p:nvSpPr>
        <p:spPr>
          <a:xfrm>
            <a:off x="10469880" y="5242560"/>
            <a:ext cx="969264"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PR #376</a:t>
            </a:r>
          </a:p>
          <a:p>
            <a:pPr algn="ctr">
              <a:buNone/>
            </a:pPr>
            <a:r>
              <a:rPr lang="en-US" sz="100">
                <a:effectLst/>
              </a:rPr>
              <a:t> </a:t>
            </a:r>
            <a:endParaRPr lang="en-US"/>
          </a:p>
        </p:txBody>
      </p:sp>
      <p:pic>
        <p:nvPicPr>
          <p:cNvPr id="31209" name="Board picture" descr="API view of the AMA Plan board, 23 Oct 2026: three columns with 111 items to do, 24 in progress and 54 done, showing epic #73, feature #76 and story #77 among the cards.">
            <a:extLst>
              <a:ext uri="{FF2B5EF4-FFF2-40B4-BE49-F238E27FC236}">
                <a16:creationId xmlns:a16="http://schemas.microsoft.com/office/drawing/2014/main" id="{680640C2-7BD7-32F2-598F-18BE980EBEA0}"/>
              </a:ext>
            </a:extLst>
          </p:cNvPr>
          <p:cNvPicPr>
            <a:picLocks noChangeAspect="1"/>
          </p:cNvPicPr>
          <p:nvPr/>
        </p:nvPicPr>
        <p:blipFill>
          <a:blip r:embed="rId3"/>
          <a:stretch>
            <a:fillRect/>
          </a:stretch>
        </p:blipFill>
        <p:spPr>
          <a:xfrm>
            <a:off x="640080" y="3190652"/>
            <a:ext cx="5577839" cy="1965595"/>
          </a:xfrm>
          <a:prstGeom prst="rect">
            <a:avLst/>
          </a:prstGeom>
        </p:spPr>
      </p:pic>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212" name="Slide title">
            <a:extLst>
              <a:ext uri="{FF2B5EF4-FFF2-40B4-BE49-F238E27FC236}">
                <a16:creationId xmlns:a16="http://schemas.microsoft.com/office/drawing/2014/main" id="{E5F8E0BC-BB92-95A1-1AFC-7900659175D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Validate, pilot, scale: on the clock to April 2030.</a:t>
            </a:r>
          </a:p>
          <a:p>
            <a:pPr algn="l">
              <a:buNone/>
            </a:pPr>
            <a:r>
              <a:rPr lang="en-US" sz="100">
                <a:effectLst/>
              </a:rPr>
              <a:t> </a:t>
            </a:r>
            <a:endParaRPr lang="en-US"/>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5943600"/>
            <a:ext cx="8869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BRD BG-011 pilot proposal · measurement design · Awaab's Law collection</a:t>
            </a:r>
          </a:p>
          <a:p>
            <a:pPr algn="l">
              <a:buNone/>
            </a:pPr>
            <a:r>
              <a:rPr lang="en-US" sz="1200">
                <a:solidFill>
                  <a:srgbClr val="50655E"/>
                </a:solidFill>
                <a:effectLst/>
                <a:latin typeface="Arial" panose="020B0604020202020204" pitchFamily="34" charset="0"/>
              </a:rPr>
              <a:t>WH:SHF wave 3 guidance · SRS MEES response</a:t>
            </a:r>
            <a:endParaRPr lang="en-US"/>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p:nvSpPr>
          <p:cNvPr id="31224" name="Date rail">
            <a:extLst>
              <a:ext uri="{FF2B5EF4-FFF2-40B4-BE49-F238E27FC236}">
                <a16:creationId xmlns:a16="http://schemas.microsoft.com/office/drawing/2014/main" id="{905AD723-A69E-7656-5FA8-7323EF0261D5}"/>
              </a:ext>
            </a:extLst>
          </p:cNvPr>
          <p:cNvSpPr/>
          <p:nvPr/>
        </p:nvSpPr>
        <p:spPr>
          <a:xfrm>
            <a:off x="548640" y="2217420"/>
            <a:ext cx="11094720" cy="13716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30" name="Anchor 1">
            <a:extLst>
              <a:ext uri="{FF2B5EF4-FFF2-40B4-BE49-F238E27FC236}">
                <a16:creationId xmlns:a16="http://schemas.microsoft.com/office/drawing/2014/main" id="{8845507E-9955-417D-07FF-1CBCDEC0F6AA}"/>
              </a:ext>
            </a:extLst>
          </p:cNvPr>
          <p:cNvSpPr/>
          <p:nvPr/>
        </p:nvSpPr>
        <p:spPr>
          <a:xfrm>
            <a:off x="5486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30 Nov 2026</a:t>
            </a:r>
          </a:p>
          <a:p>
            <a:pPr algn="ctr">
              <a:buNone/>
            </a:pPr>
            <a:r>
              <a:rPr lang="en-US" sz="1400">
                <a:solidFill>
                  <a:srgbClr val="173F35"/>
                </a:solidFill>
                <a:effectLst/>
                <a:latin typeface="Arial" panose="020B0604020202020204" pitchFamily="34" charset="0"/>
              </a:rPr>
              <a:t>Awaab's Law phase 2</a:t>
            </a:r>
            <a:endParaRPr lang="en-US"/>
          </a:p>
        </p:txBody>
      </p:sp>
      <p:sp>
        <p:nvSpPr>
          <p:cNvPr id="31237" name="Anchor 1 marker">
            <a:extLst>
              <a:ext uri="{FF2B5EF4-FFF2-40B4-BE49-F238E27FC236}">
                <a16:creationId xmlns:a16="http://schemas.microsoft.com/office/drawing/2014/main" id="{DAF5B657-919A-69CF-22E8-8DCF7E357D6B}"/>
              </a:ext>
            </a:extLst>
          </p:cNvPr>
          <p:cNvSpPr/>
          <p:nvPr/>
        </p:nvSpPr>
        <p:spPr>
          <a:xfrm>
            <a:off x="22225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45" name="Anchor 2">
            <a:extLst>
              <a:ext uri="{FF2B5EF4-FFF2-40B4-BE49-F238E27FC236}">
                <a16:creationId xmlns:a16="http://schemas.microsoft.com/office/drawing/2014/main" id="{105E63EA-A319-21B3-CC70-128FA441278F}"/>
              </a:ext>
            </a:extLst>
          </p:cNvPr>
          <p:cNvSpPr/>
          <p:nvPr/>
        </p:nvSpPr>
        <p:spPr>
          <a:xfrm>
            <a:off x="43078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31 Mar 2028</a:t>
            </a:r>
          </a:p>
          <a:p>
            <a:pPr algn="ctr">
              <a:buNone/>
            </a:pPr>
            <a:r>
              <a:rPr lang="en-US" sz="1400">
                <a:solidFill>
                  <a:srgbClr val="173F35"/>
                </a:solidFill>
                <a:effectLst/>
                <a:latin typeface="Arial" panose="020B0604020202020204" pitchFamily="34" charset="0"/>
              </a:rPr>
              <a:t>wave 3 spend deadline</a:t>
            </a:r>
            <a:endParaRPr lang="en-US"/>
          </a:p>
        </p:txBody>
      </p:sp>
      <p:sp>
        <p:nvSpPr>
          <p:cNvPr id="31254" name="Anchor 2 marker">
            <a:extLst>
              <a:ext uri="{FF2B5EF4-FFF2-40B4-BE49-F238E27FC236}">
                <a16:creationId xmlns:a16="http://schemas.microsoft.com/office/drawing/2014/main" id="{962BD874-8EAC-FCC0-A0B0-A57C7BCDFA0D}"/>
              </a:ext>
            </a:extLst>
          </p:cNvPr>
          <p:cNvSpPr/>
          <p:nvPr/>
        </p:nvSpPr>
        <p:spPr>
          <a:xfrm>
            <a:off x="59817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64" name="Anchor 3">
            <a:extLst>
              <a:ext uri="{FF2B5EF4-FFF2-40B4-BE49-F238E27FC236}">
                <a16:creationId xmlns:a16="http://schemas.microsoft.com/office/drawing/2014/main" id="{F0D07E73-9F6E-BD56-F2B0-8F1EA26933EA}"/>
              </a:ext>
            </a:extLst>
          </p:cNvPr>
          <p:cNvSpPr/>
          <p:nvPr/>
        </p:nvSpPr>
        <p:spPr>
          <a:xfrm>
            <a:off x="80670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 Apr 2030</a:t>
            </a:r>
          </a:p>
          <a:p>
            <a:pPr algn="ctr">
              <a:buNone/>
            </a:pPr>
            <a:r>
              <a:rPr lang="en-US" sz="1400">
                <a:solidFill>
                  <a:srgbClr val="173F35"/>
                </a:solidFill>
                <a:effectLst/>
                <a:latin typeface="Arial" panose="020B0604020202020204" pitchFamily="34" charset="0"/>
              </a:rPr>
              <a:t>EPC C deadline</a:t>
            </a:r>
            <a:endParaRPr lang="en-US"/>
          </a:p>
        </p:txBody>
      </p:sp>
      <p:sp>
        <p:nvSpPr>
          <p:cNvPr id="31275" name="Anchor 3 marker">
            <a:extLst>
              <a:ext uri="{FF2B5EF4-FFF2-40B4-BE49-F238E27FC236}">
                <a16:creationId xmlns:a16="http://schemas.microsoft.com/office/drawing/2014/main" id="{6247A3C3-F628-31FC-6F0B-E2AE93A5CC2F}"/>
              </a:ext>
            </a:extLst>
          </p:cNvPr>
          <p:cNvSpPr/>
          <p:nvPr/>
        </p:nvSpPr>
        <p:spPr>
          <a:xfrm>
            <a:off x="97409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87" name="Stage 1 chevron">
            <a:extLst>
              <a:ext uri="{FF2B5EF4-FFF2-40B4-BE49-F238E27FC236}">
                <a16:creationId xmlns:a16="http://schemas.microsoft.com/office/drawing/2014/main" id="{FDECBFFA-F85F-1C56-000C-016F4C910318}"/>
              </a:ext>
            </a:extLst>
          </p:cNvPr>
          <p:cNvSpPr/>
          <p:nvPr/>
        </p:nvSpPr>
        <p:spPr>
          <a:xfrm>
            <a:off x="548640" y="2560320"/>
            <a:ext cx="3576320" cy="868680"/>
          </a:xfrm>
          <a:prstGeom prst="homePlate">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00" name="Stage 1 disc">
            <a:extLst>
              <a:ext uri="{FF2B5EF4-FFF2-40B4-BE49-F238E27FC236}">
                <a16:creationId xmlns:a16="http://schemas.microsoft.com/office/drawing/2014/main" id="{6FF3325E-07A2-3353-8171-F38827FC80CF}"/>
              </a:ext>
            </a:extLst>
          </p:cNvPr>
          <p:cNvSpPr/>
          <p:nvPr/>
        </p:nvSpPr>
        <p:spPr>
          <a:xfrm>
            <a:off x="7315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14" name="Stage 1 name">
            <a:extLst>
              <a:ext uri="{FF2B5EF4-FFF2-40B4-BE49-F238E27FC236}">
                <a16:creationId xmlns:a16="http://schemas.microsoft.com/office/drawing/2014/main" id="{3AD168DF-DBC5-6543-B321-1E7051F40124}"/>
              </a:ext>
            </a:extLst>
          </p:cNvPr>
          <p:cNvSpPr/>
          <p:nvPr/>
        </p:nvSpPr>
        <p:spPr>
          <a:xfrm>
            <a:off x="13716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Phase 0</a:t>
            </a:r>
          </a:p>
          <a:p>
            <a:pPr algn="l">
              <a:buNone/>
            </a:pPr>
            <a:r>
              <a:rPr lang="en-US" sz="1600" b="1">
                <a:solidFill>
                  <a:srgbClr val="E9B14C"/>
                </a:solidFill>
                <a:effectLst/>
                <a:latin typeface="Arial" panose="020B0604020202020204" pitchFamily="34" charset="0"/>
              </a:rPr>
              <a:t>6-8 weeks</a:t>
            </a:r>
            <a:endParaRPr lang="en-US"/>
          </a:p>
        </p:txBody>
      </p:sp>
      <p:sp>
        <p:nvSpPr>
          <p:cNvPr id="31329" name="Stage 2 chevron">
            <a:extLst>
              <a:ext uri="{FF2B5EF4-FFF2-40B4-BE49-F238E27FC236}">
                <a16:creationId xmlns:a16="http://schemas.microsoft.com/office/drawing/2014/main" id="{82DE5151-14FC-5B86-A7F6-3C0F39016C8D}"/>
              </a:ext>
            </a:extLst>
          </p:cNvPr>
          <p:cNvSpPr/>
          <p:nvPr/>
        </p:nvSpPr>
        <p:spPr>
          <a:xfrm>
            <a:off x="4307840" y="2560320"/>
            <a:ext cx="3576320" cy="868680"/>
          </a:xfrm>
          <a:prstGeom prst="homePlate">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45" name="Stage 2 disc">
            <a:extLst>
              <a:ext uri="{FF2B5EF4-FFF2-40B4-BE49-F238E27FC236}">
                <a16:creationId xmlns:a16="http://schemas.microsoft.com/office/drawing/2014/main" id="{D0B73D4A-0DD3-1315-B867-84B1215BFBAD}"/>
              </a:ext>
            </a:extLst>
          </p:cNvPr>
          <p:cNvSpPr/>
          <p:nvPr/>
        </p:nvSpPr>
        <p:spPr>
          <a:xfrm>
            <a:off x="44907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62" name="Stage 2 name">
            <a:extLst>
              <a:ext uri="{FF2B5EF4-FFF2-40B4-BE49-F238E27FC236}">
                <a16:creationId xmlns:a16="http://schemas.microsoft.com/office/drawing/2014/main" id="{BF19A19C-EEFC-1D3E-F1CF-EA47CA5EACE1}"/>
              </a:ext>
            </a:extLst>
          </p:cNvPr>
          <p:cNvSpPr/>
          <p:nvPr/>
        </p:nvSpPr>
        <p:spPr>
          <a:xfrm>
            <a:off x="51308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Pilot</a:t>
            </a:r>
          </a:p>
          <a:p>
            <a:pPr algn="l">
              <a:buNone/>
            </a:pPr>
            <a:r>
              <a:rPr lang="en-US" sz="1600" b="1">
                <a:solidFill>
                  <a:srgbClr val="E9B14C"/>
                </a:solidFill>
                <a:effectLst/>
                <a:latin typeface="Arial" panose="020B0604020202020204" pitchFamily="34" charset="0"/>
              </a:rPr>
              <a:t>6-9 months</a:t>
            </a:r>
            <a:endParaRPr lang="en-US"/>
          </a:p>
        </p:txBody>
      </p:sp>
      <p:sp>
        <p:nvSpPr>
          <p:cNvPr id="31380" name="Stage 3 chevron">
            <a:extLst>
              <a:ext uri="{FF2B5EF4-FFF2-40B4-BE49-F238E27FC236}">
                <a16:creationId xmlns:a16="http://schemas.microsoft.com/office/drawing/2014/main" id="{8F0390B8-2AF1-141E-17A8-0D5C57ED8086}"/>
              </a:ext>
            </a:extLst>
          </p:cNvPr>
          <p:cNvSpPr/>
          <p:nvPr/>
        </p:nvSpPr>
        <p:spPr>
          <a:xfrm>
            <a:off x="8067040" y="2560320"/>
            <a:ext cx="3576320" cy="868680"/>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99" name="Stage 3 disc">
            <a:extLst>
              <a:ext uri="{FF2B5EF4-FFF2-40B4-BE49-F238E27FC236}">
                <a16:creationId xmlns:a16="http://schemas.microsoft.com/office/drawing/2014/main" id="{885986AC-BB3D-8DD4-E534-3F5D431583E7}"/>
              </a:ext>
            </a:extLst>
          </p:cNvPr>
          <p:cNvSpPr/>
          <p:nvPr/>
        </p:nvSpPr>
        <p:spPr>
          <a:xfrm>
            <a:off x="82499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19" name="Stage 3 name">
            <a:extLst>
              <a:ext uri="{FF2B5EF4-FFF2-40B4-BE49-F238E27FC236}">
                <a16:creationId xmlns:a16="http://schemas.microsoft.com/office/drawing/2014/main" id="{F3B43219-BDA7-BC4B-5C3C-C15C5C686229}"/>
              </a:ext>
            </a:extLst>
          </p:cNvPr>
          <p:cNvSpPr/>
          <p:nvPr/>
        </p:nvSpPr>
        <p:spPr>
          <a:xfrm>
            <a:off x="88900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Scale</a:t>
            </a:r>
          </a:p>
          <a:p>
            <a:pPr algn="l">
              <a:buNone/>
            </a:pPr>
            <a:r>
              <a:rPr lang="en-US" sz="1600" b="1">
                <a:solidFill>
                  <a:srgbClr val="E9B14C"/>
                </a:solidFill>
                <a:effectLst/>
                <a:latin typeface="Arial" panose="020B0604020202020204" pitchFamily="34" charset="0"/>
              </a:rPr>
              <a:t>to April 2030</a:t>
            </a:r>
            <a:endParaRPr lang="en-US"/>
          </a:p>
        </p:txBody>
      </p:sp>
      <p:sp>
        <p:nvSpPr>
          <p:cNvPr id="31440" name="Stage 1 card">
            <a:extLst>
              <a:ext uri="{FF2B5EF4-FFF2-40B4-BE49-F238E27FC236}">
                <a16:creationId xmlns:a16="http://schemas.microsoft.com/office/drawing/2014/main" id="{B5F2CB72-3C65-7F23-4A0A-A94BAB4688B4}"/>
              </a:ext>
            </a:extLst>
          </p:cNvPr>
          <p:cNvSpPr/>
          <p:nvPr/>
        </p:nvSpPr>
        <p:spPr>
          <a:xfrm>
            <a:off x="5486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62" name="Stage 2 card">
            <a:extLst>
              <a:ext uri="{FF2B5EF4-FFF2-40B4-BE49-F238E27FC236}">
                <a16:creationId xmlns:a16="http://schemas.microsoft.com/office/drawing/2014/main" id="{F14D8FFB-A816-7F37-F8A4-4DDB9DBA6845}"/>
              </a:ext>
            </a:extLst>
          </p:cNvPr>
          <p:cNvSpPr/>
          <p:nvPr/>
        </p:nvSpPr>
        <p:spPr>
          <a:xfrm>
            <a:off x="43078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85" name="Stage 3 card">
            <a:extLst>
              <a:ext uri="{FF2B5EF4-FFF2-40B4-BE49-F238E27FC236}">
                <a16:creationId xmlns:a16="http://schemas.microsoft.com/office/drawing/2014/main" id="{12782043-D21F-7A44-D478-6479AAEC8B60}"/>
              </a:ext>
            </a:extLst>
          </p:cNvPr>
          <p:cNvSpPr/>
          <p:nvPr/>
        </p:nvSpPr>
        <p:spPr>
          <a:xfrm>
            <a:off x="80670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509" name="Stage 1 statement">
            <a:extLst>
              <a:ext uri="{FF2B5EF4-FFF2-40B4-BE49-F238E27FC236}">
                <a16:creationId xmlns:a16="http://schemas.microsoft.com/office/drawing/2014/main" id="{03B663E1-9076-56EE-7591-56B909DBA7C1}"/>
              </a:ext>
            </a:extLst>
          </p:cNvPr>
          <p:cNvSpPr/>
          <p:nvPr/>
        </p:nvSpPr>
        <p:spPr>
          <a:xfrm>
            <a:off x="594360" y="4160520"/>
            <a:ext cx="348488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Validate one connected journey against a paired comparator</a:t>
            </a:r>
          </a:p>
          <a:p>
            <a:pPr algn="l">
              <a:buNone/>
            </a:pPr>
            <a:r>
              <a:rPr lang="en-US" sz="100">
                <a:effectLst/>
              </a:rPr>
              <a:t> </a:t>
            </a:r>
            <a:endParaRPr lang="en-US"/>
          </a:p>
        </p:txBody>
      </p:sp>
      <p:sp>
        <p:nvSpPr>
          <p:cNvPr id="31534" name="Pilot targets label">
            <a:extLst>
              <a:ext uri="{FF2B5EF4-FFF2-40B4-BE49-F238E27FC236}">
                <a16:creationId xmlns:a16="http://schemas.microsoft.com/office/drawing/2014/main" id="{1DB54D99-0B6E-731B-53EB-54ED79AF8538}"/>
              </a:ext>
            </a:extLst>
          </p:cNvPr>
          <p:cNvSpPr/>
          <p:nvPr/>
        </p:nvSpPr>
        <p:spPr>
          <a:xfrm>
            <a:off x="4353560" y="3728048"/>
            <a:ext cx="34848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TARGETS</a:t>
            </a:r>
          </a:p>
          <a:p>
            <a:pPr algn="l">
              <a:buNone/>
            </a:pPr>
            <a:r>
              <a:rPr lang="en-US" sz="100">
                <a:effectLst/>
              </a:rPr>
              <a:t> </a:t>
            </a:r>
            <a:endParaRPr lang="en-US"/>
          </a:p>
        </p:txBody>
      </p:sp>
      <p:sp>
        <p:nvSpPr>
          <p:cNvPr id="31560" name="Target chip 1">
            <a:extLst>
              <a:ext uri="{FF2B5EF4-FFF2-40B4-BE49-F238E27FC236}">
                <a16:creationId xmlns:a16="http://schemas.microsoft.com/office/drawing/2014/main" id="{5ED55DBC-D245-EA3E-F1E5-4F48B878E80C}"/>
              </a:ext>
            </a:extLst>
          </p:cNvPr>
          <p:cNvSpPr/>
          <p:nvPr/>
        </p:nvSpPr>
        <p:spPr>
          <a:xfrm>
            <a:off x="4445000" y="4178808"/>
            <a:ext cx="2350008"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50+ accepted handovers</a:t>
            </a:r>
          </a:p>
          <a:p>
            <a:pPr algn="ctr">
              <a:buNone/>
            </a:pPr>
            <a:r>
              <a:rPr lang="en-US" sz="100">
                <a:effectLst/>
              </a:rPr>
              <a:t> </a:t>
            </a:r>
            <a:endParaRPr lang="en-US"/>
          </a:p>
        </p:txBody>
      </p:sp>
      <p:sp>
        <p:nvSpPr>
          <p:cNvPr id="31587" name="Target chip 2">
            <a:extLst>
              <a:ext uri="{FF2B5EF4-FFF2-40B4-BE49-F238E27FC236}">
                <a16:creationId xmlns:a16="http://schemas.microsoft.com/office/drawing/2014/main" id="{D939D286-C86F-E9D6-90CF-94EF34BE7DFA}"/>
              </a:ext>
            </a:extLst>
          </p:cNvPr>
          <p:cNvSpPr/>
          <p:nvPr/>
        </p:nvSpPr>
        <p:spPr>
          <a:xfrm>
            <a:off x="4445000" y="4663440"/>
            <a:ext cx="1645920"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−20% cycle time</a:t>
            </a:r>
          </a:p>
          <a:p>
            <a:pPr algn="ctr">
              <a:buNone/>
            </a:pPr>
            <a:r>
              <a:rPr lang="en-US" sz="100">
                <a:effectLst/>
              </a:rPr>
              <a:t> </a:t>
            </a:r>
            <a:endParaRPr lang="en-US"/>
          </a:p>
        </p:txBody>
      </p:sp>
      <p:sp>
        <p:nvSpPr>
          <p:cNvPr id="31615" name="Target chip 3">
            <a:extLst>
              <a:ext uri="{FF2B5EF4-FFF2-40B4-BE49-F238E27FC236}">
                <a16:creationId xmlns:a16="http://schemas.microsoft.com/office/drawing/2014/main" id="{CBF7D218-9FE1-A988-B88A-DA632E755946}"/>
              </a:ext>
            </a:extLst>
          </p:cNvPr>
          <p:cNvSpPr/>
          <p:nvPr/>
        </p:nvSpPr>
        <p:spPr>
          <a:xfrm>
            <a:off x="4445000" y="5148072"/>
            <a:ext cx="3255264"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−25% coordination hours per home</a:t>
            </a:r>
          </a:p>
          <a:p>
            <a:pPr algn="ctr">
              <a:buNone/>
            </a:pPr>
            <a:r>
              <a:rPr lang="en-US" sz="100">
                <a:effectLst/>
              </a:rPr>
              <a:t> </a:t>
            </a:r>
            <a:endParaRPr lang="en-US"/>
          </a:p>
        </p:txBody>
      </p:sp>
      <p:sp>
        <p:nvSpPr>
          <p:cNvPr id="31644" name="Scale figure">
            <a:extLst>
              <a:ext uri="{FF2B5EF4-FFF2-40B4-BE49-F238E27FC236}">
                <a16:creationId xmlns:a16="http://schemas.microsoft.com/office/drawing/2014/main" id="{373651CE-1AEF-A1AE-6A99-921A24256C9B}"/>
              </a:ext>
            </a:extLst>
          </p:cNvPr>
          <p:cNvSpPr/>
          <p:nvPr/>
        </p:nvSpPr>
        <p:spPr>
          <a:xfrm>
            <a:off x="8112760" y="3870960"/>
            <a:ext cx="3484880" cy="1584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88</a:t>
            </a:r>
          </a:p>
          <a:p>
            <a:pPr algn="l">
              <a:buNone/>
            </a:pPr>
            <a:r>
              <a:rPr lang="en-US" sz="2000" b="1">
                <a:solidFill>
                  <a:srgbClr val="173F35"/>
                </a:solidFill>
                <a:effectLst/>
                <a:latin typeface="Arial" panose="020B0604020202020204" pitchFamily="34" charset="0"/>
              </a:rPr>
              <a:t>homes a week</a:t>
            </a:r>
          </a:p>
          <a:p>
            <a:pPr algn="l">
              <a:buNone/>
            </a:pPr>
            <a:r>
              <a:rPr lang="en-US" sz="1800">
                <a:solidFill>
                  <a:srgbClr val="173F35"/>
                </a:solidFill>
                <a:effectLst/>
                <a:latin typeface="Arial" panose="020B0604020202020204" pitchFamily="34" charset="0"/>
              </a:rPr>
              <a:t>to reach 15,600 by 1 April 2030</a:t>
            </a:r>
            <a:endParaRPr lang="en-US"/>
          </a:p>
        </p:txBody>
      </p:sp>
      <p:pic>
        <p:nvPicPr>
          <p:cNvPr id="31645" name="Stage 1 icon" descr="Approval gate icon">
            <a:extLst>
              <a:ext uri="{FF2B5EF4-FFF2-40B4-BE49-F238E27FC236}">
                <a16:creationId xmlns:a16="http://schemas.microsoft.com/office/drawing/2014/main" id="{7786BE05-F1C9-960D-EC4E-A42A14CB356E}"/>
              </a:ext>
            </a:extLst>
          </p:cNvPr>
          <p:cNvPicPr>
            <a:picLocks noChangeAspect="1"/>
          </p:cNvPicPr>
          <p:nvPr/>
        </p:nvPicPr>
        <p:blipFill>
          <a:blip r:embed="rId3"/>
          <a:stretch>
            <a:fillRect/>
          </a:stretch>
        </p:blipFill>
        <p:spPr>
          <a:xfrm>
            <a:off x="827532" y="2793492"/>
            <a:ext cx="402336" cy="402336"/>
          </a:xfrm>
          <a:prstGeom prst="rect">
            <a:avLst/>
          </a:prstGeom>
        </p:spPr>
      </p:pic>
      <p:pic>
        <p:nvPicPr>
          <p:cNvPr id="31646" name="Stage 2 icon" descr="Forecast icon">
            <a:extLst>
              <a:ext uri="{FF2B5EF4-FFF2-40B4-BE49-F238E27FC236}">
                <a16:creationId xmlns:a16="http://schemas.microsoft.com/office/drawing/2014/main" id="{08024BF6-1D5B-9692-B4F1-6706FD58C2AE}"/>
              </a:ext>
            </a:extLst>
          </p:cNvPr>
          <p:cNvPicPr>
            <a:picLocks noChangeAspect="1"/>
          </p:cNvPicPr>
          <p:nvPr/>
        </p:nvPicPr>
        <p:blipFill>
          <a:blip r:embed="rId4"/>
          <a:stretch>
            <a:fillRect/>
          </a:stretch>
        </p:blipFill>
        <p:spPr>
          <a:xfrm>
            <a:off x="4586732" y="2793492"/>
            <a:ext cx="402336" cy="402336"/>
          </a:xfrm>
          <a:prstGeom prst="rect">
            <a:avLst/>
          </a:prstGeom>
        </p:spPr>
      </p:pic>
      <p:pic>
        <p:nvPicPr>
          <p:cNvPr id="31647" name="Stage 3 icon" descr="House icon">
            <a:extLst>
              <a:ext uri="{FF2B5EF4-FFF2-40B4-BE49-F238E27FC236}">
                <a16:creationId xmlns:a16="http://schemas.microsoft.com/office/drawing/2014/main" id="{888F2E7D-FAA5-B53E-F16D-0ED763C260BE}"/>
              </a:ext>
            </a:extLst>
          </p:cNvPr>
          <p:cNvPicPr>
            <a:picLocks noChangeAspect="1"/>
          </p:cNvPicPr>
          <p:nvPr/>
        </p:nvPicPr>
        <p:blipFill>
          <a:blip r:embed="rId5"/>
          <a:stretch>
            <a:fillRect/>
          </a:stretch>
        </p:blipFill>
        <p:spPr>
          <a:xfrm>
            <a:off x="8345932" y="2793492"/>
            <a:ext cx="402336" cy="402336"/>
          </a:xfrm>
          <a:prstGeom prst="rect">
            <a:avLst/>
          </a:prstGeom>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Decision today: fund the validation gate.</a:t>
            </a:r>
          </a:p>
          <a:p>
            <a:pPr algn="l">
              <a:buNone/>
            </a:pPr>
            <a:r>
              <a:rPr lang="en-US" sz="100">
                <a:effectLst/>
              </a:rPr>
              <a:t> </a:t>
            </a:r>
            <a:endParaRPr lang="en-US"/>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decision design (E02, E10, E11, E13)</a:t>
            </a:r>
          </a:p>
          <a:p>
            <a:pPr algn="l">
              <a:buNone/>
            </a:pPr>
            <a:r>
              <a:rPr lang="en-US" sz="100">
                <a:effectLst/>
              </a:rPr>
              <a:t> </a:t>
            </a:r>
            <a:endParaRPr lang="en-US"/>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p:nvSpPr>
          <p:cNvPr id="31662" name="Decision card">
            <a:extLst>
              <a:ext uri="{FF2B5EF4-FFF2-40B4-BE49-F238E27FC236}">
                <a16:creationId xmlns:a16="http://schemas.microsoft.com/office/drawing/2014/main" id="{F72CE615-B1AE-D4A1-0A39-9CF859A96311}"/>
              </a:ext>
            </a:extLst>
          </p:cNvPr>
          <p:cNvSpPr/>
          <p:nvPr/>
        </p:nvSpPr>
        <p:spPr>
          <a:xfrm>
            <a:off x="548640" y="1554480"/>
            <a:ext cx="11094720" cy="4160520"/>
          </a:xfrm>
          <a:prstGeom prst="rect">
            <a:avLst/>
          </a:prstGeom>
          <a:solidFill>
            <a:srgbClr val="FAF9F6"/>
          </a:solidFill>
          <a:ln w="19050">
            <a:solidFill>
              <a:srgbClr val="173F35"/>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68" name="Decision header">
            <a:extLst>
              <a:ext uri="{FF2B5EF4-FFF2-40B4-BE49-F238E27FC236}">
                <a16:creationId xmlns:a16="http://schemas.microsoft.com/office/drawing/2014/main" id="{E8A5AFD9-7859-78FA-BCE8-1A166B20E2B9}"/>
              </a:ext>
            </a:extLst>
          </p:cNvPr>
          <p:cNvSpPr/>
          <p:nvPr/>
        </p:nvSpPr>
        <p:spPr>
          <a:xfrm>
            <a:off x="548640" y="1554480"/>
            <a:ext cx="11094720" cy="777240"/>
          </a:xfrm>
          <a:prstGeom prst="rect">
            <a:avLst/>
          </a:prstGeom>
          <a:solidFill>
            <a:srgbClr val="173F35"/>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75" name="Decision disc">
            <a:extLst>
              <a:ext uri="{FF2B5EF4-FFF2-40B4-BE49-F238E27FC236}">
                <a16:creationId xmlns:a16="http://schemas.microsoft.com/office/drawing/2014/main" id="{CF371DD9-BA88-9AE1-E669-0D097B3AA405}"/>
              </a:ext>
            </a:extLst>
          </p:cNvPr>
          <p:cNvSpPr/>
          <p:nvPr/>
        </p:nvSpPr>
        <p:spPr>
          <a:xfrm>
            <a:off x="868680" y="164592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83" name="Decision word">
            <a:extLst>
              <a:ext uri="{FF2B5EF4-FFF2-40B4-BE49-F238E27FC236}">
                <a16:creationId xmlns:a16="http://schemas.microsoft.com/office/drawing/2014/main" id="{AB60CB17-E0F9-F49A-7CE7-199C83C33919}"/>
              </a:ext>
            </a:extLst>
          </p:cNvPr>
          <p:cNvSpPr/>
          <p:nvPr/>
        </p:nvSpPr>
        <p:spPr>
          <a:xfrm>
            <a:off x="1554480" y="1659980"/>
            <a:ext cx="32004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spc="300">
                <a:solidFill>
                  <a:srgbClr val="FAF9F6"/>
                </a:solidFill>
                <a:effectLst/>
                <a:latin typeface="Arial" panose="020B0604020202020204" pitchFamily="34" charset="0"/>
              </a:rPr>
              <a:t>DECISION</a:t>
            </a:r>
          </a:p>
          <a:p>
            <a:pPr algn="l">
              <a:buNone/>
            </a:pPr>
            <a:r>
              <a:rPr lang="en-US" sz="100">
                <a:effectLst/>
              </a:rPr>
              <a:t> </a:t>
            </a:r>
            <a:endParaRPr lang="en-US"/>
          </a:p>
        </p:txBody>
      </p:sp>
      <p:sp>
        <p:nvSpPr>
          <p:cNvPr id="31692" name="Next gate pill">
            <a:extLst>
              <a:ext uri="{FF2B5EF4-FFF2-40B4-BE49-F238E27FC236}">
                <a16:creationId xmlns:a16="http://schemas.microsoft.com/office/drawing/2014/main" id="{AC9B9FF3-71B9-E832-29A2-883D3CAFDDC5}"/>
              </a:ext>
            </a:extLst>
          </p:cNvPr>
          <p:cNvSpPr/>
          <p:nvPr/>
        </p:nvSpPr>
        <p:spPr>
          <a:xfrm>
            <a:off x="9887712" y="1783080"/>
            <a:ext cx="143560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p>
          <a:p>
            <a:pPr algn="ctr">
              <a:buNone/>
            </a:pPr>
            <a:r>
              <a:rPr lang="en-US" sz="100">
                <a:effectLst/>
              </a:rPr>
              <a:t> </a:t>
            </a:r>
            <a:endParaRPr lang="en-US"/>
          </a:p>
        </p:txBody>
      </p:sp>
      <p:sp>
        <p:nvSpPr>
          <p:cNvPr id="31702" name="Row 1 label">
            <a:extLst>
              <a:ext uri="{FF2B5EF4-FFF2-40B4-BE49-F238E27FC236}">
                <a16:creationId xmlns:a16="http://schemas.microsoft.com/office/drawing/2014/main" id="{8D73C9CF-9810-43C5-4D5D-9D8E4C71B111}"/>
              </a:ext>
            </a:extLst>
          </p:cNvPr>
          <p:cNvSpPr/>
          <p:nvPr/>
        </p:nvSpPr>
        <p:spPr>
          <a:xfrm>
            <a:off x="777240" y="2458556"/>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SCOPE</a:t>
            </a:r>
          </a:p>
          <a:p>
            <a:pPr algn="l">
              <a:buNone/>
            </a:pPr>
            <a:r>
              <a:rPr lang="en-US" sz="100">
                <a:effectLst/>
              </a:rPr>
              <a:t> </a:t>
            </a:r>
            <a:endParaRPr lang="en-US"/>
          </a:p>
        </p:txBody>
      </p:sp>
      <p:sp>
        <p:nvSpPr>
          <p:cNvPr id="31713" name="Row 1 value">
            <a:extLst>
              <a:ext uri="{FF2B5EF4-FFF2-40B4-BE49-F238E27FC236}">
                <a16:creationId xmlns:a16="http://schemas.microsoft.com/office/drawing/2014/main" id="{8E9690B5-38ED-B32C-52EF-808588F645B2}"/>
              </a:ext>
            </a:extLst>
          </p:cNvPr>
          <p:cNvSpPr/>
          <p:nvPr/>
        </p:nvSpPr>
        <p:spPr>
          <a:xfrm>
            <a:off x="3063240" y="2397596"/>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Fund Phase 0: one connected journey and a paired comparator</a:t>
            </a:r>
          </a:p>
          <a:p>
            <a:pPr algn="l">
              <a:buNone/>
            </a:pPr>
            <a:r>
              <a:rPr lang="en-US" sz="100">
                <a:effectLst/>
              </a:rPr>
              <a:t> </a:t>
            </a:r>
            <a:endParaRPr lang="en-US"/>
          </a:p>
        </p:txBody>
      </p:sp>
      <p:sp>
        <p:nvSpPr>
          <p:cNvPr id="31725" name="Row rule 1">
            <a:extLst>
              <a:ext uri="{FF2B5EF4-FFF2-40B4-BE49-F238E27FC236}">
                <a16:creationId xmlns:a16="http://schemas.microsoft.com/office/drawing/2014/main" id="{AFA1E26B-FFD8-8C7A-B74C-BBD1D2318716}"/>
              </a:ext>
            </a:extLst>
          </p:cNvPr>
          <p:cNvSpPr/>
          <p:nvPr/>
        </p:nvSpPr>
        <p:spPr>
          <a:xfrm>
            <a:off x="868680" y="2983992"/>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38" name="Row 2 label">
            <a:extLst>
              <a:ext uri="{FF2B5EF4-FFF2-40B4-BE49-F238E27FC236}">
                <a16:creationId xmlns:a16="http://schemas.microsoft.com/office/drawing/2014/main" id="{14437BA6-5C1C-74C4-A66D-AF95080265A1}"/>
              </a:ext>
            </a:extLst>
          </p:cNvPr>
          <p:cNvSpPr/>
          <p:nvPr/>
        </p:nvSpPr>
        <p:spPr>
          <a:xfrm>
            <a:off x="777240" y="3065108"/>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OWNERS</a:t>
            </a:r>
          </a:p>
          <a:p>
            <a:pPr algn="l">
              <a:buNone/>
            </a:pPr>
            <a:r>
              <a:rPr lang="en-US" sz="100">
                <a:effectLst/>
              </a:rPr>
              <a:t> </a:t>
            </a:r>
            <a:endParaRPr lang="en-US"/>
          </a:p>
        </p:txBody>
      </p:sp>
      <p:sp>
        <p:nvSpPr>
          <p:cNvPr id="31752" name="Row 2 value">
            <a:extLst>
              <a:ext uri="{FF2B5EF4-FFF2-40B4-BE49-F238E27FC236}">
                <a16:creationId xmlns:a16="http://schemas.microsoft.com/office/drawing/2014/main" id="{0ECAA700-1BEB-491B-CF51-67F5AB22A225}"/>
              </a:ext>
            </a:extLst>
          </p:cNvPr>
          <p:cNvSpPr/>
          <p:nvPr/>
        </p:nvSpPr>
        <p:spPr>
          <a:xfrm>
            <a:off x="3063240" y="3004148"/>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Programme, Finance, technical and control reviewers</a:t>
            </a:r>
          </a:p>
          <a:p>
            <a:pPr algn="l">
              <a:buNone/>
            </a:pPr>
            <a:r>
              <a:rPr lang="en-US" sz="100">
                <a:effectLst/>
              </a:rPr>
              <a:t> </a:t>
            </a:r>
            <a:endParaRPr lang="en-US"/>
          </a:p>
        </p:txBody>
      </p:sp>
      <p:sp>
        <p:nvSpPr>
          <p:cNvPr id="31767" name="Row rule 2">
            <a:extLst>
              <a:ext uri="{FF2B5EF4-FFF2-40B4-BE49-F238E27FC236}">
                <a16:creationId xmlns:a16="http://schemas.microsoft.com/office/drawing/2014/main" id="{208594AA-1C3A-F1AB-9BA7-9EE62BA271DF}"/>
              </a:ext>
            </a:extLst>
          </p:cNvPr>
          <p:cNvSpPr/>
          <p:nvPr/>
        </p:nvSpPr>
        <p:spPr>
          <a:xfrm>
            <a:off x="868680" y="3590544"/>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83" name="Row 3 label">
            <a:extLst>
              <a:ext uri="{FF2B5EF4-FFF2-40B4-BE49-F238E27FC236}">
                <a16:creationId xmlns:a16="http://schemas.microsoft.com/office/drawing/2014/main" id="{D53DDEE7-B41C-4123-B037-40A15EB865CB}"/>
              </a:ext>
            </a:extLst>
          </p:cNvPr>
          <p:cNvSpPr/>
          <p:nvPr/>
        </p:nvSpPr>
        <p:spPr>
          <a:xfrm>
            <a:off x="777240" y="3671660"/>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SUCCESS MEASURES</a:t>
            </a:r>
          </a:p>
          <a:p>
            <a:pPr algn="l">
              <a:buNone/>
            </a:pPr>
            <a:r>
              <a:rPr lang="en-US" sz="100">
                <a:effectLst/>
              </a:rPr>
              <a:t> </a:t>
            </a:r>
            <a:endParaRPr lang="en-US"/>
          </a:p>
        </p:txBody>
      </p:sp>
      <p:sp>
        <p:nvSpPr>
          <p:cNvPr id="31800" name="Row 3 value">
            <a:extLst>
              <a:ext uri="{FF2B5EF4-FFF2-40B4-BE49-F238E27FC236}">
                <a16:creationId xmlns:a16="http://schemas.microsoft.com/office/drawing/2014/main" id="{5D96526C-747B-E849-686E-F44273921CD6}"/>
              </a:ext>
            </a:extLst>
          </p:cNvPr>
          <p:cNvSpPr/>
          <p:nvPr/>
        </p:nvSpPr>
        <p:spPr>
          <a:xfrm>
            <a:off x="3063240" y="3695700"/>
            <a:ext cx="83515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Accepted handovers per week · preparation and review time · rework · cost per accepted outcome</a:t>
            </a:r>
          </a:p>
          <a:p>
            <a:pPr algn="l">
              <a:buNone/>
            </a:pPr>
            <a:r>
              <a:rPr lang="en-US" sz="100">
                <a:effectLst/>
              </a:rPr>
              <a:t> </a:t>
            </a:r>
            <a:endParaRPr lang="en-US"/>
          </a:p>
        </p:txBody>
      </p:sp>
      <p:sp>
        <p:nvSpPr>
          <p:cNvPr id="31818" name="Row rule 3">
            <a:extLst>
              <a:ext uri="{FF2B5EF4-FFF2-40B4-BE49-F238E27FC236}">
                <a16:creationId xmlns:a16="http://schemas.microsoft.com/office/drawing/2014/main" id="{10808E5A-8024-FB51-CEAA-EA1DBDEA361C}"/>
              </a:ext>
            </a:extLst>
          </p:cNvPr>
          <p:cNvSpPr/>
          <p:nvPr/>
        </p:nvSpPr>
        <p:spPr>
          <a:xfrm>
            <a:off x="868680" y="4501896"/>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837" name="Row 4 label">
            <a:extLst>
              <a:ext uri="{FF2B5EF4-FFF2-40B4-BE49-F238E27FC236}">
                <a16:creationId xmlns:a16="http://schemas.microsoft.com/office/drawing/2014/main" id="{6127ACC8-6A53-C8CF-8121-77632C131E1B}"/>
              </a:ext>
            </a:extLst>
          </p:cNvPr>
          <p:cNvSpPr/>
          <p:nvPr/>
        </p:nvSpPr>
        <p:spPr>
          <a:xfrm>
            <a:off x="777240" y="4583012"/>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BOUNDARY</a:t>
            </a:r>
          </a:p>
          <a:p>
            <a:pPr algn="l">
              <a:buNone/>
            </a:pPr>
            <a:r>
              <a:rPr lang="en-US" sz="100">
                <a:effectLst/>
              </a:rPr>
              <a:t> </a:t>
            </a:r>
            <a:endParaRPr lang="en-US"/>
          </a:p>
        </p:txBody>
      </p:sp>
      <p:sp>
        <p:nvSpPr>
          <p:cNvPr id="31857" name="Row 4 value">
            <a:extLst>
              <a:ext uri="{FF2B5EF4-FFF2-40B4-BE49-F238E27FC236}">
                <a16:creationId xmlns:a16="http://schemas.microsoft.com/office/drawing/2014/main" id="{1D59009F-C45D-88FC-9170-B1AD59A83EFD}"/>
              </a:ext>
            </a:extLst>
          </p:cNvPr>
          <p:cNvSpPr/>
          <p:nvPr/>
        </p:nvSpPr>
        <p:spPr>
          <a:xfrm>
            <a:off x="3063240" y="4522052"/>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 refreshed, finite budget agreed before spend</a:t>
            </a:r>
          </a:p>
          <a:p>
            <a:pPr algn="l">
              <a:buNone/>
            </a:pPr>
            <a:r>
              <a:rPr lang="en-US" sz="100">
                <a:effectLst/>
              </a:rPr>
              <a:t> </a:t>
            </a:r>
            <a:endParaRPr lang="en-US"/>
          </a:p>
        </p:txBody>
      </p:sp>
      <p:sp>
        <p:nvSpPr>
          <p:cNvPr id="31878" name="Row rule 4">
            <a:extLst>
              <a:ext uri="{FF2B5EF4-FFF2-40B4-BE49-F238E27FC236}">
                <a16:creationId xmlns:a16="http://schemas.microsoft.com/office/drawing/2014/main" id="{70B7D738-7DF0-EAA0-1EC6-F6F270542963}"/>
              </a:ext>
            </a:extLst>
          </p:cNvPr>
          <p:cNvSpPr/>
          <p:nvPr/>
        </p:nvSpPr>
        <p:spPr>
          <a:xfrm>
            <a:off x="868680" y="5108448"/>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00" name="Row 5 label">
            <a:extLst>
              <a:ext uri="{FF2B5EF4-FFF2-40B4-BE49-F238E27FC236}">
                <a16:creationId xmlns:a16="http://schemas.microsoft.com/office/drawing/2014/main" id="{2EBE94A7-78A0-8D88-CE90-A67C5E0EEB7B}"/>
              </a:ext>
            </a:extLst>
          </p:cNvPr>
          <p:cNvSpPr/>
          <p:nvPr/>
        </p:nvSpPr>
        <p:spPr>
          <a:xfrm>
            <a:off x="777240" y="5189564"/>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SCALE RULE</a:t>
            </a:r>
          </a:p>
          <a:p>
            <a:pPr algn="l">
              <a:buNone/>
            </a:pPr>
            <a:r>
              <a:rPr lang="en-US" sz="100">
                <a:effectLst/>
              </a:rPr>
              <a:t> </a:t>
            </a:r>
            <a:endParaRPr lang="en-US"/>
          </a:p>
        </p:txBody>
      </p:sp>
      <p:sp>
        <p:nvSpPr>
          <p:cNvPr id="31923" name="Row 5 value">
            <a:extLst>
              <a:ext uri="{FF2B5EF4-FFF2-40B4-BE49-F238E27FC236}">
                <a16:creationId xmlns:a16="http://schemas.microsoft.com/office/drawing/2014/main" id="{4EC9AE67-6FC1-7EE0-6CAB-93E7E9E77A09}"/>
              </a:ext>
            </a:extLst>
          </p:cNvPr>
          <p:cNvSpPr/>
          <p:nvPr/>
        </p:nvSpPr>
        <p:spPr>
          <a:xfrm>
            <a:off x="3063240" y="5128604"/>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Scale when quality, control and net value clear the bar</a:t>
            </a:r>
          </a:p>
          <a:p>
            <a:pPr algn="l">
              <a:buNone/>
            </a:pPr>
            <a:r>
              <a:rPr lang="en-US" sz="100">
                <a:effectLst/>
              </a:rPr>
              <a:t> </a:t>
            </a:r>
            <a:endParaRPr lang="en-US"/>
          </a:p>
        </p:txBody>
      </p:sp>
      <p:pic>
        <p:nvPicPr>
          <p:cNvPr id="31924" name="Decision icon" descr="Decision icon">
            <a:extLst>
              <a:ext uri="{FF2B5EF4-FFF2-40B4-BE49-F238E27FC236}">
                <a16:creationId xmlns:a16="http://schemas.microsoft.com/office/drawing/2014/main" id="{4E1F5967-CCC2-11F9-62F6-00D9E8FC2E78}"/>
              </a:ext>
            </a:extLst>
          </p:cNvPr>
          <p:cNvPicPr>
            <a:picLocks noChangeAspect="1"/>
          </p:cNvPicPr>
          <p:nvPr/>
        </p:nvPicPr>
        <p:blipFill>
          <a:blip r:embed="rId3"/>
          <a:stretch>
            <a:fillRect/>
          </a:stretch>
        </p:blipFill>
        <p:spPr>
          <a:xfrm>
            <a:off x="964692" y="1741932"/>
            <a:ext cx="402336" cy="402336"/>
          </a:xfrm>
          <a:prstGeom prst="rect">
            <a:avLst/>
          </a:prstGeom>
        </p:spPr>
      </p:pic>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recorded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Start the 2030 run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extLst>
              <a:ext uri="{FF2B5EF4-FFF2-40B4-BE49-F238E27FC236}">
                <a16:creationId xmlns:a16="http://schemas.microsoft.com/office/drawing/2014/main" id="{31731A9F-7F73-E736-9FCC-0F231B06D97D}"/>
              </a:ext>
            </a:extLst>
          </p:cNvPr>
          <p:cNvSpPr/>
          <p:nvPr/>
        </p:nvSpPr>
        <p:spPr>
          <a:xfrm>
            <a:off x="548640" y="45537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B04 · 31   How do Decision Models cut cost and latency?</a:t>
            </a:r>
            <a:endParaRPr lang="en-US"/>
          </a:p>
        </p:txBody>
      </p:sp>
      <p:sp>
        <p:nvSpPr>
          <p:cNvPr id="21085" name="Index B05">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extLst>
              <a:ext uri="{FF2B5EF4-FFF2-40B4-BE49-F238E27FC236}">
                <a16:creationId xmlns:a16="http://schemas.microsoft.com/office/drawing/2014/main" id="{AB73053C-9D85-E892-AACC-16259DE03E98}"/>
              </a:ext>
            </a:extLst>
          </p:cNvPr>
          <p:cNvSpPr/>
          <p:nvPr/>
        </p:nvSpPr>
        <p:spPr>
          <a:xfrm>
            <a:off x="54864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Azure, not M365, Power Platform or buy?</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 action="ppaction://hlinkshowjump?jump=lastslideviewed"/>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 action="ppaction://hlinkshowjump?jump=lastslideviewed"/>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3"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 action="ppaction://hlinkshowjump?jump=lastslideviewed"/>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Decision Models reduce cost and response time?</a:t>
            </a:r>
          </a:p>
          <a:p>
            <a:pPr algn="l">
              <a:buNone/>
            </a:pPr>
            <a:r>
              <a:rPr lang="en-US" sz="100">
                <a:effectLst/>
              </a:rPr>
              <a:t> </a:t>
            </a:r>
            <a:endParaRPr lang="en-US"/>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 action="ppaction://hlinkshowjump?jump=lastslideviewed"/>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72" name="Statement 1">
            <a:extLst>
              <a:ext uri="{FF2B5EF4-FFF2-40B4-BE49-F238E27FC236}">
                <a16:creationId xmlns:a16="http://schemas.microsoft.com/office/drawing/2014/main" id="{27175658-3919-890A-A660-1F6FA2760E85}"/>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candidates may avoid long-form generation</a:t>
            </a:r>
          </a:p>
          <a:p>
            <a:pPr algn="l">
              <a:buNone/>
            </a:pPr>
            <a:r>
              <a:rPr lang="en-US" sz="100">
                <a:effectLst/>
              </a:rPr>
              <a:t> </a:t>
            </a:r>
            <a:endParaRPr lang="en-US"/>
          </a:p>
        </p:txBody>
      </p:sp>
      <p:sp>
        <p:nvSpPr>
          <p:cNvPr id="22474" name="Statement 2">
            <a:extLst>
              <a:ext uri="{FF2B5EF4-FFF2-40B4-BE49-F238E27FC236}">
                <a16:creationId xmlns:a16="http://schemas.microsoft.com/office/drawing/2014/main" id="{212AC7AF-3471-4534-D59B-7FF331F5B6EF}"/>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Compare complete tasks, not endpoint prices</a:t>
            </a:r>
          </a:p>
          <a:p>
            <a:pPr algn="l">
              <a:buNone/>
            </a:pPr>
            <a:r>
              <a:rPr lang="en-US" sz="100">
                <a:effectLst/>
              </a:rPr>
              <a:t> </a:t>
            </a:r>
            <a:endParaRPr lang="en-US"/>
          </a:p>
        </p:txBody>
      </p:sp>
      <p:sp>
        <p:nvSpPr>
          <p:cNvPr id="22477" name="Statement 3">
            <a:extLst>
              <a:ext uri="{FF2B5EF4-FFF2-40B4-BE49-F238E27FC236}">
                <a16:creationId xmlns:a16="http://schemas.microsoft.com/office/drawing/2014/main" id="{515C7044-5C3E-36C8-7EC8-F0DAD040E061}"/>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Cheaper and faster results are calibrated in the pilot</a:t>
            </a:r>
            <a:endParaRPr lang="en-US"/>
          </a:p>
        </p:txBody>
      </p:sp>
      <p:sp>
        <p:nvSpPr>
          <p:cNvPr id="22481" name="Equation card">
            <a:extLst>
              <a:ext uri="{FF2B5EF4-FFF2-40B4-BE49-F238E27FC236}">
                <a16:creationId xmlns:a16="http://schemas.microsoft.com/office/drawing/2014/main" id="{F552AF7E-E572-48AE-8086-A7D5E04ABC78}"/>
              </a:ext>
            </a:extLst>
          </p:cNvPr>
          <p:cNvSpPr/>
          <p:nvPr/>
        </p:nvSpPr>
        <p:spPr>
          <a:xfrm>
            <a:off x="548640" y="2286000"/>
            <a:ext cx="11094720" cy="10820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86" name="Equation left side">
            <a:extLst>
              <a:ext uri="{FF2B5EF4-FFF2-40B4-BE49-F238E27FC236}">
                <a16:creationId xmlns:a16="http://schemas.microsoft.com/office/drawing/2014/main" id="{74298CC0-8C55-B4D0-84C7-30B29935CF05}"/>
              </a:ext>
            </a:extLst>
          </p:cNvPr>
          <p:cNvSpPr/>
          <p:nvPr/>
        </p:nvSpPr>
        <p:spPr>
          <a:xfrm>
            <a:off x="609600" y="2598420"/>
            <a:ext cx="3228578"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Cost per accepted task =</a:t>
            </a:r>
          </a:p>
          <a:p>
            <a:pPr algn="l">
              <a:buNone/>
            </a:pPr>
            <a:r>
              <a:rPr lang="en-US" sz="100">
                <a:effectLst/>
              </a:rPr>
              <a:t> </a:t>
            </a:r>
            <a:endParaRPr lang="en-US"/>
          </a:p>
        </p:txBody>
      </p:sp>
      <p:sp>
        <p:nvSpPr>
          <p:cNvPr id="22517" name="Not measured pill">
            <a:extLst>
              <a:ext uri="{FF2B5EF4-FFF2-40B4-BE49-F238E27FC236}">
                <a16:creationId xmlns:a16="http://schemas.microsoft.com/office/drawing/2014/main" id="{1EFF6459-9D9F-A53D-ADE7-7F63F13DB4EC}"/>
              </a:ext>
            </a:extLst>
          </p:cNvPr>
          <p:cNvSpPr/>
          <p:nvPr/>
        </p:nvSpPr>
        <p:spPr>
          <a:xfrm>
            <a:off x="8905240" y="3550920"/>
            <a:ext cx="2231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MEASURED IN PILOT</a:t>
            </a:r>
            <a:endParaRPr lang="en-US"/>
          </a:p>
        </p:txBody>
      </p:sp>
      <p:sp>
        <p:nvSpPr>
          <p:cNvPr id="22528" name="Historical pill">
            <a:extLst>
              <a:ext uri="{FF2B5EF4-FFF2-40B4-BE49-F238E27FC236}">
                <a16:creationId xmlns:a16="http://schemas.microsoft.com/office/drawing/2014/main" id="{CDD3CB36-CC26-5BBE-1EB8-AF2BFD6964C5}"/>
              </a:ext>
            </a:extLst>
          </p:cNvPr>
          <p:cNvSpPr/>
          <p:nvPr/>
        </p:nvSpPr>
        <p:spPr>
          <a:xfrm>
            <a:off x="8905240" y="4099560"/>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HISTORICAL</a:t>
            </a:r>
          </a:p>
          <a:p>
            <a:pPr algn="ctr">
              <a:buNone/>
            </a:pPr>
            <a:r>
              <a:rPr lang="en-US" sz="100">
                <a:effectLst/>
              </a:rPr>
              <a:t> </a:t>
            </a:r>
            <a:endParaRPr lang="en-US"/>
          </a:p>
        </p:txBody>
      </p:sp>
      <p:sp>
        <p:nvSpPr>
          <p:cNvPr id="22540" name="Historical caption">
            <a:extLst>
              <a:ext uri="{FF2B5EF4-FFF2-40B4-BE49-F238E27FC236}">
                <a16:creationId xmlns:a16="http://schemas.microsoft.com/office/drawing/2014/main" id="{F1249BA4-DF0D-7B43-6E9D-DC013D517344}"/>
              </a:ext>
            </a:extLst>
          </p:cNvPr>
          <p:cNvSpPr/>
          <p:nvPr/>
        </p:nvSpPr>
        <p:spPr>
          <a:xfrm>
            <a:off x="8813800" y="4465320"/>
            <a:ext cx="28295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Prototype timing: workflow-only gates decide in 0.03 ms; an agent drafting step takes a 12.5 s median. Each does a different job.</a:t>
            </a:r>
            <a:endParaRPr lang="en-US"/>
          </a:p>
        </p:txBody>
      </p:sp>
      <p:sp>
        <p:nvSpPr>
          <p:cNvPr id="26172" name="Equation numerator">
            <a:extLst>
              <a:ext uri="{FF2B5EF4-FFF2-40B4-BE49-F238E27FC236}">
                <a16:creationId xmlns:a16="http://schemas.microsoft.com/office/drawing/2014/main" id="{5C6DBC50-33E4-7421-AA37-92B3B104DD6A}"/>
              </a:ext>
            </a:extLst>
          </p:cNvPr>
          <p:cNvSpPr/>
          <p:nvPr/>
        </p:nvSpPr>
        <p:spPr>
          <a:xfrm>
            <a:off x="3929618" y="23634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inference + hosting + review and correction + retries + assurance</a:t>
            </a:r>
          </a:p>
          <a:p>
            <a:pPr algn="ctr">
              <a:buNone/>
            </a:pPr>
            <a:r>
              <a:rPr lang="en-US" sz="100">
                <a:effectLst/>
              </a:rPr>
              <a:t> </a:t>
            </a:r>
            <a:endParaRPr lang="en-US"/>
          </a:p>
        </p:txBody>
      </p:sp>
      <p:sp>
        <p:nvSpPr>
          <p:cNvPr id="26174" name="Equation denominator">
            <a:extLst>
              <a:ext uri="{FF2B5EF4-FFF2-40B4-BE49-F238E27FC236}">
                <a16:creationId xmlns:a16="http://schemas.microsoft.com/office/drawing/2014/main" id="{59727461-3573-0F48-EB01-3FB164C68562}"/>
              </a:ext>
            </a:extLst>
          </p:cNvPr>
          <p:cNvSpPr/>
          <p:nvPr/>
        </p:nvSpPr>
        <p:spPr>
          <a:xfrm>
            <a:off x="3929618" y="28333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accepted tasks above the quality floor</a:t>
            </a:r>
          </a:p>
          <a:p>
            <a:pPr algn="ctr">
              <a:buNone/>
            </a:pPr>
            <a:r>
              <a:rPr lang="en-US" sz="100">
                <a:effectLst/>
              </a:rPr>
              <a:t> </a:t>
            </a:r>
            <a:endParaRPr lang="en-US"/>
          </a:p>
        </p:txBody>
      </p:sp>
      <p:sp>
        <p:nvSpPr>
          <p:cNvPr id="26325" name="Fraction bar">
            <a:extLst>
              <a:ext uri="{FF2B5EF4-FFF2-40B4-BE49-F238E27FC236}">
                <a16:creationId xmlns:a16="http://schemas.microsoft.com/office/drawing/2014/main" id="{623215EB-9DF9-12F4-2977-4E55B34E21FB}"/>
              </a:ext>
            </a:extLst>
          </p:cNvPr>
          <p:cNvSpPr/>
          <p:nvPr/>
        </p:nvSpPr>
        <p:spPr>
          <a:xfrm>
            <a:off x="3975338" y="2819083"/>
            <a:ext cx="6765141" cy="158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A598C296-3799-4CE0-A0C3-B8AE570CC62D}"/>
              </a:ext>
            </a:extLst>
          </p:cNvPr>
          <p:cNvGraphicFramePr>
            <a:graphicFrameLocks noGrp="1"/>
          </p:cNvGraphicFramePr>
          <p:nvPr/>
        </p:nvGraphicFramePr>
        <p:xfrm>
          <a:off x="548640" y="3550920"/>
          <a:ext cx="8128002" cy="195072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3462425915"/>
                    </a:ext>
                  </a:extLst>
                </a:gridCol>
                <a:gridCol w="1354667">
                  <a:extLst>
                    <a:ext uri="{9D8B030D-6E8A-4147-A177-3AD203B41FA5}">
                      <a16:colId xmlns:a16="http://schemas.microsoft.com/office/drawing/2014/main" val="198709434"/>
                    </a:ext>
                  </a:extLst>
                </a:gridCol>
                <a:gridCol w="1354667">
                  <a:extLst>
                    <a:ext uri="{9D8B030D-6E8A-4147-A177-3AD203B41FA5}">
                      <a16:colId xmlns:a16="http://schemas.microsoft.com/office/drawing/2014/main" val="2193197462"/>
                    </a:ext>
                  </a:extLst>
                </a:gridCol>
                <a:gridCol w="1354667">
                  <a:extLst>
                    <a:ext uri="{9D8B030D-6E8A-4147-A177-3AD203B41FA5}">
                      <a16:colId xmlns:a16="http://schemas.microsoft.com/office/drawing/2014/main" val="1409473403"/>
                    </a:ext>
                  </a:extLst>
                </a:gridCol>
                <a:gridCol w="1354667">
                  <a:extLst>
                    <a:ext uri="{9D8B030D-6E8A-4147-A177-3AD203B41FA5}">
                      <a16:colId xmlns:a16="http://schemas.microsoft.com/office/drawing/2014/main" val="1655675762"/>
                    </a:ext>
                  </a:extLst>
                </a:gridCol>
                <a:gridCol w="1354667">
                  <a:extLst>
                    <a:ext uri="{9D8B030D-6E8A-4147-A177-3AD203B41FA5}">
                      <a16:colId xmlns:a16="http://schemas.microsoft.com/office/drawing/2014/main" val="3915667006"/>
                    </a:ext>
                  </a:extLst>
                </a:gridCol>
              </a:tblGrid>
              <a:tr h="0">
                <a:tc>
                  <a:txBody>
                    <a:bodyPr/>
                    <a:lstStyle/>
                    <a:p>
                      <a:pPr>
                        <a:buNone/>
                      </a:pPr>
                      <a:r>
                        <a:rPr lang="en-US" sz="1400" b="1">
                          <a:solidFill>
                            <a:srgbClr val="FAF9F6"/>
                          </a:solidFill>
                          <a:effectLst/>
                          <a:latin typeface="Arial" panose="020B0604020202020204" pitchFamily="34" charset="0"/>
                        </a:rPr>
                        <a:t>Approach</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Accepted quality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staff time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p50/p95 latency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Cost per accepted task</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Critical errors</a:t>
                      </a:r>
                    </a:p>
                  </a:txBody>
                  <a:tcPr anchor="ctr">
                    <a:lnL>
                      <a:noFill/>
                    </a:lnL>
                    <a:lnR>
                      <a:noFill/>
                    </a:lnR>
                    <a:lnT>
                      <a:noFill/>
                    </a:lnT>
                    <a:lnB>
                      <a:noFill/>
                    </a:lnB>
                    <a:solidFill>
                      <a:srgbClr val="173F35"/>
                    </a:solidFill>
                  </a:tcPr>
                </a:tc>
                <a:extLst>
                  <a:ext uri="{0D108BD9-81ED-4DB2-BD59-A6C34878D82A}">
                    <a16:rowId xmlns:a16="http://schemas.microsoft.com/office/drawing/2014/main" val="2589027005"/>
                  </a:ext>
                </a:extLst>
              </a:tr>
              <a:tr h="0">
                <a:tc>
                  <a:txBody>
                    <a:bodyPr/>
                    <a:lstStyle/>
                    <a:p>
                      <a:pPr>
                        <a:buNone/>
                      </a:pPr>
                      <a:r>
                        <a:rPr lang="en-US" sz="1400">
                          <a:effectLst/>
                          <a:latin typeface="Arial" panose="020B0604020202020204" pitchFamily="34" charset="0"/>
                        </a:rPr>
                        <a:t>Rules/manual</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2401285047"/>
                  </a:ext>
                </a:extLst>
              </a:tr>
              <a:tr h="0">
                <a:tc>
                  <a:txBody>
                    <a:bodyPr/>
                    <a:lstStyle/>
                    <a:p>
                      <a:pPr>
                        <a:buNone/>
                      </a:pPr>
                      <a:r>
                        <a:rPr lang="en-US" sz="1400">
                          <a:effectLst/>
                          <a:latin typeface="Arial" panose="020B0604020202020204" pitchFamily="34" charset="0"/>
                        </a:rPr>
                        <a:t>Parser/templates</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1253441629"/>
                  </a:ext>
                </a:extLst>
              </a:tr>
              <a:tr h="0">
                <a:tc>
                  <a:txBody>
                    <a:bodyPr/>
                    <a:lstStyle/>
                    <a:p>
                      <a:pPr>
                        <a:buNone/>
                      </a:pPr>
                      <a:r>
                        <a:rPr lang="en-US" sz="1400">
                          <a:effectLst/>
                          <a:latin typeface="Arial" panose="020B0604020202020204" pitchFamily="34" charset="0"/>
                        </a:rPr>
                        <a:t>Decision 1</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3674973187"/>
                  </a:ext>
                </a:extLst>
              </a:tr>
              <a:tr h="0">
                <a:tc>
                  <a:txBody>
                    <a:bodyPr/>
                    <a:lstStyle/>
                    <a:p>
                      <a:pPr>
                        <a:buNone/>
                      </a:pPr>
                      <a:r>
                        <a:rPr lang="en-US" sz="1400">
                          <a:effectLst/>
                          <a:latin typeface="Arial" panose="020B0604020202020204" pitchFamily="34" charset="0"/>
                        </a:rPr>
                        <a:t>Generation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4001203406"/>
                  </a:ext>
                </a:extLst>
              </a:tr>
            </a:tbl>
          </a:graphicData>
        </a:graphic>
      </p:graphicFrame>
      <p:sp>
        <p:nvSpPr>
          <p:cNvPr id="2" name="Appendix topic destination">
            <a:hlinkClick r:id="rId3"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 action="ppaction://hlinkshowjump?jump=lastslideviewed"/>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3"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 action="ppaction://hlinkshowjump?jump=lastslideviewed"/>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 action="ppaction://hlinkshowjump?jump=lastslideviewed"/>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3"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 action="ppaction://hlinkshowjump?jump=lastslideviewed"/>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3"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 action="ppaction://hlinkshowjump?jump=lastslideviewed"/>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3"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deploy each agent independently?</a:t>
            </a:r>
          </a:p>
          <a:p>
            <a:pPr algn="l">
              <a:buNone/>
            </a:pPr>
            <a:r>
              <a:rPr lang="en-US" sz="100">
                <a:effectLst/>
              </a:rPr>
              <a:t> </a:t>
            </a:r>
            <a:endParaRPr lang="en-US"/>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 action="ppaction://hlinkshowjump?jump=lastslideviewed"/>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284" name="Current runtime panel">
            <a:extLst>
              <a:ext uri="{FF2B5EF4-FFF2-40B4-BE49-F238E27FC236}">
                <a16:creationId xmlns:a16="http://schemas.microsoft.com/office/drawing/2014/main" id="{F7553C16-3816-E8CF-CDD2-B3859FF0CE51}"/>
              </a:ext>
            </a:extLst>
          </p:cNvPr>
          <p:cNvSpPr/>
          <p:nvPr/>
        </p:nvSpPr>
        <p:spPr>
          <a:xfrm>
            <a:off x="548640" y="1508760"/>
            <a:ext cx="6300000" cy="3093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6" name="Future split panel">
            <a:extLst>
              <a:ext uri="{FF2B5EF4-FFF2-40B4-BE49-F238E27FC236}">
                <a16:creationId xmlns:a16="http://schemas.microsoft.com/office/drawing/2014/main" id="{B7241F16-3B4A-7D07-64D5-6CE6DD13D078}"/>
              </a:ext>
            </a:extLst>
          </p:cNvPr>
          <p:cNvSpPr/>
          <p:nvPr/>
        </p:nvSpPr>
        <p:spPr>
          <a:xfrm>
            <a:off x="7397280" y="1508760"/>
            <a:ext cx="4246080" cy="30937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9" name="Current runtime label">
            <a:extLst>
              <a:ext uri="{FF2B5EF4-FFF2-40B4-BE49-F238E27FC236}">
                <a16:creationId xmlns:a16="http://schemas.microsoft.com/office/drawing/2014/main" id="{D57A45E7-69F5-199D-B0AF-3ED6FDA58402}"/>
              </a:ext>
            </a:extLst>
          </p:cNvPr>
          <p:cNvSpPr/>
          <p:nvPr/>
        </p:nvSpPr>
        <p:spPr>
          <a:xfrm>
            <a:off x="609600" y="1638300"/>
            <a:ext cx="6178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CURRENT RUNTIME</a:t>
            </a:r>
          </a:p>
          <a:p>
            <a:pPr algn="l">
              <a:buNone/>
            </a:pPr>
            <a:r>
              <a:rPr lang="en-US" sz="100">
                <a:effectLst/>
              </a:rPr>
              <a:t> </a:t>
            </a:r>
            <a:endParaRPr lang="en-US"/>
          </a:p>
        </p:txBody>
      </p:sp>
      <p:sp>
        <p:nvSpPr>
          <p:cNvPr id="16293" name="Statement 1">
            <a:extLst>
              <a:ext uri="{FF2B5EF4-FFF2-40B4-BE49-F238E27FC236}">
                <a16:creationId xmlns:a16="http://schemas.microsoft.com/office/drawing/2014/main" id="{B9D477AC-31A7-05C9-40A0-95F33B4E8A03}"/>
              </a:ext>
            </a:extLst>
          </p:cNvPr>
          <p:cNvSpPr/>
          <p:nvPr/>
        </p:nvSpPr>
        <p:spPr>
          <a:xfrm>
            <a:off x="609600" y="1964436"/>
            <a:ext cx="617808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Current runtime: shared API and SQL</a:t>
            </a:r>
          </a:p>
          <a:p>
            <a:pPr algn="l">
              <a:buNone/>
            </a:pPr>
            <a:r>
              <a:rPr lang="en-US" sz="100">
                <a:effectLst/>
              </a:rPr>
              <a:t> </a:t>
            </a:r>
            <a:endParaRPr lang="en-US"/>
          </a:p>
        </p:txBody>
      </p:sp>
      <p:sp>
        <p:nvSpPr>
          <p:cNvPr id="16298" name="One API box">
            <a:extLst>
              <a:ext uri="{FF2B5EF4-FFF2-40B4-BE49-F238E27FC236}">
                <a16:creationId xmlns:a16="http://schemas.microsoft.com/office/drawing/2014/main" id="{E3258AF7-E431-B1BA-8561-42BEE5D21379}"/>
              </a:ext>
            </a:extLst>
          </p:cNvPr>
          <p:cNvSpPr/>
          <p:nvPr/>
        </p:nvSpPr>
        <p:spPr>
          <a:xfrm>
            <a:off x="701040" y="2514600"/>
            <a:ext cx="5995200" cy="883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04" name="One API title">
            <a:extLst>
              <a:ext uri="{FF2B5EF4-FFF2-40B4-BE49-F238E27FC236}">
                <a16:creationId xmlns:a16="http://schemas.microsoft.com/office/drawing/2014/main" id="{1D9329FB-3CAA-7E56-4517-26DC18579843}"/>
              </a:ext>
            </a:extLst>
          </p:cNvPr>
          <p:cNvSpPr/>
          <p:nvPr/>
        </p:nvSpPr>
        <p:spPr>
          <a:xfrm>
            <a:off x="701040" y="2522220"/>
            <a:ext cx="5995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One API · five bounded assistants</a:t>
            </a:r>
          </a:p>
          <a:p>
            <a:pPr algn="l">
              <a:buNone/>
            </a:pPr>
            <a:r>
              <a:rPr lang="en-US" sz="100">
                <a:effectLst/>
              </a:rPr>
              <a:t> </a:t>
            </a:r>
            <a:endParaRPr lang="en-US"/>
          </a:p>
        </p:txBody>
      </p:sp>
      <p:sp>
        <p:nvSpPr>
          <p:cNvPr id="16311" name="Assistant Prioritisation">
            <a:extLst>
              <a:ext uri="{FF2B5EF4-FFF2-40B4-BE49-F238E27FC236}">
                <a16:creationId xmlns:a16="http://schemas.microsoft.com/office/drawing/2014/main" id="{1CAEC200-BC12-6112-B3CD-481893BF0C3D}"/>
              </a:ext>
            </a:extLst>
          </p:cNvPr>
          <p:cNvSpPr/>
          <p:nvPr/>
        </p:nvSpPr>
        <p:spPr>
          <a:xfrm>
            <a:off x="792480"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16319" name="Assistant Assessment">
            <a:extLst>
              <a:ext uri="{FF2B5EF4-FFF2-40B4-BE49-F238E27FC236}">
                <a16:creationId xmlns:a16="http://schemas.microsoft.com/office/drawing/2014/main" id="{28DB9105-F752-6B36-C6D6-B0C317A606E0}"/>
              </a:ext>
            </a:extLst>
          </p:cNvPr>
          <p:cNvSpPr/>
          <p:nvPr/>
        </p:nvSpPr>
        <p:spPr>
          <a:xfrm>
            <a:off x="1964088"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16328" name="Assistant Funding">
            <a:extLst>
              <a:ext uri="{FF2B5EF4-FFF2-40B4-BE49-F238E27FC236}">
                <a16:creationId xmlns:a16="http://schemas.microsoft.com/office/drawing/2014/main" id="{C4CEE34F-AD44-15EB-0631-DE625407AF5C}"/>
              </a:ext>
            </a:extLst>
          </p:cNvPr>
          <p:cNvSpPr/>
          <p:nvPr/>
        </p:nvSpPr>
        <p:spPr>
          <a:xfrm>
            <a:off x="3135696"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16338" name="Assistant Coordination">
            <a:extLst>
              <a:ext uri="{FF2B5EF4-FFF2-40B4-BE49-F238E27FC236}">
                <a16:creationId xmlns:a16="http://schemas.microsoft.com/office/drawing/2014/main" id="{0EB5A743-4A85-55DA-9239-D86E4113B159}"/>
              </a:ext>
            </a:extLst>
          </p:cNvPr>
          <p:cNvSpPr/>
          <p:nvPr/>
        </p:nvSpPr>
        <p:spPr>
          <a:xfrm>
            <a:off x="4307304"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16349" name="Assistant Quality">
            <a:extLst>
              <a:ext uri="{FF2B5EF4-FFF2-40B4-BE49-F238E27FC236}">
                <a16:creationId xmlns:a16="http://schemas.microsoft.com/office/drawing/2014/main" id="{AB413196-4547-7629-CBE0-48F991EE0985}"/>
              </a:ext>
            </a:extLst>
          </p:cNvPr>
          <p:cNvSpPr/>
          <p:nvPr/>
        </p:nvSpPr>
        <p:spPr>
          <a:xfrm>
            <a:off x="5478912"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Quality</a:t>
            </a:r>
          </a:p>
          <a:p>
            <a:pPr algn="ctr">
              <a:buNone/>
            </a:pPr>
            <a:r>
              <a:rPr lang="en-US" sz="100">
                <a:effectLst/>
              </a:rPr>
              <a:t> </a:t>
            </a:r>
            <a:endParaRPr lang="en-US"/>
          </a:p>
        </p:txBody>
      </p:sp>
      <p:sp>
        <p:nvSpPr>
          <p:cNvPr id="16361" name="API to SQL">
            <a:extLst>
              <a:ext uri="{FF2B5EF4-FFF2-40B4-BE49-F238E27FC236}">
                <a16:creationId xmlns:a16="http://schemas.microsoft.com/office/drawing/2014/main" id="{F4E2969B-B009-0869-71DC-DAECA7A43FEF}"/>
              </a:ext>
            </a:extLst>
          </p:cNvPr>
          <p:cNvSpPr/>
          <p:nvPr/>
        </p:nvSpPr>
        <p:spPr>
          <a:xfrm>
            <a:off x="3561480" y="3444240"/>
            <a:ext cx="27432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74" name="SQL state box">
            <a:extLst>
              <a:ext uri="{FF2B5EF4-FFF2-40B4-BE49-F238E27FC236}">
                <a16:creationId xmlns:a16="http://schemas.microsoft.com/office/drawing/2014/main" id="{57FCBC87-3EF8-B84A-926E-EB6892B14539}"/>
              </a:ext>
            </a:extLst>
          </p:cNvPr>
          <p:cNvSpPr/>
          <p:nvPr/>
        </p:nvSpPr>
        <p:spPr>
          <a:xfrm>
            <a:off x="701040" y="3718560"/>
            <a:ext cx="5995200" cy="731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88" name="SQL box text">
            <a:extLst>
              <a:ext uri="{FF2B5EF4-FFF2-40B4-BE49-F238E27FC236}">
                <a16:creationId xmlns:a16="http://schemas.microsoft.com/office/drawing/2014/main" id="{D1560144-396B-69ED-3AFC-907D520BE60C}"/>
              </a:ext>
            </a:extLst>
          </p:cNvPr>
          <p:cNvSpPr/>
          <p:nvPr/>
        </p:nvSpPr>
        <p:spPr>
          <a:xfrm>
            <a:off x="701040" y="3810000"/>
            <a:ext cx="599520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SQL state</a:t>
            </a:r>
          </a:p>
          <a:p>
            <a:pPr algn="l">
              <a:buNone/>
            </a:pPr>
            <a:r>
              <a:rPr lang="en-US" sz="1400">
                <a:solidFill>
                  <a:srgbClr val="173F35"/>
                </a:solidFill>
                <a:effectLst/>
                <a:latin typeface="Arial" panose="020B0604020202020204" pitchFamily="34" charset="0"/>
              </a:rPr>
              <a:t>Short SQL transactions · inference outside locks</a:t>
            </a:r>
            <a:endParaRPr lang="en-US"/>
          </a:p>
        </p:txBody>
      </p:sp>
      <p:sp>
        <p:nvSpPr>
          <p:cNvPr id="16403" name="Future split label">
            <a:extLst>
              <a:ext uri="{FF2B5EF4-FFF2-40B4-BE49-F238E27FC236}">
                <a16:creationId xmlns:a16="http://schemas.microsoft.com/office/drawing/2014/main" id="{D5D7E2EA-859E-A446-FADA-ACF179856AB0}"/>
              </a:ext>
            </a:extLst>
          </p:cNvPr>
          <p:cNvSpPr/>
          <p:nvPr/>
        </p:nvSpPr>
        <p:spPr>
          <a:xfrm>
            <a:off x="7458240" y="1638300"/>
            <a:ext cx="22860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FUTURE SPLIT</a:t>
            </a:r>
          </a:p>
          <a:p>
            <a:pPr algn="l">
              <a:buNone/>
            </a:pPr>
            <a:r>
              <a:rPr lang="en-US" sz="100">
                <a:effectLst/>
              </a:rPr>
              <a:t> </a:t>
            </a:r>
            <a:endParaRPr lang="en-US"/>
          </a:p>
        </p:txBody>
      </p:sp>
      <p:sp>
        <p:nvSpPr>
          <p:cNvPr id="16419" name="Deferred pill">
            <a:extLst>
              <a:ext uri="{FF2B5EF4-FFF2-40B4-BE49-F238E27FC236}">
                <a16:creationId xmlns:a16="http://schemas.microsoft.com/office/drawing/2014/main" id="{CDE6A791-3628-A182-42A0-EDB09AFA5848}"/>
              </a:ext>
            </a:extLst>
          </p:cNvPr>
          <p:cNvSpPr/>
          <p:nvPr/>
        </p:nvSpPr>
        <p:spPr>
          <a:xfrm>
            <a:off x="10091928" y="16611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16436" name="Statement 2">
            <a:extLst>
              <a:ext uri="{FF2B5EF4-FFF2-40B4-BE49-F238E27FC236}">
                <a16:creationId xmlns:a16="http://schemas.microsoft.com/office/drawing/2014/main" id="{20D37109-C21A-61AA-A9BA-C82C23A98618}"/>
              </a:ext>
            </a:extLst>
          </p:cNvPr>
          <p:cNvSpPr/>
          <p:nvPr/>
        </p:nvSpPr>
        <p:spPr>
          <a:xfrm>
            <a:off x="7458240" y="2026920"/>
            <a:ext cx="412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Separate workers add failure and operating boundaries</a:t>
            </a:r>
          </a:p>
          <a:p>
            <a:pPr algn="l">
              <a:buNone/>
            </a:pPr>
            <a:r>
              <a:rPr lang="en-US" sz="100">
                <a:effectLst/>
              </a:rPr>
              <a:t> </a:t>
            </a:r>
            <a:endParaRPr lang="en-US"/>
          </a:p>
        </p:txBody>
      </p:sp>
      <p:sp>
        <p:nvSpPr>
          <p:cNvPr id="16454" name="Future API box">
            <a:extLst>
              <a:ext uri="{FF2B5EF4-FFF2-40B4-BE49-F238E27FC236}">
                <a16:creationId xmlns:a16="http://schemas.microsoft.com/office/drawing/2014/main" id="{0DDCDB91-43C1-3393-6160-144FBE5EAC75}"/>
              </a:ext>
            </a:extLst>
          </p:cNvPr>
          <p:cNvSpPr/>
          <p:nvPr/>
        </p:nvSpPr>
        <p:spPr>
          <a:xfrm>
            <a:off x="7549680" y="3002280"/>
            <a:ext cx="777240" cy="5486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API</a:t>
            </a:r>
          </a:p>
          <a:p>
            <a:pPr algn="ctr">
              <a:buNone/>
            </a:pPr>
            <a:r>
              <a:rPr lang="en-US" sz="100">
                <a:effectLst/>
              </a:rPr>
              <a:t> </a:t>
            </a:r>
            <a:endParaRPr lang="en-US"/>
          </a:p>
        </p:txBody>
      </p:sp>
      <p:sp>
        <p:nvSpPr>
          <p:cNvPr id="16473" name="API to queue (deferred)">
            <a:extLst>
              <a:ext uri="{FF2B5EF4-FFF2-40B4-BE49-F238E27FC236}">
                <a16:creationId xmlns:a16="http://schemas.microsoft.com/office/drawing/2014/main" id="{2B631023-700E-6D09-9001-BFD1C4821059}"/>
              </a:ext>
            </a:extLst>
          </p:cNvPr>
          <p:cNvSpPr/>
          <p:nvPr/>
        </p:nvSpPr>
        <p:spPr>
          <a:xfrm>
            <a:off x="837264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493" name="Queue box (deferred)">
            <a:extLst>
              <a:ext uri="{FF2B5EF4-FFF2-40B4-BE49-F238E27FC236}">
                <a16:creationId xmlns:a16="http://schemas.microsoft.com/office/drawing/2014/main" id="{CD761C5E-4A1F-5EA8-3BAE-3A256E28E209}"/>
              </a:ext>
            </a:extLst>
          </p:cNvPr>
          <p:cNvSpPr/>
          <p:nvPr/>
        </p:nvSpPr>
        <p:spPr>
          <a:xfrm>
            <a:off x="8784120" y="3002280"/>
            <a:ext cx="1005840" cy="54864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Queue</a:t>
            </a:r>
          </a:p>
          <a:p>
            <a:pPr algn="ctr">
              <a:buNone/>
            </a:pPr>
            <a:r>
              <a:rPr lang="en-US" sz="100">
                <a:effectLst/>
              </a:rPr>
              <a:t> </a:t>
            </a:r>
            <a:endParaRPr lang="en-US"/>
          </a:p>
        </p:txBody>
      </p:sp>
      <p:sp>
        <p:nvSpPr>
          <p:cNvPr id="16514" name="Queue to workers (deferred)">
            <a:extLst>
              <a:ext uri="{FF2B5EF4-FFF2-40B4-BE49-F238E27FC236}">
                <a16:creationId xmlns:a16="http://schemas.microsoft.com/office/drawing/2014/main" id="{58267E46-8FD9-D01E-AE3F-EEA6EB29AB40}"/>
              </a:ext>
            </a:extLst>
          </p:cNvPr>
          <p:cNvSpPr/>
          <p:nvPr/>
        </p:nvSpPr>
        <p:spPr>
          <a:xfrm>
            <a:off x="983568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08" name="Added boundaries">
            <a:extLst>
              <a:ext uri="{FF2B5EF4-FFF2-40B4-BE49-F238E27FC236}">
                <a16:creationId xmlns:a16="http://schemas.microsoft.com/office/drawing/2014/main" id="{BFCDCC07-FD13-1093-DD3C-9859C289F977}"/>
              </a:ext>
            </a:extLst>
          </p:cNvPr>
          <p:cNvSpPr/>
          <p:nvPr/>
        </p:nvSpPr>
        <p:spPr>
          <a:xfrm>
            <a:off x="7458240" y="3977640"/>
            <a:ext cx="41241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They also introduce queue ownership, retries, duplicate handling and distributed state.</a:t>
            </a:r>
          </a:p>
          <a:p>
            <a:pPr algn="l">
              <a:buNone/>
            </a:pPr>
            <a:r>
              <a:rPr lang="en-US" sz="100">
                <a:effectLst/>
              </a:rPr>
              <a:t> </a:t>
            </a:r>
            <a:endParaRPr lang="en-US"/>
          </a:p>
        </p:txBody>
      </p:sp>
      <p:sp>
        <p:nvSpPr>
          <p:cNvPr id="16634" name="Current to future split (deferred)">
            <a:extLst>
              <a:ext uri="{FF2B5EF4-FFF2-40B4-BE49-F238E27FC236}">
                <a16:creationId xmlns:a16="http://schemas.microsoft.com/office/drawing/2014/main" id="{8DB8ACEC-A17A-0E10-C990-1DD6C32963CC}"/>
              </a:ext>
            </a:extLst>
          </p:cNvPr>
          <p:cNvSpPr/>
          <p:nvPr/>
        </p:nvSpPr>
        <p:spPr>
          <a:xfrm>
            <a:off x="6894360" y="29413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61" name="Split gate band">
            <a:extLst>
              <a:ext uri="{FF2B5EF4-FFF2-40B4-BE49-F238E27FC236}">
                <a16:creationId xmlns:a16="http://schemas.microsoft.com/office/drawing/2014/main" id="{BC3C4F08-1FEE-0D1F-B584-273AC7B434C1}"/>
              </a:ext>
            </a:extLst>
          </p:cNvPr>
          <p:cNvSpPr/>
          <p:nvPr/>
        </p:nvSpPr>
        <p:spPr>
          <a:xfrm>
            <a:off x="548640" y="4739640"/>
            <a:ext cx="11094720" cy="1021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89" name="When to split label">
            <a:extLst>
              <a:ext uri="{FF2B5EF4-FFF2-40B4-BE49-F238E27FC236}">
                <a16:creationId xmlns:a16="http://schemas.microsoft.com/office/drawing/2014/main" id="{A16C22D9-103D-6EDC-9FC0-C416ECC81C86}"/>
              </a:ext>
            </a:extLst>
          </p:cNvPr>
          <p:cNvSpPr/>
          <p:nvPr/>
        </p:nvSpPr>
        <p:spPr>
          <a:xfrm>
            <a:off x="609600" y="50673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WHEN TO SPLIT</a:t>
            </a:r>
          </a:p>
          <a:p>
            <a:pPr algn="l">
              <a:buNone/>
            </a:pPr>
            <a:r>
              <a:rPr lang="en-US" sz="100">
                <a:effectLst/>
              </a:rPr>
              <a:t> </a:t>
            </a:r>
            <a:endParaRPr lang="en-US"/>
          </a:p>
        </p:txBody>
      </p:sp>
      <p:sp>
        <p:nvSpPr>
          <p:cNvPr id="16718" name="Statement 3">
            <a:extLst>
              <a:ext uri="{FF2B5EF4-FFF2-40B4-BE49-F238E27FC236}">
                <a16:creationId xmlns:a16="http://schemas.microsoft.com/office/drawing/2014/main" id="{B0EB570E-D459-5F5B-EF87-757567E23C66}"/>
              </a:ext>
            </a:extLst>
          </p:cNvPr>
          <p:cNvSpPr/>
          <p:nvPr/>
        </p:nvSpPr>
        <p:spPr>
          <a:xfrm>
            <a:off x="2346960" y="4930140"/>
            <a:ext cx="9235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Split when measured isolation or load justifies it</a:t>
            </a:r>
          </a:p>
          <a:p>
            <a:pPr algn="l">
              <a:buNone/>
            </a:pPr>
            <a:r>
              <a:rPr lang="en-US" sz="1600">
                <a:solidFill>
                  <a:srgbClr val="173F35"/>
                </a:solidFill>
                <a:effectLst/>
                <a:latin typeface="Arial" panose="020B0604020202020204" pitchFamily="34" charset="0"/>
              </a:rPr>
              <a:t>A future split needs explicit contracts, operational evidence and a separate decision.</a:t>
            </a:r>
            <a:endParaRPr lang="en-US"/>
          </a:p>
        </p:txBody>
      </p:sp>
      <p:sp>
        <p:nvSpPr>
          <p:cNvPr id="16748" name="Legend">
            <a:extLst>
              <a:ext uri="{FF2B5EF4-FFF2-40B4-BE49-F238E27FC236}">
                <a16:creationId xmlns:a16="http://schemas.microsoft.com/office/drawing/2014/main" id="{25AB6A77-E84B-9E82-CBD3-0B56FC8B89F0}"/>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current application/state relationship · Hollow arrow = roadmap path</a:t>
            </a:r>
            <a:endParaRPr lang="en-US"/>
          </a:p>
        </p:txBody>
      </p:sp>
      <p:sp>
        <p:nvSpPr>
          <p:cNvPr id="22558" name="Worker 1 (deferred)">
            <a:extLst>
              <a:ext uri="{FF2B5EF4-FFF2-40B4-BE49-F238E27FC236}">
                <a16:creationId xmlns:a16="http://schemas.microsoft.com/office/drawing/2014/main" id="{39B54147-513D-8DB8-9990-E9BB22DF18A3}"/>
              </a:ext>
            </a:extLst>
          </p:cNvPr>
          <p:cNvSpPr/>
          <p:nvPr/>
        </p:nvSpPr>
        <p:spPr>
          <a:xfrm>
            <a:off x="10247160" y="274320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0" name="Worker 2 (deferred)">
            <a:extLst>
              <a:ext uri="{FF2B5EF4-FFF2-40B4-BE49-F238E27FC236}">
                <a16:creationId xmlns:a16="http://schemas.microsoft.com/office/drawing/2014/main" id="{E21544C4-8EE7-015A-E9C6-CF1387D1A3C5}"/>
              </a:ext>
            </a:extLst>
          </p:cNvPr>
          <p:cNvSpPr/>
          <p:nvPr/>
        </p:nvSpPr>
        <p:spPr>
          <a:xfrm>
            <a:off x="10247160" y="315468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3" name="Worker 3 (deferred)">
            <a:extLst>
              <a:ext uri="{FF2B5EF4-FFF2-40B4-BE49-F238E27FC236}">
                <a16:creationId xmlns:a16="http://schemas.microsoft.com/office/drawing/2014/main" id="{4B134D04-6780-2B28-364E-EB83337FACA2}"/>
              </a:ext>
            </a:extLst>
          </p:cNvPr>
          <p:cNvSpPr/>
          <p:nvPr/>
        </p:nvSpPr>
        <p:spPr>
          <a:xfrm>
            <a:off x="10247160" y="356616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 action="ppaction://hlinkshowjump?jump=lastslideviewed"/>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3"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 action="ppaction://hlinkshowjump?jump=lastslideviewed"/>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102" name="Owner feedback card">
            <a:extLst>
              <a:ext uri="{FF2B5EF4-FFF2-40B4-BE49-F238E27FC236}">
                <a16:creationId xmlns:a16="http://schemas.microsoft.com/office/drawing/2014/main" id="{5EE3545D-B285-31BC-1B04-6012EB0A8985}"/>
              </a:ext>
            </a:extLst>
          </p:cNvPr>
          <p:cNvSpPr/>
          <p:nvPr/>
        </p:nvSpPr>
        <p:spPr>
          <a:xfrm>
            <a:off x="548640" y="1508760"/>
            <a:ext cx="3261360" cy="2255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04" name="Desk role research card">
            <a:extLst>
              <a:ext uri="{FF2B5EF4-FFF2-40B4-BE49-F238E27FC236}">
                <a16:creationId xmlns:a16="http://schemas.microsoft.com/office/drawing/2014/main" id="{14846651-7D78-6E39-B9AA-6012E7FF397B}"/>
              </a:ext>
            </a:extLst>
          </p:cNvPr>
          <p:cNvSpPr/>
          <p:nvPr/>
        </p:nvSpPr>
        <p:spPr>
          <a:xfrm>
            <a:off x="3992880" y="1508760"/>
            <a:ext cx="3261360" cy="2255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07" name="Informed design band">
            <a:extLst>
              <a:ext uri="{FF2B5EF4-FFF2-40B4-BE49-F238E27FC236}">
                <a16:creationId xmlns:a16="http://schemas.microsoft.com/office/drawing/2014/main" id="{9BD1ABCF-518B-5873-FA63-883310D86B92}"/>
              </a:ext>
            </a:extLst>
          </p:cNvPr>
          <p:cNvSpPr/>
          <p:nvPr/>
        </p:nvSpPr>
        <p:spPr>
          <a:xfrm>
            <a:off x="548640" y="3947160"/>
            <a:ext cx="6705600" cy="19659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11" name="Actual human validation card">
            <a:extLst>
              <a:ext uri="{FF2B5EF4-FFF2-40B4-BE49-F238E27FC236}">
                <a16:creationId xmlns:a16="http://schemas.microsoft.com/office/drawing/2014/main" id="{8FABB807-85D5-15D7-D1CA-0349A6A2C96A}"/>
              </a:ext>
            </a:extLst>
          </p:cNvPr>
          <p:cNvSpPr/>
          <p:nvPr/>
        </p:nvSpPr>
        <p:spPr>
          <a:xfrm>
            <a:off x="7802880" y="1508760"/>
            <a:ext cx="3840480" cy="440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16" name="Owner feedback text">
            <a:extLst>
              <a:ext uri="{FF2B5EF4-FFF2-40B4-BE49-F238E27FC236}">
                <a16:creationId xmlns:a16="http://schemas.microsoft.com/office/drawing/2014/main" id="{6FCCA138-E16A-C242-C7AF-CCC492D0ACB2}"/>
              </a:ext>
            </a:extLst>
          </p:cNvPr>
          <p:cNvSpPr/>
          <p:nvPr/>
        </p:nvSpPr>
        <p:spPr>
          <a:xfrm>
            <a:off x="609600" y="1661160"/>
            <a:ext cx="3139440" cy="1767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Owner feedback</a:t>
            </a:r>
          </a:p>
          <a:p>
            <a:pPr algn="l">
              <a:buNone/>
            </a:pPr>
            <a:r>
              <a:rPr lang="en-US" sz="1800" b="1">
                <a:solidFill>
                  <a:srgbClr val="173F35"/>
                </a:solidFill>
                <a:effectLst/>
                <a:latin typeface="Arial" panose="020B0604020202020204" pitchFamily="34" charset="0"/>
              </a:rPr>
              <a:t>Prototype review and owner direction</a:t>
            </a:r>
          </a:p>
          <a:p>
            <a:pPr algn="l">
              <a:buNone/>
            </a:pPr>
            <a:r>
              <a:rPr lang="en-US" sz="1800">
                <a:solidFill>
                  <a:srgbClr val="173F35"/>
                </a:solidFill>
                <a:effectLst/>
                <a:latin typeface="Arial" panose="020B0604020202020204" pitchFamily="34" charset="0"/>
              </a:rPr>
              <a:t>Simpler workbench, ownership, evidence and assisted routes</a:t>
            </a:r>
            <a:endParaRPr lang="en-US"/>
          </a:p>
        </p:txBody>
      </p:sp>
      <p:sp>
        <p:nvSpPr>
          <p:cNvPr id="22129" name="Not validation pill">
            <a:extLst>
              <a:ext uri="{FF2B5EF4-FFF2-40B4-BE49-F238E27FC236}">
                <a16:creationId xmlns:a16="http://schemas.microsoft.com/office/drawing/2014/main" id="{C3D8D303-64A3-489E-A8C1-62827AF3DDB8}"/>
              </a:ext>
            </a:extLst>
          </p:cNvPr>
          <p:cNvSpPr/>
          <p:nvPr/>
        </p:nvSpPr>
        <p:spPr>
          <a:xfrm>
            <a:off x="701040" y="4099560"/>
            <a:ext cx="38130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REAL-USER VALIDATION: IN THE PILOT</a:t>
            </a:r>
            <a:endParaRPr lang="en-US"/>
          </a:p>
        </p:txBody>
      </p:sp>
      <p:sp>
        <p:nvSpPr>
          <p:cNvPr id="22146" name="Outstanding pill">
            <a:extLst>
              <a:ext uri="{FF2B5EF4-FFF2-40B4-BE49-F238E27FC236}">
                <a16:creationId xmlns:a16="http://schemas.microsoft.com/office/drawing/2014/main" id="{A2F4A2F2-49F9-2A6D-771F-ADCAD226DD86}"/>
              </a:ext>
            </a:extLst>
          </p:cNvPr>
          <p:cNvSpPr/>
          <p:nvPr/>
        </p:nvSpPr>
        <p:spPr>
          <a:xfrm>
            <a:off x="7955280" y="16611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167" name="Endorsement guard">
            <a:extLst>
              <a:ext uri="{FF2B5EF4-FFF2-40B4-BE49-F238E27FC236}">
                <a16:creationId xmlns:a16="http://schemas.microsoft.com/office/drawing/2014/main" id="{CB9A6EB6-8B36-45F5-32BF-1D6703C3DC0F}"/>
              </a:ext>
            </a:extLst>
          </p:cNvPr>
          <p:cNvSpPr/>
          <p:nvPr/>
        </p:nvSpPr>
        <p:spPr>
          <a:xfrm>
            <a:off x="7863840" y="5242560"/>
            <a:ext cx="37185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Every endorsement we show will come from real customers in the pilot.</a:t>
            </a:r>
            <a:endParaRPr lang="en-US"/>
          </a:p>
        </p:txBody>
      </p:sp>
      <p:sp>
        <p:nvSpPr>
          <p:cNvPr id="22179" name="To human validation (pending)">
            <a:extLst>
              <a:ext uri="{FF2B5EF4-FFF2-40B4-BE49-F238E27FC236}">
                <a16:creationId xmlns:a16="http://schemas.microsoft.com/office/drawing/2014/main" id="{3EB721D3-162A-F734-0EB7-345573EFD45A}"/>
              </a:ext>
            </a:extLst>
          </p:cNvPr>
          <p:cNvSpPr/>
          <p:nvPr/>
        </p:nvSpPr>
        <p:spPr>
          <a:xfrm>
            <a:off x="7299960" y="25222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968" name="Statement 1">
            <a:extLst>
              <a:ext uri="{FF2B5EF4-FFF2-40B4-BE49-F238E27FC236}">
                <a16:creationId xmlns:a16="http://schemas.microsoft.com/office/drawing/2014/main" id="{3847F507-9B73-ABEE-25C8-0AD8231AC291}"/>
              </a:ext>
            </a:extLst>
          </p:cNvPr>
          <p:cNvSpPr/>
          <p:nvPr/>
        </p:nvSpPr>
        <p:spPr>
          <a:xfrm>
            <a:off x="609600" y="4511040"/>
            <a:ext cx="658368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Owner feedback and role-instrument review informed design</a:t>
            </a:r>
          </a:p>
          <a:p>
            <a:pPr algn="l">
              <a:buNone/>
            </a:pPr>
            <a:r>
              <a:rPr lang="en-US" sz="1800">
                <a:solidFill>
                  <a:srgbClr val="173F35"/>
                </a:solidFill>
                <a:effectLst/>
                <a:latin typeface="Arial" panose="020B0604020202020204" pitchFamily="34" charset="0"/>
              </a:rPr>
              <a:t>Real residents and staff validate the service in the pilot; these sources shaped the design.</a:t>
            </a:r>
            <a:endParaRPr lang="en-US"/>
          </a:p>
        </p:txBody>
      </p:sp>
      <p:sp>
        <p:nvSpPr>
          <p:cNvPr id="59995" name="Desk role research text">
            <a:extLst>
              <a:ext uri="{FF2B5EF4-FFF2-40B4-BE49-F238E27FC236}">
                <a16:creationId xmlns:a16="http://schemas.microsoft.com/office/drawing/2014/main" id="{32B20C45-8AD7-CC8C-7331-80BE911FC2E5}"/>
              </a:ext>
            </a:extLst>
          </p:cNvPr>
          <p:cNvSpPr/>
          <p:nvPr/>
        </p:nvSpPr>
        <p:spPr>
          <a:xfrm>
            <a:off x="4053840" y="1661160"/>
            <a:ext cx="3139440" cy="2042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Desk / role research</a:t>
            </a:r>
          </a:p>
          <a:p>
            <a:pPr algn="l">
              <a:buNone/>
            </a:pPr>
            <a:r>
              <a:rPr lang="en-US" sz="1800" b="1">
                <a:solidFill>
                  <a:srgbClr val="173F35"/>
                </a:solidFill>
                <a:effectLst/>
                <a:latin typeface="Arial" panose="020B0604020202020204" pitchFamily="34" charset="0"/>
              </a:rPr>
              <a:t>Role agents sharpened</a:t>
            </a:r>
          </a:p>
          <a:p>
            <a:pPr algn="l">
              <a:buNone/>
            </a:pPr>
            <a:r>
              <a:rPr lang="en-US" sz="1800" b="1">
                <a:solidFill>
                  <a:srgbClr val="173F35"/>
                </a:solidFill>
                <a:effectLst/>
                <a:latin typeface="Arial" panose="020B0604020202020204" pitchFamily="34" charset="0"/>
              </a:rPr>
              <a:t>the design;</a:t>
            </a:r>
          </a:p>
          <a:p>
            <a:pPr algn="l">
              <a:buNone/>
            </a:pPr>
            <a:r>
              <a:rPr lang="en-US" sz="1800" b="1">
                <a:solidFill>
                  <a:srgbClr val="173F35"/>
                </a:solidFill>
                <a:effectLst/>
                <a:latin typeface="Arial" panose="020B0604020202020204" pitchFamily="34" charset="0"/>
              </a:rPr>
              <a:t>customers validate it</a:t>
            </a:r>
          </a:p>
          <a:p>
            <a:pPr algn="l">
              <a:buNone/>
            </a:pPr>
            <a:r>
              <a:rPr lang="en-US" sz="1800">
                <a:solidFill>
                  <a:srgbClr val="173F35"/>
                </a:solidFill>
                <a:effectLst/>
                <a:latin typeface="Arial" panose="020B0604020202020204" pitchFamily="34" charset="0"/>
              </a:rPr>
              <a:t>Structured role-instrument research can expose plausible tensions</a:t>
            </a:r>
            <a:endParaRPr lang="en-US"/>
          </a:p>
        </p:txBody>
      </p:sp>
      <p:sp>
        <p:nvSpPr>
          <p:cNvPr id="67282" name="Actual human validation text">
            <a:extLst>
              <a:ext uri="{FF2B5EF4-FFF2-40B4-BE49-F238E27FC236}">
                <a16:creationId xmlns:a16="http://schemas.microsoft.com/office/drawing/2014/main" id="{133EAB88-24CC-FD99-9214-0B5EF6A5886C}"/>
              </a:ext>
            </a:extLst>
          </p:cNvPr>
          <p:cNvSpPr/>
          <p:nvPr/>
        </p:nvSpPr>
        <p:spPr>
          <a:xfrm>
            <a:off x="7863840" y="2072640"/>
            <a:ext cx="3718560" cy="2316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Actual human validation</a:t>
            </a:r>
          </a:p>
          <a:p>
            <a:pPr algn="l">
              <a:buNone/>
            </a:pPr>
            <a:r>
              <a:rPr lang="en-US" sz="1800" b="1">
                <a:solidFill>
                  <a:srgbClr val="173F35"/>
                </a:solidFill>
                <a:effectLst/>
                <a:latin typeface="Arial" panose="020B0604020202020204" pitchFamily="34" charset="0"/>
              </a:rPr>
              <a:t>Human task and comprehension validation: next milestone</a:t>
            </a:r>
          </a:p>
          <a:p>
            <a:pPr algn="l">
              <a:buNone/>
            </a:pPr>
            <a:r>
              <a:rPr lang="en-US" sz="1800">
                <a:solidFill>
                  <a:srgbClr val="173F35"/>
                </a:solidFill>
                <a:effectLst/>
                <a:latin typeface="Arial" panose="020B0604020202020204" pitchFamily="34" charset="0"/>
              </a:rPr>
              <a:t>The pilot tests the design with</a:t>
            </a:r>
          </a:p>
          <a:p>
            <a:pPr algn="l">
              <a:buNone/>
            </a:pPr>
            <a:r>
              <a:rPr lang="en-US" sz="1800">
                <a:solidFill>
                  <a:srgbClr val="173F35"/>
                </a:solidFill>
                <a:effectLst/>
                <a:latin typeface="Arial" panose="020B0604020202020204" pitchFamily="34" charset="0"/>
              </a:rPr>
              <a:t>the right people and accessible</a:t>
            </a:r>
          </a:p>
          <a:p>
            <a:pPr algn="l">
              <a:buNone/>
            </a:pPr>
            <a:r>
              <a:rPr lang="en-US" sz="1800">
                <a:solidFill>
                  <a:srgbClr val="173F35"/>
                </a:solidFill>
                <a:effectLst/>
                <a:latin typeface="Arial" panose="020B0604020202020204" pitchFamily="34" charset="0"/>
              </a:rPr>
              <a:t>routes, under privacy and</a:t>
            </a:r>
          </a:p>
          <a:p>
            <a:pPr algn="l">
              <a:buNone/>
            </a:pPr>
            <a:r>
              <a:rPr lang="en-US" sz="1800">
                <a:solidFill>
                  <a:srgbClr val="173F35"/>
                </a:solidFill>
                <a:effectLst/>
                <a:latin typeface="Arial" panose="020B0604020202020204" pitchFamily="34" charset="0"/>
              </a:rPr>
              <a:t>research controls.</a:t>
            </a:r>
            <a:endParaRPr lang="en-US"/>
          </a:p>
        </p:txBody>
      </p:sp>
      <p:sp>
        <p:nvSpPr>
          <p:cNvPr id="2" name="Appendix topic destination">
            <a:hlinkClick r:id="rId3"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 action="ppaction://hlinkshowjump?jump=lastslideviewed"/>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180" name="Statement 1">
            <a:extLst>
              <a:ext uri="{FF2B5EF4-FFF2-40B4-BE49-F238E27FC236}">
                <a16:creationId xmlns:a16="http://schemas.microsoft.com/office/drawing/2014/main" id="{976AC309-2AF0-2F46-5BF6-DD7758835EF9}"/>
              </a:ext>
            </a:extLst>
          </p:cNvPr>
          <p:cNvSpPr/>
          <p:nvPr/>
        </p:nvSpPr>
        <p:spPr>
          <a:xfrm>
            <a:off x="548640" y="1508760"/>
            <a:ext cx="1109472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BRD, PRD and ADRs generated a hierarchical issue backlog</a:t>
            </a:r>
          </a:p>
          <a:p>
            <a:pPr algn="l">
              <a:buNone/>
            </a:pPr>
            <a:r>
              <a:rPr lang="en-US" sz="100">
                <a:effectLst/>
              </a:rPr>
              <a:t> </a:t>
            </a:r>
            <a:endParaRPr lang="en-US"/>
          </a:p>
        </p:txBody>
      </p:sp>
      <p:sp>
        <p:nvSpPr>
          <p:cNvPr id="22182" name="Trace label">
            <a:extLst>
              <a:ext uri="{FF2B5EF4-FFF2-40B4-BE49-F238E27FC236}">
                <a16:creationId xmlns:a16="http://schemas.microsoft.com/office/drawing/2014/main" id="{DA266E8C-1135-4A7B-003A-4CAE6008268F}"/>
              </a:ext>
            </a:extLst>
          </p:cNvPr>
          <p:cNvSpPr/>
          <p:nvPr/>
        </p:nvSpPr>
        <p:spPr>
          <a:xfrm>
            <a:off x="548640" y="2034540"/>
            <a:ext cx="624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ONE CONCRETE TRACE</a:t>
            </a:r>
          </a:p>
          <a:p>
            <a:pPr algn="l">
              <a:buNone/>
            </a:pPr>
            <a:r>
              <a:rPr lang="en-US" sz="100">
                <a:effectLst/>
              </a:rPr>
              <a:t> </a:t>
            </a:r>
            <a:endParaRPr lang="en-US"/>
          </a:p>
        </p:txBody>
      </p:sp>
      <p:sp>
        <p:nvSpPr>
          <p:cNvPr id="22185" name="Epic #73 tag">
            <a:extLst>
              <a:ext uri="{FF2B5EF4-FFF2-40B4-BE49-F238E27FC236}">
                <a16:creationId xmlns:a16="http://schemas.microsoft.com/office/drawing/2014/main" id="{7978012B-BF19-7D80-F6CC-A7D023C189B5}"/>
              </a:ext>
            </a:extLst>
          </p:cNvPr>
          <p:cNvSpPr/>
          <p:nvPr/>
        </p:nvSpPr>
        <p:spPr>
          <a:xfrm>
            <a:off x="548640" y="24688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Epic #73</a:t>
            </a:r>
          </a:p>
          <a:p>
            <a:pPr algn="ctr">
              <a:buNone/>
            </a:pPr>
            <a:r>
              <a:rPr lang="en-US" sz="100">
                <a:effectLst/>
              </a:rPr>
              <a:t> </a:t>
            </a:r>
            <a:endParaRPr lang="en-US"/>
          </a:p>
        </p:txBody>
      </p:sp>
      <p:sp>
        <p:nvSpPr>
          <p:cNvPr id="22189" name="Epic #73 detail">
            <a:extLst>
              <a:ext uri="{FF2B5EF4-FFF2-40B4-BE49-F238E27FC236}">
                <a16:creationId xmlns:a16="http://schemas.microsoft.com/office/drawing/2014/main" id="{30304FF3-3B1A-E380-42E9-614F214E54B8}"/>
              </a:ext>
            </a:extLst>
          </p:cNvPr>
          <p:cNvSpPr/>
          <p:nvPr/>
        </p:nvSpPr>
        <p:spPr>
          <a:xfrm>
            <a:off x="2240280" y="238506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BRD BG-011, FR-001 to FR-007, FR-032/034, NFR-003</a:t>
            </a:r>
          </a:p>
          <a:p>
            <a:pPr algn="l">
              <a:buNone/>
            </a:pPr>
            <a:r>
              <a:rPr lang="en-US" sz="100">
                <a:effectLst/>
              </a:rPr>
              <a:t> </a:t>
            </a:r>
            <a:endParaRPr lang="en-US"/>
          </a:p>
        </p:txBody>
      </p:sp>
      <p:sp>
        <p:nvSpPr>
          <p:cNvPr id="22194" name="Trace arrow 1">
            <a:extLst>
              <a:ext uri="{FF2B5EF4-FFF2-40B4-BE49-F238E27FC236}">
                <a16:creationId xmlns:a16="http://schemas.microsoft.com/office/drawing/2014/main" id="{C76370F8-F5C3-FE57-00B0-8A63CD56FD81}"/>
              </a:ext>
            </a:extLst>
          </p:cNvPr>
          <p:cNvSpPr/>
          <p:nvPr/>
        </p:nvSpPr>
        <p:spPr>
          <a:xfrm>
            <a:off x="1257300" y="29260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00" name="Feature #76 tag">
            <a:extLst>
              <a:ext uri="{FF2B5EF4-FFF2-40B4-BE49-F238E27FC236}">
                <a16:creationId xmlns:a16="http://schemas.microsoft.com/office/drawing/2014/main" id="{C1D81AA5-B10E-2675-B1C3-FBF0CC93D177}"/>
              </a:ext>
            </a:extLst>
          </p:cNvPr>
          <p:cNvSpPr/>
          <p:nvPr/>
        </p:nvSpPr>
        <p:spPr>
          <a:xfrm>
            <a:off x="548640" y="31546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Feature #76</a:t>
            </a:r>
          </a:p>
          <a:p>
            <a:pPr algn="ctr">
              <a:buNone/>
            </a:pPr>
            <a:r>
              <a:rPr lang="en-US" sz="100">
                <a:effectLst/>
              </a:rPr>
              <a:t> </a:t>
            </a:r>
            <a:endParaRPr lang="en-US"/>
          </a:p>
        </p:txBody>
      </p:sp>
      <p:sp>
        <p:nvSpPr>
          <p:cNvPr id="22207" name="Trace arrow 2">
            <a:extLst>
              <a:ext uri="{FF2B5EF4-FFF2-40B4-BE49-F238E27FC236}">
                <a16:creationId xmlns:a16="http://schemas.microsoft.com/office/drawing/2014/main" id="{548C899B-59A8-B31F-9F90-3963CAE636C8}"/>
              </a:ext>
            </a:extLst>
          </p:cNvPr>
          <p:cNvSpPr/>
          <p:nvPr/>
        </p:nvSpPr>
        <p:spPr>
          <a:xfrm>
            <a:off x="1257300" y="36118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15" name="Story #77 tag">
            <a:extLst>
              <a:ext uri="{FF2B5EF4-FFF2-40B4-BE49-F238E27FC236}">
                <a16:creationId xmlns:a16="http://schemas.microsoft.com/office/drawing/2014/main" id="{F6E80A7D-832C-38A6-4888-99B1504AD694}"/>
              </a:ext>
            </a:extLst>
          </p:cNvPr>
          <p:cNvSpPr/>
          <p:nvPr/>
        </p:nvSpPr>
        <p:spPr>
          <a:xfrm>
            <a:off x="548640" y="38404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Story #77</a:t>
            </a:r>
          </a:p>
          <a:p>
            <a:pPr algn="ctr">
              <a:buNone/>
            </a:pPr>
            <a:r>
              <a:rPr lang="en-US" sz="100">
                <a:effectLst/>
              </a:rPr>
              <a:t> </a:t>
            </a:r>
            <a:endParaRPr lang="en-US"/>
          </a:p>
        </p:txBody>
      </p:sp>
      <p:sp>
        <p:nvSpPr>
          <p:cNvPr id="22224" name="Story #77 detail">
            <a:extLst>
              <a:ext uri="{FF2B5EF4-FFF2-40B4-BE49-F238E27FC236}">
                <a16:creationId xmlns:a16="http://schemas.microsoft.com/office/drawing/2014/main" id="{7A2A6EC3-5263-F07D-FD8E-D4CEB0D8D176}"/>
              </a:ext>
            </a:extLst>
          </p:cNvPr>
          <p:cNvSpPr/>
          <p:nvPr/>
        </p:nvSpPr>
        <p:spPr>
          <a:xfrm>
            <a:off x="2240280" y="375666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PRD FR-004/032/034: queue definitions, versioned reset</a:t>
            </a:r>
          </a:p>
          <a:p>
            <a:pPr algn="l">
              <a:buNone/>
            </a:pPr>
            <a:r>
              <a:rPr lang="en-US" sz="100">
                <a:effectLst/>
              </a:rPr>
              <a:t> </a:t>
            </a:r>
            <a:endParaRPr lang="en-US"/>
          </a:p>
        </p:txBody>
      </p:sp>
      <p:sp>
        <p:nvSpPr>
          <p:cNvPr id="22234" name="Trace arrow 3">
            <a:extLst>
              <a:ext uri="{FF2B5EF4-FFF2-40B4-BE49-F238E27FC236}">
                <a16:creationId xmlns:a16="http://schemas.microsoft.com/office/drawing/2014/main" id="{98F1558D-D73E-07EF-124D-19770318CEB3}"/>
              </a:ext>
            </a:extLst>
          </p:cNvPr>
          <p:cNvSpPr/>
          <p:nvPr/>
        </p:nvSpPr>
        <p:spPr>
          <a:xfrm>
            <a:off x="1257300" y="42976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45" name="PR #376 tag">
            <a:extLst>
              <a:ext uri="{FF2B5EF4-FFF2-40B4-BE49-F238E27FC236}">
                <a16:creationId xmlns:a16="http://schemas.microsoft.com/office/drawing/2014/main" id="{185A0EF0-12C9-1B36-F616-5F91FBA1EA6A}"/>
              </a:ext>
            </a:extLst>
          </p:cNvPr>
          <p:cNvSpPr/>
          <p:nvPr/>
        </p:nvSpPr>
        <p:spPr>
          <a:xfrm>
            <a:off x="548640" y="4526280"/>
            <a:ext cx="1645920" cy="4114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#376</a:t>
            </a:r>
          </a:p>
          <a:p>
            <a:pPr algn="ctr">
              <a:buNone/>
            </a:pPr>
            <a:r>
              <a:rPr lang="en-US" sz="100">
                <a:effectLst/>
              </a:rPr>
              <a:t> </a:t>
            </a:r>
            <a:endParaRPr lang="en-US"/>
          </a:p>
        </p:txBody>
      </p:sp>
      <p:sp>
        <p:nvSpPr>
          <p:cNvPr id="22257" name="PR #376 detail">
            <a:extLst>
              <a:ext uri="{FF2B5EF4-FFF2-40B4-BE49-F238E27FC236}">
                <a16:creationId xmlns:a16="http://schemas.microsoft.com/office/drawing/2014/main" id="{DABAF8B4-D00B-ED45-12E9-73486E81A7CC}"/>
              </a:ext>
            </a:extLst>
          </p:cNvPr>
          <p:cNvSpPr/>
          <p:nvPr/>
        </p:nvSpPr>
        <p:spPr>
          <a:xfrm>
            <a:off x="2240280" y="4480560"/>
            <a:ext cx="4648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Delivered; local browser verification</a:t>
            </a:r>
          </a:p>
          <a:p>
            <a:pPr algn="l">
              <a:buNone/>
            </a:pPr>
            <a:r>
              <a:rPr lang="en-US" sz="100">
                <a:effectLst/>
              </a:rPr>
              <a:t> </a:t>
            </a:r>
            <a:endParaRPr lang="en-US"/>
          </a:p>
        </p:txBody>
      </p:sp>
      <p:sp>
        <p:nvSpPr>
          <p:cNvPr id="22270" name="Not yet tag">
            <a:extLst>
              <a:ext uri="{FF2B5EF4-FFF2-40B4-BE49-F238E27FC236}">
                <a16:creationId xmlns:a16="http://schemas.microsoft.com/office/drawing/2014/main" id="{A50F50A1-67F5-AA8D-B1F4-FBECFC17D2BC}"/>
              </a:ext>
            </a:extLst>
          </p:cNvPr>
          <p:cNvSpPr/>
          <p:nvPr/>
        </p:nvSpPr>
        <p:spPr>
          <a:xfrm>
            <a:off x="548640" y="5577840"/>
            <a:ext cx="1645920" cy="411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7A4B00"/>
                </a:solidFill>
                <a:effectLst/>
                <a:latin typeface="Arial" panose="020B0604020202020204" pitchFamily="34" charset="0"/>
              </a:rPr>
              <a:t>Next</a:t>
            </a:r>
            <a:endParaRPr lang="en-US"/>
          </a:p>
        </p:txBody>
      </p:sp>
      <p:sp>
        <p:nvSpPr>
          <p:cNvPr id="22284" name="Not yet detail">
            <a:extLst>
              <a:ext uri="{FF2B5EF4-FFF2-40B4-BE49-F238E27FC236}">
                <a16:creationId xmlns:a16="http://schemas.microsoft.com/office/drawing/2014/main" id="{6634B8E8-EAE8-D231-455C-30377921A82A}"/>
              </a:ext>
            </a:extLst>
          </p:cNvPr>
          <p:cNvSpPr/>
          <p:nvPr/>
        </p:nvSpPr>
        <p:spPr>
          <a:xfrm>
            <a:off x="2240280" y="549402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Real staff, accessibility, current cloud, programme or customer acceptance</a:t>
            </a:r>
          </a:p>
          <a:p>
            <a:pPr algn="l">
              <a:buNone/>
            </a:pPr>
            <a:r>
              <a:rPr lang="en-US" sz="100">
                <a:effectLst/>
              </a:rPr>
              <a:t> </a:t>
            </a:r>
            <a:endParaRPr lang="en-US"/>
          </a:p>
        </p:txBody>
      </p:sp>
      <p:sp>
        <p:nvSpPr>
          <p:cNvPr id="22299" name="Acceptance boundary line">
            <a:extLst>
              <a:ext uri="{FF2B5EF4-FFF2-40B4-BE49-F238E27FC236}">
                <a16:creationId xmlns:a16="http://schemas.microsoft.com/office/drawing/2014/main" id="{0A39B345-540F-F990-2810-4107B63AB7EC}"/>
              </a:ext>
            </a:extLst>
          </p:cNvPr>
          <p:cNvSpPr/>
          <p:nvPr/>
        </p:nvSpPr>
        <p:spPr>
          <a:xfrm>
            <a:off x="548640" y="5238750"/>
            <a:ext cx="6248400" cy="381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15" name="Boundary label">
            <a:extLst>
              <a:ext uri="{FF2B5EF4-FFF2-40B4-BE49-F238E27FC236}">
                <a16:creationId xmlns:a16="http://schemas.microsoft.com/office/drawing/2014/main" id="{04615B2A-816E-E712-2353-7C26ADE6BF7E}"/>
              </a:ext>
            </a:extLst>
          </p:cNvPr>
          <p:cNvSpPr/>
          <p:nvPr/>
        </p:nvSpPr>
        <p:spPr>
          <a:xfrm>
            <a:off x="2240280" y="4964430"/>
            <a:ext cx="4648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ACCEPTANCE BOUNDARY</a:t>
            </a:r>
          </a:p>
          <a:p>
            <a:pPr algn="l">
              <a:buNone/>
            </a:pPr>
            <a:r>
              <a:rPr lang="en-US" sz="100">
                <a:effectLst/>
              </a:rPr>
              <a:t> </a:t>
            </a:r>
            <a:endParaRPr lang="en-US"/>
          </a:p>
        </p:txBody>
      </p:sp>
      <p:sp>
        <p:nvSpPr>
          <p:cNvPr id="22332" name="Current board card">
            <a:extLst>
              <a:ext uri="{FF2B5EF4-FFF2-40B4-BE49-F238E27FC236}">
                <a16:creationId xmlns:a16="http://schemas.microsoft.com/office/drawing/2014/main" id="{EDCA548C-6068-4BE9-02CD-469BABE05C6C}"/>
              </a:ext>
            </a:extLst>
          </p:cNvPr>
          <p:cNvSpPr/>
          <p:nvPr/>
        </p:nvSpPr>
        <p:spPr>
          <a:xfrm>
            <a:off x="7071360" y="2057400"/>
            <a:ext cx="4572000" cy="1783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50" name="Dated board pill">
            <a:extLst>
              <a:ext uri="{FF2B5EF4-FFF2-40B4-BE49-F238E27FC236}">
                <a16:creationId xmlns:a16="http://schemas.microsoft.com/office/drawing/2014/main" id="{00CC628B-50A5-C040-0D7F-6CC3A2314C16}"/>
              </a:ext>
            </a:extLst>
          </p:cNvPr>
          <p:cNvSpPr/>
          <p:nvPr/>
        </p:nvSpPr>
        <p:spPr>
          <a:xfrm>
            <a:off x="7223760" y="2209800"/>
            <a:ext cx="330098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 23 OCT 2026 · 07:21 UTC</a:t>
            </a:r>
          </a:p>
          <a:p>
            <a:pPr algn="ctr">
              <a:buNone/>
            </a:pPr>
            <a:r>
              <a:rPr lang="en-US" sz="100">
                <a:effectLst/>
              </a:rPr>
              <a:t> </a:t>
            </a:r>
            <a:endParaRPr lang="en-US"/>
          </a:p>
        </p:txBody>
      </p:sp>
      <p:sp>
        <p:nvSpPr>
          <p:cNvPr id="22389" name="Bounded method card">
            <a:extLst>
              <a:ext uri="{FF2B5EF4-FFF2-40B4-BE49-F238E27FC236}">
                <a16:creationId xmlns:a16="http://schemas.microsoft.com/office/drawing/2014/main" id="{FAD9DCC6-E5AA-ABAE-5946-C85505529FC8}"/>
              </a:ext>
            </a:extLst>
          </p:cNvPr>
          <p:cNvSpPr/>
          <p:nvPr/>
        </p:nvSpPr>
        <p:spPr>
          <a:xfrm>
            <a:off x="7071360" y="4114800"/>
            <a:ext cx="4572000" cy="1783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10" name="Method label">
            <a:extLst>
              <a:ext uri="{FF2B5EF4-FFF2-40B4-BE49-F238E27FC236}">
                <a16:creationId xmlns:a16="http://schemas.microsoft.com/office/drawing/2014/main" id="{D4F22001-DBE0-013F-3466-E543C3886865}"/>
              </a:ext>
            </a:extLst>
          </p:cNvPr>
          <p:cNvSpPr/>
          <p:nvPr/>
        </p:nvSpPr>
        <p:spPr>
          <a:xfrm>
            <a:off x="7132320" y="4244340"/>
            <a:ext cx="4450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HOW THE WORK WAS BOUNDED</a:t>
            </a:r>
          </a:p>
          <a:p>
            <a:pPr algn="l">
              <a:buNone/>
            </a:pPr>
            <a:r>
              <a:rPr lang="en-US" sz="100">
                <a:effectLst/>
              </a:rPr>
              <a:t> </a:t>
            </a:r>
            <a:endParaRPr lang="en-US"/>
          </a:p>
        </p:txBody>
      </p:sp>
      <p:sp>
        <p:nvSpPr>
          <p:cNvPr id="22432" name="Statement 3">
            <a:extLst>
              <a:ext uri="{FF2B5EF4-FFF2-40B4-BE49-F238E27FC236}">
                <a16:creationId xmlns:a16="http://schemas.microsoft.com/office/drawing/2014/main" id="{DA3E79B4-1885-FEDE-B434-DE09B5670E2C}"/>
              </a:ext>
            </a:extLst>
          </p:cNvPr>
          <p:cNvSpPr/>
          <p:nvPr/>
        </p:nvSpPr>
        <p:spPr>
          <a:xfrm>
            <a:off x="7132320" y="4678680"/>
            <a:ext cx="44500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RPI, dependencies, pull requests and retained findings</a:t>
            </a:r>
          </a:p>
          <a:p>
            <a:pPr algn="l">
              <a:buNone/>
            </a:pPr>
            <a:r>
              <a:rPr lang="en-US" sz="1400">
                <a:solidFill>
                  <a:srgbClr val="173F35"/>
                </a:solidFill>
                <a:effectLst/>
                <a:latin typeface="Arial" panose="020B0604020202020204" pitchFamily="34" charset="0"/>
              </a:rPr>
              <a:t>Independent review and owner decisions remain separate.</a:t>
            </a:r>
            <a:endParaRPr lang="en-US"/>
          </a:p>
        </p:txBody>
      </p:sp>
      <p:sp>
        <p:nvSpPr>
          <p:cNvPr id="59973" name="Statement 2">
            <a:extLst>
              <a:ext uri="{FF2B5EF4-FFF2-40B4-BE49-F238E27FC236}">
                <a16:creationId xmlns:a16="http://schemas.microsoft.com/office/drawing/2014/main" id="{CF4A1B15-D393-1008-DD57-D533D6374231}"/>
              </a:ext>
            </a:extLst>
          </p:cNvPr>
          <p:cNvSpPr/>
          <p:nvPr/>
        </p:nvSpPr>
        <p:spPr>
          <a:xfrm>
            <a:off x="7132320" y="2621280"/>
            <a:ext cx="44500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board: 189 items; 16 epic, 110 feature, 34 story, 29 other</a:t>
            </a:r>
          </a:p>
          <a:p>
            <a:pPr algn="l">
              <a:buNone/>
            </a:pPr>
            <a:r>
              <a:rPr lang="en-US" sz="1400">
                <a:solidFill>
                  <a:srgbClr val="173F35"/>
                </a:solidFill>
                <a:effectLst/>
                <a:latin typeface="Arial" panose="020B0604020202020204" pitchFamily="34" charset="0"/>
              </a:rPr>
              <a:t>Board snapshot, 23 Oct 2026: accepted completion and productivity are measured in the pilot.</a:t>
            </a:r>
            <a:endParaRPr lang="en-US"/>
          </a:p>
        </p:txBody>
      </p:sp>
      <p:sp>
        <p:nvSpPr>
          <p:cNvPr id="2" name="Appendix topic destination">
            <a:hlinkClick r:id="rId3"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 action="ppaction://hlinkshowjump?jump=lastslideviewed"/>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3"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 action="ppaction://hlinkshowjump?jump=lastslideviewed"/>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3"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 action="ppaction://hlinkshowjump?jump=lastslideviewed"/>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3"/>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4"/>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5"/>
          <a:stretch>
            <a:fillRect/>
          </a:stretch>
        </p:blipFill>
        <p:spPr>
          <a:xfrm>
            <a:off x="8282940" y="1935480"/>
            <a:ext cx="384048" cy="384048"/>
          </a:xfrm>
          <a:prstGeom prst="rect">
            <a:avLst/>
          </a:prstGeom>
        </p:spPr>
      </p:pic>
      <p:sp>
        <p:nvSpPr>
          <p:cNvPr id="2" name="Appendix topic destination">
            <a:hlinkClick r:id="rId6"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 action="ppaction://hlinkshowjump?jump=lastslideviewed"/>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3"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 action="ppaction://hlinkshowjump?jump=lastslideviewed"/>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3"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Where do sensors fit and can AI diagnose damp or mould?</a:t>
            </a:r>
          </a:p>
          <a:p>
            <a:pPr algn="l">
              <a:buNone/>
            </a:pPr>
            <a:r>
              <a:rPr lang="en-US" sz="100">
                <a:effectLst/>
              </a:rPr>
              <a:t> </a:t>
            </a:r>
            <a:endParaRPr lang="en-US"/>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 action="ppaction://hlinkshowjump?jump=lastslideviewed"/>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465" name="Statement 1">
            <a:extLst>
              <a:ext uri="{FF2B5EF4-FFF2-40B4-BE49-F238E27FC236}">
                <a16:creationId xmlns:a16="http://schemas.microsoft.com/office/drawing/2014/main" id="{6E75A322-9654-337A-3FD6-F78158C1E7D1}"/>
              </a:ext>
            </a:extLst>
          </p:cNvPr>
          <p:cNvSpPr/>
          <p:nvPr/>
        </p:nvSpPr>
        <p:spPr>
          <a:xfrm>
            <a:off x="548640" y="1508760"/>
            <a:ext cx="295946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IoT Hub Basic is an exercise design decision</a:t>
            </a:r>
          </a:p>
          <a:p>
            <a:pPr algn="l">
              <a:buNone/>
            </a:pPr>
            <a:r>
              <a:rPr lang="en-US" sz="100">
                <a:effectLst/>
              </a:rPr>
              <a:t> </a:t>
            </a:r>
            <a:endParaRPr lang="en-US"/>
          </a:p>
        </p:txBody>
      </p:sp>
      <p:sp>
        <p:nvSpPr>
          <p:cNvPr id="17467" name="Statement 2">
            <a:extLst>
              <a:ext uri="{FF2B5EF4-FFF2-40B4-BE49-F238E27FC236}">
                <a16:creationId xmlns:a16="http://schemas.microsoft.com/office/drawing/2014/main" id="{C4893E5F-6F6B-4772-649C-44A5F6FB1E51}"/>
              </a:ext>
            </a:extLst>
          </p:cNvPr>
          <p:cNvSpPr/>
          <p:nvPr/>
        </p:nvSpPr>
        <p:spPr>
          <a:xfrm>
            <a:off x="3782427" y="1508760"/>
            <a:ext cx="39877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Offline consumer tested; live Hub path remains roadmap</a:t>
            </a:r>
            <a:endParaRPr lang="en-US"/>
          </a:p>
        </p:txBody>
      </p:sp>
      <p:sp>
        <p:nvSpPr>
          <p:cNvPr id="17470" name="Statement 3">
            <a:extLst>
              <a:ext uri="{FF2B5EF4-FFF2-40B4-BE49-F238E27FC236}">
                <a16:creationId xmlns:a16="http://schemas.microsoft.com/office/drawing/2014/main" id="{720423DE-EBD1-A453-5AE7-87CDAEDD7AB3}"/>
              </a:ext>
            </a:extLst>
          </p:cNvPr>
          <p:cNvSpPr/>
          <p:nvPr/>
        </p:nvSpPr>
        <p:spPr>
          <a:xfrm>
            <a:off x="8044527" y="1508760"/>
            <a:ext cx="359883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Signals request human review, never diagnose or suppress</a:t>
            </a:r>
          </a:p>
          <a:p>
            <a:pPr algn="l">
              <a:buNone/>
            </a:pPr>
            <a:r>
              <a:rPr lang="en-US" sz="100">
                <a:effectLst/>
              </a:rPr>
              <a:t> </a:t>
            </a:r>
            <a:endParaRPr lang="en-US"/>
          </a:p>
        </p:txBody>
      </p:sp>
      <p:sp>
        <p:nvSpPr>
          <p:cNvPr id="17474" name="Target pill">
            <a:extLst>
              <a:ext uri="{FF2B5EF4-FFF2-40B4-BE49-F238E27FC236}">
                <a16:creationId xmlns:a16="http://schemas.microsoft.com/office/drawing/2014/main" id="{D79BC93D-316F-8964-F76C-B1462DCBBE97}"/>
              </a:ext>
            </a:extLst>
          </p:cNvPr>
          <p:cNvSpPr/>
          <p:nvPr/>
        </p:nvSpPr>
        <p:spPr>
          <a:xfrm>
            <a:off x="548640" y="2286000"/>
            <a:ext cx="32461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TARGET DESIGN · ROADMAP</a:t>
            </a:r>
            <a:endParaRPr lang="en-US"/>
          </a:p>
        </p:txBody>
      </p:sp>
      <p:sp>
        <p:nvSpPr>
          <p:cNvPr id="17479" name="Target note">
            <a:extLst>
              <a:ext uri="{FF2B5EF4-FFF2-40B4-BE49-F238E27FC236}">
                <a16:creationId xmlns:a16="http://schemas.microsoft.com/office/drawing/2014/main" id="{034529E3-28B0-0702-7A79-2CFBE71B2063}"/>
              </a:ext>
            </a:extLst>
          </p:cNvPr>
          <p:cNvSpPr/>
          <p:nvPr/>
        </p:nvSpPr>
        <p:spPr>
          <a:xfrm>
            <a:off x="3886200" y="2208620"/>
            <a:ext cx="77571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Accepted design direction; the live telemetry path is on the roadmap.</a:t>
            </a:r>
            <a:endParaRPr lang="en-US"/>
          </a:p>
        </p:txBody>
      </p:sp>
      <p:sp>
        <p:nvSpPr>
          <p:cNvPr id="17485" name="Target card Device / simulator">
            <a:extLst>
              <a:ext uri="{FF2B5EF4-FFF2-40B4-BE49-F238E27FC236}">
                <a16:creationId xmlns:a16="http://schemas.microsoft.com/office/drawing/2014/main" id="{E96DA572-0C88-AF72-A84E-2C6A33117C3F}"/>
              </a:ext>
            </a:extLst>
          </p:cNvPr>
          <p:cNvSpPr/>
          <p:nvPr/>
        </p:nvSpPr>
        <p:spPr>
          <a:xfrm>
            <a:off x="548640"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492" name="Device / simulator title">
            <a:extLst>
              <a:ext uri="{FF2B5EF4-FFF2-40B4-BE49-F238E27FC236}">
                <a16:creationId xmlns:a16="http://schemas.microsoft.com/office/drawing/2014/main" id="{B3C4B488-7629-C432-0F19-8F1CE98C2D34}"/>
              </a:ext>
            </a:extLst>
          </p:cNvPr>
          <p:cNvSpPr/>
          <p:nvPr/>
        </p:nvSpPr>
        <p:spPr>
          <a:xfrm>
            <a:off x="563880"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Device / simulator</a:t>
            </a:r>
          </a:p>
          <a:p>
            <a:pPr algn="l">
              <a:buNone/>
            </a:pPr>
            <a:r>
              <a:rPr lang="en-US" sz="100">
                <a:effectLst/>
              </a:rPr>
              <a:t> </a:t>
            </a:r>
            <a:endParaRPr lang="en-US"/>
          </a:p>
        </p:txBody>
      </p:sp>
      <p:sp>
        <p:nvSpPr>
          <p:cNvPr id="17500" name="Device / simulator body">
            <a:extLst>
              <a:ext uri="{FF2B5EF4-FFF2-40B4-BE49-F238E27FC236}">
                <a16:creationId xmlns:a16="http://schemas.microsoft.com/office/drawing/2014/main" id="{644CDF94-6F0D-8557-88AB-EA60FA0CD8D2}"/>
              </a:ext>
            </a:extLst>
          </p:cNvPr>
          <p:cNvSpPr/>
          <p:nvPr/>
        </p:nvSpPr>
        <p:spPr>
          <a:xfrm>
            <a:off x="563880"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Distinct identity</a:t>
            </a:r>
          </a:p>
          <a:p>
            <a:pPr algn="l">
              <a:buNone/>
            </a:pPr>
            <a:r>
              <a:rPr lang="en-US" sz="1600">
                <a:solidFill>
                  <a:srgbClr val="173F35"/>
                </a:solidFill>
                <a:effectLst/>
                <a:latin typeface="Arial" panose="020B0604020202020204" pitchFamily="34" charset="0"/>
              </a:rPr>
              <a:t>Label synthetic input</a:t>
            </a:r>
          </a:p>
          <a:p>
            <a:pPr algn="l">
              <a:buNone/>
            </a:pPr>
            <a:r>
              <a:rPr lang="en-US" sz="1600">
                <a:solidFill>
                  <a:srgbClr val="173F35"/>
                </a:solidFill>
                <a:effectLst/>
                <a:latin typeface="Arial" panose="020B0604020202020204" pitchFamily="34" charset="0"/>
              </a:rPr>
              <a:t>Stable reading ID</a:t>
            </a:r>
            <a:endParaRPr lang="en-US"/>
          </a:p>
        </p:txBody>
      </p:sp>
      <p:sp>
        <p:nvSpPr>
          <p:cNvPr id="17509" name="Target card Azure IoT Hub">
            <a:extLst>
              <a:ext uri="{FF2B5EF4-FFF2-40B4-BE49-F238E27FC236}">
                <a16:creationId xmlns:a16="http://schemas.microsoft.com/office/drawing/2014/main" id="{5DBAC9DC-652C-EC54-4FD0-B722E98F7211}"/>
              </a:ext>
            </a:extLst>
          </p:cNvPr>
          <p:cNvSpPr/>
          <p:nvPr/>
        </p:nvSpPr>
        <p:spPr>
          <a:xfrm>
            <a:off x="3404616"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19" name="Azure IoT Hub title">
            <a:extLst>
              <a:ext uri="{FF2B5EF4-FFF2-40B4-BE49-F238E27FC236}">
                <a16:creationId xmlns:a16="http://schemas.microsoft.com/office/drawing/2014/main" id="{A05A6B23-BAC7-1230-2410-A5813CA45EB8}"/>
              </a:ext>
            </a:extLst>
          </p:cNvPr>
          <p:cNvSpPr/>
          <p:nvPr/>
        </p:nvSpPr>
        <p:spPr>
          <a:xfrm>
            <a:off x="3941064"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Azure IoT Hub</a:t>
            </a:r>
          </a:p>
          <a:p>
            <a:pPr algn="l">
              <a:buNone/>
            </a:pPr>
            <a:r>
              <a:rPr lang="en-US" sz="100">
                <a:effectLst/>
              </a:rPr>
              <a:t> </a:t>
            </a:r>
            <a:endParaRPr lang="en-US"/>
          </a:p>
        </p:txBody>
      </p:sp>
      <p:sp>
        <p:nvSpPr>
          <p:cNvPr id="17530" name="Azure IoT Hub body">
            <a:extLst>
              <a:ext uri="{FF2B5EF4-FFF2-40B4-BE49-F238E27FC236}">
                <a16:creationId xmlns:a16="http://schemas.microsoft.com/office/drawing/2014/main" id="{CAAFE416-8704-A8DB-5076-107977F25C2E}"/>
              </a:ext>
            </a:extLst>
          </p:cNvPr>
          <p:cNvSpPr/>
          <p:nvPr/>
        </p:nvSpPr>
        <p:spPr>
          <a:xfrm>
            <a:off x="3419856"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Basic for exercise</a:t>
            </a:r>
          </a:p>
          <a:p>
            <a:pPr algn="l">
              <a:buNone/>
            </a:pPr>
            <a:r>
              <a:rPr lang="en-US" sz="1600">
                <a:solidFill>
                  <a:srgbClr val="173F35"/>
                </a:solidFill>
                <a:effectLst/>
                <a:latin typeface="Arial" panose="020B0604020202020204" pitchFamily="34" charset="0"/>
              </a:rPr>
              <a:t>Device-to-cloud only</a:t>
            </a:r>
          </a:p>
          <a:p>
            <a:pPr algn="l">
              <a:buNone/>
            </a:pPr>
            <a:r>
              <a:rPr lang="en-US" sz="1600">
                <a:solidFill>
                  <a:srgbClr val="173F35"/>
                </a:solidFill>
                <a:effectLst/>
                <a:latin typeface="Arial" panose="020B0604020202020204" pitchFamily="34" charset="0"/>
              </a:rPr>
              <a:t>Credential owner needed</a:t>
            </a:r>
            <a:endParaRPr lang="en-US"/>
          </a:p>
        </p:txBody>
      </p:sp>
      <p:sp>
        <p:nvSpPr>
          <p:cNvPr id="17542" name="Target card API + SQL">
            <a:extLst>
              <a:ext uri="{FF2B5EF4-FFF2-40B4-BE49-F238E27FC236}">
                <a16:creationId xmlns:a16="http://schemas.microsoft.com/office/drawing/2014/main" id="{9BD588A1-DCD4-D53D-ADC3-477E9A3BE2CC}"/>
              </a:ext>
            </a:extLst>
          </p:cNvPr>
          <p:cNvSpPr/>
          <p:nvPr/>
        </p:nvSpPr>
        <p:spPr>
          <a:xfrm>
            <a:off x="6260592"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55" name="API + SQL title">
            <a:extLst>
              <a:ext uri="{FF2B5EF4-FFF2-40B4-BE49-F238E27FC236}">
                <a16:creationId xmlns:a16="http://schemas.microsoft.com/office/drawing/2014/main" id="{BE236FE7-C957-8DF9-1AC2-04044E2CEE88}"/>
              </a:ext>
            </a:extLst>
          </p:cNvPr>
          <p:cNvSpPr/>
          <p:nvPr/>
        </p:nvSpPr>
        <p:spPr>
          <a:xfrm>
            <a:off x="6797040"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API + SQL</a:t>
            </a:r>
          </a:p>
          <a:p>
            <a:pPr algn="l">
              <a:buNone/>
            </a:pPr>
            <a:r>
              <a:rPr lang="en-US" sz="100">
                <a:effectLst/>
              </a:rPr>
              <a:t> </a:t>
            </a:r>
            <a:endParaRPr lang="en-US"/>
          </a:p>
        </p:txBody>
      </p:sp>
      <p:sp>
        <p:nvSpPr>
          <p:cNvPr id="17569" name="API + SQL body">
            <a:extLst>
              <a:ext uri="{FF2B5EF4-FFF2-40B4-BE49-F238E27FC236}">
                <a16:creationId xmlns:a16="http://schemas.microsoft.com/office/drawing/2014/main" id="{6E8ADBB0-9E3B-7DC7-AE18-E589380CCA63}"/>
              </a:ext>
            </a:extLst>
          </p:cNvPr>
          <p:cNvSpPr/>
          <p:nvPr/>
        </p:nvSpPr>
        <p:spPr>
          <a:xfrm>
            <a:off x="6275832"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Validate mapping/time</a:t>
            </a:r>
          </a:p>
          <a:p>
            <a:pPr algn="l">
              <a:buNone/>
            </a:pPr>
            <a:r>
              <a:rPr lang="en-US" sz="1600">
                <a:solidFill>
                  <a:srgbClr val="173F35"/>
                </a:solidFill>
                <a:effectLst/>
                <a:latin typeface="Arial" panose="020B0604020202020204" pitchFamily="34" charset="0"/>
              </a:rPr>
              <a:t>Idempotent append</a:t>
            </a:r>
          </a:p>
          <a:p>
            <a:pPr algn="l">
              <a:buNone/>
            </a:pPr>
            <a:r>
              <a:rPr lang="en-US" sz="1600">
                <a:solidFill>
                  <a:srgbClr val="173F35"/>
                </a:solidFill>
                <a:effectLst/>
                <a:latin typeface="Arial" panose="020B0604020202020204" pitchFamily="34" charset="0"/>
              </a:rPr>
              <a:t>Owned DQ exceptions</a:t>
            </a:r>
            <a:endParaRPr lang="en-US"/>
          </a:p>
        </p:txBody>
      </p:sp>
      <p:sp>
        <p:nvSpPr>
          <p:cNvPr id="17584" name="Target card Human review">
            <a:extLst>
              <a:ext uri="{FF2B5EF4-FFF2-40B4-BE49-F238E27FC236}">
                <a16:creationId xmlns:a16="http://schemas.microsoft.com/office/drawing/2014/main" id="{0CFBB505-ADA1-124E-B337-32553D462842}"/>
              </a:ext>
            </a:extLst>
          </p:cNvPr>
          <p:cNvSpPr/>
          <p:nvPr/>
        </p:nvSpPr>
        <p:spPr>
          <a:xfrm>
            <a:off x="9116568"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00" name="Human review title">
            <a:extLst>
              <a:ext uri="{FF2B5EF4-FFF2-40B4-BE49-F238E27FC236}">
                <a16:creationId xmlns:a16="http://schemas.microsoft.com/office/drawing/2014/main" id="{8510B21D-C570-CFEA-9521-727C7BA8E14D}"/>
              </a:ext>
            </a:extLst>
          </p:cNvPr>
          <p:cNvSpPr/>
          <p:nvPr/>
        </p:nvSpPr>
        <p:spPr>
          <a:xfrm>
            <a:off x="9131808"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Human review</a:t>
            </a:r>
          </a:p>
          <a:p>
            <a:pPr algn="l">
              <a:buNone/>
            </a:pPr>
            <a:r>
              <a:rPr lang="en-US" sz="100">
                <a:effectLst/>
              </a:rPr>
              <a:t> </a:t>
            </a:r>
            <a:endParaRPr lang="en-US"/>
          </a:p>
        </p:txBody>
      </p:sp>
      <p:sp>
        <p:nvSpPr>
          <p:cNvPr id="17617" name="Human review body">
            <a:extLst>
              <a:ext uri="{FF2B5EF4-FFF2-40B4-BE49-F238E27FC236}">
                <a16:creationId xmlns:a16="http://schemas.microsoft.com/office/drawing/2014/main" id="{EEEC7401-7225-22AF-BF5F-48790D652756}"/>
              </a:ext>
            </a:extLst>
          </p:cNvPr>
          <p:cNvSpPr/>
          <p:nvPr/>
        </p:nvSpPr>
        <p:spPr>
          <a:xfrm>
            <a:off x="9131808"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Deterministic signal</a:t>
            </a:r>
          </a:p>
          <a:p>
            <a:pPr algn="l">
              <a:buNone/>
            </a:pPr>
            <a:r>
              <a:rPr lang="en-US" sz="1600">
                <a:solidFill>
                  <a:srgbClr val="173F35"/>
                </a:solidFill>
                <a:effectLst/>
                <a:latin typeface="Arial" panose="020B0604020202020204" pitchFamily="34" charset="0"/>
              </a:rPr>
              <a:t>No diagnosis / repriority</a:t>
            </a:r>
          </a:p>
          <a:p>
            <a:pPr algn="l">
              <a:buNone/>
            </a:pPr>
            <a:r>
              <a:rPr lang="en-US" sz="1600">
                <a:solidFill>
                  <a:srgbClr val="173F35"/>
                </a:solidFill>
                <a:effectLst/>
                <a:latin typeface="Arial" panose="020B0604020202020204" pitchFamily="34" charset="0"/>
              </a:rPr>
              <a:t>Missing = insufficient</a:t>
            </a:r>
            <a:endParaRPr lang="en-US"/>
          </a:p>
        </p:txBody>
      </p:sp>
      <p:sp>
        <p:nvSpPr>
          <p:cNvPr id="17635" name="Target arrow 1 (hollow)">
            <a:extLst>
              <a:ext uri="{FF2B5EF4-FFF2-40B4-BE49-F238E27FC236}">
                <a16:creationId xmlns:a16="http://schemas.microsoft.com/office/drawing/2014/main" id="{93D2A2FC-B24E-8E04-9B04-00A3063BCECC}"/>
              </a:ext>
            </a:extLst>
          </p:cNvPr>
          <p:cNvSpPr/>
          <p:nvPr/>
        </p:nvSpPr>
        <p:spPr>
          <a:xfrm>
            <a:off x="3102864"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54" name="Target arrow 2 (hollow)">
            <a:extLst>
              <a:ext uri="{FF2B5EF4-FFF2-40B4-BE49-F238E27FC236}">
                <a16:creationId xmlns:a16="http://schemas.microsoft.com/office/drawing/2014/main" id="{0DBC1C52-7970-3411-8D7A-BE9AAD366056}"/>
              </a:ext>
            </a:extLst>
          </p:cNvPr>
          <p:cNvSpPr/>
          <p:nvPr/>
        </p:nvSpPr>
        <p:spPr>
          <a:xfrm>
            <a:off x="5958840"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74" name="Target arrow 3 (hollow)">
            <a:extLst>
              <a:ext uri="{FF2B5EF4-FFF2-40B4-BE49-F238E27FC236}">
                <a16:creationId xmlns:a16="http://schemas.microsoft.com/office/drawing/2014/main" id="{A8C1D350-DF15-4EC6-F37A-E4E906F1753C}"/>
              </a:ext>
            </a:extLst>
          </p:cNvPr>
          <p:cNvSpPr/>
          <p:nvPr/>
        </p:nvSpPr>
        <p:spPr>
          <a:xfrm>
            <a:off x="8814816"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95" name="Independent safety route">
            <a:extLst>
              <a:ext uri="{FF2B5EF4-FFF2-40B4-BE49-F238E27FC236}">
                <a16:creationId xmlns:a16="http://schemas.microsoft.com/office/drawing/2014/main" id="{CDBE544E-E01A-3BA0-DF57-0254B4385798}"/>
              </a:ext>
            </a:extLst>
          </p:cNvPr>
          <p:cNvSpPr/>
          <p:nvPr/>
        </p:nvSpPr>
        <p:spPr>
          <a:xfrm>
            <a:off x="548640" y="4572000"/>
            <a:ext cx="11094720" cy="975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717" name="Safety route title">
            <a:extLst>
              <a:ext uri="{FF2B5EF4-FFF2-40B4-BE49-F238E27FC236}">
                <a16:creationId xmlns:a16="http://schemas.microsoft.com/office/drawing/2014/main" id="{4FB3D3C8-DEFC-345E-0EBF-C88F847F3A7F}"/>
              </a:ext>
            </a:extLst>
          </p:cNvPr>
          <p:cNvSpPr/>
          <p:nvPr/>
        </p:nvSpPr>
        <p:spPr>
          <a:xfrm>
            <a:off x="563880" y="459368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Independent safety route</a:t>
            </a:r>
          </a:p>
          <a:p>
            <a:pPr algn="l">
              <a:buNone/>
            </a:pPr>
            <a:r>
              <a:rPr lang="en-US" sz="100">
                <a:effectLst/>
              </a:rPr>
              <a:t> </a:t>
            </a:r>
            <a:endParaRPr lang="en-US"/>
          </a:p>
        </p:txBody>
      </p:sp>
      <p:sp>
        <p:nvSpPr>
          <p:cNvPr id="17740" name="Safety route body">
            <a:extLst>
              <a:ext uri="{FF2B5EF4-FFF2-40B4-BE49-F238E27FC236}">
                <a16:creationId xmlns:a16="http://schemas.microsoft.com/office/drawing/2014/main" id="{06F3CFFC-49D9-EFD6-16FE-F50E14787126}"/>
              </a:ext>
            </a:extLst>
          </p:cNvPr>
          <p:cNvSpPr/>
          <p:nvPr/>
        </p:nvSpPr>
        <p:spPr>
          <a:xfrm>
            <a:off x="563880" y="502040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resident report goes directly to human hazard handling. Telemetry and AI never delay or suppress it.</a:t>
            </a:r>
          </a:p>
          <a:p>
            <a:pPr algn="l">
              <a:buNone/>
            </a:pPr>
            <a:r>
              <a:rPr lang="en-US" sz="100">
                <a:effectLst/>
              </a:rPr>
              <a:t> </a:t>
            </a:r>
            <a:endParaRPr lang="en-US"/>
          </a:p>
        </p:txBody>
      </p:sp>
      <p:sp>
        <p:nvSpPr>
          <p:cNvPr id="17764" name="Legend">
            <a:extLst>
              <a:ext uri="{FF2B5EF4-FFF2-40B4-BE49-F238E27FC236}">
                <a16:creationId xmlns:a16="http://schemas.microsoft.com/office/drawing/2014/main" id="{C13CB2A0-A4B3-4070-DC50-B3BB5E587B8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 hollow arrow = target design on the roadmap</a:t>
            </a:r>
            <a:endParaRPr lang="en-US"/>
          </a:p>
        </p:txBody>
      </p:sp>
      <p:sp>
        <p:nvSpPr>
          <p:cNvPr id="17789" name="Diagram status pill">
            <a:extLst>
              <a:ext uri="{FF2B5EF4-FFF2-40B4-BE49-F238E27FC236}">
                <a16:creationId xmlns:a16="http://schemas.microsoft.com/office/drawing/2014/main" id="{602241AD-728D-7448-DE95-97ECAD622B83}"/>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17790" name="Azure IoT Hub icon" descr="Azure IoT Hub icon (official Azure icon)">
            <a:extLst>
              <a:ext uri="{FF2B5EF4-FFF2-40B4-BE49-F238E27FC236}">
                <a16:creationId xmlns:a16="http://schemas.microsoft.com/office/drawing/2014/main" id="{13BAD82B-A9ED-85F8-29A9-1A73B8DCFC2A}"/>
              </a:ext>
            </a:extLst>
          </p:cNvPr>
          <p:cNvPicPr>
            <a:picLocks noChangeAspect="1"/>
          </p:cNvPicPr>
          <p:nvPr/>
        </p:nvPicPr>
        <p:blipFill>
          <a:blip r:embed="rId3"/>
          <a:stretch>
            <a:fillRect/>
          </a:stretch>
        </p:blipFill>
        <p:spPr>
          <a:xfrm>
            <a:off x="3511296" y="2849880"/>
            <a:ext cx="384048" cy="384048"/>
          </a:xfrm>
          <a:prstGeom prst="rect">
            <a:avLst/>
          </a:prstGeom>
        </p:spPr>
      </p:pic>
      <p:pic>
        <p:nvPicPr>
          <p:cNvPr id="17791" name="Azure SQL icon" descr="Azure SQL icon (official Azure icon)">
            <a:extLst>
              <a:ext uri="{FF2B5EF4-FFF2-40B4-BE49-F238E27FC236}">
                <a16:creationId xmlns:a16="http://schemas.microsoft.com/office/drawing/2014/main" id="{1F6EC2C7-7CBC-744D-4F7C-984D6589445C}"/>
              </a:ext>
            </a:extLst>
          </p:cNvPr>
          <p:cNvPicPr>
            <a:picLocks noChangeAspect="1"/>
          </p:cNvPicPr>
          <p:nvPr/>
        </p:nvPicPr>
        <p:blipFill>
          <a:blip r:embed="rId4"/>
          <a:stretch>
            <a:fillRect/>
          </a:stretch>
        </p:blipFill>
        <p:spPr>
          <a:xfrm>
            <a:off x="6367272" y="2849880"/>
            <a:ext cx="384048" cy="384048"/>
          </a:xfrm>
          <a:prstGeom prst="rect">
            <a:avLst/>
          </a:prstGeom>
        </p:spPr>
      </p:pic>
      <p:sp>
        <p:nvSpPr>
          <p:cNvPr id="2" name="Appendix topic destination">
            <a:hlinkClick r:id="rId5"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Azure instead of M365, Power Platform</a:t>
            </a:r>
          </a:p>
          <a:p>
            <a:pPr algn="l">
              <a:buNone/>
            </a:pPr>
            <a:r>
              <a:rPr lang="en-US" sz="2800" b="1">
                <a:solidFill>
                  <a:srgbClr val="173F35"/>
                </a:solidFill>
                <a:effectLst/>
                <a:latin typeface="Arial" panose="020B0604020202020204" pitchFamily="34" charset="0"/>
              </a:rPr>
              <a:t>or buying a product?</a:t>
            </a:r>
            <a:endParaRPr lang="en-US"/>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 action="ppaction://hlinkshowjump?jump=lastslideviewed"/>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05" name="Statement 1">
            <a:extLst>
              <a:ext uri="{FF2B5EF4-FFF2-40B4-BE49-F238E27FC236}">
                <a16:creationId xmlns:a16="http://schemas.microsoft.com/office/drawing/2014/main" id="{E58D1CE2-0A86-8B0C-854E-776F3E2B1ADF}"/>
              </a:ext>
            </a:extLst>
          </p:cNvPr>
          <p:cNvSpPr/>
          <p:nvPr/>
        </p:nvSpPr>
        <p:spPr>
          <a:xfrm>
            <a:off x="548640" y="2011680"/>
            <a:ext cx="367726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Appraise buy/configure/build on the same requirements</a:t>
            </a:r>
          </a:p>
          <a:p>
            <a:pPr algn="l">
              <a:buNone/>
            </a:pPr>
            <a:r>
              <a:rPr lang="en-US" sz="100">
                <a:effectLst/>
              </a:rPr>
              <a:t> </a:t>
            </a:r>
            <a:endParaRPr lang="en-US"/>
          </a:p>
        </p:txBody>
      </p:sp>
      <p:sp>
        <p:nvSpPr>
          <p:cNvPr id="18207" name="Statement 2">
            <a:extLst>
              <a:ext uri="{FF2B5EF4-FFF2-40B4-BE49-F238E27FC236}">
                <a16:creationId xmlns:a16="http://schemas.microsoft.com/office/drawing/2014/main" id="{657E5DDC-4B0D-B637-7221-983982A3337D}"/>
              </a:ext>
            </a:extLst>
          </p:cNvPr>
          <p:cNvSpPr/>
          <p:nvPr/>
        </p:nvSpPr>
        <p:spPr>
          <a:xfrm>
            <a:off x="4500226" y="2011680"/>
            <a:ext cx="409818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The Azure exercise proves the contracts end to end</a:t>
            </a:r>
            <a:endParaRPr lang="en-US"/>
          </a:p>
        </p:txBody>
      </p:sp>
      <p:sp>
        <p:nvSpPr>
          <p:cNvPr id="18210" name="Statement 3">
            <a:extLst>
              <a:ext uri="{FF2B5EF4-FFF2-40B4-BE49-F238E27FC236}">
                <a16:creationId xmlns:a16="http://schemas.microsoft.com/office/drawing/2014/main" id="{5141A53F-4449-0BCA-F1FE-4EA7D90EA1D2}"/>
              </a:ext>
            </a:extLst>
          </p:cNvPr>
          <p:cNvSpPr/>
          <p:nvPr/>
        </p:nvSpPr>
        <p:spPr>
          <a:xfrm>
            <a:off x="8872728" y="2011680"/>
            <a:ext cx="277063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Licensing, integration, control and TCO decide</a:t>
            </a:r>
          </a:p>
          <a:p>
            <a:pPr algn="l">
              <a:buNone/>
            </a:pPr>
            <a:r>
              <a:rPr lang="en-US" sz="100">
                <a:effectLst/>
              </a:rPr>
              <a:t> </a:t>
            </a:r>
            <a:endParaRPr lang="en-US"/>
          </a:p>
        </p:txBody>
      </p:sp>
      <p:graphicFrame>
        <p:nvGraphicFramePr>
          <p:cNvPr id="10" name="Table 9">
            <a:extLst>
              <a:ext uri="{FF2B5EF4-FFF2-40B4-BE49-F238E27FC236}">
                <a16:creationId xmlns:a16="http://schemas.microsoft.com/office/drawing/2014/main" id="{EC61E8DB-4B5F-4849-941D-47976942E733}"/>
              </a:ext>
            </a:extLst>
          </p:cNvPr>
          <p:cNvGraphicFramePr>
            <a:graphicFrameLocks noGrp="1"/>
          </p:cNvGraphicFramePr>
          <p:nvPr/>
        </p:nvGraphicFramePr>
        <p:xfrm>
          <a:off x="548640" y="2834640"/>
          <a:ext cx="8128002" cy="292608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4213648332"/>
                    </a:ext>
                  </a:extLst>
                </a:gridCol>
                <a:gridCol w="1354667">
                  <a:extLst>
                    <a:ext uri="{9D8B030D-6E8A-4147-A177-3AD203B41FA5}">
                      <a16:colId xmlns:a16="http://schemas.microsoft.com/office/drawing/2014/main" val="3195194258"/>
                    </a:ext>
                  </a:extLst>
                </a:gridCol>
                <a:gridCol w="1354667">
                  <a:extLst>
                    <a:ext uri="{9D8B030D-6E8A-4147-A177-3AD203B41FA5}">
                      <a16:colId xmlns:a16="http://schemas.microsoft.com/office/drawing/2014/main" val="3740911555"/>
                    </a:ext>
                  </a:extLst>
                </a:gridCol>
                <a:gridCol w="1354667">
                  <a:extLst>
                    <a:ext uri="{9D8B030D-6E8A-4147-A177-3AD203B41FA5}">
                      <a16:colId xmlns:a16="http://schemas.microsoft.com/office/drawing/2014/main" val="3059092767"/>
                    </a:ext>
                  </a:extLst>
                </a:gridCol>
                <a:gridCol w="1354667">
                  <a:extLst>
                    <a:ext uri="{9D8B030D-6E8A-4147-A177-3AD203B41FA5}">
                      <a16:colId xmlns:a16="http://schemas.microsoft.com/office/drawing/2014/main" val="3477694481"/>
                    </a:ext>
                  </a:extLst>
                </a:gridCol>
                <a:gridCol w="1354667">
                  <a:extLst>
                    <a:ext uri="{9D8B030D-6E8A-4147-A177-3AD203B41FA5}">
                      <a16:colId xmlns:a16="http://schemas.microsoft.com/office/drawing/2014/main" val="2857747054"/>
                    </a:ext>
                  </a:extLst>
                </a:gridCol>
              </a:tblGrid>
              <a:tr h="0">
                <a:tc>
                  <a:txBody>
                    <a:bodyPr/>
                    <a:lstStyle/>
                    <a:p>
                      <a:pPr>
                        <a:buNone/>
                      </a:pPr>
                      <a:r>
                        <a:rPr lang="en-US" sz="1400" b="1">
                          <a:solidFill>
                            <a:srgbClr val="FAF9F6"/>
                          </a:solidFill>
                          <a:effectLst/>
                          <a:latin typeface="Arial" panose="020B0604020202020204" pitchFamily="34" charset="0"/>
                        </a:rPr>
                        <a:t>Option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Workflow and permissions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Audit and integration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Accessibility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Model terms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cost</a:t>
                      </a:r>
                    </a:p>
                  </a:txBody>
                  <a:tcPr anchor="ctr">
                    <a:lnL>
                      <a:noFill/>
                    </a:lnL>
                    <a:lnR>
                      <a:noFill/>
                    </a:lnR>
                    <a:lnT>
                      <a:noFill/>
                    </a:lnT>
                    <a:lnB>
                      <a:noFill/>
                    </a:lnB>
                    <a:solidFill>
                      <a:srgbClr val="173F35"/>
                    </a:solidFill>
                  </a:tcPr>
                </a:tc>
                <a:extLst>
                  <a:ext uri="{0D108BD9-81ED-4DB2-BD59-A6C34878D82A}">
                    <a16:rowId xmlns:a16="http://schemas.microsoft.com/office/drawing/2014/main" val="3778784608"/>
                  </a:ext>
                </a:extLst>
              </a:tr>
              <a:tr h="0">
                <a:tc>
                  <a:txBody>
                    <a:bodyPr/>
                    <a:lstStyle/>
                    <a:p>
                      <a:pPr>
                        <a:buNone/>
                      </a:pPr>
                      <a:r>
                        <a:rPr lang="en-US" sz="1400">
                          <a:effectLst/>
                          <a:latin typeface="Arial" panose="020B0604020202020204" pitchFamily="34" charset="0"/>
                        </a:rPr>
                        <a:t>Existing housing product (buy)</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823311137"/>
                  </a:ext>
                </a:extLst>
              </a:tr>
              <a:tr h="0">
                <a:tc>
                  <a:txBody>
                    <a:bodyPr/>
                    <a:lstStyle/>
                    <a:p>
                      <a:pPr>
                        <a:buNone/>
                      </a:pPr>
                      <a:r>
                        <a:rPr lang="en-US" sz="1400">
                          <a:effectLst/>
                          <a:latin typeface="Arial" panose="020B0604020202020204" pitchFamily="34" charset="0"/>
                        </a:rPr>
                        <a:t>M365 / Power Platform (configure)</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extLst>
                  <a:ext uri="{0D108BD9-81ED-4DB2-BD59-A6C34878D82A}">
                    <a16:rowId xmlns:a16="http://schemas.microsoft.com/office/drawing/2014/main" val="364145839"/>
                  </a:ext>
                </a:extLst>
              </a:tr>
              <a:tr h="0">
                <a:tc>
                  <a:txBody>
                    <a:bodyPr/>
                    <a:lstStyle/>
                    <a:p>
                      <a:pPr>
                        <a:buNone/>
                      </a:pPr>
                      <a:r>
                        <a:rPr lang="en-US" sz="1400">
                          <a:effectLst/>
                          <a:latin typeface="Arial" panose="020B0604020202020204" pitchFamily="34" charset="0"/>
                        </a:rPr>
                        <a:t>Custom Azure (build: the exercise realisation)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2582931653"/>
                  </a:ext>
                </a:extLst>
              </a:tr>
            </a:tbl>
          </a:graphicData>
        </a:graphic>
      </p:graphicFrame>
      <p:sp>
        <p:nvSpPr>
          <p:cNvPr id="18215" name="Side label">
            <a:extLst>
              <a:ext uri="{FF2B5EF4-FFF2-40B4-BE49-F238E27FC236}">
                <a16:creationId xmlns:a16="http://schemas.microsoft.com/office/drawing/2014/main" id="{2A4F11D3-682F-028C-3E6A-895FF4356CCB}"/>
              </a:ext>
            </a:extLst>
          </p:cNvPr>
          <p:cNvSpPr/>
          <p:nvPr/>
        </p:nvSpPr>
        <p:spPr>
          <a:xfrm>
            <a:off x="8872728" y="2834640"/>
            <a:ext cx="27706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PROCUREMENT DECISION: NEXT STEP</a:t>
            </a:r>
            <a:endParaRPr lang="en-US"/>
          </a:p>
        </p:txBody>
      </p:sp>
      <p:sp>
        <p:nvSpPr>
          <p:cNvPr id="18221" name="Side note 1">
            <a:extLst>
              <a:ext uri="{FF2B5EF4-FFF2-40B4-BE49-F238E27FC236}">
                <a16:creationId xmlns:a16="http://schemas.microsoft.com/office/drawing/2014/main" id="{53AFFE88-4BB7-4646-8A33-F0F2FC0FCB07}"/>
              </a:ext>
            </a:extLst>
          </p:cNvPr>
          <p:cNvSpPr/>
          <p:nvPr/>
        </p:nvSpPr>
        <p:spPr>
          <a:xfrm>
            <a:off x="8872728" y="3383280"/>
            <a:ext cx="27706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Licences and tenant capability are confirmed in Phase 0.</a:t>
            </a:r>
            <a:endParaRPr lang="en-US"/>
          </a:p>
        </p:txBody>
      </p:sp>
      <p:sp>
        <p:nvSpPr>
          <p:cNvPr id="18228" name="Side note 2">
            <a:extLst>
              <a:ext uri="{FF2B5EF4-FFF2-40B4-BE49-F238E27FC236}">
                <a16:creationId xmlns:a16="http://schemas.microsoft.com/office/drawing/2014/main" id="{F701667E-0E2D-658D-CDD4-37C9611EAF1F}"/>
              </a:ext>
            </a:extLst>
          </p:cNvPr>
          <p:cNvSpPr/>
          <p:nvPr/>
        </p:nvSpPr>
        <p:spPr>
          <a:xfrm>
            <a:off x="8872728" y="4343400"/>
            <a:ext cx="27706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platform choice follows customer value.</a:t>
            </a:r>
            <a:endParaRPr lang="en-US"/>
          </a:p>
        </p:txBody>
      </p:sp>
      <p:sp>
        <p:nvSpPr>
          <p:cNvPr id="2" name="Appendix topic destination">
            <a:hlinkClick r:id="rId3"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 action="ppaction://hlinkshowjump?jump=lastslideviewed"/>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3"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 action="ppaction://hlinkshowjump?jump=lastslideviewed"/>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 action="ppaction://hlinkshowjump?jump=lastslideviewed"/>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3"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 action="ppaction://hlinkshowjump?jump=lastslideviewed"/>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Legal dates come from official government publications (Oct 2026); Zava's legal review confirms them.</a:t>
            </a:r>
            <a:endParaRPr lang="en-US"/>
          </a:p>
        </p:txBody>
      </p:sp>
      <p:sp>
        <p:nvSpPr>
          <p:cNvPr id="2" name="Appendix topic destination">
            <a:hlinkClick r:id="rId3"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 action="ppaction://hlinkshowjump?jump=lastslideviewed"/>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3"/>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4"/>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5"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 action="ppaction://hlinkshowjump?jump=lastslideviewed"/>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 action="ppaction://hlinkshowjump?jump=lastslideviewed"/>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3"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5</TotalTime>
  <Words>36019</Words>
  <Application>Microsoft Office PowerPoint</Application>
  <PresentationFormat>Widescreen</PresentationFormat>
  <Paragraphs>2511</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5</cp:revision>
  <dcterms:created xsi:type="dcterms:W3CDTF">2026-10-23T08:48:25Z</dcterms:created>
  <dcterms:modified xsi:type="dcterms:W3CDTF">2026-10-23T23:24:59Z</dcterms:modified>
  <cp:category/>
</cp:coreProperties>
</file>