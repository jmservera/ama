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 Warm began with a request to coordinate a complex retrofit programme across sixty thousand homes using five agents. The offer is one staff-facing workbench linking cases, accountable owners and evidence through to accepted handover. Our ambition is warmer homes with a clear next step for every home, not faster administration alone.</a:t>
            </a:r>
          </a:p>
          <a:p/>
          <a:p>
            <a:r>
              <a:t>Today I am asking the council to endorse preparation of a gated evidence-stage proposal, not a production rollout or accelerated capital commitment. For the CEO, that is confidence in the mission. For Assets, it is a defensible route to accepted handover. For Finance, it is visibility of commitments, exposure and evidence before money moves. The promise is one programme, one evidence trail, human control. The measurable benefits still have to be earned.</a:t>
            </a:r>
          </a:p>
          <a:p/>
          <a:p>
            <a:r>
              <a:t>Evidence:</a:t>
            </a:r>
          </a:p>
          <a:p>
            <a:r>
              <a:t>docs/case_study_48_original.md — Business Challenge; Agentic Architecture Brief; Expected Outcomes (2026-09-10, immutable request)</a:t>
            </a:r>
          </a:p>
          <a:p>
            <a:r>
              <a:t>docs/case_study_48_addendum.md — Business Challenge; Regulatory Evidence and Service Design; Proper Warm at Proper North Homes (2026-10-11, maintained proposal)</a:t>
            </a:r>
          </a:p>
          <a:p>
            <a:r>
              <a:t>docs/case_study_48_addendum.md — Subsequent Application Exercise Builds (2026-10-11); Current Learning and Parallel Experiment (owner direction; feasibility not benefit)</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question was which agents to build. The research asked what actually prevents safe, accepted completions. Spreadsheet dependence is in the case, but it is not proof that administration is the binding constraint. Capital, competent assessors, supplier capacity, access, evidence quality and downstream assurance may matter more.</a:t>
            </a:r>
          </a:p>
          <a:p/>
          <a:p>
            <a:r>
              <a:t>The role challenge found that every end-to-end agent request mixed deterministic controls, accountable decisions and narrower AI tasks. Richer photos, invoices and sensor inputs did not change that division. Better inputs cannot create consent or professional acceptance.</a:t>
            </a:r>
          </a:p>
          <a:p/>
          <a:p>
            <a:r>
              <a:t>Our conclusion is to build a shared coordination and evidence foundation, then add assistance where comparative tests show net benefit. The regulatory material is a dated research set. The current register distinguishes final energy policy from proof of a commenced landlord duty. We have not refreshed legal currentness for this pitch.</a:t>
            </a:r>
          </a:p>
          <a:p/>
          <a:p>
            <a:r>
              <a:t>Evidence:</a:t>
            </a:r>
          </a:p>
          <a:p>
            <a:r>
              <a:t>docs/case_study_48_addendum.md — Business Challenge; Regulatory Evidence and Service Design; Proper Warm at Proper North Homes (2026-10-11, maintained proposal)</a:t>
            </a:r>
          </a:p>
          <a:p>
            <a:r>
              <a:t>docs/reference/research/company/agent-request-challenge.md — Purpose and Method; Summary (2026-09-26, role-agent hypotheses)</a:t>
            </a:r>
          </a:p>
          <a:p>
            <a:r>
              <a:t>docs/reference/research/company/agent-what-if-study.md — Purpose and Method; Summary of Revised Verdicts (2026-09-27, role-agent hypotheses)</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documented role agents challenged the request: Assets, Programme, Finance, Procurement, Resident Engagement, Building Safety, Data and Performance, and the Neighbourhood Housing Officer. Each brought a different failure question. Who approves the investment? Who accepts quality? Who owns a pending handoff? What happens when a resident cannot use a digital channel? Does faster activity simply move the queue elsewhere?</a:t>
            </a:r>
          </a:p>
          <a:p/>
          <a:p>
            <a:r>
              <a:t>These were research instruments using sector-informed hypotheses, not employee interviews or corporate approval. The measurement challenge forced us to separate programme change from AI contribution.</a:t>
            </a:r>
          </a:p>
          <a:p/>
          <a:p>
            <a:r>
              <a:t>Later, Programme, Finance, Resident Engagement and Data instruments proposed reconciled exercise assumptions. The project owner accepted the v0.12 baseline on 10 October. Owner UX feedback separately asked for visible readiness, ownership and agent purpose. None of that substitutes for direct staff or resident validation, or acceptance of the current candidate.</a:t>
            </a:r>
          </a:p>
          <a:p/>
          <a:p>
            <a:r>
              <a:t>Evidence:</a:t>
            </a:r>
          </a:p>
          <a:p>
            <a:r>
              <a:t>docs/reference/research/company/agent-request-challenge.md — Purpose and Method; Summary (2026-09-26, role-agent hypotheses)</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proposing one staff-facing retrofit workbench: linked home, building, scheme, work package and service cases, with role queues over shared status, evidence, owners, blockers, capacity and finance. It coordinates work; it does not replace every source system or create five autonomous agents.</a:t>
            </a:r>
          </a:p>
          <a:p>
            <a:r>
              <a:t>Deterministic rules control ranking and transitions. Bounded AI drafts, selects or flags; people decide. Azure SQL, Blob and a controlled API are the exercise direction. The customer benefit to test is one accountable case and next action through accepted handover. Time, rework and completion improvement are not yet measured.</a:t>
            </a:r>
          </a:p>
          <a:p>
            <a:r>
              <a:t>Actual Azure, SQL and AI are required in subsequent accepted exercise deliveries. This is not a production platform selection: Excel-only and M365 options still need comparable appraisal.</a:t>
            </a:r>
          </a:p>
          <a:p>
            <a:r>
              <a:t>Evidence:</a:t>
            </a:r>
          </a:p>
          <a:p>
            <a:r>
              <a:t>docs/reference/research/company/agent-request-challenge.md — Purpose and Method; Summary (2026-09-26, role-agent hypotheses)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product with a controlled flow. Workbooks enter through validated, one-way import. Staff read a shared case and request actions through role-specific workbench views; the API checks identity, case access, evidence versions and required approvals before SQL state changes. Deterministic workflow routes tasks and gates.</a:t>
            </a:r>
          </a:p>
          <a:p>
            <a:r>
              <a:t>Bounded AI receives permitted inputs and can return a typed choice, cited draft or concern to staff. It has no write credentials and cannot advance a case. A person reviews before any controlled change, then acts through the API. If AI fails, staff use the manual route without bypassing controls. Conflicting identifiers are quarantined, not silently merged.</a:t>
            </a:r>
          </a:p>
          <a:p>
            <a:r>
              <a:t>This is a target design, not a deployed topology. Production identity, workload separation, private access, monitoring and recovery need separate proof. Narrow AI/SQL feasibility does not verify every component shown.</a:t>
            </a:r>
          </a:p>
          <a:p/>
          <a:p>
            <a:r>
              <a:t>Evidence:</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says spreadsheets coordinate the work; it does not prove repeated reconciliation or evidence reassembly. Measure before claiming staff pain, saved time or fewer errors.</a:t>
            </a:r>
          </a:p>
          <a:p>
            <a:r>
              <a:t>The proposed improvement mechanism is one linked case, named handoff owner and independently checked transition. How much better it is remains unknown until equal tasks are compared for effort, errors, rework and accepted outcomes. Do not claim Excel cannot be hardened.</a:t>
            </a:r>
          </a:p>
          <a:p>
            <a:r>
              <a:t>Manage change in stages: co-design with staff, profile workbook owners, then shadow one-way imports. Run a short, time-boxed parallel period with named editors, quarantine ownership and owner-agreed reconciliation and exit thresholds. Train through role-based task walkthroughs and provide named support. After sign-off, tested rollback and an out-of-hours hazard route, the workbench becomes the write path and Excel an API-fed read-only report. No permanent dual write.</a:t>
            </a:r>
          </a:p>
          <a:p>
            <a:r>
              <a:t>Compare identical tasks and outcomes, including review, correction, chase, errors and accepted handovers. Tenant, workbook quality, staff readiness and results remain unknown.</a:t>
            </a:r>
          </a:p>
          <a:p/>
          <a:p>
            <a:r>
              <a:t>Evidence:</a:t>
            </a:r>
          </a:p>
          <a:p>
            <a:r>
              <a:t>docs/case_study_48_original.md — Business Challenge; Agentic Architecture Brief; Expected Outcomes (2026-09-10, immutable request)</a:t>
            </a:r>
          </a:p>
          <a:p>
            <a:r>
              <a:t>docs/reference/research/company/pilot-measurement-challenge.md — Summary; Owner Decision, 2026-09-26; Proposed Measurement Design (2026-09-26, proposed comparisons)</a:t>
            </a:r>
          </a:p>
          <a:p>
            <a:r>
              <a:t>docs/adrs/0001-azure-architecture.md — Exercise Applicability (2026-10-11); Decisions; Hybrid M365 and Excel transition; Options still to compare (proposed); see appendix slide 18 for the unscored comparison</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workbench coordinates the full journey: identify and prioritise the home; assess technical scope and resident choice; confirm funding, competent capacity and human release; then deliver, verify quality, resolve defects, hand over to the resident and close finance with separate evidence.</a:t>
            </a:r>
          </a:p>
          <a:p>
            <a:r>
              <a:t>Staff can see owner, blocker, next action and returned work across handoffs. A sent task is not an accepted task. The intended outcome is accepted handover, not starts. This is a control mechanism to evaluate on constructed records, not evidence that real work or improvement has occurred.</a:t>
            </a:r>
          </a:p>
          <a:p/>
          <a:p>
            <a:r>
              <a:t>Evidence:</a:t>
            </a:r>
          </a:p>
          <a:p>
            <a:r>
              <a:t>docs/case_study_48_addendum.md — Owner-Approved Exercise Baseline (2026-10-10); EXA-001/002/004/005/008/010/011/012/013/015/016; Numerical Targets and Attribution (historical accepted exercise assumptions)</a:t>
            </a:r>
          </a:p>
          <a:p>
            <a:r>
              <a:t>docs/prds/proper-warm-retrofit-programme-demonstrator.md — front matter; Executive Summary; CON-009/AC-057 (v0.13.0 candidate 2026-10-11; historical v0.12.0 accepted 2026-10-10)</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Staff work from role queues showing owner, blocker, evidence and next action. Residents get clear choices, a named contact and safe phone, letter, text, email or officer-assisted routes; no mandatory portal. Contact preference, adjustment and measure consent are separate. Silence is not consent, and hazards reach a human response route outside routine scheduling.</a:t>
            </a:r>
          </a:p>
          <a:p>
            <a:r>
              <a:t>Contractors receive the agreed scope, schedule and necessary adjustments through approved channels, then return completion evidence. Neither residents nor contractors are assumed to log in to the staff tool; sensitive diagnoses are not shared. These handoffs may improve clarity, but fewer visits, delays or defects are unproved. Accessible staff, resident and contractor co-design/testing remain prerequisites.</a:t>
            </a:r>
          </a:p>
          <a:p/>
          <a:p>
            <a:r>
              <a:t>Evidence:</a:t>
            </a:r>
          </a:p>
          <a:p>
            <a:r>
              <a:t>docs/case_study_48_addendum.md — Owner-Approved Exercise Baseline (2026-10-10); EXA-001/002/004/005/008/010/011/012/013/015/016; Numerical Targets and Attribution (historical accepted exercise assumptions)</a:t>
            </a:r>
          </a:p>
          <a:p>
            <a:r>
              <a:t>docs/reference/research/ux/proper-warm-prototype-profile-review.md — Owner Usability Feedback (2026-10-07); Proposed Acceptance Checks UX-01 to UX-08 (reported impressions, unexecuted checks)</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distinguish typed scoring from text generation. Decision 1 can select from supplied, source-bound candidates or support a bounded evidence check only when its actual task fit is verified. It should expose no-match or uncertainty rather than invent a missing value. A real Foundry generative task can assemble a cited narrative from approved inputs. That narrative is still a draft.</a:t>
            </a:r>
          </a:p>
          <a:p/>
          <a:p>
            <a:r>
              <a:t>Neither capability owns priority policy, regulatory satisfaction, consent, technical approval, grant submission, quality acceptance or payment. The API enforces that boundary. Individual manual access does not waive required real AI in an application delivery.</a:t>
            </a:r>
          </a:p>
          <a:p/>
          <a:p>
            <a:r>
              <a:t>Documented feasibility includes source-bound EPC selection and cited generation. Benefit, calibration and broader screening remain unproved. The binary adapter cannot establish a three-class screening score. The parallel experiment is not completed evidence.</a:t>
            </a:r>
          </a:p>
          <a:p/>
          <a:p>
            <a:r>
              <a:t>Evidence:</a:t>
            </a:r>
          </a:p>
          <a:p>
            <a:r>
              <a:t>docs/reference/research/company/agent-request-challenge.md — Purpose and Method; Summary (2026-09-26, role-agent hypotheses)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alone does not make this secure. Proposed controls are server-enforced role/case/field rights, minimum-necessary model inputs, one API write path, independent human gates, versioned evidence and audit. The AI identity cannot write programme state. The exercise uses constructed, non-identifying records.</a:t>
            </a:r>
          </a:p>
          <a:p>
            <a:r>
              <a:t>No penetration, authorization, cross-case leakage, recovery or privacy assessment is claimed. Verify controls against the actual deployment before real data or operations. Narrow Azure SQL/Blob/AI feasibility does not certify the target design. The continuing sixty-thousand-home stock and nine-hundred-and-eighty-case programme are generated; v0.13 remains pending fresh review and owner acceptance.</a:t>
            </a:r>
          </a:p>
          <a:p/>
          <a:p>
            <a:r>
              <a:t>Evidence:</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fictional fixture shows why Finance sees gross cash, not an assumed grant offset: GBP20,000 base cost, GBP7,500 illustrative grant and GBP12,500 provider base funding. If contingency is spent, the gross envelope is GBP22,000 and provider exposure GBP14,500. Before grant cash arrives, exposure is still GBP20,000.</a:t>
            </a:r>
          </a:p>
          <a:p>
            <a:r>
              <a:t>These are exercise assumptions, not company budget, award terms or liquidity. Technology requires its own authority and stop conditions. Technology whole-life cost remains unassessed and belongs in the return pack. Measure effort and cost per accepted outcome before treating time saved as cashable benefit.</a:t>
            </a:r>
          </a:p>
          <a:p/>
          <a:p>
            <a:r>
              <a:t>Evidence:</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two tests: does the coordinated programme improve safe accepted handovers, and does a specific AI task outperform the same workflow without it? Compare matched localities for programme outcomes and paired, identical tasks for capability value. Include incomplete, paused and withdrawn cases, shared resources and displacement. Measure errors, review effort, delay, cost and uncertainty; protect safety, consent, equity and quality.</a:t>
            </a:r>
          </a:p>
          <a:p>
            <a:r>
              <a:t>These are proposed comparisons, not results. A negative AI finding means retain the simpler path and report it.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the next stage around decisions, not service counts. First review and accept the current requirements candidate, name accountable owners, freeze the evidence and test contracts, and record effective scope and spending authority. No missing approval is solved by running another model.</a:t>
            </a:r>
          </a:p>
          <a:p/>
          <a:p>
            <a:r>
              <a:t>Prove connected case controls on continuing generated data using actual Azure, SQL and registered inference. Show version-linked write, read and restart evidence, independent decisions and negative permission tests. Unit-test mocks cannot establish delivered application acceptance.</a:t>
            </a:r>
          </a:p>
          <a:p/>
          <a:p>
            <a:r>
              <a:t>Then evaluate net task value and engineering readiness, including accessibility, recovery, performance and accrued costs. Finally return a reviewable evidence pack to the owner with pass, fail, blocked and not-run states. The earlier four-week exercise plan was a software delivery scenario, not a physical retrofit programme or unconditional timetable for this candidate. Only subsequent operational appraisal, real user research and formal control-owner approval could justify a live pilot.</a:t>
            </a:r>
          </a:p>
          <a:p/>
          <a:p>
            <a:r>
              <a:t>Evidence:</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requested today is limited: endorse preparation of a gated evidence-stage proposal. It does not authorize procurement, deployment, delivery spend or production adoption. Ask the CEO to nominate an executive sponsor, Assets to nominate workflow and control owners, and Finance to define how affordability and authority will be reviewed. Confirm the actual delegated roles rather than assuming them.</a:t>
            </a:r>
          </a:p>
          <a:p>
            <a:r>
              <a:t>Return at a date the council agrees with freshly reviewed requirements, an unscored comparable options appraisal, scoped cost and authority, acceptance evidence and explicit stop conditions. The evidence must show whether the connected workflow works, whether assistance earns its cost, and which gates remain unmet. If value is absent, simplify. If controls fail, stop and repair.</a:t>
            </a:r>
          </a:p>
          <a:p/>
          <a:p>
            <a:r>
              <a:t>Our ambition remains bold: move from chasing spreadsheets to warmer homes through one programme, one evidence trail and human control. The case is accountable handovers, not AI theatre.</a:t>
            </a:r>
          </a:p>
          <a:p/>
          <a:p>
            <a:r>
              <a:t>Evidence:</a:t>
            </a:r>
          </a:p>
          <a:p>
            <a:r>
              <a:t>docs/reference/research/company/pilot-measurement-challenge.md — Summary; Owner Decision, 2026-09-26; Proposed Measurement Design (2026-09-26, proposed comparisons)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Threats include unauthorized writes, stale approvals, cross-case leakage, malicious content in evidence, model hallucination and lost or competing state. Proposed controls are one API write path, server-side role/case/field projections, source-bound inputs, schema validation, independent reviewers, row-version concurrency, idempotent transitions and replayable audit.</a:t>
            </a:r>
          </a:p>
          <a:p/>
          <a:p>
            <a:r>
              <a:t>SQL indexes and server-side paging/clustering address full-file and full-map mechanisms. Queue-separated workers and private-only access remain proposed topology, not deployed facts. Model failure retains manual work; unsupported source facts stay unknown; retries must not duplicate transitions. Blob versions and SQL metadata must identify exactly which evidence was approved. Recovery, ledger verification, replicas, user identity, leakage/injection tests and legal retention decisions need explicit observed evidence before readiness claims.</a:t>
            </a:r>
          </a:p>
          <a:p/>
          <a:p>
            <a:r>
              <a:t>Evidence:</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fix Excel? We should cost that option; the proposed control mechanisms, not familiarity alone, decide the comparison. Why not Power Platform? Tenant/licensing and operational fit are unverified and require equivalent appraisal before production selection. Why buy AI now? Do not buy an assumed benefit; verify access, terms and scoped authority, then run paired task tests. Why not launch from #58? Narrow observed feasibility is not full workflow/control or human acceptance.</a:t>
            </a:r>
          </a:p>
          <a:p/>
          <a:p>
            <a:r>
              <a:t>What is the budget? No new corporate amount is approved. Historical EXA-012 allocated USD450 per month, reviewed at USD360 and paused at USD405; #58 removed that cap only for its rebuild. Each subsequent build needs an effective scoped approval with accrued liabilities. Stop if controls fail, authority is absent or liabilities exceed the agreed envelope. Simplify any AI task that fails net-value testing; keep required real-platform evidence independent.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docs/adrs/0001-azure-architecture.md — Exercise Applicability (2026-10-11); Decisions; Hybrid M365 and Excel transition; Options still to compare (proposed)</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categories: REQUEST is the immutable case ambition; RESEARCH is sector evidence or role-agent hypothesis; EXERCISE is a selected fictional fixture or historical owner-approved baseline; DIRECTION is the current owner's delivery requirement; PROPOSED is design or evaluation not yet accepted; OBSERVED FEASIBILITY is a precisely pinned recorded service result; UNPROVED is benefit or readiness still lacking evidence.</a:t>
            </a:r>
          </a:p>
          <a:p/>
          <a:p>
            <a:r>
              <a:t>All consequential legal adoption requires fresh official-source verification and professional/control-owner approval. v0.12 acceptance on 10 October does not transfer to v0.13. PR #58 evidence is pinned at 5136f192d583a5bf53adeeec4b0f21369b005c9d in maintained main documentation, not imported source or a re-inspected runtime.</a:t>
            </a:r>
          </a:p>
          <a:p/>
          <a:p>
            <a:r>
              <a:t>The full capstone guide informed the narrative. A deck cannot establish live delivery, Q&amp;A behaviour, working autonomy, operations or publication floors.   Independent strategist findings are recorded in the tracking review and addressed in this build; a timed rehearsal remains pending. Detailed source/provision/date/status references are in notes and research/evidence-register.md.</a:t>
            </a:r>
          </a:p>
          <a:p/>
          <a:p>
            <a:r>
              <a:t>Evidence:</a:t>
            </a:r>
          </a:p>
          <a:p>
            <a:r>
              <a:t>docs/case_study_48_original.md — Business Challenge; Agentic Architecture Brief; Expected Outcomes (2026-09-10, immutable request)</a:t>
            </a:r>
          </a:p>
          <a:p>
            <a:r>
              <a:t>docs/reference/research/company/agent-request-challenge.md — Purpose and Method; Summary (2026-09-26, role-agent hypotheses)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comparison framework, not a scored recommendation. Excel-only improvement may minimize change, but control fit and the manual baseline still need evidence. The greenfield Power Apps/Dataverse business-platform option and Azure-led hybrid both need fair, equal-scope appraisal. Tenant fit, licences, workflows and resident access have not been tested. The Azure-led hybrid is the exercise direction for connected workflows and real AI, SQL and Azure evidence; it is not a production decision and costs are not measured.</a:t>
            </a:r>
          </a:p>
          <a:p>
            <a:r>
              <a:t>Ask owners to compare the routes on the same workload, controls, transition risk, accessibility, integration, support and whole-life cost. Identify tenant capability, workbook quality, baseline effort and failure fallback. Score only when comparable evidence exists; mandatory safety, privacy, resident and approval controls are gates, not tradeable points.</a:t>
            </a:r>
          </a:p>
          <a:p>
            <a:r>
              <a:t>Evidence:</a:t>
            </a:r>
          </a:p>
          <a:p>
            <a:r>
              <a:t>docs/adrs/0001-azure-architecture.md — Hybrid M365 and Excel transition; Options still to compare; Provisional options appraisal (architect illustration is not an approved decision)</a:t>
            </a:r>
          </a:p>
          <a:p>
            <a:r>
              <a:t>docs/case_study_48_addendum.md — Implementation Options and Provisional Platform Recommendation; EXA-012 / OQ-012</a:t>
            </a:r>
          </a:p>
          <a:p>
            <a:r>
              <a:t>docs/case_study_48_original.md — Business Challenge (spreadsheets stated; specific workbook failure modes not measured)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E5B96A"/>
                </a:solidFill>
                <a:latin typeface="Aptos"/>
              </a:rPr>
              <a:t>COUNCIL DRAFT • DECISION FIRST</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F7F2E7"/>
                </a:solidFill>
                <a:latin typeface="Aptos Display"/>
              </a:rPr>
              <a:t>From chasing spreadsheets</a:t>
            </a:r>
          </a:p>
          <a:p>
            <a:r>
              <a:rPr sz="3800" b="1" i="0">
                <a:solidFill>
                  <a:srgbClr val="F7F2E7"/>
                </a:solidFill>
                <a:latin typeface="Aptos Display"/>
              </a:rPr>
              <a:t>to delivering warmer homes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01  /  PROPER WARM     •     REQUEST + PROPOSAL • E01/E02/E07 • 11 Oct 2026</a:t>
            </a:r>
          </a:p>
        </p:txBody>
      </p:sp>
      <p:sp>
        <p:nvSpPr>
          <p:cNvPr id="5" name="TextBox 4"/>
          <p:cNvSpPr txBox="1"/>
          <p:nvPr/>
        </p:nvSpPr>
        <p:spPr>
          <a:xfrm>
            <a:off x="594360" y="2743200"/>
            <a:ext cx="7315200" cy="1188720"/>
          </a:xfrm>
          <a:prstGeom prst="rect">
            <a:avLst/>
          </a:prstGeom>
          <a:noFill/>
        </p:spPr>
        <p:txBody>
          <a:bodyPr wrap="square" lIns="0" rIns="0" tIns="0" bIns="0">
            <a:spAutoFit/>
          </a:bodyPr>
          <a:lstStyle/>
          <a:p>
            <a:r>
              <a:rPr sz="2000" b="0" i="0">
                <a:solidFill>
                  <a:srgbClr val="F7F2E7"/>
                </a:solidFill>
                <a:latin typeface="Aptos"/>
              </a:rPr>
              <a:t>Offer: one staff retrofit workbench linking cases, owners and evidence.</a:t>
            </a:r>
          </a:p>
          <a:p>
            <a:r>
              <a:rPr sz="2000" b="0" i="0">
                <a:solidFill>
                  <a:srgbClr val="F7F2E7"/>
                </a:solidFill>
                <a:latin typeface="Aptos"/>
              </a:rPr>
              <a:t>Today: endorse preparation of its gated evidence-stage proposal.</a:t>
            </a:r>
          </a:p>
        </p:txBody>
      </p:sp>
      <p:sp>
        <p:nvSpPr>
          <p:cNvPr id="6" name="Rounded Rectangle 5"/>
          <p:cNvSpPr/>
          <p:nvPr/>
        </p:nvSpPr>
        <p:spPr>
          <a:xfrm>
            <a:off x="594360" y="4251960"/>
            <a:ext cx="6858000" cy="11887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300" b="0" i="0">
                <a:solidFill>
                  <a:srgbClr val="183A31"/>
                </a:solidFill>
                <a:latin typeface="Aptos"/>
              </a:rPr>
              <a:t>ONE PROGRAMME</a:t>
            </a:r>
          </a:p>
          <a:p>
            <a:pPr algn="l">
              <a:lnSpc>
                <a:spcPct val="105000"/>
              </a:lnSpc>
            </a:pPr>
            <a:r>
              <a:rPr sz="2300" b="0" i="0">
                <a:solidFill>
                  <a:srgbClr val="183A31"/>
                </a:solidFill>
                <a:latin typeface="Aptos"/>
              </a:rPr>
              <a:t>ONE EVIDENCE TRAIL</a:t>
            </a:r>
          </a:p>
          <a:p>
            <a:pPr algn="l">
              <a:lnSpc>
                <a:spcPct val="105000"/>
              </a:lnSpc>
            </a:pPr>
            <a:r>
              <a:rPr sz="2300" b="0" i="0">
                <a:solidFill>
                  <a:srgbClr val="183A31"/>
                </a:solidFill>
                <a:latin typeface="Aptos"/>
              </a:rPr>
              <a:t>HUMAN CONTROL</a:t>
            </a:r>
          </a:p>
        </p:txBody>
      </p:sp>
      <p:grpSp>
        <p:nvGrpSpPr>
          <p:cNvPr id="7" name="Editable home motif"/>
          <p:cNvGrpSpPr/>
          <p:nvPr/>
        </p:nvGrpSpPr>
        <p:grpSpPr>
          <a:xfrm>
            <a:off x="8229600" y="2697480"/>
            <a:ext cx="1508760" cy="1508760"/>
            <a:chOff x="8229600" y="2697480"/>
            <a:chExt cx="1508760" cy="1508760"/>
          </a:xfrm>
        </p:grpSpPr>
        <p:sp>
          <p:nvSpPr>
            <p:cNvPr id="8" name="Pentagon 7"/>
            <p:cNvSpPr/>
            <p:nvPr/>
          </p:nvSpPr>
          <p:spPr>
            <a:xfrm rot="16200000">
              <a:off x="8229600" y="2697480"/>
              <a:ext cx="1508760" cy="1508760"/>
            </a:xfrm>
            <a:prstGeom prst="homePlate">
              <a:avLst/>
            </a:prstGeom>
            <a:solidFill>
              <a:srgbClr val="D5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94192" y="3331159"/>
              <a:ext cx="1179576" cy="724204"/>
            </a:xfrm>
            <a:prstGeom prst="rect">
              <a:avLst/>
            </a:prstGeom>
            <a:noFill/>
          </p:spPr>
          <p:txBody>
            <a:bodyPr wrap="square" lIns="0" rIns="0" tIns="0" bIns="0">
              <a:spAutoFit/>
            </a:bodyPr>
            <a:lstStyle/>
            <a:p>
              <a:r>
                <a:rPr sz="1500" b="1" i="0">
                  <a:solidFill>
                    <a:srgbClr val="183A31"/>
                  </a:solidFill>
                  <a:latin typeface="Aptos"/>
                </a:rPr>
                <a:t>Evidence</a:t>
              </a:r>
            </a:p>
          </p:txBody>
        </p:sp>
      </p:grpSp>
      <p:grpSp>
        <p:nvGrpSpPr>
          <p:cNvPr id="10" name="Editable home motif"/>
          <p:cNvGrpSpPr/>
          <p:nvPr/>
        </p:nvGrpSpPr>
        <p:grpSpPr>
          <a:xfrm>
            <a:off x="10058400" y="2697480"/>
            <a:ext cx="1508760" cy="1508760"/>
            <a:chOff x="10058400" y="2697480"/>
            <a:chExt cx="1508760" cy="1508760"/>
          </a:xfrm>
        </p:grpSpPr>
        <p:sp>
          <p:nvSpPr>
            <p:cNvPr id="11" name="Pentagon 10"/>
            <p:cNvSpPr/>
            <p:nvPr/>
          </p:nvSpPr>
          <p:spPr>
            <a:xfrm rot="16200000">
              <a:off x="10058400" y="2697480"/>
              <a:ext cx="1508760" cy="1508760"/>
            </a:xfrm>
            <a:prstGeom prst="homePlate">
              <a:avLst/>
            </a:prstGeom>
            <a:solidFill>
              <a:srgbClr val="E5B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22992" y="3331159"/>
              <a:ext cx="1179576" cy="724204"/>
            </a:xfrm>
            <a:prstGeom prst="rect">
              <a:avLst/>
            </a:prstGeom>
            <a:noFill/>
          </p:spPr>
          <p:txBody>
            <a:bodyPr wrap="square" lIns="0" rIns="0" tIns="0" bIns="0">
              <a:spAutoFit/>
            </a:bodyPr>
            <a:lstStyle/>
            <a:p>
              <a:r>
                <a:rPr sz="1500" b="1" i="0">
                  <a:solidFill>
                    <a:srgbClr val="183A31"/>
                  </a:solidFill>
                  <a:latin typeface="Aptos"/>
                </a:rPr>
                <a:t>Choice</a:t>
              </a:r>
            </a:p>
          </p:txBody>
        </p:sp>
      </p:grpSp>
      <p:grpSp>
        <p:nvGrpSpPr>
          <p:cNvPr id="13" name="Editable home motif"/>
          <p:cNvGrpSpPr/>
          <p:nvPr/>
        </p:nvGrpSpPr>
        <p:grpSpPr>
          <a:xfrm>
            <a:off x="8961120" y="4526280"/>
            <a:ext cx="1280160" cy="1280160"/>
            <a:chOff x="8961120" y="4526280"/>
            <a:chExt cx="1280160" cy="1280160"/>
          </a:xfrm>
        </p:grpSpPr>
        <p:sp>
          <p:nvSpPr>
            <p:cNvPr id="14" name="Pentagon 13"/>
            <p:cNvSpPr/>
            <p:nvPr/>
          </p:nvSpPr>
          <p:spPr>
            <a:xfrm rot="16200000">
              <a:off x="8961120" y="4526280"/>
              <a:ext cx="1280160" cy="1280160"/>
            </a:xfrm>
            <a:prstGeom prst="homePlate">
              <a:avLst/>
            </a:prstGeom>
            <a:solidFill>
              <a:srgbClr val="D5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5063947"/>
              <a:ext cx="950976" cy="614476"/>
            </a:xfrm>
            <a:prstGeom prst="rect">
              <a:avLst/>
            </a:prstGeom>
            <a:noFill/>
          </p:spPr>
          <p:txBody>
            <a:bodyPr wrap="square" lIns="0" rIns="0" tIns="0" bIns="0">
              <a:spAutoFit/>
            </a:bodyPr>
            <a:lstStyle/>
            <a:p>
              <a:r>
                <a:rPr sz="1500" b="1" i="0">
                  <a:solidFill>
                    <a:srgbClr val="183A31"/>
                  </a:solidFill>
                  <a:latin typeface="Aptos"/>
                </a:rPr>
                <a:t>Handover</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WHAT WE FOUND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Research changed the question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02  /  PROPER WARM     •     RESEARCH HYPOTHESES • E02/E03/E04 • 26–27 Sep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CONSTRAINT</a:t>
            </a:r>
          </a:p>
          <a:p>
            <a:pPr algn="l">
              <a:lnSpc>
                <a:spcPct val="105000"/>
              </a:lnSpc>
            </a:pPr>
            <a:r>
              <a:rPr sz="2000" b="0" i="0">
                <a:solidFill>
                  <a:srgbClr val="F7F2E7"/>
                </a:solidFill>
                <a:latin typeface="Aptos"/>
              </a:rPr>
              <a:t>Capital, capacity, access and quality may bind—not just administration.</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THE FOUNDATION</a:t>
            </a:r>
          </a:p>
          <a:p>
            <a:pPr algn="l">
              <a:lnSpc>
                <a:spcPct val="105000"/>
              </a:lnSpc>
            </a:pPr>
            <a:r>
              <a:rPr sz="2000" b="0" i="0">
                <a:solidFill>
                  <a:srgbClr val="183A31"/>
                </a:solidFill>
                <a:latin typeface="Aptos"/>
              </a:rPr>
              <a:t>Shared records, clear lifecycle states and accountable handoffs.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AI OPPORTUNITY</a:t>
            </a:r>
          </a:p>
          <a:p>
            <a:pPr algn="l">
              <a:lnSpc>
                <a:spcPct val="105000"/>
              </a:lnSpc>
            </a:pPr>
            <a:r>
              <a:rPr sz="2000" b="0" i="0">
                <a:solidFill>
                  <a:srgbClr val="F7F2E7"/>
                </a:solidFill>
                <a:latin typeface="Aptos"/>
              </a:rPr>
              <a:t>Read, reconcile, draft and flag—inside the controls.</a:t>
            </a:r>
          </a:p>
        </p:txBody>
      </p:sp>
      <p:sp>
        <p:nvSpPr>
          <p:cNvPr id="8" name="TextBox 7"/>
          <p:cNvSpPr txBox="1"/>
          <p:nvPr/>
        </p:nvSpPr>
        <p:spPr>
          <a:xfrm>
            <a:off x="594360" y="5486400"/>
            <a:ext cx="10972800" cy="347472"/>
          </a:xfrm>
          <a:prstGeom prst="rect">
            <a:avLst/>
          </a:prstGeom>
          <a:noFill/>
        </p:spPr>
        <p:txBody>
          <a:bodyPr wrap="square" lIns="0" rIns="0" tIns="0" bIns="0">
            <a:spAutoFit/>
          </a:bodyPr>
          <a:lstStyle/>
          <a:p>
            <a:r>
              <a:rPr sz="1900" b="0" i="0">
                <a:solidFill>
                  <a:srgbClr val="183A31"/>
                </a:solidFill>
                <a:latin typeface="Aptos"/>
              </a:rPr>
              <a:t>Better inputs do not confer authority. Faster activity is not accepted handover.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WHO WE ASKED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We challenged the gaps—not just the technology</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03  /  PROPER WARM     •     ROLE AGENTS ≠ STAFF INTERVIEWS OR APPROVALS • E03/E05/E06/E12</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ASSETS + FINANCE</a:t>
            </a:r>
          </a:p>
          <a:p>
            <a:pPr algn="l">
              <a:lnSpc>
                <a:spcPct val="105000"/>
              </a:lnSpc>
            </a:pPr>
            <a:r>
              <a:rPr sz="2000" b="0" i="0">
                <a:solidFill>
                  <a:srgbClr val="F7F2E7"/>
                </a:solidFill>
                <a:latin typeface="Aptos"/>
              </a:rPr>
              <a:t>Investment authority • gross cash • attributable value</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PROGRAMME + PROCUREMENT</a:t>
            </a:r>
          </a:p>
          <a:p>
            <a:pPr algn="l">
              <a:lnSpc>
                <a:spcPct val="105000"/>
              </a:lnSpc>
            </a:pPr>
            <a:r>
              <a:rPr sz="2000" b="0" i="0">
                <a:solidFill>
                  <a:srgbClr val="183A31"/>
                </a:solidFill>
                <a:latin typeface="Aptos"/>
              </a:rPr>
              <a:t>Capacity • professional review • supplier accountability</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RESIDENTS + FRONTLINE</a:t>
            </a:r>
          </a:p>
          <a:p>
            <a:pPr algn="l">
              <a:lnSpc>
                <a:spcPct val="105000"/>
              </a:lnSpc>
            </a:pPr>
            <a:r>
              <a:rPr sz="2000" b="0" i="0">
                <a:solidFill>
                  <a:srgbClr val="183A31"/>
                </a:solidFill>
                <a:latin typeface="Aptos"/>
              </a:rPr>
              <a:t>Choice • safe contact • accepted handoffs</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SAFETY + DATA</a:t>
            </a:r>
          </a:p>
          <a:p>
            <a:pPr algn="l">
              <a:lnSpc>
                <a:spcPct val="105000"/>
              </a:lnSpc>
            </a:pPr>
            <a:r>
              <a:rPr sz="2000" b="0" i="0">
                <a:solidFill>
                  <a:srgbClr val="F7F2E7"/>
                </a:solidFill>
                <a:latin typeface="Aptos"/>
              </a:rPr>
              <a:t>Hazard route • missingness • independent evaluation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ARCHITECTURE DECISIONS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retrofit workbench. Not five autonomous agents.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04  /  PROPER WARM     •     OWNER DIRECTION + PROPOSED DESIGN • E07–E10 • 11 Oct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PRODUCT</a:t>
            </a:r>
          </a:p>
          <a:p>
            <a:pPr algn="l">
              <a:lnSpc>
                <a:spcPct val="105000"/>
              </a:lnSpc>
            </a:pPr>
            <a:r>
              <a:rPr sz="2000" b="0" i="0">
                <a:solidFill>
                  <a:srgbClr val="F7F2E7"/>
                </a:solidFill>
                <a:latin typeface="Aptos"/>
              </a:rPr>
              <a:t>Staff workbench + role queues</a:t>
            </a:r>
          </a:p>
          <a:p>
            <a:pPr algn="l">
              <a:lnSpc>
                <a:spcPct val="105000"/>
              </a:lnSpc>
            </a:pPr>
            <a:r>
              <a:rPr sz="2000" b="0" i="0">
                <a:solidFill>
                  <a:srgbClr val="F7F2E7"/>
                </a:solidFill>
                <a:latin typeface="Aptos"/>
              </a:rPr>
              <a:t>One linked home / work package</a:t>
            </a:r>
          </a:p>
          <a:p>
            <a:pPr algn="l">
              <a:lnSpc>
                <a:spcPct val="105000"/>
              </a:lnSpc>
            </a:pPr>
            <a:r>
              <a:rPr sz="2000" b="0" i="0">
                <a:solidFill>
                  <a:srgbClr val="F7F2E7"/>
                </a:solidFill>
                <a:latin typeface="Aptos"/>
              </a:rPr>
              <a:t>Evidence, handoffs, quality + finance</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BOUNDED ASSISTANCE</a:t>
            </a:r>
          </a:p>
          <a:p>
            <a:pPr algn="l">
              <a:lnSpc>
                <a:spcPct val="105000"/>
              </a:lnSpc>
            </a:pPr>
            <a:r>
              <a:rPr sz="2000" b="0" i="0">
                <a:solidFill>
                  <a:srgbClr val="183A31"/>
                </a:solidFill>
                <a:latin typeface="Aptos"/>
              </a:rPr>
              <a:t>Deterministic priority + workflow</a:t>
            </a:r>
          </a:p>
          <a:p>
            <a:pPr algn="l">
              <a:lnSpc>
                <a:spcPct val="105000"/>
              </a:lnSpc>
            </a:pPr>
            <a:r>
              <a:rPr sz="2000" b="0" i="0">
                <a:solidFill>
                  <a:srgbClr val="183A31"/>
                </a:solidFill>
                <a:latin typeface="Aptos"/>
              </a:rPr>
              <a:t>AI drafts / selects / flags</a:t>
            </a:r>
          </a:p>
          <a:p>
            <a:pPr algn="l">
              <a:lnSpc>
                <a:spcPct val="105000"/>
              </a:lnSpc>
            </a:pPr>
            <a:r>
              <a:rPr sz="2000" b="0" i="0">
                <a:solidFill>
                  <a:srgbClr val="183A31"/>
                </a:solidFill>
                <a:latin typeface="Aptos"/>
              </a:rPr>
              <a:t>People accept, decide and act</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CUSTOMER OUTCOME</a:t>
            </a:r>
          </a:p>
          <a:p>
            <a:pPr algn="l">
              <a:lnSpc>
                <a:spcPct val="105000"/>
              </a:lnSpc>
            </a:pPr>
            <a:r>
              <a:rPr sz="2000" b="0" i="0">
                <a:solidFill>
                  <a:srgbClr val="F7F2E7"/>
                </a:solidFill>
                <a:latin typeface="Aptos"/>
              </a:rPr>
              <a:t>See owner, next action + blocker</a:t>
            </a:r>
          </a:p>
          <a:p>
            <a:pPr algn="l">
              <a:lnSpc>
                <a:spcPct val="105000"/>
              </a:lnSpc>
            </a:pPr>
            <a:r>
              <a:rPr sz="2000" b="0" i="0">
                <a:solidFill>
                  <a:srgbClr val="F7F2E7"/>
                </a:solidFill>
                <a:latin typeface="Aptos"/>
              </a:rPr>
              <a:t>Track capacity to accepted handover</a:t>
            </a:r>
          </a:p>
          <a:p>
            <a:pPr algn="l">
              <a:lnSpc>
                <a:spcPct val="105000"/>
              </a:lnSpc>
            </a:pPr>
            <a:r>
              <a:rPr sz="2000" b="0" i="0">
                <a:solidFill>
                  <a:srgbClr val="F7F2E7"/>
                </a:solidFill>
                <a:latin typeface="Aptos"/>
              </a:rPr>
              <a:t>Measure effort, quality + cost</a:t>
            </a:r>
          </a:p>
        </p:txBody>
      </p:sp>
      <p:sp>
        <p:nvSpPr>
          <p:cNvPr id="8" name="TextBox 7"/>
          <p:cNvSpPr txBox="1"/>
          <p:nvPr/>
        </p:nvSpPr>
        <p:spPr>
          <a:xfrm>
            <a:off x="594360" y="5486400"/>
            <a:ext cx="10972800" cy="347472"/>
          </a:xfrm>
          <a:prstGeom prst="rect">
            <a:avLst/>
          </a:prstGeom>
          <a:noFill/>
        </p:spPr>
        <p:txBody>
          <a:bodyPr wrap="square" lIns="0" rIns="0" tIns="0" bIns="0">
            <a:spAutoFit/>
          </a:bodyPr>
          <a:lstStyle/>
          <a:p>
            <a:r>
              <a:rPr sz="1800" b="0" i="0">
                <a:solidFill>
                  <a:srgbClr val="183A31"/>
                </a:solidFill>
                <a:latin typeface="Aptos"/>
              </a:rPr>
              <a:t>Reuse data and API contracts. Prove controls. Platform choice is not company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PROPOSED CONTROL FLOW • CONCEPTUAL, NOT DEPLOYED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controlled route from evidence to action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05  /  PROPER WARM     •     TARGET CONTROL DESIGN—NOT A DEPLOYED TOPOLOGY • E08/E09/E10</a:t>
            </a:r>
          </a:p>
        </p:txBody>
      </p:sp>
      <p:sp>
        <p:nvSpPr>
          <p:cNvPr id="5" name="Rounded Rectangle 4"/>
          <p:cNvSpPr/>
          <p:nvPr/>
        </p:nvSpPr>
        <p:spPr>
          <a:xfrm>
            <a:off x="594360" y="2606040"/>
            <a:ext cx="31546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WORKBOOK + SOURCE DATA</a:t>
            </a:r>
          </a:p>
          <a:p>
            <a:pPr algn="l">
              <a:lnSpc>
                <a:spcPct val="105000"/>
              </a:lnSpc>
            </a:pPr>
            <a:r>
              <a:rPr sz="1600" b="0" i="0">
                <a:solidFill>
                  <a:srgbClr val="183A31"/>
                </a:solidFill>
                <a:latin typeface="Aptos"/>
              </a:rPr>
              <a:t>Validated one-way import</a:t>
            </a:r>
          </a:p>
        </p:txBody>
      </p:sp>
      <p:sp>
        <p:nvSpPr>
          <p:cNvPr id="6" name="Rounded Rectangle 5"/>
          <p:cNvSpPr/>
          <p:nvPr/>
        </p:nvSpPr>
        <p:spPr>
          <a:xfrm>
            <a:off x="4517136" y="2606040"/>
            <a:ext cx="315468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F7F2E7"/>
                </a:solidFill>
                <a:latin typeface="Aptos"/>
              </a:rPr>
              <a:t>CONTROLLED API</a:t>
            </a:r>
          </a:p>
          <a:p>
            <a:pPr algn="l">
              <a:lnSpc>
                <a:spcPct val="105000"/>
              </a:lnSpc>
            </a:pPr>
            <a:r>
              <a:rPr sz="1600" b="0" i="0">
                <a:solidFill>
                  <a:srgbClr val="F7F2E7"/>
                </a:solidFill>
                <a:latin typeface="Aptos"/>
              </a:rPr>
              <a:t>Identity • access • approvals</a:t>
            </a:r>
          </a:p>
        </p:txBody>
      </p:sp>
      <p:sp>
        <p:nvSpPr>
          <p:cNvPr id="7" name="Rounded Rectangle 6"/>
          <p:cNvSpPr/>
          <p:nvPr/>
        </p:nvSpPr>
        <p:spPr>
          <a:xfrm>
            <a:off x="8430768" y="2606040"/>
            <a:ext cx="3136392"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SHARED CASE + EVIDENCE</a:t>
            </a:r>
          </a:p>
          <a:p>
            <a:pPr algn="l">
              <a:lnSpc>
                <a:spcPct val="105000"/>
              </a:lnSpc>
            </a:pPr>
            <a:r>
              <a:rPr sz="1600" b="0" i="0">
                <a:solidFill>
                  <a:srgbClr val="183A31"/>
                </a:solidFill>
                <a:latin typeface="Aptos"/>
              </a:rPr>
              <a:t>Azure SQL + versioned Blob</a:t>
            </a:r>
          </a:p>
        </p:txBody>
      </p:sp>
      <p:sp>
        <p:nvSpPr>
          <p:cNvPr id="8" name="Rounded Rectangle 7"/>
          <p:cNvSpPr/>
          <p:nvPr/>
        </p:nvSpPr>
        <p:spPr>
          <a:xfrm>
            <a:off x="594360" y="4617720"/>
            <a:ext cx="3154680" cy="10515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STAFF WORKBENCH</a:t>
            </a:r>
          </a:p>
          <a:p>
            <a:pPr algn="l">
              <a:lnSpc>
                <a:spcPct val="105000"/>
              </a:lnSpc>
            </a:pPr>
            <a:r>
              <a:rPr sz="1500" b="0" i="0">
                <a:solidFill>
                  <a:srgbClr val="F7F2E7"/>
                </a:solidFill>
                <a:latin typeface="Aptos"/>
              </a:rPr>
              <a:t>Read case • request gated action</a:t>
            </a:r>
          </a:p>
          <a:p>
            <a:pPr algn="l">
              <a:lnSpc>
                <a:spcPct val="105000"/>
              </a:lnSpc>
            </a:pPr>
            <a:r>
              <a:rPr sz="1500" b="0" i="0">
                <a:solidFill>
                  <a:srgbClr val="F7F2E7"/>
                </a:solidFill>
                <a:latin typeface="Aptos"/>
              </a:rPr>
              <a:t>Human review before change</a:t>
            </a:r>
          </a:p>
        </p:txBody>
      </p:sp>
      <p:sp>
        <p:nvSpPr>
          <p:cNvPr id="9" name="Rounded Rectangle 8"/>
          <p:cNvSpPr/>
          <p:nvPr/>
        </p:nvSpPr>
        <p:spPr>
          <a:xfrm>
            <a:off x="4517136" y="4617720"/>
            <a:ext cx="3154680" cy="10515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WORKFLOW RULES</a:t>
            </a:r>
          </a:p>
          <a:p>
            <a:pPr algn="l">
              <a:lnSpc>
                <a:spcPct val="105000"/>
              </a:lnSpc>
            </a:pPr>
            <a:r>
              <a:rPr sz="1600" b="0" i="0">
                <a:solidFill>
                  <a:srgbClr val="183A31"/>
                </a:solidFill>
                <a:latin typeface="Aptos"/>
              </a:rPr>
              <a:t>Own • route • check • audit</a:t>
            </a:r>
          </a:p>
        </p:txBody>
      </p:sp>
      <p:sp>
        <p:nvSpPr>
          <p:cNvPr id="10" name="Rounded Rectangle 9"/>
          <p:cNvSpPr/>
          <p:nvPr/>
        </p:nvSpPr>
        <p:spPr>
          <a:xfrm>
            <a:off x="8430768" y="4617720"/>
            <a:ext cx="3136392" cy="10515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BOUNDED AI • NO WRITE</a:t>
            </a:r>
          </a:p>
          <a:p>
            <a:pPr algn="l">
              <a:lnSpc>
                <a:spcPct val="105000"/>
              </a:lnSpc>
            </a:pPr>
            <a:r>
              <a:rPr sz="1500" b="0" i="0">
                <a:solidFill>
                  <a:srgbClr val="F7F2E7"/>
                </a:solidFill>
                <a:latin typeface="Aptos"/>
              </a:rPr>
              <a:t>Permitted inputs</a:t>
            </a:r>
          </a:p>
          <a:p>
            <a:pPr algn="l">
              <a:lnSpc>
                <a:spcPct val="105000"/>
              </a:lnSpc>
            </a:pPr>
            <a:r>
              <a:rPr sz="1500" b="0" i="0">
                <a:solidFill>
                  <a:srgbClr val="F7F2E7"/>
                </a:solidFill>
                <a:latin typeface="Aptos"/>
              </a:rPr>
              <a:t>Cited draft / flag to staff</a:t>
            </a:r>
          </a:p>
        </p:txBody>
      </p:sp>
      <p:sp>
        <p:nvSpPr>
          <p:cNvPr id="11" name="Chevron 10"/>
          <p:cNvSpPr/>
          <p:nvPr/>
        </p:nvSpPr>
        <p:spPr>
          <a:xfrm>
            <a:off x="3950208" y="297180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hevron 11"/>
          <p:cNvSpPr/>
          <p:nvPr/>
        </p:nvSpPr>
        <p:spPr>
          <a:xfrm>
            <a:off x="7854696" y="297180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 name="Connector 12"/>
          <p:cNvCxnSpPr/>
          <p:nvPr/>
        </p:nvCxnSpPr>
        <p:spPr>
          <a:xfrm flipV="1">
            <a:off x="2167128" y="3794760"/>
            <a:ext cx="3410712" cy="822960"/>
          </a:xfrm>
          <a:prstGeom prst="line">
            <a:avLst/>
          </a:prstGeom>
          <a:ln w="25400">
            <a:solidFill>
              <a:srgbClr val="44605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089904" y="3794760"/>
            <a:ext cx="0" cy="822960"/>
          </a:xfrm>
          <a:prstGeom prst="line">
            <a:avLst/>
          </a:prstGeom>
          <a:ln w="25400">
            <a:solidFill>
              <a:srgbClr val="446056"/>
            </a:solidFill>
            <a:headEnd type="arrow"/>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6583680" y="3794760"/>
            <a:ext cx="3410712" cy="822960"/>
          </a:xfrm>
          <a:prstGeom prst="line">
            <a:avLst/>
          </a:prstGeom>
          <a:ln w="25400">
            <a:solidFill>
              <a:srgbClr val="446056"/>
            </a:solidFill>
            <a:headEnd type="arrow"/>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MECHANISM BEFORE MARKETING</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Excel stays useful. It stops being the control system.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06  /  PROPER WARM     •     PROPOSED SUPERIORITY—PAIRED PROOF STILL REQUIRED • E05/E09/E12</a:t>
            </a:r>
          </a:p>
        </p:txBody>
      </p:sp>
      <p:sp>
        <p:nvSpPr>
          <p:cNvPr id="5" name="Rounded Rectangle 4"/>
          <p:cNvSpPr/>
          <p:nvPr/>
        </p:nvSpPr>
        <p:spPr>
          <a:xfrm>
            <a:off x="594360" y="2606040"/>
            <a:ext cx="534924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START WITH THE WORKBOOK</a:t>
            </a:r>
          </a:p>
          <a:p>
            <a:pPr algn="l">
              <a:lnSpc>
                <a:spcPct val="105000"/>
              </a:lnSpc>
            </a:pPr>
            <a:r>
              <a:rPr sz="2100" b="0" i="0">
                <a:solidFill>
                  <a:srgbClr val="F7F2E7"/>
                </a:solidFill>
                <a:latin typeface="Aptos"/>
              </a:rPr>
              <a:t>Case fact: spreadsheets coordinate work</a:t>
            </a:r>
          </a:p>
          <a:p>
            <a:pPr algn="l">
              <a:lnSpc>
                <a:spcPct val="105000"/>
              </a:lnSpc>
            </a:pPr>
            <a:r>
              <a:rPr sz="2100" b="0" i="0">
                <a:solidFill>
                  <a:srgbClr val="F7F2E7"/>
                </a:solidFill>
                <a:latin typeface="Aptos"/>
              </a:rPr>
              <a:t>Measure current effort, errors and rework</a:t>
            </a:r>
          </a:p>
          <a:p>
            <a:pPr algn="l">
              <a:lnSpc>
                <a:spcPct val="105000"/>
              </a:lnSpc>
            </a:pPr>
            <a:r>
              <a:rPr sz="2100" b="0" i="0">
                <a:solidFill>
                  <a:srgbClr val="F7F2E7"/>
                </a:solidFill>
                <a:latin typeface="Aptos"/>
              </a:rPr>
              <a:t>Failure modes remain hypotheses</a:t>
            </a:r>
          </a:p>
        </p:txBody>
      </p:sp>
      <p:sp>
        <p:nvSpPr>
          <p:cNvPr id="6" name="Rounded Rectangle 5"/>
          <p:cNvSpPr/>
          <p:nvPr/>
        </p:nvSpPr>
        <p:spPr>
          <a:xfrm>
            <a:off x="6263640" y="2606040"/>
            <a:ext cx="530352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SAFE, SUPPORTED CHANGE</a:t>
            </a:r>
          </a:p>
          <a:p>
            <a:pPr algn="l">
              <a:lnSpc>
                <a:spcPct val="105000"/>
              </a:lnSpc>
            </a:pPr>
            <a:r>
              <a:rPr sz="2100" b="0" i="0">
                <a:solidFill>
                  <a:srgbClr val="183A31"/>
                </a:solidFill>
                <a:latin typeface="Aptos"/>
              </a:rPr>
              <a:t>Shadow import → reconcile</a:t>
            </a:r>
          </a:p>
          <a:p>
            <a:pPr algn="l">
              <a:lnSpc>
                <a:spcPct val="105000"/>
              </a:lnSpc>
            </a:pPr>
            <a:r>
              <a:rPr sz="2100" b="0" i="0">
                <a:solidFill>
                  <a:srgbClr val="183A31"/>
                </a:solidFill>
                <a:latin typeface="Aptos"/>
              </a:rPr>
              <a:t>Short parallel run → clear exit tests</a:t>
            </a:r>
          </a:p>
          <a:p>
            <a:pPr algn="l">
              <a:lnSpc>
                <a:spcPct val="105000"/>
              </a:lnSpc>
            </a:pPr>
            <a:r>
              <a:rPr sz="2100" b="0" i="0">
                <a:solidFill>
                  <a:srgbClr val="183A31"/>
                </a:solidFill>
                <a:latin typeface="Aptos"/>
              </a:rPr>
              <a:t>Workbench writes; Excel read-only</a:t>
            </a:r>
          </a:p>
        </p:txBody>
      </p:sp>
      <p:sp>
        <p:nvSpPr>
          <p:cNvPr id="7" name="TextBox 6"/>
          <p:cNvSpPr txBox="1"/>
          <p:nvPr/>
        </p:nvSpPr>
        <p:spPr>
          <a:xfrm>
            <a:off x="594360" y="5513832"/>
            <a:ext cx="10972800" cy="274320"/>
          </a:xfrm>
          <a:prstGeom prst="rect">
            <a:avLst/>
          </a:prstGeom>
          <a:noFill/>
        </p:spPr>
        <p:txBody>
          <a:bodyPr wrap="square" lIns="0" rIns="0" tIns="0" bIns="0">
            <a:spAutoFit/>
          </a:bodyPr>
          <a:lstStyle/>
          <a:p>
            <a:r>
              <a:rPr sz="1500" b="0" i="0">
                <a:solidFill>
                  <a:srgbClr val="183A31"/>
                </a:solidFill>
                <a:latin typeface="Aptos"/>
              </a:rPr>
              <a:t>CASE FACT: spreadsheets coordinate work. PROPOSED: linked case + named owner + checked handoff. Better by how much? Not measured.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THE CONNECTED OPERATING JOURNEY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Connect every handoff from intake to accepted home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07  /  PROPER WARM     •     EXERCISE JOURNEY + INDEPENDENT GATES • E06/E08 • NOT LIVE WORK</a:t>
            </a:r>
          </a:p>
        </p:txBody>
      </p:sp>
      <p:sp>
        <p:nvSpPr>
          <p:cNvPr id="5" name="Rounded Rectangle 4"/>
          <p:cNvSpPr/>
          <p:nvPr/>
        </p:nvSpPr>
        <p:spPr>
          <a:xfrm>
            <a:off x="594360" y="2606040"/>
            <a:ext cx="2468880" cy="1554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INTAKE + RANK</a:t>
            </a:r>
          </a:p>
          <a:p>
            <a:pPr algn="l">
              <a:lnSpc>
                <a:spcPct val="105000"/>
              </a:lnSpc>
            </a:pPr>
            <a:r>
              <a:rPr sz="2000" b="0" i="0">
                <a:solidFill>
                  <a:srgbClr val="F7F2E7"/>
                </a:solidFill>
                <a:latin typeface="Aptos"/>
              </a:rPr>
              <a:t>Resolve home • approved rules</a:t>
            </a:r>
          </a:p>
        </p:txBody>
      </p:sp>
      <p:sp>
        <p:nvSpPr>
          <p:cNvPr id="6" name="Rounded Rectangle 5"/>
          <p:cNvSpPr/>
          <p:nvPr/>
        </p:nvSpPr>
        <p:spPr>
          <a:xfrm>
            <a:off x="3410712" y="2606040"/>
            <a:ext cx="24688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ASSESS + AGREE</a:t>
            </a:r>
          </a:p>
          <a:p>
            <a:pPr algn="l">
              <a:lnSpc>
                <a:spcPct val="105000"/>
              </a:lnSpc>
            </a:pPr>
            <a:r>
              <a:rPr sz="2000" b="0" i="0">
                <a:solidFill>
                  <a:srgbClr val="183A31"/>
                </a:solidFill>
                <a:latin typeface="Aptos"/>
              </a:rPr>
              <a:t>Survey • design • resident choice</a:t>
            </a:r>
          </a:p>
        </p:txBody>
      </p:sp>
      <p:sp>
        <p:nvSpPr>
          <p:cNvPr id="7" name="Rounded Rectangle 6"/>
          <p:cNvSpPr/>
          <p:nvPr/>
        </p:nvSpPr>
        <p:spPr>
          <a:xfrm>
            <a:off x="6227064" y="2606040"/>
            <a:ext cx="2468880" cy="1554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RESOURCE + DELIVER</a:t>
            </a:r>
          </a:p>
          <a:p>
            <a:pPr algn="l">
              <a:lnSpc>
                <a:spcPct val="105000"/>
              </a:lnSpc>
            </a:pPr>
            <a:r>
              <a:rPr sz="2000" b="0" i="0">
                <a:solidFill>
                  <a:srgbClr val="F7F2E7"/>
                </a:solidFill>
                <a:latin typeface="Aptos"/>
              </a:rPr>
              <a:t>Funding • crew capacity • work</a:t>
            </a:r>
          </a:p>
        </p:txBody>
      </p:sp>
      <p:sp>
        <p:nvSpPr>
          <p:cNvPr id="8" name="Rounded Rectangle 7"/>
          <p:cNvSpPr/>
          <p:nvPr/>
        </p:nvSpPr>
        <p:spPr>
          <a:xfrm>
            <a:off x="9043416" y="2606040"/>
            <a:ext cx="24688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VERIFY + CLOSE</a:t>
            </a:r>
          </a:p>
          <a:p>
            <a:pPr algn="l">
              <a:lnSpc>
                <a:spcPct val="105000"/>
              </a:lnSpc>
            </a:pPr>
            <a:r>
              <a:rPr sz="2000" b="0" i="0">
                <a:solidFill>
                  <a:srgbClr val="183A31"/>
                </a:solidFill>
                <a:latin typeface="Aptos"/>
              </a:rPr>
              <a:t>Independent QA • handover • finance</a:t>
            </a:r>
          </a:p>
        </p:txBody>
      </p:sp>
      <p:sp>
        <p:nvSpPr>
          <p:cNvPr id="9" name="Rounded Rectangle 8"/>
          <p:cNvSpPr/>
          <p:nvPr/>
        </p:nvSpPr>
        <p:spPr>
          <a:xfrm>
            <a:off x="594360" y="4572000"/>
            <a:ext cx="10972800" cy="9144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Closed loop: defects / changed evidence → owned re-review • accepted handover • separate finance close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RESIDENT VALUE • DIGNITY BY DESIGN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Give staff, residents and contractors a clear next step</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08  /  PROPER WARM     •     PROPOSED SERVICE + OWNER-REPORTED UX • E06/E12 • VALIDATION PENDING</a:t>
            </a:r>
          </a:p>
        </p:txBody>
      </p:sp>
      <p:grpSp>
        <p:nvGrpSpPr>
          <p:cNvPr id="5" name="Editable home motif"/>
          <p:cNvGrpSpPr/>
          <p:nvPr/>
        </p:nvGrpSpPr>
        <p:grpSpPr>
          <a:xfrm>
            <a:off x="594360" y="2606040"/>
            <a:ext cx="2788920" cy="2788920"/>
            <a:chOff x="594360" y="2606040"/>
            <a:chExt cx="2788920" cy="2788920"/>
          </a:xfrm>
        </p:grpSpPr>
        <p:sp>
          <p:nvSpPr>
            <p:cNvPr id="6" name="Pentagon 5"/>
            <p:cNvSpPr/>
            <p:nvPr/>
          </p:nvSpPr>
          <p:spPr>
            <a:xfrm rot="16200000">
              <a:off x="594360" y="2606040"/>
              <a:ext cx="2788920" cy="2788920"/>
            </a:xfrm>
            <a:prstGeom prst="homePlate">
              <a:avLst/>
            </a:prstGeom>
            <a:solidFill>
              <a:srgbClr val="E5B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777386"/>
              <a:ext cx="2459736" cy="1338681"/>
            </a:xfrm>
            <a:prstGeom prst="rect">
              <a:avLst/>
            </a:prstGeom>
            <a:noFill/>
          </p:spPr>
          <p:txBody>
            <a:bodyPr wrap="square" lIns="0" rIns="0" tIns="0" bIns="0">
              <a:spAutoFit/>
            </a:bodyPr>
            <a:lstStyle/>
            <a:p>
              <a:r>
                <a:rPr sz="2800" b="1" i="0">
                  <a:solidFill>
                    <a:srgbClr val="183A31"/>
                  </a:solidFill>
                  <a:latin typeface="Aptos"/>
                </a:rPr>
                <a:t>RESIDENT</a:t>
              </a:r>
            </a:p>
            <a:p>
              <a:r>
                <a:rPr sz="2800" b="1" i="0">
                  <a:solidFill>
                    <a:srgbClr val="183A31"/>
                  </a:solidFill>
                  <a:latin typeface="Aptos"/>
                </a:rPr>
                <a:t>CHOICE</a:t>
              </a:r>
            </a:p>
          </p:txBody>
        </p:sp>
      </p:grpSp>
      <p:sp>
        <p:nvSpPr>
          <p:cNvPr id="8" name="Rounded Rectangle 7"/>
          <p:cNvSpPr/>
          <p:nvPr/>
        </p:nvSpPr>
        <p:spPr>
          <a:xfrm>
            <a:off x="4069080" y="2606040"/>
            <a:ext cx="7498079" cy="713232"/>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183A31"/>
                </a:solidFill>
                <a:latin typeface="Aptos"/>
              </a:rPr>
              <a:t>STAFF • INTERNAL WORKBENCH</a:t>
            </a:r>
          </a:p>
          <a:p>
            <a:pPr algn="l">
              <a:lnSpc>
                <a:spcPct val="105000"/>
              </a:lnSpc>
            </a:pPr>
            <a:r>
              <a:rPr sz="1500" b="0" i="0">
                <a:solidFill>
                  <a:srgbClr val="183A31"/>
                </a:solidFill>
                <a:latin typeface="Aptos"/>
              </a:rPr>
              <a:t>Owner • blocker • evidence • next action</a:t>
            </a:r>
          </a:p>
        </p:txBody>
      </p:sp>
      <p:sp>
        <p:nvSpPr>
          <p:cNvPr id="9" name="Rounded Rectangle 8"/>
          <p:cNvSpPr/>
          <p:nvPr/>
        </p:nvSpPr>
        <p:spPr>
          <a:xfrm>
            <a:off x="4069080" y="3657600"/>
            <a:ext cx="7498079" cy="713232"/>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RESIDENTS • NO REQUIRED PORTAL</a:t>
            </a:r>
          </a:p>
          <a:p>
            <a:pPr algn="l">
              <a:lnSpc>
                <a:spcPct val="105000"/>
              </a:lnSpc>
            </a:pPr>
            <a:r>
              <a:rPr sz="1500" b="0" i="0">
                <a:solidFill>
                  <a:srgbClr val="F7F2E7"/>
                </a:solidFill>
                <a:latin typeface="Aptos"/>
              </a:rPr>
              <a:t>Supported contact • options • human help</a:t>
            </a:r>
          </a:p>
        </p:txBody>
      </p:sp>
      <p:sp>
        <p:nvSpPr>
          <p:cNvPr id="10" name="Rounded Rectangle 9"/>
          <p:cNvSpPr/>
          <p:nvPr/>
        </p:nvSpPr>
        <p:spPr>
          <a:xfrm>
            <a:off x="4069080" y="4709160"/>
            <a:ext cx="7498079" cy="713232"/>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183A31"/>
                </a:solidFill>
                <a:latin typeface="Aptos"/>
              </a:rPr>
              <a:t>CONTRACTORS • APPROVED CHANNEL</a:t>
            </a:r>
          </a:p>
          <a:p>
            <a:pPr algn="l">
              <a:lnSpc>
                <a:spcPct val="105000"/>
              </a:lnSpc>
            </a:pPr>
            <a:r>
              <a:rPr sz="1500" b="0" i="0">
                <a:solidFill>
                  <a:srgbClr val="183A31"/>
                </a:solidFill>
                <a:latin typeface="Aptos"/>
              </a:rPr>
              <a:t>Scope • schedule • minimum-necessary information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TWO CAPABILITIES • ONE AUTHORITY BOUNDARY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AI prepares the decision. People own it.</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09  /  PROPER WARM     •     REAL FEASIBILITY ≠ TASK BENEFIT • E07/E11 • 11 Oct 2026</a:t>
            </a:r>
          </a:p>
        </p:txBody>
      </p:sp>
      <p:sp>
        <p:nvSpPr>
          <p:cNvPr id="5" name="Rounded Rectangle 4"/>
          <p:cNvSpPr/>
          <p:nvPr/>
        </p:nvSpPr>
        <p:spPr>
          <a:xfrm>
            <a:off x="594360" y="2606040"/>
            <a:ext cx="534924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TYPED SCORING</a:t>
            </a:r>
          </a:p>
          <a:p>
            <a:pPr algn="l">
              <a:lnSpc>
                <a:spcPct val="105000"/>
              </a:lnSpc>
            </a:pPr>
            <a:r>
              <a:rPr sz="2100" b="0" i="0">
                <a:solidFill>
                  <a:srgbClr val="F7F2E7"/>
                </a:solidFill>
                <a:latin typeface="Aptos"/>
              </a:rPr>
              <a:t>Decision 1</a:t>
            </a:r>
          </a:p>
          <a:p>
            <a:pPr algn="l">
              <a:lnSpc>
                <a:spcPct val="105000"/>
              </a:lnSpc>
            </a:pPr>
            <a:r>
              <a:rPr sz="2100" b="0" i="0">
                <a:solidFill>
                  <a:srgbClr val="F7F2E7"/>
                </a:solidFill>
                <a:latin typeface="Aptos"/>
              </a:rPr>
              <a:t>Supplied candidates and bounded checks</a:t>
            </a:r>
          </a:p>
          <a:p>
            <a:pPr algn="l">
              <a:lnSpc>
                <a:spcPct val="105000"/>
              </a:lnSpc>
            </a:pPr>
            <a:r>
              <a:rPr sz="2100" b="0" i="0">
                <a:solidFill>
                  <a:srgbClr val="F7F2E7"/>
                </a:solidFill>
                <a:latin typeface="Aptos"/>
              </a:rPr>
              <a:t>Explicit no-match / uncertainty</a:t>
            </a:r>
          </a:p>
          <a:p>
            <a:pPr algn="l">
              <a:lnSpc>
                <a:spcPct val="105000"/>
              </a:lnSpc>
            </a:pPr>
            <a:r>
              <a:rPr sz="2100" b="0" i="0">
                <a:solidFill>
                  <a:srgbClr val="F7F2E7"/>
                </a:solidFill>
                <a:latin typeface="Aptos"/>
              </a:rPr>
              <a:t>Placement conditional on verified task fit</a:t>
            </a:r>
          </a:p>
        </p:txBody>
      </p:sp>
      <p:sp>
        <p:nvSpPr>
          <p:cNvPr id="6" name="Rounded Rectangle 5"/>
          <p:cNvSpPr/>
          <p:nvPr/>
        </p:nvSpPr>
        <p:spPr>
          <a:xfrm>
            <a:off x="6263640" y="2606040"/>
            <a:ext cx="530352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CITED GENERATION</a:t>
            </a:r>
          </a:p>
          <a:p>
            <a:pPr algn="l">
              <a:lnSpc>
                <a:spcPct val="105000"/>
              </a:lnSpc>
            </a:pPr>
            <a:r>
              <a:rPr sz="2100" b="0" i="0">
                <a:solidFill>
                  <a:srgbClr val="183A31"/>
                </a:solidFill>
                <a:latin typeface="Aptos"/>
              </a:rPr>
              <a:t>Foundry generative model</a:t>
            </a:r>
          </a:p>
          <a:p>
            <a:pPr algn="l">
              <a:lnSpc>
                <a:spcPct val="105000"/>
              </a:lnSpc>
            </a:pPr>
            <a:r>
              <a:rPr sz="2100" b="0" i="0">
                <a:solidFill>
                  <a:srgbClr val="183A31"/>
                </a:solidFill>
                <a:latin typeface="Aptos"/>
              </a:rPr>
              <a:t>Draft narrative from permitted sources</a:t>
            </a:r>
          </a:p>
          <a:p>
            <a:pPr algn="l">
              <a:lnSpc>
                <a:spcPct val="105000"/>
              </a:lnSpc>
            </a:pPr>
            <a:r>
              <a:rPr sz="2100" b="0" i="0">
                <a:solidFill>
                  <a:srgbClr val="183A31"/>
                </a:solidFill>
                <a:latin typeface="Aptos"/>
              </a:rPr>
              <a:t>Review every required field</a:t>
            </a:r>
          </a:p>
          <a:p>
            <a:pPr algn="l">
              <a:lnSpc>
                <a:spcPct val="105000"/>
              </a:lnSpc>
            </a:pPr>
            <a:r>
              <a:rPr sz="2100" b="0" i="0">
                <a:solidFill>
                  <a:srgbClr val="183A31"/>
                </a:solidFill>
                <a:latin typeface="Aptos"/>
              </a:rPr>
              <a:t>No invented facts or submission</a:t>
            </a:r>
          </a:p>
        </p:txBody>
      </p:sp>
      <p:sp>
        <p:nvSpPr>
          <p:cNvPr id="7" name="TextBox 6"/>
          <p:cNvSpPr txBox="1"/>
          <p:nvPr/>
        </p:nvSpPr>
        <p:spPr>
          <a:xfrm>
            <a:off x="594360" y="5532120"/>
            <a:ext cx="10972800" cy="329184"/>
          </a:xfrm>
          <a:prstGeom prst="rect">
            <a:avLst/>
          </a:prstGeom>
          <a:noFill/>
        </p:spPr>
        <p:txBody>
          <a:bodyPr wrap="square" lIns="0" rIns="0" tIns="0" bIns="0">
            <a:spAutoFit/>
          </a:bodyPr>
          <a:lstStyle/>
          <a:p>
            <a:r>
              <a:rPr sz="1600" b="1" i="0">
                <a:solidFill>
                  <a:srgbClr val="183A31"/>
                </a:solidFill>
                <a:latin typeface="Aptos"/>
              </a:rPr>
              <a:t>NEVER AI-OWNED: priority policy • compliance • consent • technical approval • claims • QA • payment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SECURITY POSTURE • PROPOSED CONTROLS, ASSURANCE OPEN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security. Cloud hosting is not proof.</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10  /  PROPER WARM     •     PINNED #58 DOCUMENTED FEASIBILITY • E07/E08/E11 • 11 Oct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DATA + ACCESS</a:t>
            </a:r>
          </a:p>
          <a:p>
            <a:pPr algn="l">
              <a:lnSpc>
                <a:spcPct val="105000"/>
              </a:lnSpc>
            </a:pPr>
            <a:r>
              <a:rPr sz="2000" b="0" i="0">
                <a:solidFill>
                  <a:srgbClr val="F7F2E7"/>
                </a:solidFill>
                <a:latin typeface="Aptos"/>
              </a:rPr>
              <a:t>Role / case / field checks</a:t>
            </a:r>
          </a:p>
          <a:p>
            <a:pPr algn="l">
              <a:lnSpc>
                <a:spcPct val="105000"/>
              </a:lnSpc>
            </a:pPr>
            <a:r>
              <a:rPr sz="2000" b="0" i="0">
                <a:solidFill>
                  <a:srgbClr val="F7F2E7"/>
                </a:solidFill>
                <a:latin typeface="Aptos"/>
              </a:rPr>
              <a:t>Minimum-necessary inputs</a:t>
            </a:r>
          </a:p>
          <a:p>
            <a:pPr algn="l">
              <a:lnSpc>
                <a:spcPct val="105000"/>
              </a:lnSpc>
            </a:pPr>
            <a:r>
              <a:rPr sz="2000" b="0" i="0">
                <a:solidFill>
                  <a:srgbClr val="F7F2E7"/>
                </a:solidFill>
                <a:latin typeface="Aptos"/>
              </a:rPr>
              <a:t>Constructed data only for exercise</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CONTROL BOUNDARY</a:t>
            </a:r>
          </a:p>
          <a:p>
            <a:pPr algn="l">
              <a:lnSpc>
                <a:spcPct val="105000"/>
              </a:lnSpc>
            </a:pPr>
            <a:r>
              <a:rPr sz="2000" b="0" i="0">
                <a:solidFill>
                  <a:srgbClr val="183A31"/>
                </a:solidFill>
                <a:latin typeface="Aptos"/>
              </a:rPr>
              <a:t>API is the only write route</a:t>
            </a:r>
          </a:p>
          <a:p>
            <a:pPr algn="l">
              <a:lnSpc>
                <a:spcPct val="105000"/>
              </a:lnSpc>
            </a:pPr>
            <a:r>
              <a:rPr sz="2000" b="0" i="0">
                <a:solidFill>
                  <a:srgbClr val="183A31"/>
                </a:solidFill>
                <a:latin typeface="Aptos"/>
              </a:rPr>
              <a:t>AI cannot write or approve</a:t>
            </a:r>
          </a:p>
          <a:p>
            <a:pPr algn="l">
              <a:lnSpc>
                <a:spcPct val="105000"/>
              </a:lnSpc>
            </a:pPr>
            <a:r>
              <a:rPr sz="2000" b="0" i="0">
                <a:solidFill>
                  <a:srgbClr val="183A31"/>
                </a:solidFill>
                <a:latin typeface="Aptos"/>
              </a:rPr>
              <a:t>Independent human gates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PROOF REQUIRED</a:t>
            </a:r>
          </a:p>
          <a:p>
            <a:pPr algn="l">
              <a:lnSpc>
                <a:spcPct val="105000"/>
              </a:lnSpc>
            </a:pPr>
            <a:r>
              <a:rPr sz="2000" b="0" i="0">
                <a:solidFill>
                  <a:srgbClr val="F7F2E7"/>
                </a:solidFill>
                <a:latin typeface="Aptos"/>
              </a:rPr>
              <a:t>Authorization / leakage tests</a:t>
            </a:r>
          </a:p>
          <a:p>
            <a:pPr algn="l">
              <a:lnSpc>
                <a:spcPct val="105000"/>
              </a:lnSpc>
            </a:pPr>
            <a:r>
              <a:rPr sz="2000" b="0" i="0">
                <a:solidFill>
                  <a:srgbClr val="F7F2E7"/>
                </a:solidFill>
                <a:latin typeface="Aptos"/>
              </a:rPr>
              <a:t>Recovery / audit verification</a:t>
            </a:r>
          </a:p>
          <a:p>
            <a:pPr algn="l">
              <a:lnSpc>
                <a:spcPct val="105000"/>
              </a:lnSpc>
            </a:pPr>
            <a:r>
              <a:rPr sz="2000" b="0" i="0">
                <a:solidFill>
                  <a:srgbClr val="F7F2E7"/>
                </a:solidFill>
                <a:latin typeface="Aptos"/>
              </a:rPr>
              <a:t>Security + privacy approval</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600" b="0" i="0">
                <a:solidFill>
                  <a:srgbClr val="183A31"/>
                </a:solidFill>
                <a:latin typeface="Aptos"/>
              </a:rPr>
              <a:t>Design controls are not a security certification • No personal data or live decisions in this exercise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RETROFIT CASH EXAMPLE • FICTIONAL, NOT WORKBENCH PRICE OR BUDGET</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The CFO test: cash exposure before grant optimism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11  /  PROPER WARM     •     FICTIONAL EXA-010/015 ARITHMETIC • E06 • ACCEPTED EXERCISE 10 Oct 2026</a:t>
            </a:r>
          </a:p>
        </p:txBody>
      </p:sp>
      <p:sp>
        <p:nvSpPr>
          <p:cNvPr id="5" name="TextBox 4"/>
          <p:cNvSpPr txBox="1"/>
          <p:nvPr/>
        </p:nvSpPr>
        <p:spPr>
          <a:xfrm>
            <a:off x="594360" y="2606040"/>
            <a:ext cx="3429000" cy="777240"/>
          </a:xfrm>
          <a:prstGeom prst="rect">
            <a:avLst/>
          </a:prstGeom>
          <a:noFill/>
        </p:spPr>
        <p:txBody>
          <a:bodyPr wrap="square" lIns="0" rIns="0" tIns="0" bIns="0">
            <a:spAutoFit/>
          </a:bodyPr>
          <a:lstStyle/>
          <a:p>
            <a:r>
              <a:rPr sz="4700" b="1" i="0">
                <a:solidFill>
                  <a:srgbClr val="183A31"/>
                </a:solidFill>
                <a:latin typeface="Aptos"/>
              </a:rPr>
              <a:t>£20,000</a:t>
            </a:r>
          </a:p>
        </p:txBody>
      </p:sp>
      <p:sp>
        <p:nvSpPr>
          <p:cNvPr id="6" name="TextBox 5"/>
          <p:cNvSpPr txBox="1"/>
          <p:nvPr/>
        </p:nvSpPr>
        <p:spPr>
          <a:xfrm>
            <a:off x="594360" y="3703320"/>
            <a:ext cx="3429000" cy="365760"/>
          </a:xfrm>
          <a:prstGeom prst="rect">
            <a:avLst/>
          </a:prstGeom>
          <a:noFill/>
        </p:spPr>
        <p:txBody>
          <a:bodyPr wrap="square" lIns="0" rIns="0" tIns="0" bIns="0">
            <a:spAutoFit/>
          </a:bodyPr>
          <a:lstStyle/>
          <a:p>
            <a:r>
              <a:rPr sz="1800" b="0" i="0">
                <a:solidFill>
                  <a:srgbClr val="183A31"/>
                </a:solidFill>
                <a:latin typeface="Aptos"/>
              </a:rPr>
              <a:t>gross base cash exposure</a:t>
            </a:r>
          </a:p>
        </p:txBody>
      </p:sp>
      <p:sp>
        <p:nvSpPr>
          <p:cNvPr id="7" name="TextBox 6"/>
          <p:cNvSpPr txBox="1"/>
          <p:nvPr/>
        </p:nvSpPr>
        <p:spPr>
          <a:xfrm>
            <a:off x="4370832" y="2606040"/>
            <a:ext cx="3429000" cy="777240"/>
          </a:xfrm>
          <a:prstGeom prst="rect">
            <a:avLst/>
          </a:prstGeom>
          <a:noFill/>
        </p:spPr>
        <p:txBody>
          <a:bodyPr wrap="square" lIns="0" rIns="0" tIns="0" bIns="0">
            <a:spAutoFit/>
          </a:bodyPr>
          <a:lstStyle/>
          <a:p>
            <a:r>
              <a:rPr sz="4700" b="1" i="0">
                <a:solidFill>
                  <a:srgbClr val="183A31"/>
                </a:solidFill>
                <a:latin typeface="Aptos"/>
              </a:rPr>
              <a:t>£7,500</a:t>
            </a:r>
          </a:p>
        </p:txBody>
      </p:sp>
      <p:sp>
        <p:nvSpPr>
          <p:cNvPr id="8" name="TextBox 7"/>
          <p:cNvSpPr txBox="1"/>
          <p:nvPr/>
        </p:nvSpPr>
        <p:spPr>
          <a:xfrm>
            <a:off x="4370832" y="3703320"/>
            <a:ext cx="3429000" cy="365760"/>
          </a:xfrm>
          <a:prstGeom prst="rect">
            <a:avLst/>
          </a:prstGeom>
          <a:noFill/>
        </p:spPr>
        <p:txBody>
          <a:bodyPr wrap="square" lIns="0" rIns="0" tIns="0" bIns="0">
            <a:spAutoFit/>
          </a:bodyPr>
          <a:lstStyle/>
          <a:p>
            <a:r>
              <a:rPr sz="1800" b="0" i="0">
                <a:solidFill>
                  <a:srgbClr val="183A31"/>
                </a:solidFill>
                <a:latin typeface="Aptos"/>
              </a:rPr>
              <a:t>fictional grant—not cash yet</a:t>
            </a:r>
          </a:p>
        </p:txBody>
      </p:sp>
      <p:sp>
        <p:nvSpPr>
          <p:cNvPr id="9" name="TextBox 8"/>
          <p:cNvSpPr txBox="1"/>
          <p:nvPr/>
        </p:nvSpPr>
        <p:spPr>
          <a:xfrm>
            <a:off x="8147304" y="2606040"/>
            <a:ext cx="3429000" cy="777240"/>
          </a:xfrm>
          <a:prstGeom prst="rect">
            <a:avLst/>
          </a:prstGeom>
          <a:noFill/>
        </p:spPr>
        <p:txBody>
          <a:bodyPr wrap="square" lIns="0" rIns="0" tIns="0" bIns="0">
            <a:spAutoFit/>
          </a:bodyPr>
          <a:lstStyle/>
          <a:p>
            <a:r>
              <a:rPr sz="4700" b="1" i="0">
                <a:solidFill>
                  <a:srgbClr val="183A31"/>
                </a:solidFill>
                <a:latin typeface="Aptos"/>
              </a:rPr>
              <a:t>£12,500</a:t>
            </a:r>
          </a:p>
        </p:txBody>
      </p:sp>
      <p:sp>
        <p:nvSpPr>
          <p:cNvPr id="10" name="TextBox 9"/>
          <p:cNvSpPr txBox="1"/>
          <p:nvPr/>
        </p:nvSpPr>
        <p:spPr>
          <a:xfrm>
            <a:off x="8147304" y="3703320"/>
            <a:ext cx="3429000" cy="365760"/>
          </a:xfrm>
          <a:prstGeom prst="rect">
            <a:avLst/>
          </a:prstGeom>
          <a:noFill/>
        </p:spPr>
        <p:txBody>
          <a:bodyPr wrap="square" lIns="0" rIns="0" tIns="0" bIns="0">
            <a:spAutoFit/>
          </a:bodyPr>
          <a:lstStyle/>
          <a:p>
            <a:r>
              <a:rPr sz="1800" b="0" i="0">
                <a:solidFill>
                  <a:srgbClr val="183A31"/>
                </a:solidFill>
                <a:latin typeface="Aptos"/>
              </a:rPr>
              <a:t>provider base funding</a:t>
            </a:r>
          </a:p>
        </p:txBody>
      </p:sp>
      <p:sp>
        <p:nvSpPr>
          <p:cNvPr id="11" name="Rounded Rectangle 10"/>
          <p:cNvSpPr/>
          <p:nvPr/>
        </p:nvSpPr>
        <p:spPr>
          <a:xfrm>
            <a:off x="594360" y="4480560"/>
            <a:ext cx="10972800" cy="8229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F7F2E7"/>
                </a:solidFill>
                <a:latin typeface="Aptos"/>
              </a:rPr>
              <a:t>IF CONTINGENCY SPENT   £22,000 gross envelope / £14,500 provider exposure</a:t>
            </a:r>
          </a:p>
        </p:txBody>
      </p:sp>
      <p:sp>
        <p:nvSpPr>
          <p:cNvPr id="12" name="TextBox 11"/>
          <p:cNvSpPr txBox="1"/>
          <p:nvPr/>
        </p:nvSpPr>
        <p:spPr>
          <a:xfrm>
            <a:off x="594360" y="5577840"/>
            <a:ext cx="10972800" cy="274320"/>
          </a:xfrm>
          <a:prstGeom prst="rect">
            <a:avLst/>
          </a:prstGeom>
          <a:noFill/>
        </p:spPr>
        <p:txBody>
          <a:bodyPr wrap="square" lIns="0" rIns="0" tIns="0" bIns="0">
            <a:spAutoFit/>
          </a:bodyPr>
          <a:lstStyle/>
          <a:p>
            <a:r>
              <a:rPr sz="1600" b="0" i="0">
                <a:solidFill>
                  <a:srgbClr val="183A31"/>
                </a:solidFill>
                <a:latin typeface="Aptos"/>
              </a:rPr>
              <a:t>Application ≠ award ≠ claim ≠ cash. Actual terms, liquidity and delegated authority remain unknown.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MEASUREMENT, NOT A SUCCESS DASHBOARD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the transformation; test whether AI adds value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12  /  PROPER WARM     •     PROPOSED COMPARISONS • E05/E11 • NO RESULTS CLAIMED</a:t>
            </a:r>
          </a:p>
        </p:txBody>
      </p:sp>
      <p:sp>
        <p:nvSpPr>
          <p:cNvPr id="5" name="Rounded Rectangle 4"/>
          <p:cNvSpPr/>
          <p:nvPr/>
        </p:nvSpPr>
        <p:spPr>
          <a:xfrm>
            <a:off x="594360" y="2606040"/>
            <a:ext cx="5349240" cy="2697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COMPARISON 1 • PROGRAMME</a:t>
            </a:r>
          </a:p>
          <a:p>
            <a:pPr algn="l">
              <a:lnSpc>
                <a:spcPct val="105000"/>
              </a:lnSpc>
            </a:pPr>
            <a:r>
              <a:rPr sz="2100" b="0" i="0">
                <a:solidFill>
                  <a:srgbClr val="F7F2E7"/>
                </a:solidFill>
                <a:latin typeface="Aptos"/>
              </a:rPr>
              <a:t>Existing teams / matched localities</a:t>
            </a:r>
          </a:p>
          <a:p>
            <a:pPr algn="l">
              <a:lnSpc>
                <a:spcPct val="105000"/>
              </a:lnSpc>
            </a:pPr>
            <a:r>
              <a:rPr sz="2100" b="0" i="0">
                <a:solidFill>
                  <a:srgbClr val="F7F2E7"/>
                </a:solidFill>
                <a:latin typeface="Aptos"/>
              </a:rPr>
              <a:t>Same event capture and frozen cohort</a:t>
            </a:r>
          </a:p>
          <a:p>
            <a:pPr algn="l">
              <a:lnSpc>
                <a:spcPct val="105000"/>
              </a:lnSpc>
            </a:pPr>
            <a:r>
              <a:rPr sz="2100" b="0" i="0">
                <a:solidFill>
                  <a:srgbClr val="F7F2E7"/>
                </a:solidFill>
                <a:latin typeface="Aptos"/>
              </a:rPr>
              <a:t>Accepted handovers + whole-chain cost</a:t>
            </a:r>
          </a:p>
          <a:p>
            <a:pPr algn="l">
              <a:lnSpc>
                <a:spcPct val="105000"/>
              </a:lnSpc>
            </a:pPr>
            <a:r>
              <a:rPr sz="2100" b="0" i="0">
                <a:solidFill>
                  <a:srgbClr val="F7F2E7"/>
                </a:solidFill>
                <a:latin typeface="Aptos"/>
              </a:rPr>
              <a:t>Log shared resources and displacement</a:t>
            </a:r>
          </a:p>
        </p:txBody>
      </p:sp>
      <p:sp>
        <p:nvSpPr>
          <p:cNvPr id="6" name="Rounded Rectangle 5"/>
          <p:cNvSpPr/>
          <p:nvPr/>
        </p:nvSpPr>
        <p:spPr>
          <a:xfrm>
            <a:off x="6263640" y="2606040"/>
            <a:ext cx="5303520" cy="2697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COMPARISON 2 • CAPABILITY</a:t>
            </a:r>
          </a:p>
          <a:p>
            <a:pPr algn="l">
              <a:lnSpc>
                <a:spcPct val="105000"/>
              </a:lnSpc>
            </a:pPr>
            <a:r>
              <a:rPr sz="2100" b="0" i="0">
                <a:solidFill>
                  <a:srgbClr val="183A31"/>
                </a:solidFill>
                <a:latin typeface="Aptos"/>
              </a:rPr>
              <a:t>Paired manual/rules versus assistance</a:t>
            </a:r>
          </a:p>
          <a:p>
            <a:pPr algn="l">
              <a:lnSpc>
                <a:spcPct val="105000"/>
              </a:lnSpc>
            </a:pPr>
            <a:r>
              <a:rPr sz="2100" b="0" i="0">
                <a:solidFill>
                  <a:srgbClr val="183A31"/>
                </a:solidFill>
                <a:latin typeface="Aptos"/>
              </a:rPr>
              <a:t>Same inputs and reviewed outcomes</a:t>
            </a:r>
          </a:p>
          <a:p>
            <a:pPr algn="l">
              <a:lnSpc>
                <a:spcPct val="105000"/>
              </a:lnSpc>
            </a:pPr>
            <a:r>
              <a:rPr sz="2100" b="0" i="0">
                <a:solidFill>
                  <a:srgbClr val="183A31"/>
                </a:solidFill>
                <a:latin typeface="Aptos"/>
              </a:rPr>
              <a:t>Full review effort + errors + latency + cost</a:t>
            </a:r>
          </a:p>
          <a:p>
            <a:pPr algn="l">
              <a:lnSpc>
                <a:spcPct val="105000"/>
              </a:lnSpc>
            </a:pPr>
            <a:r>
              <a:rPr sz="2100" b="0" i="0">
                <a:solidFill>
                  <a:srgbClr val="183A31"/>
                </a:solidFill>
                <a:latin typeface="Aptos"/>
              </a:rPr>
              <a:t>Parallel experiment: no results yet</a:t>
            </a:r>
          </a:p>
        </p:txBody>
      </p:sp>
      <p:sp>
        <p:nvSpPr>
          <p:cNvPr id="7" name="TextBox 6"/>
          <p:cNvSpPr txBox="1"/>
          <p:nvPr/>
        </p:nvSpPr>
        <p:spPr>
          <a:xfrm>
            <a:off x="594360" y="5596128"/>
            <a:ext cx="10972800" cy="256032"/>
          </a:xfrm>
          <a:prstGeom prst="rect">
            <a:avLst/>
          </a:prstGeom>
          <a:noFill/>
        </p:spPr>
        <p:txBody>
          <a:bodyPr wrap="square" lIns="0" rIns="0" tIns="0" bIns="0">
            <a:spAutoFit/>
          </a:bodyPr>
          <a:lstStyle/>
          <a:p>
            <a:r>
              <a:rPr sz="1700" b="0" i="0">
                <a:solidFill>
                  <a:srgbClr val="183A31"/>
                </a:solidFill>
                <a:latin typeface="Aptos"/>
              </a:rPr>
              <a:t>Guardrails: safety • resident choice • quality • equity • peak cash. Include unfinished and withdrawn cases.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PLANNING ONLY • PROPOSED GATES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Prepare the evidence stage in four decision gates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13  /  PROPER WARM     •     PROPOSED NEXT STAGE • E06–E10 • SCOPE/BUDGET/ACCEPTANCE REQUIRED</a:t>
            </a:r>
          </a:p>
        </p:txBody>
      </p:sp>
      <p:sp>
        <p:nvSpPr>
          <p:cNvPr id="5" name="Rounded Rectangle 4"/>
          <p:cNvSpPr/>
          <p:nvPr/>
        </p:nvSpPr>
        <p:spPr>
          <a:xfrm>
            <a:off x="594360" y="2606040"/>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1 • ACCEPT</a:t>
            </a:r>
          </a:p>
        </p:txBody>
      </p:sp>
      <p:sp>
        <p:nvSpPr>
          <p:cNvPr id="6" name="TextBox 5"/>
          <p:cNvSpPr txBox="1"/>
          <p:nvPr/>
        </p:nvSpPr>
        <p:spPr>
          <a:xfrm>
            <a:off x="3108960" y="2606040"/>
            <a:ext cx="8458200" cy="484632"/>
          </a:xfrm>
          <a:prstGeom prst="rect">
            <a:avLst/>
          </a:prstGeom>
          <a:noFill/>
        </p:spPr>
        <p:txBody>
          <a:bodyPr wrap="square" lIns="0" rIns="0" tIns="0" bIns="0">
            <a:spAutoFit/>
          </a:bodyPr>
          <a:lstStyle/>
          <a:p>
            <a:r>
              <a:rPr sz="1900" b="0" i="0">
                <a:solidFill>
                  <a:srgbClr val="183A31"/>
                </a:solidFill>
                <a:latin typeface="Aptos"/>
              </a:rPr>
              <a:t>Freshly reviewed requirements + named owners + defined authority</a:t>
            </a:r>
          </a:p>
        </p:txBody>
      </p:sp>
      <p:sp>
        <p:nvSpPr>
          <p:cNvPr id="7" name="Rounded Rectangle 6"/>
          <p:cNvSpPr/>
          <p:nvPr/>
        </p:nvSpPr>
        <p:spPr>
          <a:xfrm>
            <a:off x="594360" y="3364992"/>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2 • CONNECT</a:t>
            </a:r>
          </a:p>
        </p:txBody>
      </p:sp>
      <p:sp>
        <p:nvSpPr>
          <p:cNvPr id="8" name="TextBox 7"/>
          <p:cNvSpPr txBox="1"/>
          <p:nvPr/>
        </p:nvSpPr>
        <p:spPr>
          <a:xfrm>
            <a:off x="3108960" y="3364992"/>
            <a:ext cx="8458200" cy="484632"/>
          </a:xfrm>
          <a:prstGeom prst="rect">
            <a:avLst/>
          </a:prstGeom>
          <a:noFill/>
        </p:spPr>
        <p:txBody>
          <a:bodyPr wrap="square" lIns="0" rIns="0" tIns="0" bIns="0">
            <a:spAutoFit/>
          </a:bodyPr>
          <a:lstStyle/>
          <a:p>
            <a:r>
              <a:rPr sz="1900" b="0" i="0">
                <a:solidFill>
                  <a:srgbClr val="183A31"/>
                </a:solidFill>
                <a:latin typeface="Aptos"/>
              </a:rPr>
              <a:t>Real Azure/SQL/AI + continuing lineage + negative controls</a:t>
            </a:r>
          </a:p>
        </p:txBody>
      </p:sp>
      <p:sp>
        <p:nvSpPr>
          <p:cNvPr id="9" name="Rounded Rectangle 8"/>
          <p:cNvSpPr/>
          <p:nvPr/>
        </p:nvSpPr>
        <p:spPr>
          <a:xfrm>
            <a:off x="594360" y="4123944"/>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3 • PROVE</a:t>
            </a:r>
          </a:p>
        </p:txBody>
      </p:sp>
      <p:sp>
        <p:nvSpPr>
          <p:cNvPr id="10" name="TextBox 9"/>
          <p:cNvSpPr txBox="1"/>
          <p:nvPr/>
        </p:nvSpPr>
        <p:spPr>
          <a:xfrm>
            <a:off x="3108960" y="4123944"/>
            <a:ext cx="8458200" cy="484632"/>
          </a:xfrm>
          <a:prstGeom prst="rect">
            <a:avLst/>
          </a:prstGeom>
          <a:noFill/>
        </p:spPr>
        <p:txBody>
          <a:bodyPr wrap="square" lIns="0" rIns="0" tIns="0" bIns="0">
            <a:spAutoFit/>
          </a:bodyPr>
          <a:lstStyle/>
          <a:p>
            <a:r>
              <a:rPr sz="1900" b="0" i="0">
                <a:solidFill>
                  <a:srgbClr val="183A31"/>
                </a:solidFill>
                <a:latin typeface="Aptos"/>
              </a:rPr>
              <a:t>Paired task value + engineering/accessibility/recovery evidence</a:t>
            </a:r>
          </a:p>
        </p:txBody>
      </p:sp>
      <p:sp>
        <p:nvSpPr>
          <p:cNvPr id="11" name="Rounded Rectangle 10"/>
          <p:cNvSpPr/>
          <p:nvPr/>
        </p:nvSpPr>
        <p:spPr>
          <a:xfrm>
            <a:off x="594360" y="4882896"/>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4 • DECIDE</a:t>
            </a:r>
          </a:p>
        </p:txBody>
      </p:sp>
      <p:sp>
        <p:nvSpPr>
          <p:cNvPr id="12" name="TextBox 11"/>
          <p:cNvSpPr txBox="1"/>
          <p:nvPr/>
        </p:nvSpPr>
        <p:spPr>
          <a:xfrm>
            <a:off x="3108960" y="4882896"/>
            <a:ext cx="8458200" cy="484632"/>
          </a:xfrm>
          <a:prstGeom prst="rect">
            <a:avLst/>
          </a:prstGeom>
          <a:noFill/>
        </p:spPr>
        <p:txBody>
          <a:bodyPr wrap="square" lIns="0" rIns="0" tIns="0" bIns="0">
            <a:spAutoFit/>
          </a:bodyPr>
          <a:lstStyle/>
          <a:p>
            <a:r>
              <a:rPr sz="1900" b="0" i="0">
                <a:solidFill>
                  <a:srgbClr val="183A31"/>
                </a:solidFill>
                <a:latin typeface="Aptos"/>
              </a:rPr>
              <a:t>Owner evidence review: continue / simplify / stop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E5B96A"/>
                </a:solidFill>
                <a:latin typeface="Aptos"/>
              </a:rPr>
              <a:t>COUNCIL DECISION • ENDORSE PLANNING ONLY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F7F2E7"/>
                </a:solidFill>
                <a:latin typeface="Aptos Display"/>
              </a:rPr>
              <a:t>Endorse the evidence stage—not delivery spend or production.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14  /  PROPER WARM     •     DRAFT FOR CHALLENGE • E07/E08/E16 • NO PRODUCTION OR SPEND APPROVAL</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CEO</a:t>
            </a:r>
          </a:p>
          <a:p>
            <a:pPr algn="l">
              <a:lnSpc>
                <a:spcPct val="105000"/>
              </a:lnSpc>
            </a:pPr>
            <a:r>
              <a:rPr sz="2000" b="0" i="0">
                <a:solidFill>
                  <a:srgbClr val="F7F2E7"/>
                </a:solidFill>
                <a:latin typeface="Aptos"/>
              </a:rPr>
              <a:t>Nominate an executive sponsor</a:t>
            </a:r>
          </a:p>
          <a:p>
            <a:pPr algn="l">
              <a:lnSpc>
                <a:spcPct val="105000"/>
              </a:lnSpc>
            </a:pPr>
            <a:r>
              <a:rPr sz="2000" b="0" i="0">
                <a:solidFill>
                  <a:srgbClr val="F7F2E7"/>
                </a:solidFill>
                <a:latin typeface="Aptos"/>
              </a:rPr>
              <a:t>Require an evidence-led return</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ASSETS CxO</a:t>
            </a:r>
          </a:p>
          <a:p>
            <a:pPr algn="l">
              <a:lnSpc>
                <a:spcPct val="105000"/>
              </a:lnSpc>
            </a:pPr>
            <a:r>
              <a:rPr sz="2000" b="0" i="0">
                <a:solidFill>
                  <a:srgbClr val="183A31"/>
                </a:solidFill>
                <a:latin typeface="Aptos"/>
              </a:rPr>
              <a:t>Nominate workflow / control owners</a:t>
            </a:r>
          </a:p>
          <a:p>
            <a:pPr algn="l">
              <a:lnSpc>
                <a:spcPct val="105000"/>
              </a:lnSpc>
            </a:pPr>
            <a:r>
              <a:rPr sz="2000" b="0" i="0">
                <a:solidFill>
                  <a:srgbClr val="183A31"/>
                </a:solidFill>
                <a:latin typeface="Aptos"/>
              </a:rPr>
              <a:t>Confirm non-negotiable gates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CFO</a:t>
            </a:r>
          </a:p>
          <a:p>
            <a:pPr algn="l">
              <a:lnSpc>
                <a:spcPct val="105000"/>
              </a:lnSpc>
            </a:pPr>
            <a:r>
              <a:rPr sz="2000" b="0" i="0">
                <a:solidFill>
                  <a:srgbClr val="F7F2E7"/>
                </a:solidFill>
                <a:latin typeface="Aptos"/>
              </a:rPr>
              <a:t>Define the affordability review</a:t>
            </a:r>
          </a:p>
          <a:p>
            <a:pPr algn="l">
              <a:lnSpc>
                <a:spcPct val="105000"/>
              </a:lnSpc>
            </a:pPr>
            <a:r>
              <a:rPr sz="2000" b="0" i="0">
                <a:solidFill>
                  <a:srgbClr val="F7F2E7"/>
                </a:solidFill>
                <a:latin typeface="Aptos"/>
              </a:rPr>
              <a:t>Define authority review + stop tests</a:t>
            </a:r>
          </a:p>
        </p:txBody>
      </p:sp>
      <p:sp>
        <p:nvSpPr>
          <p:cNvPr id="8" name="TextBox 7"/>
          <p:cNvSpPr txBox="1"/>
          <p:nvPr/>
        </p:nvSpPr>
        <p:spPr>
          <a:xfrm>
            <a:off x="594360" y="5486400"/>
            <a:ext cx="10972800" cy="365760"/>
          </a:xfrm>
          <a:prstGeom prst="rect">
            <a:avLst/>
          </a:prstGeom>
          <a:noFill/>
        </p:spPr>
        <p:txBody>
          <a:bodyPr wrap="square" lIns="0" rIns="0" tIns="0" bIns="0">
            <a:spAutoFit/>
          </a:bodyPr>
          <a:lstStyle/>
          <a:p>
            <a:r>
              <a:rPr sz="1400" b="0" i="0">
                <a:solidFill>
                  <a:srgbClr val="F7F2E7"/>
                </a:solidFill>
                <a:latin typeface="Aptos"/>
              </a:rPr>
              <a:t>Return: reviewed requirements • options • cost / authority • acceptance / stop tests • date to agree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A • TARGET DESIGN, NOT DEPLOYMENT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Technical Q&amp;A: isolate failure, preserve control</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15  /  PROPER WARM     •     PROPOSED PATTERNS + OPEN ASSURANCE • E08/E09/E10/E11</a:t>
            </a:r>
          </a:p>
        </p:txBody>
      </p:sp>
      <p:sp>
        <p:nvSpPr>
          <p:cNvPr id="5" name="Rounded Rectangle 4"/>
          <p:cNvSpPr/>
          <p:nvPr/>
        </p:nvSpPr>
        <p:spPr>
          <a:xfrm>
            <a:off x="594360"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STATE &amp; SCALE</a:t>
            </a:r>
          </a:p>
          <a:p>
            <a:pPr algn="l">
              <a:lnSpc>
                <a:spcPct val="105000"/>
              </a:lnSpc>
            </a:pPr>
            <a:r>
              <a:rPr sz="2000" b="0" i="0">
                <a:solidFill>
                  <a:srgbClr val="F7F2E7"/>
                </a:solidFill>
                <a:latin typeface="Aptos"/>
              </a:rPr>
              <a:t>SQL row versions / idempotency</a:t>
            </a:r>
          </a:p>
          <a:p>
            <a:pPr algn="l">
              <a:lnSpc>
                <a:spcPct val="105000"/>
              </a:lnSpc>
            </a:pPr>
            <a:r>
              <a:rPr sz="2000" b="0" i="0">
                <a:solidFill>
                  <a:srgbClr val="F7F2E7"/>
                </a:solidFill>
                <a:latin typeface="Aptos"/>
              </a:rPr>
              <a:t>Indexed queries / paging</a:t>
            </a:r>
          </a:p>
          <a:p>
            <a:pPr algn="l">
              <a:lnSpc>
                <a:spcPct val="105000"/>
              </a:lnSpc>
            </a:pPr>
            <a:r>
              <a:rPr sz="2000" b="0" i="0">
                <a:solidFill>
                  <a:srgbClr val="F7F2E7"/>
                </a:solidFill>
                <a:latin typeface="Aptos"/>
              </a:rPr>
              <a:t>Blob evidence versions</a:t>
            </a:r>
          </a:p>
          <a:p>
            <a:pPr algn="l">
              <a:lnSpc>
                <a:spcPct val="105000"/>
              </a:lnSpc>
            </a:pPr>
            <a:r>
              <a:rPr sz="2000" b="0" i="0">
                <a:solidFill>
                  <a:srgbClr val="F7F2E7"/>
                </a:solidFill>
                <a:latin typeface="Aptos"/>
              </a:rPr>
              <a:t>Restart and restore tests</a:t>
            </a:r>
          </a:p>
        </p:txBody>
      </p:sp>
      <p:sp>
        <p:nvSpPr>
          <p:cNvPr id="6" name="Rounded Rectangle 5"/>
          <p:cNvSpPr/>
          <p:nvPr/>
        </p:nvSpPr>
        <p:spPr>
          <a:xfrm>
            <a:off x="4361688" y="2606040"/>
            <a:ext cx="3465576"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TRUST BOUNDARIES</a:t>
            </a:r>
          </a:p>
          <a:p>
            <a:pPr algn="l">
              <a:lnSpc>
                <a:spcPct val="105000"/>
              </a:lnSpc>
            </a:pPr>
            <a:r>
              <a:rPr sz="2000" b="0" i="0">
                <a:solidFill>
                  <a:srgbClr val="183A31"/>
                </a:solidFill>
                <a:latin typeface="Aptos"/>
              </a:rPr>
              <a:t>Role / case / field rights</a:t>
            </a:r>
          </a:p>
          <a:p>
            <a:pPr algn="l">
              <a:lnSpc>
                <a:spcPct val="105000"/>
              </a:lnSpc>
            </a:pPr>
            <a:r>
              <a:rPr sz="2000" b="0" i="0">
                <a:solidFill>
                  <a:srgbClr val="183A31"/>
                </a:solidFill>
                <a:latin typeface="Aptos"/>
              </a:rPr>
              <a:t>Permitted model inputs</a:t>
            </a:r>
          </a:p>
          <a:p>
            <a:pPr algn="l">
              <a:lnSpc>
                <a:spcPct val="105000"/>
              </a:lnSpc>
            </a:pPr>
            <a:r>
              <a:rPr sz="2000" b="0" i="0">
                <a:solidFill>
                  <a:srgbClr val="183A31"/>
                </a:solidFill>
                <a:latin typeface="Aptos"/>
              </a:rPr>
              <a:t>Schema / source validation</a:t>
            </a:r>
          </a:p>
          <a:p>
            <a:pPr algn="l">
              <a:lnSpc>
                <a:spcPct val="105000"/>
              </a:lnSpc>
            </a:pPr>
            <a:r>
              <a:rPr sz="2000" b="0" i="0">
                <a:solidFill>
                  <a:srgbClr val="183A31"/>
                </a:solidFill>
                <a:latin typeface="Aptos"/>
              </a:rPr>
              <a:t>No agent decision writes</a:t>
            </a:r>
          </a:p>
        </p:txBody>
      </p:sp>
      <p:sp>
        <p:nvSpPr>
          <p:cNvPr id="7" name="Rounded Rectangle 6"/>
          <p:cNvSpPr/>
          <p:nvPr/>
        </p:nvSpPr>
        <p:spPr>
          <a:xfrm>
            <a:off x="8129016"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FAILURE &amp; OPERATIONS</a:t>
            </a:r>
          </a:p>
          <a:p>
            <a:pPr algn="l">
              <a:lnSpc>
                <a:spcPct val="105000"/>
              </a:lnSpc>
            </a:pPr>
            <a:r>
              <a:rPr sz="2000" b="0" i="0">
                <a:solidFill>
                  <a:srgbClr val="F7F2E7"/>
                </a:solidFill>
                <a:latin typeface="Aptos"/>
              </a:rPr>
              <a:t>Manual route on AI failure</a:t>
            </a:r>
          </a:p>
          <a:p>
            <a:pPr algn="l">
              <a:lnSpc>
                <a:spcPct val="105000"/>
              </a:lnSpc>
            </a:pPr>
            <a:r>
              <a:rPr sz="2000" b="0" i="0">
                <a:solidFill>
                  <a:srgbClr val="F7F2E7"/>
                </a:solidFill>
                <a:latin typeface="Aptos"/>
              </a:rPr>
              <a:t>Unknown facts hold reviews</a:t>
            </a:r>
          </a:p>
          <a:p>
            <a:pPr algn="l">
              <a:lnSpc>
                <a:spcPct val="105000"/>
              </a:lnSpc>
            </a:pPr>
            <a:r>
              <a:rPr sz="2000" b="0" i="0">
                <a:solidFill>
                  <a:srgbClr val="F7F2E7"/>
                </a:solidFill>
                <a:latin typeface="Aptos"/>
              </a:rPr>
              <a:t>Audit / cost telemetry</a:t>
            </a:r>
          </a:p>
          <a:p>
            <a:pPr algn="l">
              <a:lnSpc>
                <a:spcPct val="105000"/>
              </a:lnSpc>
            </a:pPr>
            <a:r>
              <a:rPr sz="2000" b="0" i="0">
                <a:solidFill>
                  <a:srgbClr val="F7F2E7"/>
                </a:solidFill>
                <a:latin typeface="Aptos"/>
              </a:rPr>
              <a:t>Recovery still to prove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B • ANSWERS WITH REVERSAL CONDITIONS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Council Q&amp;A: the objections we welcome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16  /  PROPER WARM     •     ALTERNATIVES, AFFORDABILITY, AUTHORITY • E05/E07/E09/E11</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WHY NOT EXCEL / M365?</a:t>
            </a:r>
          </a:p>
          <a:p>
            <a:pPr algn="l">
              <a:lnSpc>
                <a:spcPct val="105000"/>
              </a:lnSpc>
            </a:pPr>
            <a:r>
              <a:rPr sz="2000" b="0" i="0">
                <a:solidFill>
                  <a:srgbClr val="F7F2E7"/>
                </a:solidFill>
                <a:latin typeface="Aptos"/>
              </a:rPr>
              <a:t>Cost equivalent options; control mechanisms must win.</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WHY NOT LAUNCH NOW?</a:t>
            </a:r>
          </a:p>
          <a:p>
            <a:pPr algn="l">
              <a:lnSpc>
                <a:spcPct val="105000"/>
              </a:lnSpc>
            </a:pPr>
            <a:r>
              <a:rPr sz="2000" b="0" i="0">
                <a:solidFill>
                  <a:srgbClr val="183A31"/>
                </a:solidFill>
                <a:latin typeface="Aptos"/>
              </a:rPr>
              <a:t>Feasibility is not full workflow or human acceptance.</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WHAT BUDGET?</a:t>
            </a:r>
          </a:p>
          <a:p>
            <a:pPr algn="l">
              <a:lnSpc>
                <a:spcPct val="105000"/>
              </a:lnSpc>
            </a:pPr>
            <a:r>
              <a:rPr sz="2000" b="0" i="0">
                <a:solidFill>
                  <a:srgbClr val="183A31"/>
                </a:solidFill>
                <a:latin typeface="Aptos"/>
              </a:rPr>
              <a:t>New scoped authority needed; prior cap/override is historical.</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WHAT IF AI FAILS?</a:t>
            </a:r>
          </a:p>
          <a:p>
            <a:pPr algn="l">
              <a:lnSpc>
                <a:spcPct val="105000"/>
              </a:lnSpc>
            </a:pPr>
            <a:r>
              <a:rPr sz="2000" b="0" i="0">
                <a:solidFill>
                  <a:srgbClr val="F7F2E7"/>
                </a:solidFill>
                <a:latin typeface="Aptos"/>
              </a:rPr>
              <a:t>Keep manual work; simplify failed tasks; preserve gates.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C • REVIEW AND PROVENANCE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Read the evidence label before reading the claim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17  /  PROPER WARM     •     AS AT 11 Oct 2026 • REPOSITORY-ONLY • NO NEW LEGAL CURRENTNESS CHECK</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REQUEST / RESEARCH</a:t>
            </a:r>
          </a:p>
          <a:p>
            <a:pPr algn="l">
              <a:lnSpc>
                <a:spcPct val="105000"/>
              </a:lnSpc>
            </a:pPr>
            <a:r>
              <a:rPr sz="2000" b="0" i="0">
                <a:solidFill>
                  <a:srgbClr val="F7F2E7"/>
                </a:solidFill>
                <a:latin typeface="Aptos"/>
              </a:rPr>
              <a:t>Original ambition is not an outcome.</a:t>
            </a:r>
          </a:p>
          <a:p>
            <a:pPr algn="l">
              <a:lnSpc>
                <a:spcPct val="105000"/>
              </a:lnSpc>
            </a:pPr>
            <a:r>
              <a:rPr sz="2000" b="0" i="0">
                <a:solidFill>
                  <a:srgbClr val="F7F2E7"/>
                </a:solidFill>
                <a:latin typeface="Aptos"/>
              </a:rPr>
              <a:t>Sector patterns are not company facts.</a:t>
            </a:r>
          </a:p>
          <a:p>
            <a:pPr algn="l">
              <a:lnSpc>
                <a:spcPct val="105000"/>
              </a:lnSpc>
            </a:pPr>
            <a:r>
              <a:rPr sz="2000" b="0" i="0">
                <a:solidFill>
                  <a:srgbClr val="F7F2E7"/>
                </a:solidFill>
                <a:latin typeface="Aptos"/>
              </a:rPr>
              <a:t>Role instruments are not interviews.</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EXERCISE / DIRECTION</a:t>
            </a:r>
          </a:p>
          <a:p>
            <a:pPr algn="l">
              <a:lnSpc>
                <a:spcPct val="105000"/>
              </a:lnSpc>
            </a:pPr>
            <a:r>
              <a:rPr sz="2000" b="0" i="0">
                <a:solidFill>
                  <a:srgbClr val="183A31"/>
                </a:solidFill>
                <a:latin typeface="Aptos"/>
              </a:rPr>
              <a:t>Fictional fixtures are not budgets.</a:t>
            </a:r>
          </a:p>
          <a:p>
            <a:pPr algn="l">
              <a:lnSpc>
                <a:spcPct val="105000"/>
              </a:lnSpc>
            </a:pPr>
            <a:r>
              <a:rPr sz="2000" b="0" i="0">
                <a:solidFill>
                  <a:srgbClr val="183A31"/>
                </a:solidFill>
                <a:latin typeface="Aptos"/>
              </a:rPr>
              <a:t>Accepted v0.12 is historical.</a:t>
            </a:r>
          </a:p>
          <a:p>
            <a:pPr algn="l">
              <a:lnSpc>
                <a:spcPct val="105000"/>
              </a:lnSpc>
            </a:pPr>
            <a:r>
              <a:rPr sz="2000" b="0" i="0">
                <a:solidFill>
                  <a:srgbClr val="183A31"/>
                </a:solidFill>
                <a:latin typeface="Aptos"/>
              </a:rPr>
              <a:t>v0.13 is pending fresh review.</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PROPOSED / OBSERVED</a:t>
            </a:r>
          </a:p>
          <a:p>
            <a:pPr algn="l">
              <a:lnSpc>
                <a:spcPct val="105000"/>
              </a:lnSpc>
            </a:pPr>
            <a:r>
              <a:rPr sz="2000" b="0" i="0">
                <a:solidFill>
                  <a:srgbClr val="F7F2E7"/>
                </a:solidFill>
                <a:latin typeface="Aptos"/>
              </a:rPr>
              <a:t>Target topology is not deployed proof.</a:t>
            </a:r>
          </a:p>
          <a:p>
            <a:pPr algn="l">
              <a:lnSpc>
                <a:spcPct val="105000"/>
              </a:lnSpc>
            </a:pPr>
            <a:r>
              <a:rPr sz="2000" b="0" i="0">
                <a:solidFill>
                  <a:srgbClr val="F7F2E7"/>
                </a:solidFill>
                <a:latin typeface="Aptos"/>
              </a:rPr>
              <a:t>Pinned feasibility is narrow.</a:t>
            </a:r>
          </a:p>
          <a:p>
            <a:pPr algn="l">
              <a:lnSpc>
                <a:spcPct val="105000"/>
              </a:lnSpc>
            </a:pPr>
            <a:r>
              <a:rPr sz="2000" b="0" i="0">
                <a:solidFill>
                  <a:srgbClr val="F7F2E7"/>
                </a:solidFill>
                <a:latin typeface="Aptos"/>
              </a:rPr>
              <a:t>Benefit and readiness are unproved.</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700" b="0" i="0">
                <a:solidFill>
                  <a:srgbClr val="183A31"/>
                </a:solidFill>
                <a:latin typeface="Aptos"/>
              </a:rPr>
              <a:t>Full source/date/status in notes • Independent findings addressed • Timed rehearsal pending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D • OPTIONS GATE • NO WINNER SCORED</a:t>
            </a:r>
          </a:p>
        </p:txBody>
      </p:sp>
      <p:sp>
        <p:nvSpPr>
          <p:cNvPr id="3" name="TextBox 2"/>
          <p:cNvSpPr txBox="1"/>
          <p:nvPr/>
        </p:nvSpPr>
        <p:spPr>
          <a:xfrm>
            <a:off x="594360" y="1097280"/>
            <a:ext cx="10972800" cy="640080"/>
          </a:xfrm>
          <a:prstGeom prst="rect">
            <a:avLst/>
          </a:prstGeom>
          <a:noFill/>
        </p:spPr>
        <p:txBody>
          <a:bodyPr wrap="square" lIns="0" rIns="0" tIns="0" bIns="0">
            <a:spAutoFit/>
          </a:bodyPr>
          <a:lstStyle/>
          <a:p>
            <a:r>
              <a:rPr sz="3400" b="1" i="0">
                <a:solidFill>
                  <a:srgbClr val="183A31"/>
                </a:solidFill>
                <a:latin typeface="Aptos Display"/>
              </a:rPr>
              <a:t>Compare the routes before selecting a winner</a:t>
            </a:r>
          </a:p>
        </p:txBody>
      </p:sp>
      <p:graphicFrame>
        <p:nvGraphicFramePr>
          <p:cNvPr id="4" name="Table 3"/>
          <p:cNvGraphicFramePr>
            <a:graphicFrameLocks noGrp="1"/>
          </p:cNvGraphicFramePr>
          <p:nvPr/>
        </p:nvGraphicFramePr>
        <p:xfrm>
          <a:off x="594360" y="2011680"/>
          <a:ext cx="11000231" cy="2971800"/>
        </p:xfrm>
        <a:graphic>
          <a:graphicData uri="http://schemas.openxmlformats.org/drawingml/2006/table">
            <a:tbl>
              <a:tblPr firstRow="1" bandRow="1">
                <a:tableStyleId>{5C22544A-7EE6-4342-B048-85BDC9FD1C3A}</a:tableStyleId>
              </a:tblPr>
              <a:tblGrid>
                <a:gridCol w="1874519"/>
                <a:gridCol w="2788920"/>
                <a:gridCol w="3017520"/>
                <a:gridCol w="3319272"/>
              </a:tblGrid>
              <a:tr h="371475">
                <a:tc>
                  <a:txBody>
                    <a:bodyPr/>
                    <a:lstStyle/>
                    <a:p>
                      <a:r>
                        <a:rPr b="1" sz="1300">
                          <a:solidFill>
                            <a:srgbClr val="F7F2E7"/>
                          </a:solidFill>
                        </a:rPr>
                        <a:t>Decision criterion</a:t>
                      </a:r>
                    </a:p>
                  </a:txBody>
                  <a:tcPr>
                    <a:solidFill>
                      <a:srgbClr val="173F35"/>
                    </a:solidFill>
                  </a:tcPr>
                </a:tc>
                <a:tc>
                  <a:txBody>
                    <a:bodyPr/>
                    <a:lstStyle/>
                    <a:p>
                      <a:r>
                        <a:rPr b="1" sz="1300">
                          <a:solidFill>
                            <a:srgbClr val="F7F2E7"/>
                          </a:solidFill>
                        </a:rPr>
                        <a:t>Excel-only improvement</a:t>
                      </a:r>
                    </a:p>
                  </a:txBody>
                  <a:tcPr>
                    <a:solidFill>
                      <a:srgbClr val="173F35"/>
                    </a:solidFill>
                  </a:tcPr>
                </a:tc>
                <a:tc>
                  <a:txBody>
                    <a:bodyPr/>
                    <a:lstStyle/>
                    <a:p>
                      <a:r>
                        <a:rPr b="1" sz="1300">
                          <a:solidFill>
                            <a:srgbClr val="F7F2E7"/>
                          </a:solidFill>
                        </a:rPr>
                        <a:t>M365 / business platform</a:t>
                      </a:r>
                    </a:p>
                  </a:txBody>
                  <a:tcPr>
                    <a:solidFill>
                      <a:srgbClr val="173F35"/>
                    </a:solidFill>
                  </a:tcPr>
                </a:tc>
                <a:tc>
                  <a:txBody>
                    <a:bodyPr/>
                    <a:lstStyle/>
                    <a:p>
                      <a:r>
                        <a:rPr b="1" sz="1300">
                          <a:solidFill>
                            <a:srgbClr val="F7F2E7"/>
                          </a:solidFill>
                        </a:rPr>
                        <a:t>Azure-led hybrid</a:t>
                      </a:r>
                    </a:p>
                  </a:txBody>
                  <a:tcPr>
                    <a:solidFill>
                      <a:srgbClr val="173F35"/>
                    </a:solidFill>
                  </a:tcPr>
                </a:tc>
              </a:tr>
              <a:tr h="371475">
                <a:tc>
                  <a:txBody>
                    <a:bodyPr/>
                    <a:lstStyle/>
                    <a:p>
                      <a:r>
                        <a:rPr sz="1300"/>
                        <a:t>Workflow / evidence</a:t>
                      </a:r>
                    </a:p>
                  </a:txBody>
                  <a:tcPr/>
                </a:tc>
                <a:tc>
                  <a:txBody>
                    <a:bodyPr/>
                    <a:lstStyle/>
                    <a:p>
                      <a:r>
                        <a:rPr sz="1300"/>
                        <a:t>Workbook stays; fit unverified</a:t>
                      </a:r>
                    </a:p>
                  </a:txBody>
                  <a:tcPr/>
                </a:tc>
                <a:tc>
                  <a:txBody>
                    <a:bodyPr/>
                    <a:lstStyle/>
                    <a:p>
                      <a:r>
                        <a:rPr sz="1300"/>
                        <a:t>Greenfield Power Apps / Dataverse</a:t>
                      </a:r>
                    </a:p>
                  </a:txBody>
                  <a:tcPr/>
                </a:tc>
                <a:tc>
                  <a:txBody>
                    <a:bodyPr/>
                    <a:lstStyle/>
                    <a:p>
                      <a:r>
                        <a:rPr sz="1300"/>
                        <a:t>Shared API; proposed</a:t>
                      </a:r>
                    </a:p>
                  </a:txBody>
                  <a:tcPr/>
                </a:tc>
              </a:tr>
              <a:tr h="371475">
                <a:tc>
                  <a:txBody>
                    <a:bodyPr/>
                    <a:lstStyle/>
                    <a:p>
                      <a:r>
                        <a:rPr sz="1300"/>
                        <a:t>Permissions</a:t>
                      </a:r>
                    </a:p>
                  </a:txBody>
                  <a:tcPr/>
                </a:tc>
                <a:tc>
                  <a:txBody>
                    <a:bodyPr/>
                    <a:lstStyle/>
                    <a:p>
                      <a:r>
                        <a:rPr sz="1300"/>
                        <a:t>Controls / roles unverified</a:t>
                      </a:r>
                    </a:p>
                  </a:txBody>
                  <a:tcPr/>
                </a:tc>
                <a:tc>
                  <a:txBody>
                    <a:bodyPr/>
                    <a:lstStyle/>
                    <a:p>
                      <a:r>
                        <a:rPr sz="1300"/>
                        <a:t>Roles proposed; tenant fit unverified</a:t>
                      </a:r>
                    </a:p>
                  </a:txBody>
                  <a:tcPr/>
                </a:tc>
                <a:tc>
                  <a:txBody>
                    <a:bodyPr/>
                    <a:lstStyle/>
                    <a:p>
                      <a:r>
                        <a:rPr sz="1300"/>
                        <a:t>Server API checks; proof needed</a:t>
                      </a:r>
                    </a:p>
                  </a:txBody>
                  <a:tcPr/>
                </a:tc>
              </a:tr>
              <a:tr h="371475">
                <a:tc>
                  <a:txBody>
                    <a:bodyPr/>
                    <a:lstStyle/>
                    <a:p>
                      <a:r>
                        <a:rPr sz="1300"/>
                        <a:t>Migration</a:t>
                      </a:r>
                    </a:p>
                  </a:txBody>
                  <a:tcPr/>
                </a:tc>
                <a:tc>
                  <a:txBody>
                    <a:bodyPr/>
                    <a:lstStyle/>
                    <a:p>
                      <a:r>
                        <a:rPr sz="1300"/>
                        <a:t>Less change possible; fit unverified</a:t>
                      </a:r>
                    </a:p>
                  </a:txBody>
                  <a:tcPr/>
                </a:tc>
                <a:tc>
                  <a:txBody>
                    <a:bodyPr/>
                    <a:lstStyle/>
                    <a:p>
                      <a:r>
                        <a:rPr sz="1300"/>
                        <a:t>Greenfield; migration unverified</a:t>
                      </a:r>
                    </a:p>
                  </a:txBody>
                  <a:tcPr/>
                </a:tc>
                <a:tc>
                  <a:txBody>
                    <a:bodyPr/>
                    <a:lstStyle/>
                    <a:p>
                      <a:r>
                        <a:rPr sz="1300"/>
                        <a:t>Staged import; exit test</a:t>
                      </a:r>
                    </a:p>
                  </a:txBody>
                  <a:tcPr/>
                </a:tc>
              </a:tr>
              <a:tr h="371475">
                <a:tc>
                  <a:txBody>
                    <a:bodyPr/>
                    <a:lstStyle/>
                    <a:p>
                      <a:r>
                        <a:rPr sz="1300"/>
                        <a:t>Integration</a:t>
                      </a:r>
                    </a:p>
                  </a:txBody>
                  <a:tcPr/>
                </a:tc>
                <a:tc>
                  <a:txBody>
                    <a:bodyPr/>
                    <a:lstStyle/>
                    <a:p>
                      <a:r>
                        <a:rPr sz="1300"/>
                        <a:t>Workbook / API links unverified</a:t>
                      </a:r>
                    </a:p>
                  </a:txBody>
                  <a:tcPr/>
                </a:tc>
                <a:tc>
                  <a:txBody>
                    <a:bodyPr/>
                    <a:lstStyle/>
                    <a:p>
                      <a:r>
                        <a:rPr sz="1300"/>
                        <a:t>Connectors / sources unverified</a:t>
                      </a:r>
                    </a:p>
                  </a:txBody>
                  <a:tcPr/>
                </a:tc>
                <a:tc>
                  <a:txBody>
                    <a:bodyPr/>
                    <a:lstStyle/>
                    <a:p>
                      <a:r>
                        <a:rPr sz="1300"/>
                        <a:t>API / source links proposed</a:t>
                      </a:r>
                    </a:p>
                  </a:txBody>
                  <a:tcPr/>
                </a:tc>
              </a:tr>
              <a:tr h="371475">
                <a:tc>
                  <a:txBody>
                    <a:bodyPr/>
                    <a:lstStyle/>
                    <a:p>
                      <a:r>
                        <a:rPr sz="1300"/>
                        <a:t>Resident access</a:t>
                      </a:r>
                    </a:p>
                  </a:txBody>
                  <a:tcPr/>
                </a:tc>
                <a:tc>
                  <a:txBody>
                    <a:bodyPr/>
                    <a:lstStyle/>
                    <a:p>
                      <a:r>
                        <a:rPr sz="1300"/>
                        <a:t>Non-digital required; untested</a:t>
                      </a:r>
                    </a:p>
                  </a:txBody>
                  <a:tcPr/>
                </a:tc>
                <a:tc>
                  <a:txBody>
                    <a:bodyPr/>
                    <a:lstStyle/>
                    <a:p>
                      <a:r>
                        <a:rPr sz="1300"/>
                        <a:t>Non-digital required; untested</a:t>
                      </a:r>
                    </a:p>
                  </a:txBody>
                  <a:tcPr/>
                </a:tc>
                <a:tc>
                  <a:txBody>
                    <a:bodyPr/>
                    <a:lstStyle/>
                    <a:p>
                      <a:r>
                        <a:rPr sz="1300"/>
                        <a:t>Non-digital required; untested</a:t>
                      </a:r>
                    </a:p>
                  </a:txBody>
                  <a:tcPr/>
                </a:tc>
              </a:tr>
              <a:tr h="371475">
                <a:tc>
                  <a:txBody>
                    <a:bodyPr/>
                    <a:lstStyle/>
                    <a:p>
                      <a:r>
                        <a:rPr sz="1300"/>
                        <a:t>Whole-life cost</a:t>
                      </a:r>
                    </a:p>
                  </a:txBody>
                  <a:tcPr/>
                </a:tc>
                <a:tc>
                  <a:txBody>
                    <a:bodyPr/>
                    <a:lstStyle/>
                    <a:p>
                      <a:r>
                        <a:rPr sz="1300"/>
                        <a:t>Not assessed</a:t>
                      </a:r>
                    </a:p>
                  </a:txBody>
                  <a:tcPr/>
                </a:tc>
                <a:tc>
                  <a:txBody>
                    <a:bodyPr/>
                    <a:lstStyle/>
                    <a:p>
                      <a:r>
                        <a:rPr sz="1300"/>
                        <a:t>Licence / support unverified</a:t>
                      </a:r>
                    </a:p>
                  </a:txBody>
                  <a:tcPr/>
                </a:tc>
                <a:tc>
                  <a:txBody>
                    <a:bodyPr/>
                    <a:lstStyle/>
                    <a:p>
                      <a:r>
                        <a:rPr sz="1300"/>
                        <a:t>Run cost not assessed</a:t>
                      </a:r>
                    </a:p>
                  </a:txBody>
                  <a:tcPr/>
                </a:tc>
              </a:tr>
              <a:tr h="371475">
                <a:tc>
                  <a:txBody>
                    <a:bodyPr/>
                    <a:lstStyle/>
                    <a:p>
                      <a:r>
                        <a:rPr sz="1300"/>
                        <a:t>Readiness</a:t>
                      </a:r>
                    </a:p>
                  </a:txBody>
                  <a:tcPr/>
                </a:tc>
                <a:tc>
                  <a:txBody>
                    <a:bodyPr/>
                    <a:lstStyle/>
                    <a:p>
                      <a:r>
                        <a:rPr sz="1300"/>
                        <a:t>Baseline / controls unverified</a:t>
                      </a:r>
                    </a:p>
                  </a:txBody>
                  <a:tcPr/>
                </a:tc>
                <a:tc>
                  <a:txBody>
                    <a:bodyPr/>
                    <a:lstStyle/>
                    <a:p>
                      <a:r>
                        <a:rPr sz="1300"/>
                        <a:t>Tenant check needed</a:t>
                      </a:r>
                    </a:p>
                  </a:txBody>
                  <a:tcPr/>
                </a:tc>
                <a:tc>
                  <a:txBody>
                    <a:bodyPr/>
                    <a:lstStyle/>
                    <a:p>
                      <a:r>
                        <a:rPr sz="1300"/>
                        <a:t>Exercise direction only</a:t>
                      </a:r>
                    </a:p>
                  </a:txBody>
                  <a:tcPr/>
                </a:tc>
              </a:tr>
            </a:tbl>
          </a:graphicData>
        </a:graphic>
      </p:graphicFrame>
      <p:sp>
        <p:nvSpPr>
          <p:cNvPr id="5" name="TextBox 4"/>
          <p:cNvSpPr txBox="1"/>
          <p:nvPr/>
        </p:nvSpPr>
        <p:spPr>
          <a:xfrm>
            <a:off x="594360" y="5257800"/>
            <a:ext cx="10972800" cy="411480"/>
          </a:xfrm>
          <a:prstGeom prst="rect">
            <a:avLst/>
          </a:prstGeom>
          <a:noFill/>
        </p:spPr>
        <p:txBody>
          <a:bodyPr wrap="square" lIns="0" rIns="0" tIns="0" bIns="0">
            <a:spAutoFit/>
          </a:bodyPr>
          <a:lstStyle/>
          <a:p>
            <a:r>
              <a:rPr sz="1200" b="0" i="0">
                <a:solidFill>
                  <a:srgbClr val="183A31"/>
                </a:solidFill>
                <a:latin typeface="Aptos"/>
              </a:rPr>
              <a:t>No common-basis cost or fit evidence yet. Compare controls, tenant, migration and support before choice.</a:t>
            </a:r>
          </a:p>
        </p:txBody>
      </p:sp>
      <p:sp>
        <p:nvSpPr>
          <p:cNvPr id="6" name="TextBox 5"/>
          <p:cNvSpPr txBox="1"/>
          <p:nvPr/>
        </p:nvSpPr>
        <p:spPr>
          <a:xfrm>
            <a:off x="594360" y="6126480"/>
            <a:ext cx="10972800" cy="228600"/>
          </a:xfrm>
          <a:prstGeom prst="rect">
            <a:avLst/>
          </a:prstGeom>
          <a:noFill/>
        </p:spPr>
        <p:txBody>
          <a:bodyPr wrap="square" lIns="0" rIns="0" tIns="0" bIns="0">
            <a:spAutoFit/>
          </a:bodyPr>
          <a:lstStyle/>
          <a:p>
            <a:r>
              <a:rPr sz="1100" b="0" i="0">
                <a:solidFill>
                  <a:srgbClr val="183A31"/>
                </a:solidFill>
                <a:latin typeface="Aptos"/>
              </a:rPr>
              <a:t>18  /  PROPER WARM     •     QUALITATIVE DESIGN HYPOTHESES • ADR 0001 • OQ-012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 Warm — Council working draft</dc:title>
  <dc:subject>Bounded next-stage proposal; not production approval</dc:subject>
  <dc:creator>AMA project</dc:creator>
  <cp:keywords>Proper Warm,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